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Lst>
  <p:notesMasterIdLst>
    <p:notesMasterId r:id="rId1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notesMaster" Target="notesMasters/notesMaster1.xml"/><Relationship Id="rId155" Type="http://schemas.openxmlformats.org/officeDocument/2006/relationships/presProps" Target="presProps.xml"/><Relationship Id="rId156" Type="http://schemas.openxmlformats.org/officeDocument/2006/relationships/viewProps" Target="viewProps.xml"/><Relationship Id="rId157" Type="http://schemas.openxmlformats.org/officeDocument/2006/relationships/theme" Target="theme/theme1.xml"/><Relationship Id="rId1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Bir tüfekten yatay olarak atılan mermi ile namlunun ucundan aynı anda bırakılan bir mermi yere aynı anda iner — mermi yüzlerce metre öteye gitmiş olsa bile. Atış hareketlerinin tamamı bu tek fikrin üzerine kuruludur: yatay hareket ile düşey hareket birbirini hiç etkilemez. Bu anlatım dört basamakta ilerliyor: önce atılan bir cismin çizdiği yolu gözleyip bu ilkeyi sezgiyle kuracağız, sonra onunla yatay atışı, eğik atışı ve menzili bağıntılarıyla çözeceğiz, ardından yüksekten atışa, düşen bir hedefe nişan almaya ve hava direncine geçeceğiz. En sonda kolaydan zora sıralanmış örneklerle hepsini birlikte kullanacağız.
Kapak görseli: Bir şutun yörüngesi. Top elden çıktığı anda üzerinde yalnızca ağırlığı kalır; bu yüzden izlediği yol bir yay, daha doğrusu bir parabol olur. Tepeye yakın görüntülerin yüksekliği neredeyse değişmez: orada düşey hız sıfıra iner ve top bir an yalnızca yatay ilerler. Bu anlatım, bu yayı iki basit harekete ayırarak çözmeyi öğretiyor.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Bir tüfekten yatay olarak atılan mermi ile namlunun ucundan aynı anda bırakılan bir mermi yere aynı anda iner — mermi yüzlerce metre öteye gitmiş olsa bile. Atış hareketlerinin tamamı bu tek fikrin üzerine kuruludur: yatay hareket ile düşey hareket birbirini hiç etkilemez. Bu anlatım dört basamakta ilerliyor: önce atılan bir cismin çizdiği yolu gözleyip bu ilkeyi sezgiyle kuracağız, sonra onunla yatay atışı, eğik atışı ve menzili bağıntılarıyla çözeceğiz, ardından yüksekten atışa, düşen bir hedefe nişan almaya ve hava direncine geçeceğiz. En sonda kolaydan zora sıralanmış örneklerle hepsini birlikte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atılan bir cismin yoluna bak, hareketi iki eksene ayır ve iki eksenin neden birbirini etkilemediğini gör. Bu basamakta hesap yok denecek kadar az.
   01 Önce gözlemle: atılan bir cisim nasıl bir yol çizer?
   02 İki boyutta sabit ivmeli hareket nedir?
   03 Bağımsızlık ilkesi
2. Orta — Bağıntılar: hızı bileşenlerine ayır, yatay ve eğik atışı çöz, menzili ve yörüngeyi adım adım türet.
   04 Vektörel bağıntılar ve bileşenlere ayırma
   05 Yatay atış
   06 Sayılarla hisset: ne kadar sürede, ne kadar öteye?
   07 Eğik atış
   08 Menzil, açı ve tümler açılar
   09 Yörünge denklemi ve grafikler
3. İleri — Derinleşme: yüksekten atış, düşen bir hedefe nişan, hava direnci ve atışların gerçek hayattaki yüzü.
   10 Yüksekten atış: 45° artık en iyi değil
   11 Düşen hedefe nişan: bağımsızlığın en şaşırtıcı sonucu
   12 Hava direnci işe karışınca: modelin sınırları
   13 Atışlar gerçek dünyada
4. Pekiştir — Kolaydan zora çözümlü örnekler ve sınavda puan kaybettiren klasik hatalar.
   14 Çözümlü örnekler
   15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Sabit hızla gitmek: hız hiç değişmiyorsa alınan yol = hız × süre. 10 m/s ile giden bir bisiklet 3 saniyede 10 · 3 = 30 m yol alır.
• Serbest düşme: bırakılan bir cisim her saniye yaklaşık 10 m/s hızlanır. Bu sayıya yerçekimi ivmesi denir ve g ile gösterilir: g = 10 m/s².
• Vektör: hem büyüklüğü hem yönü olan bir nicelik; ok ile çizilir. “5 m/s” bir sürattir, “doğuya doğru 5 m/s” ise bir hız vektörüdür.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Dik üçgen ve Pisagor: dik kenarları 3 ve 4 olan üçgenin en uzun kenarı (hipotenüsü) 5'tir, çünkü 3² + 4² = 9 + 16 = 25 = 5².
• Sinüs ve kosinüs: dik üçgende sin = karşı kenar / hipotenüs, cos = komşu kenar / hipotenüs. 3-4-5 üçgeninde sin37° = 3/5 = 0,6 ve cos37° = 4/5 = 0,8.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atılan bir cismin yoluna bak, hareketi iki eksene ayır ve iki eksenin neden birbirini etkilemediğini gör. Bu basamakta hesap yok denecek kadar az.
01 Önce gözlemle: atılan bir cisim nasıl bir yol çizer?
02 İki boyutta sabit ivmeli hareket nedir?
03 Bağımsızlık ilkesi
Görsel: Hortumdan çıkan su yolun başında yatay gider, sonra giderek dikleşen bir eğriyle aşağı kıvrılır. Damlaların yatay hızı yol boyunca aynı kalır; kıvrılmanın sebebi, her damlanın bir yandan da serbest düşmesidir. Bu yarım parabol, ikinci basamakta çözeceğimiz yatay atışın ta kendisidir.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atılan bir cisim nasıl bir yol çizer? — adım 1/5
• Bahçe hortumunun ağzını yere paralel tut ve musluğu aç.
• Su ağızdan dümdüz ileri çıkar, ama hemen, önce belli belirsiz, aşağı kıvrılmaya başlar; yere yaklaştıkça yolu giderek dikleşir ve sonunda ileride bir noktaya iner.
• Masanın kenarından yuvarlanıp düşen bir bilye, kaleye doğru havalanan bir top, fıskiyeden fışkıran su da aynı biçimde kıvrılır.
• Hiçbiri ne dümdüz ileri ne dümdüz aşağı gider; hepsi ikisini aynı anda yapar.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atılan bir cisim nasıl bir yol çizer? — adım 2/5
• Aynı hareketi eşit zaman aralıklarıyla fotoğraflasan (strobo fotoğraf) cismin art arda görüntülerinde şu düzeni görürsün: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atılan bir cisim nasıl bir yol çizer? — adım 3/5
• Yol eğridir: cisim hem ileri gider hem aşağı iner; iki hareket birleşince yol kıvrılır.
• Yatay ilerleyiş düzenlidir: eşit sürelerde cisim yatayda hep aynı mesafeyi alır.
• Düşüş giderek hızlanır: eşit sürelerde aşağı doğru alınan yollar gittikçe büyür.
• Eğri gittikçe dikleşir: başta yataya yakın olan yol, yere yaklaştıkça düşeye yaklaşır.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atılan bir cisim nasıl bir yol çizer? — şekil
Masadan yuvarlanan bir bilyenin strobo görüntüleri. Kesikli çizgiler iki uç durumu gösteriyor: bilye yalnız ileri gitseydi yatay çizgide kalır, yalnız düşseydi masanın dibine inerdi. Gerçekte ikisini aynı anda yapar ve arada kıvrılan bir yol çizer. Mavi yön oklarına bak: başta neredeyse yatay, sona doğru giderek dikleşiyor.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atılan bir cisim nasıl bir yol çizer? — adım 5/5
• Matematikte bu eğriye parabol denir.
• Bu anlatımın geri kalanı, bu dört gözlemin nereden geldiğini açıklıyor.
• İpucu şimdiden listede saklı: yatayda ilerleyiş “sabit hızla giden bir araba” gibi, düşeydeki iniş ise “bırakılan bir taş” gibi davranıyor.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Atılan bir cisim hem ileri gider hem düşer; iki hareket birleşince yolu giderek dikleşen bir eğri, yani parabol olur. Hortumdan çıkan su bunun günlük bir örneğidir.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Hortumun ağzını yine yatay tutup daha yükseğe kaldırırsan su neden daha uzağa düşer?
Sınıfa sorun, birkaç tahmin alın; sonra cevap slaytına geçin.
Cevap: Su daha yüksekten düştüğü için havada daha uzun kalır. Yatay hızı değişmediğine göre, havada geçirdiği her ek anda biraz daha ileri gider. Suyun ne kadar uzağa düşeceğini yatay hız ile havada kalma süresi birlikte belirler.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Su daha yüksekten düştüğü için havada daha uzun kalır. Yatay hızı değişmediğine göre, havada geçirdiği her ek anda biraz daha ileri gider. Suyun ne kadar uzağa düşeceğini yatay hız ile havada kalma süresi birlikte belirler.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İki boyutta sabit ivmeli hareket nedir? — adım 1/6
• Bir cisim bir düzlem içinde hareket ediyorsa ve ivme vektörü hem büyüklük hem yön olarak değişmiyorsa, bu harekete iki boyutta sabit ivmeli hareket denir.
• Konum, hız ve ivme artık birer sayı değil, birer vektördür.
• “İki boyut” demek, cismin yerini söylemek için iki sayının gerekmesi demektir: ne kadar ileride ve ne kadar yukarıda olduğu.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İki boyutta sabit ivmeli hareket nedir? — adım 2/6
• Günlük hayattaki en yaygın örneği atış hareketleridir: atılan bir top, fışkıran su, masadan yuvarlanan bilye.
• Hepsinde ivme aynıdır — yerçekimi ivmesi g, büyüklüğü sabit, yönü daima aşağı.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İki boyutta sabit ivmeli hareket nedir? — adım 3/6
• Hareketi iki eksene ayırdığımızda ortaya çok tanıdık iki hareket çıkar:
• Yatay eksen (x): ivme yoktur (ax = 0) → düzgün doğrusal hareket.
• Düşey eksen (y): ivme g'dir ve aşağı yöndedir → sabit ivmeli hareket, yani serbest düşme/düşey atış.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İki boyutta sabit ivmeli hareket nedir? — adım 4/6
• Yani yeni bir hareket öğrenmiyorsun: bildiğin iki hareketi aynı anda, aynı saatle çalıştırıyorsun.
• Bunu iki gölgeyle düşünebilirsin.
• Güneş tam tepedeyken atılan topun yere düşen gölgesi yalnızca yatay hareketi gösterir ve sabit hızla kayar.
• Atış doğrultusunda yatay gelen bir ışıkla karşıdaki duvara düşen gölgesi ise yalnızca düşey hareketi gösterir: yukarı çıkıp yavaşlar, durur, sonra hızlanarak iner.
• Top, bu iki gölgenin aynı anda yaptığı şeyi yapar.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İki boyutta sabit ivmeli hareket nedir? — adım 5/6
Hava direnci ihmal edilir. Bu derste cisme etki eden tek kuvvet ağırlıktır. Bu yüzden kütle hiçbir bağıntıda görünmez: 50 g'lık top ile 5 kg'lık gülle aynı hız ve açıyla atılırsa aynı yörüngeyi çizer.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İki boyutta sabit ivmeli hareket nedir? — şekil
Aynı hareketin iki ayrı filmi. Yatay gölge eşit zaman aralıklarında eşit yollar alır — o eksende ivme yoktur. Düşey gölge ise 1 : 3 : 5 : 7 ile açılarak iner — o eksende tam bir serbest düşme vardır. İki filmi birbirine bağlayan tek şey aynı saati paylaşmaları; yörüngenin parabol olması da bu iki hareketin toplamıdır.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İki boyutta sabit ivmeli harekette cisim bir düzlemde ve sabit ivmeyle hareket eder. Atışlarda bu ivme g'dir: yatayda ivme yoktur, düşeyde ise serbest düşme ya da düşey atış vardır.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Bağımsızlık ilkesi — adım 1/5
• İki boyutlu hareketin bütün sırrı tek cümlede: yatay hareket ile düşey hareket birbirini etkilemez.
• Yatay hızın büyük olması cismin düşmesini geciktirmez; düşmesi de yatay hızını azaltmaz.
• İki hareketin tek ortak yanı aynı zamanı paylaşmalarıdır.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Bağımsızlık ilkesi — adım 2/5
• Bunun en çarpıcı kanıtı sayfadaki 02 numaralı deney: aynı yükseklikten biri serbestçe bırakılan, diğeri yatay olarak fırlatılan iki cisim tam olarak aynı anda yere iner.
• Fırlatılan cisim çok daha uzağa gitmiştir, ama düşey hareketi diğeriyle birebir aynıdır.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Bağımsızlık ilkesi — adım 3/5
Neden böyle? Kuvvet düşeydir (ağırlık), dolayısıyla ivme de düşeydir. Yatay doğrultuda kuvvet olmadığı için o doğrultuda hız değişemez. Bir vektörün bir bileşenine etki eden kuvvet, diğer bileşenini değiştiremez.
• Bu ilke problem çözmenin de yöntemidir: iki boyutlu bir soruyu iki ayrı tek boyutlu soruya bölersin, her birini kendi denklemiyle çözersin ve sonuçları zaman üzerinden birleştirirsin.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Bağımsızlık ilkesi — adım 4/5
• Böl: hareketi yatay ve düşey olarak iki ayrı harekete ayır.
• Çöz: yatayı sabit hızla, düşeyi serbest düşme ya da düşey atış gibi çöz.
• Birleştir: iki hareketi bağlayan tek büyüklük olan süreyi kullan.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Bağımsızlık ilkesi — şekil
Aynı yükseklikten biri serbestçe bırakılıyor, diğeri yatay olarak fırlatılıyor. Kesikli çizgiler her an ikisini birleştiriyor: düşey hareketleri birebir aynı. Fırlatılan cisim yüzlerce metre öteye gitse de, düşmesi bundan hiç etkilenmiyor. Sayfadaki 02 numaralı deneyde bunu kendi gözünle ölçebilirsin.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Yatay ve düşey hareketler birbirini etkilemez; tek ortak değişkenleri zamandır. İki boyutlu bir problemi iki tek boyutlu probleme bölüp sonuçları süre üzerinden birleştirirsin.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Sabit hızla giden bir trende elindeki elmayı dümdüz yukarı atarsan elma nereye düşer?
Sınıfa sorun, birkaç tahmin alın; sonra cevap slaytına geçin.
Cevap: Yine eline düşer. Elma atıldığı anda trenin yatay hızına sahiptir ve havadayken bu hız değişmez; sen de aynı hızla ilerlediğin için elma hep elinin üstünde kalır. Perondaki biri ise elmanın yükselip alçalan bir parabol çizdiğini görür.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Yine eline düşer. Elma atıldığı anda trenin yatay hızına sahiptir ve havadayken bu hız değişmez; sen de aynı hızla ilerlediğin için elma hep elinin üstünde kalır. Perondaki biri ise elmanın yükselip alçalan bir parabol çizdiğini görür.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hızı bileşenlerine ayır, yatay ve eğik atışı çöz, menzili ve yörüngeyi adım adım türet.
04 Vektörel bağıntılar ve bileşenlere ayırma
05 Yatay atış
06 Sayılarla hisset: ne kadar sürede, ne kadar öteye?
07 Eğik atış
08 Menzil, açı ve tümler açılar
09 Yörünge denklemi ve grafikler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Vektörel bağıntılar ve bileşenlere ayırma — adım 1/8
• Sabit ivmeli hareketin denklemleri vektörel olarak da aynen geçerlidir:
v⃗ = v⃗₀ + a⃗·t   r⃗ = r⃗₀ + v⃗₀·t + ½·a⃗·t²
• Yukarı yönü pozitif alıp ax = 0, ay = −g yazarsak ve ilk hızı yatayla α açısı yapacak şekilde bileşenlerine ayırırsak:
v₀ₓ = v₀·cosα   v₀ᵧ = v₀·sinα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Vektörel bağıntılar ve bileşenlere ayırma — adım 2/8
Formüldeki harfler ne anlama geliyor?
Sembol | Anlamı | Birimi
v⃗₀, v₀ | ilk hız ve büyüklüğü (atış sürati) | m/s
v₀ₓ, v₀ᵧ | ilk hızın yatay ve düşey bileşeni | m/s
α | atış açısı (yatayla ölçülür) | °
a⃗ | ivme; atışlarda g, yönü hep aşağı | m/s²
r⃗ | cismin konumu (x: yatay, y: düşey) | m
t | atıştan beri geçen süre |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Vektörel bağıntılar ve bileşenlere ayırma — adım 3/8
Bileşenler nereden geliyor?
• Dik üçgen kur: ilk hız vektörü hipotenüstür; yatay ve düşey bileşenler üçgenin iki dik kenarıdır.
• Yatay kenar: α açısının komşusudur; cosα = v₀ₓ / v₀ olduğundan v₀ₓ = v₀·cosα.
• Düşey kenar: α açısının karşısındadır; sinα = v₀ᵧ / v₀ olduğundan v₀ᵧ = v₀·sinα.
• Kontrol: Pisagor bağıntısı v₀ₓ² + v₀ᵧ² = v₀² vermelidir.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Vektörel bağıntılar ve bileşenlere ayırma — adım 4/8
 | Yatay (x) | Düşey (y)
İvme | ax = 0 | ay = −g
Hız | vx = v₀·cosα (sabit) | vy = v₀·sinα − g·t
Konum | x = v₀·cosα·t | y = y₀ + v₀·sinα·t − ½g·t²
• Herhangi bir anda cismin sürati bileşenlerin vektörel toplamıdır; hız vektörü daima yörüngeye teğettir:
v = √(vx² + vy²)   tanθ = vy / vx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Vektörel bağıntılar ve bileşenlere ayırma — adım 5/8
• Sorularda en sık kullanılan açıların yaklaşık değerleri aşağıda.
• 37° ile 53°'nin birbirini tamamladığına dikkat et: birinin sinüsü ötekinin kosinüsüdür.
• 37°–53° üçgeni kenarları 3 : 4 : 5 oranında olan ünlü dik üçgendir.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Vektörel bağıntılar ve bileşenlere ayırma — adım 6/8
Açı | sinα | cosα
30° | 0,5 | 0,87
37° | 0,6 | 0,8
45° | 0,71 | 0,71
53° | 0,8 | 0,6
60° | 0,87 |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Vektörel bağıntılar ve bileşenlere ayırma — adım 7/8
Bileşenler skaler toplanmaz. vx = 30 m/s ve vy = 40 m/s ise sürat 70 m/s değil, 50 m/s'dir. Dik üçgen kurmayı unutma.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Vektörel bağıntılar ve bileşenlere ayırma — şekil
Solda atış anı: ilk hız, yatayla α açısı yapan bir vektördür ve dik üçgenle bileşenlerine ayrılır. Sağda yörüngenin herhangi bir noktası: yeşil bileşen hiç değişmez, sarı bileşen g yüzünden sürekli değişir, ikisinin vektörel toplamı olan mavi ok ise daima eğriye teğettir. Bu yüzden bileşenler skaler toplanmaz: 30 ve 40 bileşenleri 70 değil 50 verir.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İlk hızı dik üçgenle bileşenlerine ayır: v₀ₓ = v₀·cosα, v₀ᵧ = v₀·sinα. Yatay bileşen sabit kalır, düşey bileşen g ile değişir; sürat bileşenlerin vektörel toplamıdır.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Yatay atış — adım 1/6
• Cisim h yüksekliğinden yatay olarak v₀ süratiyle atılırsa (α = 0 olduğu için) ilk hızın düşey bileşeni sıfırdır: v₀ᵧ = 0.
• Düşey hareket bu yüzden tam bir serbest düşmedir.
t = √(2h / g)   x = v₀ · √(2h / g)   vy = g·t   v = √(v₀² + 2gh)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Yatay atış — adım 2/6
Bağıntılar nereden geliyor?
• Düşeyde süre: cisim h yüksekliğinden ilk hızsız düşer, h = ½·g·t² olur; buradan t = √(2h/g).
• Yatayda yol: yatay hız sabit v₀ olduğundan x = v₀·t; süreyi yerine koyunca x = v₀·√(2h/g).
• Düşey hız: serbest düşmedeki gibi vy = g·t; yere değerken vy² = 2gh.
• Sürat: dik bileşenler Pisagor ile birleşir: v² = v₀² + vy² = v₀² + 2gh.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Yatay atış — adım 3/6
• Uçuş süresi v₀'a bağlı değildir.
• Topu ister hafifçe it, ister topla fırlat; aynı masadan aynı sürede yere iner.
• Değişen tek şey ne kadar uzağa düştüğüdür.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Yatay atış — adım 4/6
• Yörünge yarım paraboldür.
• Eşit zaman aralıklarında cisim yatayda eşit yollar alır, düşeyde ise 1 : 3 : 5 : 7 oranında artan yollar alır.
• Sayfadaki strobo izlerinde bu iki dizi aynı anda görünür; 01 numaralı laboratuvardaki “Yatay atış · 30 m'den” hazır deneyini strobo izleri açıkken çalıştırıp kendin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Yatay atış — adım 5/6
Birim kontrolü: √(2h/g) için √(m ÷ m/s²) = √(s²) = s çıkar, bu bir süredir ✓. v₀·t için (m/s)·s = m çıkar, bu bir uzunluktur ✓. “t = 2h/g” yazsaydın birim s² olurdu; karekökü unuttuğunu birim söyler.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Yatay atış — şekil
İki cisim aynı yükseklikten yatay olarak atılıyor; morun sürati mavinin iki katı. Kesikli çizgiler her an ikisinin aynı yükseklikte olduğunu gösteriyor: uçuş süresi v₀'a hiç bağlı değil, yalnızca h'ye bağlı (t = √(2h/g)). Sürati iki katına çıkarmak yalnızca menzili iki katına çıkarır.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Yatay atışta düşey hareket serbest düşmedir: süre t = √(2h/g) yalnızca yüksekliğe bağlıdır. Menzil x = v₀·t, çarpma sürati v = √(v₀² + 2gh) ile bulunur.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sürede, ne kadar öteye? — adım 1/6
• Bağıntılar soyut kalmasın.
• Aynı topu hep 10 m/s ile yatay olarak, ama farklı yüksekliklerden attığını düşün (g = 10 m/s², hava direnci yok):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sürede, ne kadar öteye? — adım 2/6
Yükseklik | Uçuş süresi | Menzil | Çarpma sürati
0,8 m (masa) | 0,4 s | 4 m | ≈ 10,8 m/s
5 m (balkon) | 1 s | 10 m | ≈ 14,1 m/s
20 m (altı kat) | 2 s | 20 m | ≈ 22,4 m/s
45 m (on beş kat) | 3 s | 30 m | ≈ 31,6 m/s
80 m (kule) | 4 s | 40 m | ≈ 41,2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sürede, ne kadar öteye? — adım 3/6
• Tablodan hemen okunan düzen: yükseklik 4 katına çıkınca süre ve menzil yalnızca 2 katına çıkıyor (5 m → 20 m: 1 s → 2 s, 10 m → 20 m).
• Çünkü süre yüksekliğin kareköküyle büyür, menzil de süreyle orantılıdır.
• Son sütun ise başka bir şey söylüyor: alçaktan atışta çarpma sürati neredeyse 10 m/s'lik ilk hız kadardır, yüksekten atışta ise düşey hız baskın çıkar.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sürede, ne kadar öteye? — şekil
Tablodaki dört atış aynı çizimde. Yükseklikler 5, 20, 45, 80 m diye hızla açılıyor, ama toplar yerde eşit adımlarla 10, 20, 30, 40 m'ye düşüyor. Kalın çizilen iki atışa bak: yükseklik 20 m'den 80 m'ye, yani 4 katına çıkınca süre 2 s'den 4 s'ye, menzil 20 m'den 40 m'ye, yalnızca 2 katına çıkıyor. Sebep: süre yüksekliğin kareköküyle büyür.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sürede, ne kadar öteye? — adım 5/6
• İlk hızı değiştirmek tabloyu bambaşka biçimde etkiler.
• Aynı 20 m'lik binadan 20 m/s ile atarsan süre yine 2 s olur, menzil ise 40 m'ye çıkar: ilk hız yalnızca menzili ölçekler.
• Bahçe hortumu da böyle: bel hizasında (yaklaşık 0,8 m) tutulan ve suyu 5 m/s ile yatay püskürten bir hortumda su 0,4 s'de yere iner ve 5 · 0,4 = 2 m öteye düşer.
• Musluğu açıp hızı iki katına çıkarırsan su 4 m öteye gider.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sürede, ne kadar öteye? — adım 6/6
• Sayfanın 02 numaralı bölümündeki hız sürgüsüyle bunu dene: sarı cisim uzağa gider ama iniş süresi hiç değişmez.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Yatay atışta süre yüksekliğin kareköküyle büyür ve ilk hızdan bağımsızdır; menzil ilk hızla doğru orantılıdır. 4 kat yükseklik 2 kat süre, 2 kat ilk hız 2 kat menzil demektir.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80 m'lik kuleden topu 10 m/s yerine 20 m/s ile yatay atarsan uçuş süresi ve menzil ne olur?
Sınıfa sorun, birkaç tahmin alın; sonra cevap slaytına geçin.
Cevap: Uçuş süresi değişmez, yine 4 s'dir; süreyi yalnızca yükseklik ve g belirler. Menzil ise ilk hızla doğru orantılı olduğu için iki katına çıkar: 20 · 4 = 80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Uçuş süresi değişmez, yine 4 s'dir; süreyi yalnızca yükseklik ve g belirler. Menzil ise ilk hızla doğru orantılı olduğu için iki katına çıkar: 20 · 4 = 80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atış — adım 1/7
• Cisim yatayla α açısı yapacak şekilde v₀ süratiyle atılırsa hareket eğik atış olur.
• Çıkarken düşey hız azalır, tepe noktada sıfırlanır, sonra artarak aşağı yönelir.
• Yatay hız ise baştan sona hiç değişmez.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atış — adım 2/7
ttepe = v₀·sinα / g   hmaks = v₀²·sin²α / (2g)   tuçuş = 2·v₀·sinα / g   R = v₀²·sin2α / 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atış — adım 3/7
Bağıntılar nereden geliyor?
• Tepe anı: tepede vy = 0 olur: 0 = v₀·sinα − g·t, buradan ttepe = v₀·sinα / g.
• Tepe yüksekliği: düşeyde bir düşey atış vardır; vy² = v₀ᵧ² − 2gh ifadesinde vy = 0 alınır.
• Sonuç: hmaks = v₀ᵧ² / (2g) = v₀²·sin²α / (2g).
• Uçuş süresi: iniş çıkışın ayna görüntüsüdür; aynı yüksekliğe dönüş için süre iki katıdır: 2·v₀·sinα / 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atış — adım 4/7
• Son iki bağıntı yalnızca atış ve iniş noktaları aynı yükseklikteyse geçerlidir.
• Bir tepeden ya da kuleden atıldığında uçuş süresini y = 0 denkleminden (ikinci dereceden denklem) çözmen gerekir.
• Laboratuvarın açılış ayarında (25 m/s, 45°, Dünya) fırlattığında ekrandaki 3,60 s uçuş süresi ve 15,9 m tepe yüksekliği tam olarak bu bağıntılardan çıkar.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atış — adım 5/7
Simetri
• Süreler: çıkış süresi iniş süresine eşittir.
• Süratler: aynı yükseklikten geçerken süratler eşit, düşey hızların yönleri terstir.
• Açılar: iniş açısı, atış açısına eşittir.
• Yörünge: tepe noktasından geçen düşey doğruya göre simetriktir.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atış — adım 6/7
Tepe noktada hız sıfır değildir. Sıfırlanan yalnızca düşey bileşendir; cisim orada hâlâ v = v₀·cosα süratiyle yatay olarak ilerler. İvme ise hareket boyunca hiç değişmez: her noktada g'dir ve aşağı doğrudur.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atış — şekil
Eğik atış boyunca yatay bileşen hiç değişmez — yeşil oklar baştan sona aynı boydadır. Düşey bileşen ise her saniye g kadar azalır, tepede sıfırlanır, sonra ters yönde aynı hızla büyür. Tepe noktada hız sıfır değildir: cisim orada hâlâ v₀·cosα süratiyle yatay olarak ilerler.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Eğik atışta yatay hız sabit kalır, düşey hız tepede sıfırlanır. Tepeye çıkış süresi v₀·sinα/g, tepe yüksekliği v₀²·sin²α/(2g)'dir; hareket tepeye göre simetriktir.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Eğik atışta cismin sürati yörüngenin neresinde en küçüktür? Orada sıfır olur mu?
Sınıfa sorun, birkaç tahmin alın; sonra cevap slaytına geçin.
Cevap: En küçük sürat tepe noktasındadır, çünkü orada düşey bileşen sıfırdır ve geriye yalnızca v₀·cosα kalır. Süratin sıfır olması için yatay bileşenin de sıfır olması, yani cismin dümdüz yukarı (α = 90°) atılması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En küçük sürat tepe noktasındadır, çünkü orada düşey bileşen sıfırdır ve geriye yalnızca v₀·cosα kalır. Süratin sıfır olması için yatay bileşenin de sıfır olması, yani cismin dümdüz yukarı (α = 90°) atılması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Menzil, açı ve tümler açılar — adım 1/7
• Menzil bağıntısını bileşenlerden türetmek kolaydır: uçuş süresi t = 2v₀sinα / g, yatay yol ise x = v₀cosα · t.
• İkisini çarpınca
R = 2·v₀²·sinα·cosα / g   R = v₀²·sin2α / g
• İkinci satıra geçerken 2·sinα·cosα = sin2α özdeşliği kullanıldı.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Menzil, açı ve tümler açılar — adım 2/7
• Bağıntıdan üç sonuç doğrudan okunur:
• En uzun menzil 45°'dedir. sin2α en büyük değerini (1) 2α = 90° için alır.
• Tümler açılar aynı menzili verir. sin2α = sin(180° − 2α) olduğundan α ile 90° − α aynı R'yi verir: 30° ile 60°, 20° ile 70°… Büyük açı daha yükseğe çıkar.
• Menzil süratin karesiyle artar. v₀ iki katına çıkarsa menzil dört katına çıkar.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Menzil, açı ve tümler açılar — adım 3/7
• Aynı topu hep 20 m/s ile, ama beş farklı açıyla attığını düşün (g = 10 m/s²).
• Menzil, tepe yüksekliği ve uçuş süresi şöyle değişir: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Menzil, açı ve tümler açılar — adım 4/7
Açı | Menzil | Tepe yüksekliği | Uçuş süresi
15° | 20 m | ≈ 1,3 m | ≈ 1,04 s
30° | ≈ 34,6 m | 5 m | 2 s
45° | 40 m | 10 m | ≈ 2,83 s
60° | ≈ 34,6 m | 15 m | ≈ 3,46 s
75° | 20 m | ≈ 18,7 m | ≈ 3,86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Menzil, açı ve tümler açılar — adım 5/7
• Menzil sütunu 45°'ye göre simetrik, tepe yüksekliği ve süre sütunları ise açıyla sürekli artıyor.
• Sayfanın 03 numaralı bölümünde bu beş açıyı sırayla at ve tümler çiftlerin aynı noktaya düştüğünü izle.
• 04 numaralı bölümdeki hedef oyunu da aynı gerçeğe dayanır: bir hedefi genellikle biri 45°'nin altında, biri üstünde iki farklı açı vurur.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Menzil, açı ve tümler açılar — adım 6/7
Yükseklikten atışta 45° en iyi değildir. Bir kuleden atıldığında optimum açı 45°'nin altına iner; yükseklik arttıkça yatay hıza pay ayırmak daha kârlıdır. Gerçek hayatta hava direnci de optimum açıyı küçültür. Gülle atma sporcuları 40° civarında atar; gülleyi omuz yüksekliğinden bırakmaları da açıyı 45°'nin altına çeker.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Menzil, açı ve tümler açılar — şekil
Beş atışın da sürati aynı, yalnızca açıları farklı. Tümler açılar aynı noktaya düşer (aynı renkli iki eğri): sin2α ile sin(180°−2α) eşittir. Büyük açı daha yükseğe çıkar ve havada daha uzun kalır, ama menzili değiştirmez. En uzağa giden, sin2α'yı bire eşitleyen 45°'dir.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Aynı yükseklikte başlayıp biten atışta menzil R = v₀²·sin2α/g'dir. En uzun menzil 45°'de alınır, tümler açılar aynı menzili verir, menzil ilk süratin karesiyle büyür.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Yörünge denklemi ve grafikler — adım 1/5
• Yörüngenin denklemini bulmak için zamanı iki denklemin arasından çıkarırız.
• Adımlar şöyle:
• Süreyi yalnız bırak: x = v₀cosα·t bağıntısından t = x / (v₀cosα).
• Yerine koy: bu t'yi y = v₀sinα·t − ½g·t² denkleminde kullan.
• Sadeleştir: ilk terim x·sinα/cosα = x·tanα olur, ikinci terim x²'li kalır.
y = x·tanα − k·x²   k = g / (2·v₀²·cos²α)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Yörünge denklemi ve grafikler — adım 2/5
• Bu, y = ax − bx² biçiminde bir parabol denklemidir.
• Yörüngenin parabol olmasının sebebi budur: bir eksende zamanla doğrusal, diğerinde zamanın karesiyle değişen bir hareket.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Yörünge denklemi ve grafikler — adım 3/5
Grafik | Şekli | Eğimi | Altındaki alan
x – t | Orijinden geçen doğru | vx (sabit) | —
y – t | Aşağı açılan parabol | O andaki vy | —
vx – t | Zaman eksenine paralel doğru | ax = 0 | Yatay yol (x)
vy – t | Azalan doğru | −g | Düşey yer değiştirme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Yörünge denklemi ve grafikler — adım 4/5
• vy – t doğrusunun zaman eksenini kestiği an tepe noktasıdır.
• O ana kadarki üçgenin alanı çıkılan yüksekliği, sonrasındaki (negatif) alan ise inilen yüksekliği verir.
• Aynı yükseklikte başlayıp bitiyorsa iki alan eşittir.
• Sayfadaki laboratuvarın altında bu dört grafik sen izlerken çizilir.
• “Yatay atış · 30 m'den” hazır deneyinde y – t parabolünün tepesi tam başlangıç anındadır: yatay atış, tepesinden başlayan bir eğik atıştır.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Yörünge denklemi ve grafikler — şekil
Dört grafik, iki bağımsız hareketin dört yüzü. Yatayda x–t doğru, vₓ–t sabittir; düşeyde y–t parabol, vy–t azalan doğrudur. vy–t doğrusunun zaman eksenini kestiği an tam olarak tepe noktasıdır; o ana kadarki üçgenin alanı çıkılan yüksekliği, sonrasındaki alan inilen yüksekliği verir.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Zamanı yok edince yörünge y = x·tanα − k·x² parabolü çıkar. Yatayda x–t doğru ve vₓ–t sabit, düşeyde y–t parabol ve vy–t eğimi −g olan doğrudur.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yüksekten atış, düşen bir hedefe nişan, hava direnci ve atışların gerçek hayattaki yüzü.
10 Yüksekten atış: 45° artık en iyi değil
11 Düşen hedefe nişan: bağımsızlığın en şaşırtıcı sonucu
12 Hava direnci işe karışınca: modelin sınırları
13 Atışlar gerçek dünyada
Görsel: Uzun atlama bir eğik atıştır. Sporcu tahtadan ayrıldığı anda üzerinde yalnızca ağırlığı (ve küçük bir hava direnci) kalır; ağırlık merkezi bir parabol çizer. Havada kollarını ve bacaklarını nasıl savurursa savursun bu yayı değiştiremez: atlayışın uzunluğunu kalkıştaki hız ve açı belirler.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Yüksekten atış: 45° artık en iyi değil — adım 1/7
• Atış noktası iniş noktasından h kadar yüksekse simetri bozulur: cisim atıldığı hizaya döndükten sonra h kadar daha düşer.
• Bu durumda R = v₀²·sin2α/g kullanılamaz; uçuş süresini cismin yere değdiği an yazılan düşey denklemden bulursun.
• Yukarıyı pozitif alırsan:
h + v₀ᵧ·t − ½·g·t² = 0   R = v₀ₓ · 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Yüksekten atış: 45° artık en iyi değil — adım 2/7
• Bu ikinci dereceden denklemin iki kökü çıkar; negatif olanı atıştan önceki bir anı gösterir ve atılır.
• Şimdi 20 m yükseklikteki bir kuleden topu hep 10 m/s ile, ama farklı açılarla attığını düşün (g = 10 m/s²):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Yüksekten atış: 45° artık en iyi değil — adım 3/7
Açı | Uçuş süresi | Menzil
0° (yatay) | 2 s | 20 m
15° | ≈ 2,28 s | ≈ 22,0 m
≈ 24° | ≈ 2,45 s | ≈ 22,4 m (en uzun)
30° | ≈ 2,56 s | ≈ 22,2 m
45° | ≈ 2,83 s | 20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Yüksekten atış: 45° artık en iyi değil — adım 4/7
• Şaşırtıcı bir sonuç: bu kulede 45°'lik atış, yatay atıştan daha uzağa gitmiyor; ikisi de 20 m'ye düşüyor.
• En uzun menzil yaklaşık 24°'de.
• Neden?
• Cisim zaten yüksekten düşeceği için havada kalma süresini artırmaya pek gerek yoktur; hızın büyük kısmını yataya vermek daha kârlıdır.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Yüksekten atış: 45° artık en iyi değil — adım 5/7
• Aynı kuleden 20 m/s ile atınca en iyi açı yaklaşık 35°'ye çıkar: ilk hız yüksekliğe göre büyüdükçe en iyi açı 45°'ye yaklaşır.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Yüksekten atış: 45° artık en iyi değil — şekil
Kuleden aynı süratle üç atış, ölçekli çizildi. Yatay atış ile 45° aynı noktaya, 20 m'ye düşüyor. En uzağa giden 24°'lik yatık atış. Cisim zaten 20 m düşeceği için havada kalma süresi kendiliğinden uzun; hızın büyük kısmını yataya vermek daha kârlı.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Yüksekten atış: 45° artık en iyi değil — şekil
Yüksekten atılan taşın yolu simetrik değildir: taş el hizasının biraz üstüne çıkıp geri döner, ama yolunun çok daha uzun kısmı ondan sonra, kayalığın dibindeki denize doğru süren düşüşte kalır. Hava direnci ihmal edilirse taşın yatay hızı yol boyunca değişmez; düşüş uzadıkça büyüyen yalnızca düşey hızdır. Taş zaten yüksekten düşeceği için havada kalma süresini artırmaya pek gerek yoktur; hızın büyük kısmını yataya vermek, yani 45°'den daha yatık atmak menzili artırır.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Atış noktası iniş noktasından yüksekse süre ikinci dereceden denklemden bulunur ve en uzun menzil 45°'nin altındaki bir açıda alınır. Yükseklik ilk hıza göre büyüdükçe bu açı küçülür.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Bu kulede yatay atış ile 45°'lik atış aynı yere düşüyor. Hangisi yere daha hızlı çarpar?
Sınıfa sorun, birkaç tahmin alın; sonra cevap slaytına geçin.
Cevap: İkisi de aynı süratle çarpar. v² = v₀² + 2gh bağıntısında atış açısı hiç geçmez: v² = 100 + 400 = 500, v ≈ 22,4 m/s. Açı yalnızca çarpma yönünü ve havada kalma süresini değiştirir.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İkisi de aynı süratle çarpar. v² = v₀² + 2gh bağıntısında atış açısı hiç geçmez: v² = 100 + 400 = 500, v ≈ 22,4 m/s. Açı yalnızca çarpma yönünü ve havada kalma süresini değiştirir.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Düşen hedefe nişan: bağımsızlığın en şaşırtıcı sonucu — adım 1/5
• Fizik derslerinin klasik bir düşünce deneyi: bir avcı, daldan sarkan bir maymuna doğrudan nişan alır.
• Maymun, silah ateşlendiği anda kendini bırakır.
• Avcı nişanını düzeltmeli mi?
• Sezgi “maymun aşağı kaçtığına göre mermi üstünden geçer” der.
• Oysa mermi yine maymuna isabet eder — yeter ki maymun yere değmeden önce mermi ona ulaşsın.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Düşen hedefe nişan: bağımsızlığın en şaşırtıcı sonucu — adım 2/5
• Sebebi bağımsızlık ilkesidir.
• Yerçekimi olmasaydı mermi namlunun gösterdiği düz çizgi boyunca gider ve maymunun ilk bulunduğu noktaya varırdı.
• Yerçekimi, mermiyi bu düz çizginin altına her an ½·g·t² kadar indirir.
• Maymun da aynı anda serbest düşmeye başladığı için kendi ilk yerinin tam ½·g·t² kadar altındadır.
• İkisi aynı sürede aynı miktar düştüğünden buluşurlar.
mermi: düz çizgi − ½·g·t²   hedef: ilk yer − ½·g·t²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Düşen hedefe nişan: bağımsızlığın en şaşırtıcı sonucu — şekil
Kesikli çizgi nişan çizgisi; boş halkalar merminin g olmasaydı bulunacağı yerler. Yerçekimi mermiyi bu yerlerin ½gt² kadar altına indirir. Hedef de aynı anda bırakıldığı için aynı sürede ilk yerinin tam ½gt² altına iner: iki sarı ok eşit. Bu yüzden ikisi hedefin düşey çizgisinde buluşur.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Düşen hedefe nişan: bağımsızlığın en şaşırtıcı sonucu — adım 4/5
• Sayılarla: 100 m ötedeki hedefe 200 m/s'lik mermi 0,5 s'de varır; bu sürede ikisi de ½·10·0,5² = 1,25 m düşer.
• Açı fark etmez: nişan eğik de olsa sonuç aynıdır; iki cisim de düz çizgiden aynı miktarda sapar.
• Hız fark etmez: mermi yavaşsa ikisi daha çok düşer ama yine buluşur; yeter ki hedef yere değmeden varsın.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Düşen hedefe nişan: bağımsızlığın en şaşırtıcı sonucu — şekil
Düşen hedef deneyinde tüp doğrudan oyuncağın ilk yerine nişanlanır ve top tüpten çıktığı anda tutucu oyuncağı bırakır. Top da oyuncak da aynı sürede aynı ½·g·t² kadar düştüğü için top, nişan çizgisinin altında ama tam oyuncağın hizasında onunla buluşur.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Aynı anda serbest kalan mermi ve hedef, aynı sürede aynı ½·g·t² kadar düşer. Bu yüzden düşen hedefe doğrudan nişan alınırsa mermi, hedef yere değmeden varmak koşuluyla isabet eder.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Maymun kendini bırakmasaydı, 200 m/s'lik mermi 100 m ötede ona göre nereden geçerdi?
Sınıfa sorun, birkaç tahmin alın; sonra cevap slaytına geçin.
Cevap: Maymunun yaklaşık 1,25 m altından. Mermi 0,5 s içinde düz nişan çizgisinin 1,25 m altına iner; yerinde kalan hedef ise nişan çizgisinin üzerinde durur. Düşen hedefi vuran şey, yerinde kalan hedefi ıskalatan şeyle aynıdır: yerçekimi.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Maymunun yaklaşık 1,25 m altından. Mermi 0,5 s içinde düz nişan çizgisinin 1,25 m altına iner; yerinde kalan hedef ise nişan çizgisinin üzerinde durur. Düşen hedefi vuran şey, yerinde kalan hedefi ıskalatan şeyle aynıdır: yerçekimi.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Hava direnci işe karışınca: modelin sınırları — adım 1/6
• Buraya kadar hava direncini ihmal ettik.
• Bu, ağır ve yavaş cisimler için çok iyi bir yaklaşımdır: birkaç metreden atılan bir taş ya da bilye, hesapladığımız parabolü neredeyse birebir izler.
• Ama hız büyüdükçe ya da cisim hafifleyip genişledikçe hava direnci ağırlığın yanında önemli hâle gelir ve yörünge parabolden uzaklaşır.
• Hava direnci hızla büyüyen ve harekete ters yönlü bir kuvvettir; bu yüzden hem yatay hem düşey hareketi etkiler.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Hava direnci işe karışınca: modelin sınırları — adım 2/6
• Yatay hız sabit kalmaz: direnç yatayda da etki ettiği için cisim ileri giderken yavaşlar.
• Menzil kısalır: gerçek top, havasız ortamdaki menzilinin belirgin biçimde altında kalır.
• Simetri bozulur: iniş çıkıştan daha dik olur ve daha uzun sürer.
• En iyi açı küçülür: hızlı ve hafif toplarda en uzun menzil 45°'nin altındaki açılarda alınır.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Hava direnci işe karışınca: modelin sınırları — adım 3/6
• Kütle yeniden önem kazanır: aynı boyutta ağır top, direnci ağırlığına oranla daha az hisseder.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Hava direnci işe karışınca: modelin sınırları — şekil
Kesikli eğri havasız ortamdaki parabol; noktalar eşit zaman aralıklarını gösteriyor ve yatayda hep eşit aralıklı. Mavi eğride hava direnci var: noktaların yatay aralıkları kısalıyor, yani yatay hız da azalıyor. Top daha alçaktan geçiyor, inişi çıkışından dik ve menzili belirgin biçimde kısa.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Hava direnci işe karışınca: modelin sınırları — adım 5/6
• Bir örnek fikir versin: havasız bir ortamda 40 m/s ile 45°'de atılan bir top R = 1600/10 = 160 m giderdi.
• Gerçek bir top bu hızda havayla o kadar güçlü etkileşir ki bu uzaklığın çok gerisinde kalır.
• Badminton topu ya da pinpon topu gibi hafif cisimlerde fark çok daha büyüktür.
• Hava direncinin ayrıntıları bu ünitenin “Limit hız” konusunda.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Hava direnci işe karışınca: modelin sınırları — şekil
Tüylü top hafif ve geniş olduğu için hava direnci onun için ağırlığının yanında büyüktür ve yatay hızını hızla azaltır. Bu yüzden top yatık bir yayla çıkar, ama tepe noktasından sonra çıkıştakinden daha dik bir yolla iner. Havasız ortamda çizeceği simetrik parabolün yerini yamuk bir eğri 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Hava direnci yatay hızı da azaltır; menzil kısalır, iniş çıkıştan dik ve uzun olur, en iyi açı 45°'nin altına iner. Ağır ve yavaş cisimlerde parabol modeli yine çok iyi çalışır.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Hava direnci varken eğik atılan bir topun çıkışı mı daha uzun sürer, inişi mi?
Sınıfa sorun, birkaç tahmin alın; sonra cevap slaytına geçin.
Cevap: İnişi. Çıkarken ağırlık da direnç de aşağı yönlüdür, top çabuk yavaşlar. İnerken direnç yukarı yönlüdür ve ağırlığın bir kısmını götürür; top daha yavaş hızlanır. Bu yüzden iniş daha uzun sürer ve yörünge inişte dikleşir.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İnişi. Çıkarken ağırlık da direnç de aşağı yönlüdür, top çabuk yavaşlar. İnerken direnç yukarı yönlüdür ve ağırlığın bir kısmını götürür; top daha yavaş hızlanır. Bu yüzden iniş daha uzun sürer ve yörünge inişte dikleşir.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Atışlar gerçek dünyada — adım 1/4
• Atış hareketi yalnızca ders kitabı problemi değildir; sporda, kurtarma çalışmalarında ve mühendislikte her gün hesaplanır.
• Hepsinde aynı iki kural işler: yatayda sabit hız, düşeyde sabit ivme.
• Gerçek sayılar ise modelin nerede yeterli, nerede eksik kaldığını gösterir.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Atışlar gerçek dünyada — adım 2/4
• Uzun atlama: sporcular tahtadan yaklaşık 9–10 m/s hızla ama 45° değil, 20° civarında ayrılır; koşudan gelen hızı dikleşerek harcamak kârlı değildir.
• Havadan yardım: 500 m yükseklikte 100 m/s ile uçan uçaktan bırakılan paket 10 s düşer ve yatayda 1 km gider; hedeften 1 km önce bırakılır.
• Basketbol: çember yerden 3,05 m yüksektedir. Yüksek kavisli şut çembere dik iner; çemberin ağzı topa daha geniş görünür, hata payı artar.
• Ay'da atış: Ay'da g yaklaşık altı kat küçüktür; 25 m/s ve 45° ile atılan cismin menzili 63,7 m'den yaklaşık 386 m'ye çıkar.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Atışlar gerçek dünyada — adım 3/4
• Fıskiyeler: su jetleri de birer atıştır. Düşey 10 m/s ile fışkıran su v₀²/(2g) = 5 m yükselir; tasarımcı yüksekliği bu bağıntıyla seçer.
• Havadan yardım örneğinde bir ayrıntı daha var: paket yere değdiğinde uçak tam onun üstündedir, çünkü ikisinin yatay hızı hep aynıdır.
• Ay örneğini laboratuvardaki “Ay'da 45°” hazır deneyiyle kendin görebilirsin; cisim havada yaklaşık 22 saniye kalır.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Atışlar gerçek dünyada — şekil
Uçağın ve paketin eşit zaman aralıklı konumları. Paket bırakıldığı anda uçağın yatay hızını taşır ve havada bu hız değişmez; bu yüzden düşerken hep uçağın tam altında kalır. Düştüğü sürede uçakla birlikte 1 km ileri gittiği için hedefin üstünde değil, 1 km önce bırakılır.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Uzun atlamadan havadan yardıma, basketboldan fıskiyelere kadar atışlar yatayda sabit hız, düşeyde sabit ivme kuralıyla çözülür. Gerçek en iyi açıyı hava direnci ve vücudun sınırları da belirler.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sınavda puan kaybettiren klasik hatalar.
14 Çözümlü örnekler
15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Masadan yuvarlanan bilye
0,8 m yüksekliğindeki bir masanın kenarından yatay olarak yuvarlanan bilye, masanın ayağından 1,2 m ötede yere düşüyor. (a) Düşme süresini, (b) bilyenin masadan ayrılma süratini, (c) yere çarpma süratini bulunuz.
Durum çizimi: Durum: bilye 0,8 m yüksekliğindeki masanın kenarından yatay olarak ayrılıyor ve masanın ayağından 1,2 m ötede yere düşüyor. Soruda istenenler “?” ile gösterildi: düşme süresi t, masadan ayrılma sürati v₀ ve yere çarpma sürati v.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Masadan yuvarlanan bilye
0,8 m yüksekliğindeki bir masanın kenarından yatay olarak yuvarlanan bilye, masanın ayağından 1,2 m ötede yere düşüyor. (a) Düşme süresini, (b) bilyenin masadan ayrılma süratini, (c) yere çarpma süratini bulunuz.
Verilenler: h = 0,8 m · x = 1,2 m · yatay yuvarlanıyor → v₀ᵧ = 0 · g = 10 m/s²
İstenen: (a) düşme süresi t · (b) masadan ayrılma sürati v₀ · (c) yere çarpma sürati v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Masadan yuvarlanan bilye — çözüm
1. (a) Düşeyde serbest düşme: 0,8 = ½·10·t² → t² = 0,16 → t = 0,4 s
2. (b) Yatayda sabit hız: v₀ = x / t = 1,2 / 0,4 = 3 m/s
3. (c) vy = g·t = 4 m/s → v = √(3² + 4²) = 5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80 m yüksekten yatay atış
80 m yüksekliğindeki bir kuleden yatay doğrultuda 30 m/s süratle atılan cisim için: (a) uçuş süresini, (b) menzili, (c) yere çarpma süratini bulunuz.
Durum çizimi: Durum: cisim 80 m yüksekliğindeki kuleden 30 m/s süratle yatay atılıyor. Soruda istenenler “?” ile gösterildi: uçuş süresi t, kulenin dibinden ölçülen menzil x ve yere çarpma sürati v.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80 m yüksekten yatay atış
80 m yüksekliğindeki bir kuleden yatay doğrultuda 30 m/s süratle atılan cisim için: (a) uçuş süresini, (b) menzili, (c) yere çarpma süratini bulunuz.
Verilenler: h = 80 m · v₀ = 30 m/s (yatay atış → v₀ᵧ = 0) · g = 10 m/s²
İstenen: (a) uçuş süresi t · (b) menzil x · (c) yere çarpma sürati v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80 m yüksekten yatay atış — çözüm
1. (a) Düşey hareket serbest düşmedir: 80 = ½·10·t² → t² = 16 → t = 4 s
2. (b) Yatayda sabit hız: x = 30 · 4 = 120 m
3. (c) vy = g·t = 40 m/s, vx = 30 m/s → v = √(30² + 40²) = 50 m/s. Yerle yaptığı açı: tanθ = 40/30 → θ ≈ 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53° ile eğik atış
Yerden 50 m/s süratle, yatayla 53° açı yapacak şekilde atılan cisim için: (a) tepe noktasına çıkma süresini, (b) maksimum yüksekliği, (c) menzili bulunuz. (sin53° = 0,8 · cos53° = 0,6)
Durum çizimi: Durum: cisim yerden 50 m/s süratle, yatayla 53° açıyla atılıyor ve yine yere iniyor. Soruda istenenler “?” ile gösterildi: tepeye çıkış süresi t, tepe noktasının yerden yüksekliği h ve menzil 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53° ile eğik atış
Yerden 50 m/s süratle, yatayla 53° açı yapacak şekilde atılan cisim için: (a) tepe noktasına çıkma süresini, (b) maksimum yüksekliği, (c) menzili bulunuz. (sin53° = 0,8 · cos53° = 0,6)
Verilenler: v₀ = 50 m/s · α = 53° · sin53° = 0,8 · cos53° = 0,6 · g = 10 m/s² · cisim yerden atılıp yere iniyor
İstenen: (a) tepeye çıkma süresi ttepe · (b) maksimum yükseklik hmaks · (c) menzil R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53° ile eğik atış — çözüm
1. Bileşenler: v₀ₓ = 50·0,6 = 30 m/s, v₀ᵧ = 50·0,8 = 40 m/s
2. (a) Tepede vy = 0 → 0 = 40 − 10·t → t = 4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53° ile eğik atış — çözüm
3. (b) h = 40²/(2·10) = 80 m
4. (c) Uçuş süresi 2·4 = 8 s → R = 30 · 8 = 240 m
Kontrol: R = v₀²·sin2α / g = 2500 · sin106° / 10 ≈ 2500 · 0,96 / 10 = 240 m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Aynı süratle farklı açılar
20 m/s süratle atılan bir cismin 30°, 45° ve 60° için menzillerini karşılaştırınız.
Durum çizimi: Durum: aynı cisim aynı noktadan hep 20 m/s ile, ama üç farklı açıyla atılıyor: 30°, 45° ve 60°. Üç okun boyu eşit, çünkü sürat aynı. Soruda istenen, her atışın menzili (“?”) ve bunların karşılaştırılması.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Aynı süratle farklı açılar
20 m/s süratle atılan bir cismin 30°, 45° ve 60° için menzillerini karşılaştırınız.
Verilenler: v₀ = 20 m/s · α = 30°, 45° ve 60° · g = 10 m/s² · sin60° = sin120° ≈ 0,866 · sin90° = 1
İstenen: üç açı için menzil R ve menzillerin karşılaştırılması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Aynı süratle farklı açılar — çözüm
1. R = v₀²·sin2α / g = 400·sin2α / 10 = 40·sin2α
2. 30° → 40·sin60° = 40·0,866 ≈ 34,6 m
3. 45° → 40·sin90° = 40 m (en uzun)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Aynı süratle farklı açılar — çözüm
4. 60° → 40·sin120° = 40·0,866 ≈ 34,6 m — 30° ile aynı!
5. Uçuş süreleri farklıdır: 30° için 2 s, 60° için 3,46 s. Aynı yere düşerler, ama biri diğerinden çok daha uzun havada kalır.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Uçaktan bırakılan yardım paketi
500 m yükseklikte, yatay doğrultuda 100 m/s süratle uçan bir uçak yere bir yardım paketi bırakacak. (a) Paket kaç saniyede yere iner? (b) Uçak, hedefin kaç metre gerisindeyken paketi bırakmalıdır? (c) Paket yere değdiğinde uçak nerededir?
Durum çizimi: Durum: uçak 500 m yükseklikte 100 m/s ile yatay uçarken paketi bırakıyor; paket yerdeki hedefe inmeli. Soruda istenenler “?” ile gösterildi: iniş süresi t, bırakma anında hedefe yatay uzaklık x ve paket yere değdiğinde uçağın nerede olduğu.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Uçaktan bırakılan yardım paketi
500 m yükseklikte, yatay doğrultuda 100 m/s süratle uçan bir uçak yere bir yardım paketi bırakacak. (a) Paket kaç saniyede yere iner? (b) Uçak, hedefin kaç metre gerisindeyken paketi bırakmalıdır? (c) Paket yere değdiğinde uçak nerededir?
Verilenler: h = 500 m · uçağın yatay hızı 100 m/s → paketin ilk hızı v₀ = 100 m/s, v₀ᵧ = 0 · g = 10 m/s²
İstenen: (a) iniş süresi t · (b) bırakma anında hedefe yatay uzaklık x · (c) paket yere değince uçağın yeri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Uçaktan bırakılan yardım paketi — çözüm
1. Paket bırakıldığı anda uçağın yatay hızına sahiptir: v₀ = 100 m/s, v₀ᵧ = 0 (yatay atış).
2. (a) 500 = ½·10·t² → t² = 100 → t = 10 s
3. (b) x = 100 · 10 = 1000 m; paket hedeften 1 km önce bırakılmalıdır.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Uçaktan bırakılan yardım paketi — çözüm
4. (c) Uçak da 10 s'de 1000 m gider: paket yere değdiğinde uçak tam üstündedir.
5. Çarpma: vy = 100 m/s → v = √(100² + 100²) ≈ 141 m/s, yerle 45° açıyla.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Top duvarın üstünden geçer mi?
Yerden 25 m/s süratle, yatayla 37° açıyla atılan bir top, 20 m ötedeki 8 m yüksekliğindeki bir duvara doğru gidiyor. (a) Top duvarı aşar mı? (b) Duvarın hizasından geçerken yükselmekte mi, alçalmakta mıdır? (c) Duvar olmasaydı top nereye düşerdi? (sin37° = 0,6 · cos37° = 0,8)
Durum çizimi: Durum: top yerden 25 m/s süratle, yatayla 37° açıyla atılıyor; 20 m ötede 8 m yüksekliğinde bir duvar var. Soruda istenenler: top duvarı aşar mı, duvarın hizasından geçerken yükselmekte mi alçalmakta mı, duvar olmasaydı menzil R ne olurdu.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Top duvarın üstünden geçer mi?
Yerden 25 m/s süratle, yatayla 37° açıyla atılan bir top, 20 m ötedeki 8 m yüksekliğindeki bir duvara doğru gidiyor. (a) Top duvarı aşar mı? (b) Duvarın hizasından geçerken yükselmekte mi, alçalmakta mıdır? (c) Duvar olmasaydı top nereye düşerdi? (sin37° = 0,6 · cos37° = 0,8)
Verilenler: v₀ = 25 m/s · α = 37° · sin37° = 0,6 · cos37° = 0,8 · duvara uzaklık 20 m · duvar yüksekliği 8 m · g = 10 m/s²
İstenen: (a) top duvarı aşar mı · (b) duvar hizasında yükseliyor mu, alçalıyor mu · (c) duvar olmasaydı menzil R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Top duvarın üstünden geçer mi? — çözüm
1. Bileşenler: v₀ₓ = 25·0,8 = 20 m/s, v₀ᵧ = 25·0,6 = 15 m/s
2. Duvara varış: t = 20 / 20 = 1 s
3. (a) O andaki yükseklik: y = 15·1 − 5·1² = 10 m &gt; 8 m → top duvarı 2 m farkla aşar.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Top duvarın üstünden geçer mi? — çözüm
4. (b) vy = 15 − 10·1 = +5 m/s &gt; 0 → top hâlâ yükselmektedir (tepeye 1,5 s'de varır).
5. (c) Uçuş süresi 2·15/10 = 3 s → R = 20 · 3 = 60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Yükseklikten eğik atış
20 m yüksekliğindeki bir çatıdan, yatayla 37° açıyla 25 m/s süratle atılan cisim için: (a) yere çarpma süresini, (b) yatay uzaklığı, (c) çarpma süratini bulunuz. (sin37° = 0,6 · cos37° = 0,8)
Durum çizimi: Durum: cisim 20 m yüksekliğindeki çatıdan, yatayla 37° yukarı doğru 25 m/s süratle atılıyor; önce yükselir, sonra çatı hizasının altına inip yere düşer. Soruda istenenler “?” ile gösterildi: süre t, yatay uzaklık x ve çarpma sürati v.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Yükseklikten eğik atış
20 m yüksekliğindeki bir çatıdan, yatayla 37° açıyla 25 m/s süratle atılan cisim için: (a) yere çarpma süresini, (b) yatay uzaklığı, (c) çarpma süratini bulunuz. (sin37° = 0,6 · cos37° = 0,8)
Verilenler: h = 20 m · v₀ = 25 m/s · α = 37° · sin37° = 0,6 · cos37° = 0,8 · g = 10 m/s²
İstenen: (a) yere çarpma süresi t · (b) yatay uzaklık x · (c) çarpma sürati v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Yükseklikten eğik atış — çözüm
1. Bileşenler: v₀ₓ = 25·0,8 = 20 m/s, v₀ᵧ = 25·0,6 = 15 m/s
2. (a) Yere değince y = 0: 20 + 15t − 5t² = 0 → t² − 3t − 4 = 0 → (t − 4)(t + 1) = 0 → t = 4 s
3. (b) x = 20 · 4 = 80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Yükseklikten eğik atış — çözüm
4. (c) vy = 15 − 10·4 = −25 m/s (aşağı), vx = 20 m/s → v = √(20² + 25²) = √1025 ≈ 32 m/s
5. Kısa yol: v² = v₀² + 2gh = 625 + 2·10·20 = 1025 ✓ (yükseklik farkı aynıysa atış açısı sürati değiştirmez)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1,25 m yüksekliğindeki bir masanın kenarından yatay yuvarlanan bilye kaç saniyede yere düşer?
Öğrencilere 2–3 dakika verin; sonra cevap slaytını açın.
Cevap: Cevap: Düşeyde serbest düşme vardır: t = √(2h / g) = √(2 · 1,25 / 10) = √0,25 = 0,5 s. Bilyenin masadan ayrılma sürati bu süreyi değiştirmez.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Düşeyde serbest düşme vardır: t = √(2h / g) = √(2 · 1,25 / 10) = √0,25 = 0,5 s. Bilyenin masadan ayrılma sürati bu süreyi değiştirmez.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Bir top 40 m/s süratle, yatayla 37° açı yapacak biçimde atılıyor. İlk hızın yatay ve düşey bileşenleri kaç m/s'dir?
Öğrencilere 2–3 dakika verin; sonra cevap slaytını açın.
Cevap: Cevap: v₀ₓ = v₀ · cos37° = 40 · 0,8 = 32 m/s, v₀ᵧ = v₀ · sin37° = 40 · 0,6 = 24 m/s. Kontrol: 32² + 24² = 1024 + 576 = 1600 = 40²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v₀ₓ = v₀ · cos37° = 40 · 0,8 = 32 m/s, v₀ᵧ = v₀ · sin37° = 40 · 0,6 = 24 m/s. Kontrol: 32² + 24² = 1024 + 576 = 1600 = 40²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20 m yüksekliğindeki bir çatıdan 15 m/s ile yatay atılan top, binanın kaç metre ötesine düşer ve yere kaç m/s süratle çarpar?
Öğrencilere 2–3 dakika verin; sonra cevap slaytını açın.
Cevap: Cevap: Süre t = √(2 · 20 / 10) = 2 s. Yatayda x = v₀ · t = 15 · 2 = 30 m. Düşey hız vy = g · t = 20 m/s → v = √(15² + 20²) = √625 = 25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Süre t = √(2 · 20 / 10) = 2 s. Yatayda x = v₀ · t = 15 · 2 = 30 m. Düşey hız vy = g · t = 20 m/s → v = √(15² + 20²) = √625 = 25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Yerden atılan bir topun ilk hız bileşenleri v₀ₓ = 10 m/s ve v₀ᵧ = 20 m/s'dir. Top kaç saniye havada kalır, kaç metre öteye düşer ve tepede sürati kaç m/s olur?
Öğrencilere 2–3 dakika verin; sonra cevap slaytını açın.
Cevap: Cevap: Tepeye çıkış ttepe = v₀ᵧ / g = 20 / 10 = 2 s, iniş de 2 s sürer: top 4 s havada kalır. Menzil R = v₀ₓ · t = 10 · 4 = 40 m. Tepede vy = 0 olur ama yatay hız sürer: sürat sıfır değil, 10 m/s'dir.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Tepeye çıkış ttepe = v₀ᵧ / g = 20 / 10 = 2 s, iniş de 2 s sürer: top 4 s havada kalır. Menzil R = v₀ₓ · t = 10 · 4 = 40 m. Tepede vy = 0 olur ama yatay hız sürer: sürat sıfır değil, 10 m/s'dir.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20 m/s ile yatay atılan bir taşın hızı kaç saniye sonra yatayla 45° açı yapar? O ana kadar taş kaç metre düşmüştür?
Öğrencilere 2–3 dakika verin; sonra cevap slaytını açın.
Cevap: Cevap: 45°'de tanθ = vy / vx = 1 olur, yani vy = vx = 20 m/s olmalı. vy = g · t → 20 = 10 · t → t = 2 s. Bu sürede düşülen yol ½ · g · t² = 5 · 2² = 20 m. O anki sürat √(20² + 20²) ≈ 28,3 m/s olur.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45°'de tanθ = vy / vx = 1 olur, yani vy = vx = 20 m/s olmalı. vy = g · t → 20 = 10 · t → t = 2 s. Bu sürede düşülen yol ½ · g · t² = 5 · 2² = 20 m. O anki sürat √(20² + 20²) ≈ 28,3 m/s olur.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“Tepe noktada hız sıfırdır.” Sıfırlanan yalnızca vy'dir; yatay bileşen v₀cosα devam eder. Yalnızca düşey atışta (α = 90°) hız tümüyle sıfırlanır.
• “Tepe noktada ivme sıfırdır.” İvme hareket boyunca sabittir: g, aşağı yönde.
• “Yatay hız düşme süresini etkiler.” Etkilemez. Süre yalnızca düşey harekete, yani yüksekliğe, v₀ᵧ'ye ve g'ye bağlıdır.
• İvmeyi yörüngeye teğet sanmak. Teğet olan hızdır; ivme her noktada düşeydir.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Menzil formülünü her yerde kullanmak. R = v₀²sin2α/g yalnızca atış ve iniş aynı yükseklikteyse geçerlidir.
• Bileşenleri skaler toplamak. v = √(vx² + vy²); vx + vy değil.
• sinüs ile kosinüsü karıştırmak. Açı yatayla ölçülüyorsa yatay bileşen kosinüslü, düşey bileşen sinüslüdür. Açı düşeyle veriliyorsa tam tersi.
• Kütleyi hesaba katmak. Hiçbir bağıntıda m yoktur; hava direnci ihmal edildiği sürece ağır cisim de hafif cisim de aynı yörüngeyi çizer.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Yatayda ax = 0 · Düşeyde ay = g · Yörünge parabol · En uzun menzil 45°
x = v₀·cosα · t — yatayda sabit hız
y = v₀·sinα · t − ½g·t² — düşeyde sabit ivme
R = v₀²·sin2α / g — aynı yükseklikte menzil
h = v₀²·sin²α / (2g) — tepe yüksekliği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jp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slideLayout" Target="../slideLayouts/slideLayout1.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jpg"/><Relationship Id="rId2" Type="http://schemas.openxmlformats.org/officeDocument/2006/relationships/slideLayout" Target="../slideLayouts/slideLayout1.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slideLayout" Target="../slideLayouts/slideLayout1.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jp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slideLayout" Target="../slideLayouts/slideLayout1.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jpg"/><Relationship Id="rId2" Type="http://schemas.openxmlformats.org/officeDocument/2006/relationships/slideLayout" Target="../slideLayouts/slideLayout1.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png"/><Relationship Id="rId2" Type="http://schemas.openxmlformats.org/officeDocument/2006/relationships/slideLayout" Target="../slideLayouts/slideLayout1.xm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image" Target="../media/image-114-1.png"/><Relationship Id="rId2" Type="http://schemas.openxmlformats.org/officeDocument/2006/relationships/slideLayout" Target="../slideLayouts/slideLayout1.xml"/><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image" Target="../media/image-117-1.png"/><Relationship Id="rId2" Type="http://schemas.openxmlformats.org/officeDocument/2006/relationships/slideLayout" Target="../slideLayouts/slideLayout1.xml"/><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image-120-1.png"/><Relationship Id="rId2" Type="http://schemas.openxmlformats.org/officeDocument/2006/relationships/slideLayout" Target="../slideLayouts/slideLayout1.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image" Target="../media/image-124-1.png"/><Relationship Id="rId2" Type="http://schemas.openxmlformats.org/officeDocument/2006/relationships/slideLayout" Target="../slideLayouts/slideLayout1.xml"/><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image" Target="../media/image-128-1.png"/><Relationship Id="rId2" Type="http://schemas.openxmlformats.org/officeDocument/2006/relationships/slideLayout" Target="../slideLayouts/slideLayout1.xml"/><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image" Target="../media/image-132-1.png"/><Relationship Id="rId2" Type="http://schemas.openxmlformats.org/officeDocument/2006/relationships/slideLayout" Target="../slideLayouts/slideLayout1.xml"/><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image" Target="../media/image-136-1.png"/><Relationship Id="rId2" Type="http://schemas.openxmlformats.org/officeDocument/2006/relationships/slideLayout" Target="../slideLayouts/slideLayout1.xml"/><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dersler-sekiller/iki-boyutta-hareket-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KUVVET VE HAREKET · KONU 02</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3900" b="1" spc="-100" kern="0" dirty="0">
                <a:solidFill>
                  <a:srgbClr val="FFFFFF"/>
                </a:solidFill>
                <a:latin typeface="Cambria" pitchFamily="34" charset="0"/>
                <a:ea typeface="Cambria" pitchFamily="34" charset="-122"/>
                <a:cs typeface="Cambria" pitchFamily="34" charset="-120"/>
              </a:rPr>
              <a:t>İki boyutta sabit ivmeli hareket</a:t>
            </a:r>
            <a:endParaRPr lang="en-US" sz="39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300" dirty="0">
                <a:solidFill>
                  <a:srgbClr val="C3CEE8"/>
                </a:solidFill>
                <a:latin typeface="Calibri" pitchFamily="34" charset="0"/>
                <a:ea typeface="Calibri" pitchFamily="34" charset="-122"/>
                <a:cs typeface="Calibri" pitchFamily="34" charset="-120"/>
              </a:rPr>
              <a:t>Havaya fırlatılan bir cisim aslında iki hareketi aynı anda yapar: yatayda hiç hızlanmadan gider, düşeyde serbest düşer. İkisi birbirine karışmaz; tek ortak değişkenleri zamandır. Aşağıda bu iki hareketi ayrı ayrı görebilir, sonra birleştirip parabolü elde edebilirsin.</a:t>
            </a:r>
            <a:endParaRPr lang="en-US" sz="13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640080" y="6382512"/>
            <a:ext cx="128016" cy="128016"/>
          </a:xfrm>
          <a:prstGeom prst="roundRect">
            <a:avLst>
              <a:gd name="adj" fmla="val 28571"/>
            </a:avLst>
          </a:prstGeom>
          <a:solidFill>
            <a:srgbClr val="C6F36B"/>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dersler.perinet.org/iki-boyutta-hareket.html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Bir tüfekten yatay olarak atılan mermi ile namlunun ucundan aynı anda bırakılan bir mermi yere </a:t>
            </a:r>
            <a:pPr indent="0" marL="0">
              <a:lnSpc>
                <a:spcPct val="130000"/>
              </a:lnSpc>
              <a:buNone/>
            </a:pPr>
            <a:r>
              <a:rPr lang="en-US" sz="2400" b="1" dirty="0">
                <a:solidFill>
                  <a:srgbClr val="5F4BD8"/>
                </a:solidFill>
                <a:latin typeface="Cambria" pitchFamily="34" charset="0"/>
                <a:ea typeface="Cambria" pitchFamily="34" charset="-122"/>
                <a:cs typeface="Cambria" pitchFamily="34" charset="-120"/>
              </a:rPr>
              <a:t>aynı anda</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 iner — mermi yüzlerce metre öteye gitmiş olsa bile.</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Atış hareketlerinin tamamı bu tek fikrin üzerine kuruludur: </a:t>
            </a:r>
            <a:pPr indent="0" marL="0">
              <a:lnSpc>
                <a:spcPct val="130000"/>
              </a:lnSpc>
              <a:buNone/>
            </a:pPr>
            <a:r>
              <a:rPr lang="en-US" sz="2400" b="1" dirty="0">
                <a:solidFill>
                  <a:srgbClr val="5F4BD8"/>
                </a:solidFill>
                <a:latin typeface="Cambria" pitchFamily="34" charset="0"/>
                <a:ea typeface="Cambria" pitchFamily="34" charset="-122"/>
                <a:cs typeface="Cambria" pitchFamily="34" charset="-120"/>
              </a:rPr>
              <a:t>yatay hareket ile düşey hareket birbirini hiç etkilemez.</a:t>
            </a:r>
            <a:endParaRPr lang="en-US" sz="24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Önce sezgi: atılan bir cismin yoluna bak, hareketi iki eksene ayır ve iki eksenin neden birbirini etkilemediğini gör. Bu basamakta hesap yok denecek kadar az.</a:t>
            </a:r>
            <a:endParaRPr lang="en-US" sz="100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Önce gözlemle: atılan bir cisim nasıl bir yol çizer?</a:t>
            </a:r>
            <a:endParaRPr lang="en-US" sz="1200" dirty="0"/>
          </a:p>
        </p:txBody>
      </p:sp>
      <p:sp>
        <p:nvSpPr>
          <p:cNvPr id="15" name="Text 13"/>
          <p:cNvSpPr txBox="1"/>
          <p:nvPr/>
        </p:nvSpPr>
        <p:spPr>
          <a:xfrm>
            <a:off x="859536" y="4224528"/>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İki boyutta sabit ivmeli hareket nedir?</a:t>
            </a:r>
            <a:endParaRPr lang="en-US" sz="1250" dirty="0"/>
          </a:p>
        </p:txBody>
      </p:sp>
      <p:sp>
        <p:nvSpPr>
          <p:cNvPr id="17" name="Text 15"/>
          <p:cNvSpPr txBox="1"/>
          <p:nvPr/>
        </p:nvSpPr>
        <p:spPr>
          <a:xfrm>
            <a:off x="859536" y="4882896"/>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Bağımsızlık ilkesi</a:t>
            </a:r>
            <a:endParaRPr lang="en-US" sz="1250" dirty="0"/>
          </a:p>
        </p:txBody>
      </p:sp>
      <p:sp>
        <p:nvSpPr>
          <p:cNvPr id="19" name="Shape 17"/>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3601136" y="1645920"/>
            <a:ext cx="2211248" cy="64008"/>
          </a:xfrm>
          <a:prstGeom prst="rect">
            <a:avLst/>
          </a:prstGeom>
          <a:solidFill>
            <a:srgbClr val="2957D4"/>
          </a:solidFill>
          <a:ln/>
        </p:spPr>
      </p:sp>
      <p:sp>
        <p:nvSpPr>
          <p:cNvPr id="21" name="Shape 19"/>
          <p:cNvSpPr/>
          <p:nvPr/>
        </p:nvSpPr>
        <p:spPr>
          <a:xfrm>
            <a:off x="3637712" y="1920240"/>
            <a:ext cx="420624" cy="420624"/>
          </a:xfrm>
          <a:prstGeom prst="roundRect">
            <a:avLst>
              <a:gd name="adj" fmla="val 26000"/>
            </a:avLst>
          </a:prstGeom>
          <a:solidFill>
            <a:srgbClr val="2957D4"/>
          </a:solidFill>
          <a:ln/>
        </p:spPr>
      </p:sp>
      <p:sp>
        <p:nvSpPr>
          <p:cNvPr id="22" name="Text 20"/>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3" name="Text 21"/>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4" name="Text 22"/>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Bağıntılar: hızı bileşenlerine ayır, yatay ve eğik atışı çöz, menzili ve yörüngeyi adım adım türet.</a:t>
            </a:r>
            <a:endParaRPr lang="en-US" sz="1150" dirty="0"/>
          </a:p>
        </p:txBody>
      </p:sp>
      <p:sp>
        <p:nvSpPr>
          <p:cNvPr id="25" name="Shape 23"/>
          <p:cNvSpPr/>
          <p:nvPr/>
        </p:nvSpPr>
        <p:spPr>
          <a:xfrm>
            <a:off x="3637712" y="3429000"/>
            <a:ext cx="2138096" cy="0"/>
          </a:xfrm>
          <a:prstGeom prst="line">
            <a:avLst/>
          </a:prstGeom>
          <a:noFill/>
          <a:ln w="9525">
            <a:solidFill>
              <a:srgbClr val="E1E5EE"/>
            </a:solidFill>
            <a:prstDash val="dash"/>
          </a:ln>
        </p:spPr>
      </p:sp>
      <p:sp>
        <p:nvSpPr>
          <p:cNvPr id="26" name="Text 24"/>
          <p:cNvSpPr txBox="1"/>
          <p:nvPr/>
        </p:nvSpPr>
        <p:spPr>
          <a:xfrm>
            <a:off x="3637712" y="3566160"/>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04</a:t>
            </a:r>
            <a:endParaRPr lang="en-US" sz="1100" dirty="0"/>
          </a:p>
        </p:txBody>
      </p:sp>
      <p:sp>
        <p:nvSpPr>
          <p:cNvPr id="27" name="Text 25"/>
          <p:cNvSpPr txBox="1"/>
          <p:nvPr/>
        </p:nvSpPr>
        <p:spPr>
          <a:xfrm>
            <a:off x="4021760" y="3566160"/>
            <a:ext cx="1754048" cy="367284"/>
          </a:xfrm>
          <a:prstGeom prst="rect">
            <a:avLst/>
          </a:prstGeom>
          <a:noFill/>
          <a:ln/>
        </p:spPr>
        <p:txBody>
          <a:bodyPr wrap="square" lIns="0" tIns="0" rIns="0" bIns="0" rtlCol="0" anchor="t"/>
          <a:lstStyle/>
          <a:p>
            <a:pPr indent="0" marL="0">
              <a:lnSpc>
                <a:spcPct val="105000"/>
              </a:lnSpc>
              <a:buNone/>
            </a:pPr>
            <a:r>
              <a:rPr lang="en-US" sz="1050" b="1" dirty="0">
                <a:solidFill>
                  <a:srgbClr val="0E1426"/>
                </a:solidFill>
                <a:latin typeface="Calibri" pitchFamily="34" charset="0"/>
                <a:ea typeface="Calibri" pitchFamily="34" charset="-122"/>
                <a:cs typeface="Calibri" pitchFamily="34" charset="-120"/>
              </a:rPr>
              <a:t>Vektörel bağıntılar ve bileşenlere ayırma</a:t>
            </a:r>
            <a:endParaRPr lang="en-US" sz="1050" dirty="0"/>
          </a:p>
        </p:txBody>
      </p:sp>
      <p:sp>
        <p:nvSpPr>
          <p:cNvPr id="28" name="Text 26"/>
          <p:cNvSpPr txBox="1"/>
          <p:nvPr/>
        </p:nvSpPr>
        <p:spPr>
          <a:xfrm>
            <a:off x="3637712" y="3988308"/>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3988308"/>
            <a:ext cx="1754048" cy="36728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Yatay atış</a:t>
            </a:r>
            <a:endParaRPr lang="en-US" sz="1250" dirty="0"/>
          </a:p>
        </p:txBody>
      </p:sp>
      <p:sp>
        <p:nvSpPr>
          <p:cNvPr id="30" name="Text 28"/>
          <p:cNvSpPr txBox="1"/>
          <p:nvPr/>
        </p:nvSpPr>
        <p:spPr>
          <a:xfrm>
            <a:off x="3637712" y="4410456"/>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410456"/>
            <a:ext cx="1754048" cy="367284"/>
          </a:xfrm>
          <a:prstGeom prst="rect">
            <a:avLst/>
          </a:prstGeom>
          <a:noFill/>
          <a:ln/>
        </p:spPr>
        <p:txBody>
          <a:bodyPr wrap="square" lIns="0" tIns="0" rIns="0" bIns="0" rtlCol="0" anchor="t"/>
          <a:lstStyle/>
          <a:p>
            <a:pPr indent="0" marL="0">
              <a:lnSpc>
                <a:spcPct val="105000"/>
              </a:lnSpc>
              <a:buNone/>
            </a:pPr>
            <a:r>
              <a:rPr lang="en-US" sz="1000" b="1" dirty="0">
                <a:solidFill>
                  <a:srgbClr val="0E1426"/>
                </a:solidFill>
                <a:latin typeface="Calibri" pitchFamily="34" charset="0"/>
                <a:ea typeface="Calibri" pitchFamily="34" charset="-122"/>
                <a:cs typeface="Calibri" pitchFamily="34" charset="-120"/>
              </a:rPr>
              <a:t>Sayılarla hisset: ne kadar sürede, ne kadar öteye?</a:t>
            </a:r>
            <a:endParaRPr lang="en-US" sz="1000" dirty="0"/>
          </a:p>
        </p:txBody>
      </p:sp>
      <p:sp>
        <p:nvSpPr>
          <p:cNvPr id="32" name="Text 30"/>
          <p:cNvSpPr txBox="1"/>
          <p:nvPr/>
        </p:nvSpPr>
        <p:spPr>
          <a:xfrm>
            <a:off x="3637712" y="4832604"/>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4832604"/>
            <a:ext cx="1754048" cy="36728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Eğik atış</a:t>
            </a:r>
            <a:endParaRPr lang="en-US" sz="1250" dirty="0"/>
          </a:p>
        </p:txBody>
      </p:sp>
      <p:sp>
        <p:nvSpPr>
          <p:cNvPr id="34" name="Text 32"/>
          <p:cNvSpPr txBox="1"/>
          <p:nvPr/>
        </p:nvSpPr>
        <p:spPr>
          <a:xfrm>
            <a:off x="3637712" y="5254752"/>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08</a:t>
            </a:r>
            <a:endParaRPr lang="en-US" sz="1100" dirty="0"/>
          </a:p>
        </p:txBody>
      </p:sp>
      <p:sp>
        <p:nvSpPr>
          <p:cNvPr id="35" name="Text 33"/>
          <p:cNvSpPr txBox="1"/>
          <p:nvPr/>
        </p:nvSpPr>
        <p:spPr>
          <a:xfrm>
            <a:off x="4021760" y="5254752"/>
            <a:ext cx="1754048" cy="367284"/>
          </a:xfrm>
          <a:prstGeom prst="rect">
            <a:avLst/>
          </a:prstGeom>
          <a:noFill/>
          <a:ln/>
        </p:spPr>
        <p:txBody>
          <a:bodyPr wrap="square" lIns="0" tIns="0" rIns="0" bIns="0" rtlCol="0" anchor="t"/>
          <a:lstStyle/>
          <a:p>
            <a:pPr indent="0" marL="0">
              <a:lnSpc>
                <a:spcPct val="105000"/>
              </a:lnSpc>
              <a:buNone/>
            </a:pPr>
            <a:r>
              <a:rPr lang="en-US" sz="1050" b="1" dirty="0">
                <a:solidFill>
                  <a:srgbClr val="0E1426"/>
                </a:solidFill>
                <a:latin typeface="Calibri" pitchFamily="34" charset="0"/>
                <a:ea typeface="Calibri" pitchFamily="34" charset="-122"/>
                <a:cs typeface="Calibri" pitchFamily="34" charset="-120"/>
              </a:rPr>
              <a:t>Menzil, açı ve tümler açılar</a:t>
            </a:r>
            <a:endParaRPr lang="en-US" sz="1050" dirty="0"/>
          </a:p>
        </p:txBody>
      </p:sp>
      <p:sp>
        <p:nvSpPr>
          <p:cNvPr id="36" name="Text 34"/>
          <p:cNvSpPr txBox="1"/>
          <p:nvPr/>
        </p:nvSpPr>
        <p:spPr>
          <a:xfrm>
            <a:off x="3637712" y="5676900"/>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09</a:t>
            </a:r>
            <a:endParaRPr lang="en-US" sz="1100" dirty="0"/>
          </a:p>
        </p:txBody>
      </p:sp>
      <p:sp>
        <p:nvSpPr>
          <p:cNvPr id="37" name="Text 35"/>
          <p:cNvSpPr txBox="1"/>
          <p:nvPr/>
        </p:nvSpPr>
        <p:spPr>
          <a:xfrm>
            <a:off x="4021760" y="5676900"/>
            <a:ext cx="1754048" cy="367284"/>
          </a:xfrm>
          <a:prstGeom prst="rect">
            <a:avLst/>
          </a:prstGeom>
          <a:noFill/>
          <a:ln/>
        </p:spPr>
        <p:txBody>
          <a:bodyPr wrap="square" lIns="0" tIns="0" rIns="0" bIns="0" rtlCol="0" anchor="t"/>
          <a:lstStyle/>
          <a:p>
            <a:pPr indent="0" marL="0">
              <a:lnSpc>
                <a:spcPct val="105000"/>
              </a:lnSpc>
              <a:buNone/>
            </a:pPr>
            <a:r>
              <a:rPr lang="en-US" sz="1050" b="1" dirty="0">
                <a:solidFill>
                  <a:srgbClr val="0E1426"/>
                </a:solidFill>
                <a:latin typeface="Calibri" pitchFamily="34" charset="0"/>
                <a:ea typeface="Calibri" pitchFamily="34" charset="-122"/>
                <a:cs typeface="Calibri" pitchFamily="34" charset="-120"/>
              </a:rPr>
              <a:t>Yörünge denklemi ve grafikler</a:t>
            </a:r>
            <a:endParaRPr lang="en-US" sz="1050" dirty="0"/>
          </a:p>
        </p:txBody>
      </p:sp>
      <p:sp>
        <p:nvSpPr>
          <p:cNvPr id="38" name="Shape 36"/>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9" name="Shape 37"/>
          <p:cNvSpPr/>
          <p:nvPr/>
        </p:nvSpPr>
        <p:spPr>
          <a:xfrm>
            <a:off x="6379312" y="1645920"/>
            <a:ext cx="2211248" cy="64008"/>
          </a:xfrm>
          <a:prstGeom prst="rect">
            <a:avLst/>
          </a:prstGeom>
          <a:solidFill>
            <a:srgbClr val="5F4BD8"/>
          </a:solidFill>
          <a:ln/>
        </p:spPr>
      </p:sp>
      <p:sp>
        <p:nvSpPr>
          <p:cNvPr id="40" name="Shape 38"/>
          <p:cNvSpPr/>
          <p:nvPr/>
        </p:nvSpPr>
        <p:spPr>
          <a:xfrm>
            <a:off x="6415888" y="1920240"/>
            <a:ext cx="420624" cy="420624"/>
          </a:xfrm>
          <a:prstGeom prst="roundRect">
            <a:avLst>
              <a:gd name="adj" fmla="val 26000"/>
            </a:avLst>
          </a:prstGeom>
          <a:solidFill>
            <a:srgbClr val="5F4BD8"/>
          </a:solidFill>
          <a:ln/>
        </p:spPr>
      </p:sp>
      <p:sp>
        <p:nvSpPr>
          <p:cNvPr id="41" name="Text 39"/>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Text 40"/>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43" name="Text 41"/>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Derinleşme: yüksekten atış, düşen bir hedefe nişan, hava direnci ve atışların gerçek hayattaki yüzü.</a:t>
            </a:r>
            <a:endParaRPr lang="en-US" sz="1150" dirty="0"/>
          </a:p>
        </p:txBody>
      </p:sp>
      <p:sp>
        <p:nvSpPr>
          <p:cNvPr id="44" name="Shape 42"/>
          <p:cNvSpPr/>
          <p:nvPr/>
        </p:nvSpPr>
        <p:spPr>
          <a:xfrm>
            <a:off x="6415888" y="3429000"/>
            <a:ext cx="2138096" cy="0"/>
          </a:xfrm>
          <a:prstGeom prst="line">
            <a:avLst/>
          </a:prstGeom>
          <a:noFill/>
          <a:ln w="9525">
            <a:solidFill>
              <a:srgbClr val="E1E5EE"/>
            </a:solidFill>
            <a:prstDash val="dash"/>
          </a:ln>
        </p:spPr>
      </p:sp>
      <p:sp>
        <p:nvSpPr>
          <p:cNvPr id="45" name="Text 43"/>
          <p:cNvSpPr txBox="1"/>
          <p:nvPr/>
        </p:nvSpPr>
        <p:spPr>
          <a:xfrm>
            <a:off x="6415888" y="3566160"/>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3566160"/>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Yüksekten atış: 45° artık en iyi değil</a:t>
            </a:r>
            <a:endParaRPr lang="en-US" sz="1250" dirty="0"/>
          </a:p>
        </p:txBody>
      </p:sp>
      <p:sp>
        <p:nvSpPr>
          <p:cNvPr id="47" name="Text 45"/>
          <p:cNvSpPr txBox="1"/>
          <p:nvPr/>
        </p:nvSpPr>
        <p:spPr>
          <a:xfrm>
            <a:off x="6415888" y="4199382"/>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11</a:t>
            </a:r>
            <a:endParaRPr lang="en-US" sz="1100" dirty="0"/>
          </a:p>
        </p:txBody>
      </p:sp>
      <p:sp>
        <p:nvSpPr>
          <p:cNvPr id="48" name="Text 46"/>
          <p:cNvSpPr txBox="1"/>
          <p:nvPr/>
        </p:nvSpPr>
        <p:spPr>
          <a:xfrm>
            <a:off x="6799936" y="4199382"/>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Düşen hedefe nişan: bağımsızlığın en şaşırtıcı sonucu</a:t>
            </a:r>
            <a:endParaRPr lang="en-US" sz="1150" dirty="0"/>
          </a:p>
        </p:txBody>
      </p:sp>
      <p:sp>
        <p:nvSpPr>
          <p:cNvPr id="49" name="Text 47"/>
          <p:cNvSpPr txBox="1"/>
          <p:nvPr/>
        </p:nvSpPr>
        <p:spPr>
          <a:xfrm>
            <a:off x="6415888" y="4832604"/>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12</a:t>
            </a:r>
            <a:endParaRPr lang="en-US" sz="1100" dirty="0"/>
          </a:p>
        </p:txBody>
      </p:sp>
      <p:sp>
        <p:nvSpPr>
          <p:cNvPr id="50" name="Text 48"/>
          <p:cNvSpPr txBox="1"/>
          <p:nvPr/>
        </p:nvSpPr>
        <p:spPr>
          <a:xfrm>
            <a:off x="6799936" y="4832604"/>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Hava direnci işe karışınca: modelin sınırları</a:t>
            </a:r>
            <a:endParaRPr lang="en-US" sz="1150" dirty="0"/>
          </a:p>
        </p:txBody>
      </p:sp>
      <p:sp>
        <p:nvSpPr>
          <p:cNvPr id="51" name="Text 49"/>
          <p:cNvSpPr txBox="1"/>
          <p:nvPr/>
        </p:nvSpPr>
        <p:spPr>
          <a:xfrm>
            <a:off x="6415888" y="5465826"/>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13</a:t>
            </a:r>
            <a:endParaRPr lang="en-US" sz="1100" dirty="0"/>
          </a:p>
        </p:txBody>
      </p:sp>
      <p:sp>
        <p:nvSpPr>
          <p:cNvPr id="52" name="Text 50"/>
          <p:cNvSpPr txBox="1"/>
          <p:nvPr/>
        </p:nvSpPr>
        <p:spPr>
          <a:xfrm>
            <a:off x="6799936" y="5465826"/>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Atışlar gerçek dünyada</a:t>
            </a:r>
            <a:endParaRPr lang="en-US" sz="1250" dirty="0"/>
          </a:p>
        </p:txBody>
      </p:sp>
      <p:sp>
        <p:nvSpPr>
          <p:cNvPr id="53" name="Shape 51"/>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54" name="Shape 52"/>
          <p:cNvSpPr/>
          <p:nvPr/>
        </p:nvSpPr>
        <p:spPr>
          <a:xfrm>
            <a:off x="9157487" y="1645920"/>
            <a:ext cx="2211248" cy="64008"/>
          </a:xfrm>
          <a:prstGeom prst="rect">
            <a:avLst/>
          </a:prstGeom>
          <a:solidFill>
            <a:srgbClr val="A56209"/>
          </a:solidFill>
          <a:ln/>
        </p:spPr>
      </p:sp>
      <p:sp>
        <p:nvSpPr>
          <p:cNvPr id="55" name="Shape 53"/>
          <p:cNvSpPr/>
          <p:nvPr/>
        </p:nvSpPr>
        <p:spPr>
          <a:xfrm>
            <a:off x="9194063" y="1920240"/>
            <a:ext cx="420624" cy="420624"/>
          </a:xfrm>
          <a:prstGeom prst="roundRect">
            <a:avLst>
              <a:gd name="adj" fmla="val 26000"/>
            </a:avLst>
          </a:prstGeom>
          <a:solidFill>
            <a:srgbClr val="A56209"/>
          </a:solidFill>
          <a:ln/>
        </p:spPr>
      </p:sp>
      <p:sp>
        <p:nvSpPr>
          <p:cNvPr id="56" name="Text 54"/>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7" name="Text 55"/>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8" name="Text 56"/>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sınavda puan kaybettiren klasik hatalar.</a:t>
            </a:r>
            <a:endParaRPr lang="en-US" sz="1150" dirty="0"/>
          </a:p>
        </p:txBody>
      </p:sp>
      <p:sp>
        <p:nvSpPr>
          <p:cNvPr id="59" name="Shape 57"/>
          <p:cNvSpPr/>
          <p:nvPr/>
        </p:nvSpPr>
        <p:spPr>
          <a:xfrm>
            <a:off x="9194063" y="3429000"/>
            <a:ext cx="2138096" cy="0"/>
          </a:xfrm>
          <a:prstGeom prst="line">
            <a:avLst/>
          </a:prstGeom>
          <a:noFill/>
          <a:ln w="9525">
            <a:solidFill>
              <a:srgbClr val="E1E5EE"/>
            </a:solidFill>
            <a:prstDash val="dash"/>
          </a:ln>
        </p:spPr>
      </p:sp>
      <p:sp>
        <p:nvSpPr>
          <p:cNvPr id="60" name="Text 58"/>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14</a:t>
            </a:r>
            <a:endParaRPr lang="en-US" sz="1100" dirty="0"/>
          </a:p>
        </p:txBody>
      </p:sp>
      <p:sp>
        <p:nvSpPr>
          <p:cNvPr id="61" name="Text 59"/>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62" name="Text 60"/>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15</a:t>
            </a:r>
            <a:endParaRPr lang="en-US" sz="1100" dirty="0"/>
          </a:p>
        </p:txBody>
      </p:sp>
      <p:sp>
        <p:nvSpPr>
          <p:cNvPr id="63" name="Text 61"/>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64" name="Shape 62"/>
          <p:cNvSpPr/>
          <p:nvPr/>
        </p:nvSpPr>
        <p:spPr>
          <a:xfrm>
            <a:off x="640080" y="6382512"/>
            <a:ext cx="128016" cy="128016"/>
          </a:xfrm>
          <a:prstGeom prst="roundRect">
            <a:avLst>
              <a:gd name="adj" fmla="val 28571"/>
            </a:avLst>
          </a:prstGeom>
          <a:solidFill>
            <a:srgbClr val="A9E648"/>
          </a:solidFill>
          <a:ln/>
        </p:spPr>
      </p:sp>
      <p:sp>
        <p:nvSpPr>
          <p:cNvPr id="65" name="Text 6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66" name="Text 6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1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Sabit hızla gitmek:</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hız hiç değişmiyorsa alınan yol = hız × süre. 10 m/s ile giden bir bisiklet 3 saniyede 10 · 3 = 30 m yol alır.</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Serbest düşme:</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bırakılan bir cisim her saniye yaklaşık 10 m/s hızlanır. Bu sayıya yerçekimi ivmesi denir ve g ile gösterilir: g = 10 m/s².</a:t>
            </a:r>
            <a:endParaRPr lang="en-US" sz="2000" dirty="0"/>
          </a:p>
        </p:txBody>
      </p:sp>
      <p:sp>
        <p:nvSpPr>
          <p:cNvPr id="14" name="Shape 12"/>
          <p:cNvSpPr/>
          <p:nvPr/>
        </p:nvSpPr>
        <p:spPr>
          <a:xfrm>
            <a:off x="640080" y="4779264"/>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914400" y="5233416"/>
            <a:ext cx="457200" cy="457200"/>
          </a:xfrm>
          <a:prstGeom prst="roundRect">
            <a:avLst>
              <a:gd name="adj" fmla="val 26000"/>
            </a:avLst>
          </a:prstGeom>
          <a:solidFill>
            <a:srgbClr val="3C8C21"/>
          </a:solidFill>
          <a:ln/>
        </p:spPr>
      </p:sp>
      <p:sp>
        <p:nvSpPr>
          <p:cNvPr id="16" name="Text 14"/>
          <p:cNvSpPr txBox="1"/>
          <p:nvPr/>
        </p:nvSpPr>
        <p:spPr>
          <a:xfrm>
            <a:off x="914400" y="523341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645920" y="4888992"/>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Vektör:</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hem büyüklüğü hem yönü olan bir nicelik; ok ile çizilir. “5 m/s” bir sürattir, “doğuya doğru 5 m/s” ise bir hız vektörüdür.</a:t>
            </a:r>
            <a:endParaRPr lang="en-US" sz="2000" dirty="0"/>
          </a:p>
        </p:txBody>
      </p:sp>
      <p:sp>
        <p:nvSpPr>
          <p:cNvPr id="18" name="Shape 16"/>
          <p:cNvSpPr/>
          <p:nvPr/>
        </p:nvSpPr>
        <p:spPr>
          <a:xfrm>
            <a:off x="640080" y="6382512"/>
            <a:ext cx="128016" cy="128016"/>
          </a:xfrm>
          <a:prstGeom prst="roundRect">
            <a:avLst>
              <a:gd name="adj" fmla="val 28571"/>
            </a:avLst>
          </a:prstGeom>
          <a:solidFill>
            <a:srgbClr val="A9E648"/>
          </a:solidFill>
          <a:ln/>
        </p:spPr>
      </p:sp>
      <p:sp>
        <p:nvSpPr>
          <p:cNvPr id="19" name="Text 1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20" name="Text 1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2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Dik üçgen ve Pisagor:</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dik kenarları 3 ve 4 olan üçgenin en uzun kenarı (hipotenüsü) 5'tir, çünkü 3² + 4² = 9 + 16 = 25 = 5².</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Sinüs ve kosinüs:</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dik üçgende sin = karşı kenar / hipotenüs, cos = komşu kenar / hipotenüs. 3-4-5 üçgeninde sin37° = 3/5 = 0,6 ve cos37° = 4/5 = 0,8.</a:t>
            </a:r>
            <a:endParaRPr lang="en-US" sz="2000" dirty="0"/>
          </a:p>
        </p:txBody>
      </p:sp>
      <p:sp>
        <p:nvSpPr>
          <p:cNvPr id="14" name="Shape 12"/>
          <p:cNvSpPr/>
          <p:nvPr/>
        </p:nvSpPr>
        <p:spPr>
          <a:xfrm>
            <a:off x="640080" y="6382512"/>
            <a:ext cx="128016" cy="128016"/>
          </a:xfrm>
          <a:prstGeom prst="roundRect">
            <a:avLst>
              <a:gd name="adj" fmla="val 28571"/>
            </a:avLst>
          </a:prstGeom>
          <a:solidFill>
            <a:srgbClr val="A9E648"/>
          </a:solidFill>
          <a:ln/>
        </p:spPr>
      </p:sp>
      <p:sp>
        <p:nvSpPr>
          <p:cNvPr id="15"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6"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350" dirty="0">
                <a:solidFill>
                  <a:srgbClr val="C3CEE8"/>
                </a:solidFill>
                <a:latin typeface="Calibri" pitchFamily="34" charset="0"/>
                <a:ea typeface="Calibri" pitchFamily="34" charset="-122"/>
                <a:cs typeface="Calibri" pitchFamily="34" charset="-120"/>
              </a:rPr>
              <a:t>Önce sezgi: atılan bir cismin yoluna bak, hareketi iki eksene ayır ve iki eksenin neden birbirini etkilemediğini gör. Bu basamakta hesap yok denecek kadar az.</a:t>
            </a:r>
            <a:endParaRPr lang="en-US" sz="135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atılan bir cisim nasıl bir yol çizer?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İki boyutta sabit ivmeli hareket nedir?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Bağımsızlık ilkesi</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dersler-sekiller/iki-boyutta-hareket-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Hortumdan çıkan su yolun başında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yatay</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gider, sonra giderek dikleşen bir eğriyle aşağı kıvrılır. Damlaların yatay hızı yol boyunca aynı kalır; kıvrılmanın sebebi, her damlanın bir yandan da serbest düşmesidir. Bu yarım parabol, ikinci basamakta çözeceğimiz yatay atışın ta kendisidir.</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dersler.perinet.org/iki-boyutta-hareket.html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Önce gözlemle: atılan bir cisim nasıl bir yol çizer?</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345033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Bahçe hortumunun ağzını yere paralel tut ve musluğu aç.</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Su ağızdan dümdüz ileri çıkar, ama hemen, önce belli belirsiz, aşağı kıvrılmaya başlar; yere yaklaştıkça yolu giderek dikleşir ve sonunda ileride bir noktaya iner.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Masanın kenarından yuvarlanıp düşen bir bilye, kaleye doğru havalanan bir top, fıskiyeden fışkıran su da aynı biçimde kıvrılır.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Hiçbiri ne dümdüz ileri ne dümdüz aşağı gider; hepsi ikisini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aynı anda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yapar.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Önce gözlemle: atılan bir cisim nasıl bir yol çizer?</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Aynı hareketi eşit zaman aralıklarıyla fotoğraflasan (strobo fotoğraf) cismin art arda görüntülerinde şu düzeni görürsün:</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Önce gözlemle: atılan bir cisim nasıl bir yol çizer?</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331012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Yol eğridir: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cisim hem ileri gider hem aşağı iner; iki hareket birleşince yol kıvrılır.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Yatay ilerleyiş düzenlidir: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eşit sürelerde cisim yatayda hep aynı mesafeyi alır.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Düşüş giderek hızlanır: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eşit sürelerde aşağı doğru alınan yollar gittikçe büyür.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Eğri gittikçe dikleşir: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başta yataya yakın olan yol, yere yaklaştıkça düşeye yaklaşır.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Önce gözlemle: atılan bir cisim nasıl bir yol çizer?</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2696804" y="1234440"/>
            <a:ext cx="6798087"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iki-boyutta-hareket-01.png">    </p:cNvPr>
          <p:cNvPicPr>
            <a:picLocks noChangeAspect="1"/>
          </p:cNvPicPr>
          <p:nvPr/>
        </p:nvPicPr>
        <p:blipFill>
          <a:blip r:embed="rId1"/>
          <a:stretch>
            <a:fillRect/>
          </a:stretch>
        </p:blipFill>
        <p:spPr>
          <a:xfrm>
            <a:off x="2925404" y="1325880"/>
            <a:ext cx="6340887"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Masadan yuvarlanan bir bilyenin strobo görüntüleri. Kesikli çizgiler iki uç durumu gösteriyor: bilye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yalnız ileri</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gitseydi yatay çizgide kalır,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yalnız düşseydi</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masanın dibine inerdi. Gerçekte ikisini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aynı anda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yapar ve arada kıvrılan bir yol çizer. Mavi yön oklarına bak: başta neredeyse yatay, sona doğru giderek dikleşiyor.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Önce gözlemle: atılan bir cisim nasıl bir yol çizer?</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Text 4"/>
          <p:cNvSpPr txBox="1"/>
          <p:nvPr/>
        </p:nvSpPr>
        <p:spPr>
          <a:xfrm>
            <a:off x="640080" y="1325880"/>
            <a:ext cx="10911535" cy="181660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Matematikte bu eğriye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parabol</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anlatımın geri kalanı, bu dört gözlemin nereden geldiğini açıklıyor.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İpucu şimdiden listede saklı: yatayda ilerleyiş “sabit hızla giden bir araba” gibi, düşeydeki iniş ise “bırakılan bir taş” gibi davranıyor.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Önce gözlemle: atılan bir cisim nasıl bir yol çizer?</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Atılan bir cisim hem ileri gider hem düşer; iki hareket birleşince yolu giderek dikleşen bir eğri, yani parabol olur. Hortumdan çıkan su bunun günlük bir örneğidir.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Hortumun ağzını yine yatay tutup daha yükseğe kaldırırsan su neden daha uzağa düşer?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atılan bir cisim nasıl bir yol çizer?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Hortumun ağzını yine yatay tutup daha yükseğe kaldırırsan su neden daha uzağa düşer?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Su daha yüksekten düştüğü için havada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daha uzun kalır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Yatay hızı değişmediğine göre, havada geçirdiği her ek anda biraz daha ileri gider. Suyun ne kadar uzağa düşeceğini yatay hız ile havada kalma süresi birlikte belirler.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İki boyutta sabit ivmeli hareket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cisim bir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düzlem içinde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hareket ediyorsa ve ivme vektörü hem büyüklük hem yön olarak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değişmiyorsa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bu harekete iki boyutta sabit ivmeli hareket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Konum, hız ve ivme artık birer sayı değil, birer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vektördür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 boyut” demek, cismin yerini söylemek için iki sayının gerekmesi demektir: ne kadar ileride ve ne kadar yukarıda olduğu.</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İki boyutta sabit ivmeli hareket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Günlük hayattaki en yaygın örneği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atış hareketleridir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atılan bir top, fışkıran su, masadan yuvarlanan bilye.</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Hepsinde ivme aynıdır — yerçekimi ivmesi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g</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büyüklüğü sabit, yönü daima aşağı.</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İki boyutta sabit ivmeli hareket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Hareketi iki eksene ayırdığımızda ortaya çok tanıdık iki hareket çıkar:</a:t>
            </a:r>
            <a:endParaRPr lang="en-US" sz="2200" dirty="0"/>
          </a:p>
        </p:txBody>
      </p:sp>
      <p:sp>
        <p:nvSpPr>
          <p:cNvPr id="7" name="Text 5"/>
          <p:cNvSpPr txBox="1"/>
          <p:nvPr/>
        </p:nvSpPr>
        <p:spPr>
          <a:xfrm>
            <a:off x="640080" y="2004060"/>
            <a:ext cx="10911535" cy="128701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Yatay eksen (x):</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ivme yoktur (a</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x</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 0) →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düzgün doğrusal hareket</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Düşey eksen (y):</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ivme g'dir ve aşağı yöndedir →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sabit ivmeli hareket</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yani serbest düşme/düşey atış.</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İki boyutta sabit ivmeli hareket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Text 4"/>
          <p:cNvSpPr txBox="1"/>
          <p:nvPr/>
        </p:nvSpPr>
        <p:spPr>
          <a:xfrm>
            <a:off x="640080" y="1325880"/>
            <a:ext cx="10911535" cy="345033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Yani yeni bir hareket öğrenmiyorsun: bildiğin iki hareketi aynı anda, aynı saatle çalıştırıyorsun.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Bunu iki gölgeyle düşünebilirsin.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Güneş tam tepedeyken atılan topun yere düşen gölgesi yalnızca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yatay hareketi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gösterir ve sabit hızla kayar.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Atış doğrultusunda yatay gelen bir ışıkla karşıdaki duvara düşen gölgesi ise yalnızca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düşey hareketi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gösterir: yukarı çıkıp yavaşlar, durur, sonra hızlanarak iner.</a:t>
            </a:r>
            <a:endParaRPr lang="en-US" sz="2200" dirty="0"/>
          </a:p>
        </p:txBody>
      </p:sp>
      <p:sp>
        <p:nvSpPr>
          <p:cNvPr id="7" name="Text 5"/>
          <p:cNvSpPr txBox="1"/>
          <p:nvPr/>
        </p:nvSpPr>
        <p:spPr>
          <a:xfrm>
            <a:off x="640080" y="4977384"/>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Top, bu iki gölgenin aynı anda yaptığı şeyi yapar.</a:t>
            </a:r>
            <a:endParaRPr lang="en-US" sz="22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İki boyutta sabit ivmeli hareket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Shape 4"/>
          <p:cNvSpPr/>
          <p:nvPr/>
        </p:nvSpPr>
        <p:spPr>
          <a:xfrm>
            <a:off x="640080" y="132588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019556"/>
          </a:xfrm>
          <a:prstGeom prst="rect">
            <a:avLst/>
          </a:prstGeom>
          <a:solidFill>
            <a:srgbClr val="3C8C21"/>
          </a:solidFill>
          <a:ln/>
        </p:spPr>
      </p:sp>
      <p:sp>
        <p:nvSpPr>
          <p:cNvPr id="8" name="Text 6"/>
          <p:cNvSpPr txBox="1"/>
          <p:nvPr/>
        </p:nvSpPr>
        <p:spPr>
          <a:xfrm>
            <a:off x="950976" y="145389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Hava direnci ihmal edilir.</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Bu derste cisme etki eden tek kuvvet ağırlıktır. Bu yüzden kütle hiçbir bağıntıda görünmez: 50 g'lık top ile 5 kg'lık gülle aynı hız ve açıyla atılırsa aynı yörüngeyi çizer.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İki boyutta sabit ivmeli hareket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2427615" y="1234440"/>
            <a:ext cx="7336465"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iki-boyutta-hareket-02.png">    </p:cNvPr>
          <p:cNvPicPr>
            <a:picLocks noChangeAspect="1"/>
          </p:cNvPicPr>
          <p:nvPr/>
        </p:nvPicPr>
        <p:blipFill>
          <a:blip r:embed="rId1"/>
          <a:stretch>
            <a:fillRect/>
          </a:stretch>
        </p:blipFill>
        <p:spPr>
          <a:xfrm>
            <a:off x="2656215" y="1325880"/>
            <a:ext cx="6879265"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Aynı hareketin iki ayrı filmi.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Yatay gölge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eşit zaman aralıklarında eşit yollar alır — o eksende ivme yoktur.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Düşey gölge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ise 1 : 3 : 5 : 7 ile açılarak iner — o eksende tam bir serbest düşme vardır. İki filmi birbirine bağlayan tek şey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aynı saati paylaşmaları</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yörüngenin parabol olması da bu iki hareketin toplamıdır.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İki boyutta sabit ivmeli hareket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İki boyutta sabit ivmeli harekette cisim bir düzlemde ve sabit ivmeyle hareket eder. Atışlarda bu ivme g'dir: yatayda ivme yoktur, düşeyde ise serbest düşme ya da düşey atış vardır.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Bağımsızlık ilkesi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 boyutlu hareketin bütün sırrı tek cümlede: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yatay hareket ile düşey hareket birbirini etkilemez.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Yatay hızın büyük olması cismin düşmesini geciktirmez; düşmesi de yatay hızını azaltmaz.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 hareketin tek ortak yanı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aynı zamanı paylaşmalarıdır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Bağımsızlık ilkesi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21107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Bunun en çarpıcı kanıtı sayfadaki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02</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numaralı deney: aynı yükseklikten biri serbestçe bırakılan, diğeri yatay olarak fırlatılan iki cisim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tam olarak aynı anda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yere iner.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Fırlatılan cisim çok daha uzağa gitmiştir, ama düşey hareketi diğeriyle birebir aynıdır.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Bağımsızlık ilkesi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Shape 4"/>
          <p:cNvSpPr/>
          <p:nvPr/>
        </p:nvSpPr>
        <p:spPr>
          <a:xfrm>
            <a:off x="640080" y="132588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019556"/>
          </a:xfrm>
          <a:prstGeom prst="rect">
            <a:avLst/>
          </a:prstGeom>
          <a:solidFill>
            <a:srgbClr val="3C8C21"/>
          </a:solidFill>
          <a:ln/>
        </p:spPr>
      </p:sp>
      <p:sp>
        <p:nvSpPr>
          <p:cNvPr id="8" name="Text 6"/>
          <p:cNvSpPr txBox="1"/>
          <p:nvPr/>
        </p:nvSpPr>
        <p:spPr>
          <a:xfrm>
            <a:off x="950976" y="145389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Neden böyle?</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Kuvvet düşeydir (ağırlık), dolayısıyla ivme de düşeydir. Yatay doğrultuda kuvvet olmadığı için o doğrultuda hız değişemez. Bir vektörün bir bileşenine etki eden kuvvet, diğer bileşenini değiştiremez.</a:t>
            </a:r>
            <a:endParaRPr lang="en-US" sz="1800" dirty="0"/>
          </a:p>
        </p:txBody>
      </p:sp>
      <p:sp>
        <p:nvSpPr>
          <p:cNvPr id="9" name="Text 7"/>
          <p:cNvSpPr txBox="1"/>
          <p:nvPr/>
        </p:nvSpPr>
        <p:spPr>
          <a:xfrm>
            <a:off x="640080" y="2857500"/>
            <a:ext cx="10911535" cy="124815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ilke problem çözmenin de yöntemidir: iki boyutlu bir soruyu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iki ayrı tek boyutlu soruya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bölersin, her birini kendi denklemiyle çözersin ve sonuçları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zaman üzerinden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birleştirirsin.</a:t>
            </a:r>
            <a:endParaRPr lang="en-US" sz="22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Bağımsızlık ilkesi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1378458"/>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Böl: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hareketi yatay ve düşey olarak iki ayrı harekete ayır.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Çöz:</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yatayı sabit hızla, düşeyi serbest düşme ya da düşey atış gibi çöz.</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Birleştir: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iki hareketi bağlayan tek büyüklük olan süreyi kullan.</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Bağımsızlık ilkesi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2106818" y="1234440"/>
            <a:ext cx="7978059"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iki-boyutta-hareket-03.png">    </p:cNvPr>
          <p:cNvPicPr>
            <a:picLocks noChangeAspect="1"/>
          </p:cNvPicPr>
          <p:nvPr/>
        </p:nvPicPr>
        <p:blipFill>
          <a:blip r:embed="rId1"/>
          <a:stretch>
            <a:fillRect/>
          </a:stretch>
        </p:blipFill>
        <p:spPr>
          <a:xfrm>
            <a:off x="2335418" y="1325880"/>
            <a:ext cx="7520859"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Aynı yükseklikten biri serbestçe bırakılıyor, diğeri yatay olarak fırlatılıyor. Kesikli çizgiler her an ikisini birleştiriyor: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düşey hareketleri birebir aynı</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Fırlatılan cisim yüzlerce metre öteye gitse de, düşmesi bundan hiç etkilenmiyor. Sayfadaki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02</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numaralı deneyde bunu kendi gözünle ölçebilirsin.</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Bağımsızlık ilkesi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Yatay ve düşey hareketler birbirini etkilemez; tek ortak değişkenleri zamandır. İki boyutlu bir problemi iki tek boyutlu probleme bölüp sonuçları süre üzerinden birleştirirsin.</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Sabit hızla giden bir trende elindeki elmayı dümdüz yukarı atarsan elma nereye düşer?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03 · Bağımsızlık ilkesi</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Sabit hızla giden bir trende elindeki elmayı dümdüz yukarı atarsan elma nereye düşer?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Yine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eline</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düşer. Elma atıldığı anda trenin yatay hızına sahiptir ve havadayken bu hız değişmez; sen de aynı hızla ilerlediğin için elma hep elinin üstünde kalır. Perondaki biri ise elmanın yükselip alçalan bir parabol çizdiğini görür.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hızı bileşenlerine ayır, yatay ve eğik atışı çöz, menzili ve yörüngeyi adım adım türet.</a:t>
            </a:r>
            <a:endParaRPr lang="en-US" sz="1600" dirty="0"/>
          </a:p>
        </p:txBody>
      </p:sp>
      <p:sp>
        <p:nvSpPr>
          <p:cNvPr id="6" name="Text 4"/>
          <p:cNvSpPr txBox="1"/>
          <p:nvPr/>
        </p:nvSpPr>
        <p:spPr>
          <a:xfrm>
            <a:off x="731520" y="45720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04   </a:t>
            </a:r>
            <a:pPr indent="0" marL="0">
              <a:buNone/>
            </a:pPr>
            <a:r>
              <a:rPr lang="en-US" sz="1150" dirty="0">
                <a:solidFill>
                  <a:srgbClr val="FFFFFF"/>
                </a:solidFill>
                <a:latin typeface="Calibri" pitchFamily="34" charset="0"/>
                <a:ea typeface="Calibri" pitchFamily="34" charset="-122"/>
                <a:cs typeface="Calibri" pitchFamily="34" charset="-120"/>
              </a:rPr>
              <a:t>Vektörel bağıntılar ve bileşenlere ayırma</a:t>
            </a:r>
            <a:endParaRPr lang="en-US" sz="1150" dirty="0"/>
          </a:p>
        </p:txBody>
      </p:sp>
      <p:sp>
        <p:nvSpPr>
          <p:cNvPr id="7" name="Text 5"/>
          <p:cNvSpPr txBox="1"/>
          <p:nvPr/>
        </p:nvSpPr>
        <p:spPr>
          <a:xfrm>
            <a:off x="731520" y="48387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05   </a:t>
            </a:r>
            <a:pPr indent="0" marL="0">
              <a:buNone/>
            </a:pPr>
            <a:r>
              <a:rPr lang="en-US" sz="1150" dirty="0">
                <a:solidFill>
                  <a:srgbClr val="FFFFFF"/>
                </a:solidFill>
                <a:latin typeface="Calibri" pitchFamily="34" charset="0"/>
                <a:ea typeface="Calibri" pitchFamily="34" charset="-122"/>
                <a:cs typeface="Calibri" pitchFamily="34" charset="-120"/>
              </a:rPr>
              <a:t>Yatay atış</a:t>
            </a:r>
            <a:endParaRPr lang="en-US" sz="1150" dirty="0"/>
          </a:p>
        </p:txBody>
      </p:sp>
      <p:sp>
        <p:nvSpPr>
          <p:cNvPr id="8" name="Text 6"/>
          <p:cNvSpPr txBox="1"/>
          <p:nvPr/>
        </p:nvSpPr>
        <p:spPr>
          <a:xfrm>
            <a:off x="731520" y="51054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06   </a:t>
            </a:r>
            <a:pPr indent="0" marL="0">
              <a:buNone/>
            </a:pPr>
            <a:r>
              <a:rPr lang="en-US" sz="1150" dirty="0">
                <a:solidFill>
                  <a:srgbClr val="FFFFFF"/>
                </a:solidFill>
                <a:latin typeface="Calibri" pitchFamily="34" charset="0"/>
                <a:ea typeface="Calibri" pitchFamily="34" charset="-122"/>
                <a:cs typeface="Calibri" pitchFamily="34" charset="-120"/>
              </a:rPr>
              <a:t>Sayılarla hisset: ne kadar sürede, ne kadar öteye?</a:t>
            </a:r>
            <a:endParaRPr lang="en-US" sz="1150" dirty="0"/>
          </a:p>
        </p:txBody>
      </p:sp>
      <p:sp>
        <p:nvSpPr>
          <p:cNvPr id="9" name="Text 7"/>
          <p:cNvSpPr txBox="1"/>
          <p:nvPr/>
        </p:nvSpPr>
        <p:spPr>
          <a:xfrm>
            <a:off x="731520" y="53721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07   </a:t>
            </a:r>
            <a:pPr indent="0" marL="0">
              <a:buNone/>
            </a:pPr>
            <a:r>
              <a:rPr lang="en-US" sz="1150" dirty="0">
                <a:solidFill>
                  <a:srgbClr val="FFFFFF"/>
                </a:solidFill>
                <a:latin typeface="Calibri" pitchFamily="34" charset="0"/>
                <a:ea typeface="Calibri" pitchFamily="34" charset="-122"/>
                <a:cs typeface="Calibri" pitchFamily="34" charset="-120"/>
              </a:rPr>
              <a:t>Eğik atış</a:t>
            </a:r>
            <a:endParaRPr lang="en-US" sz="1150" dirty="0"/>
          </a:p>
        </p:txBody>
      </p:sp>
      <p:sp>
        <p:nvSpPr>
          <p:cNvPr id="10" name="Text 8"/>
          <p:cNvSpPr txBox="1"/>
          <p:nvPr/>
        </p:nvSpPr>
        <p:spPr>
          <a:xfrm>
            <a:off x="731520" y="56388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08   </a:t>
            </a:r>
            <a:pPr indent="0" marL="0">
              <a:buNone/>
            </a:pPr>
            <a:r>
              <a:rPr lang="en-US" sz="1150" dirty="0">
                <a:solidFill>
                  <a:srgbClr val="FFFFFF"/>
                </a:solidFill>
                <a:latin typeface="Calibri" pitchFamily="34" charset="0"/>
                <a:ea typeface="Calibri" pitchFamily="34" charset="-122"/>
                <a:cs typeface="Calibri" pitchFamily="34" charset="-120"/>
              </a:rPr>
              <a:t>Menzil, açı ve tümler açılar</a:t>
            </a:r>
            <a:endParaRPr lang="en-US" sz="1150" dirty="0"/>
          </a:p>
        </p:txBody>
      </p:sp>
      <p:sp>
        <p:nvSpPr>
          <p:cNvPr id="11" name="Text 9"/>
          <p:cNvSpPr txBox="1"/>
          <p:nvPr/>
        </p:nvSpPr>
        <p:spPr>
          <a:xfrm>
            <a:off x="731520" y="59055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09   </a:t>
            </a:r>
            <a:pPr indent="0" marL="0">
              <a:buNone/>
            </a:pPr>
            <a:r>
              <a:rPr lang="en-US" sz="1150" dirty="0">
                <a:solidFill>
                  <a:srgbClr val="FFFFFF"/>
                </a:solidFill>
                <a:latin typeface="Calibri" pitchFamily="34" charset="0"/>
                <a:ea typeface="Calibri" pitchFamily="34" charset="-122"/>
                <a:cs typeface="Calibri" pitchFamily="34" charset="-120"/>
              </a:rPr>
              <a:t>Yörünge denklemi ve grafikler</a:t>
            </a:r>
            <a:endParaRPr lang="en-US" sz="1150" dirty="0"/>
          </a:p>
        </p:txBody>
      </p:sp>
      <p:sp>
        <p:nvSpPr>
          <p:cNvPr id="12" name="Text 10"/>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3" name="Shape 11"/>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4" name="Text 12"/>
          <p:cNvSpPr txBox="1"/>
          <p:nvPr/>
        </p:nvSpPr>
        <p:spPr>
          <a:xfrm>
            <a:off x="6400800" y="1481328"/>
            <a:ext cx="205740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x = v₀·cosα · t</a:t>
            </a:r>
            <a:endParaRPr lang="en-US" sz="1500" dirty="0"/>
          </a:p>
        </p:txBody>
      </p:sp>
      <p:sp>
        <p:nvSpPr>
          <p:cNvPr id="15" name="Text 13"/>
          <p:cNvSpPr txBox="1"/>
          <p:nvPr/>
        </p:nvSpPr>
        <p:spPr>
          <a:xfrm>
            <a:off x="8549640" y="1481328"/>
            <a:ext cx="281909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yatayda sabit hız</a:t>
            </a:r>
            <a:endParaRPr lang="en-US" sz="1200" dirty="0"/>
          </a:p>
        </p:txBody>
      </p:sp>
      <p:sp>
        <p:nvSpPr>
          <p:cNvPr id="16" name="Shape 14"/>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7" name="Text 15"/>
          <p:cNvSpPr txBox="1"/>
          <p:nvPr/>
        </p:nvSpPr>
        <p:spPr>
          <a:xfrm>
            <a:off x="6400800" y="2350008"/>
            <a:ext cx="3008376"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y = v₀·sinα · t − ½g·t²</a:t>
            </a:r>
            <a:endParaRPr lang="en-US" sz="1500" dirty="0"/>
          </a:p>
        </p:txBody>
      </p:sp>
      <p:sp>
        <p:nvSpPr>
          <p:cNvPr id="18" name="Text 16"/>
          <p:cNvSpPr txBox="1"/>
          <p:nvPr/>
        </p:nvSpPr>
        <p:spPr>
          <a:xfrm>
            <a:off x="9500616" y="2350008"/>
            <a:ext cx="1868119"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düşeyde sabit ivme</a:t>
            </a:r>
            <a:endParaRPr lang="en-US" sz="1200" dirty="0"/>
          </a:p>
        </p:txBody>
      </p:sp>
      <p:sp>
        <p:nvSpPr>
          <p:cNvPr id="19" name="Shape 17"/>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20" name="Text 18"/>
          <p:cNvSpPr txBox="1"/>
          <p:nvPr/>
        </p:nvSpPr>
        <p:spPr>
          <a:xfrm>
            <a:off x="6400800" y="3218688"/>
            <a:ext cx="2295144"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R = v₀²·sin2α / g</a:t>
            </a:r>
            <a:endParaRPr lang="en-US" sz="1500" dirty="0"/>
          </a:p>
        </p:txBody>
      </p:sp>
      <p:sp>
        <p:nvSpPr>
          <p:cNvPr id="21" name="Text 19"/>
          <p:cNvSpPr txBox="1"/>
          <p:nvPr/>
        </p:nvSpPr>
        <p:spPr>
          <a:xfrm>
            <a:off x="8787384" y="3218688"/>
            <a:ext cx="2581351"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aynı yükseklikte menzil</a:t>
            </a:r>
            <a:endParaRPr lang="en-US" sz="1200" dirty="0"/>
          </a:p>
        </p:txBody>
      </p:sp>
      <p:sp>
        <p:nvSpPr>
          <p:cNvPr id="22" name="Shape 20"/>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3" name="Text 21"/>
          <p:cNvSpPr txBox="1"/>
          <p:nvPr/>
        </p:nvSpPr>
        <p:spPr>
          <a:xfrm>
            <a:off x="6400800" y="4087368"/>
            <a:ext cx="265176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h = v₀²·sin²α / (2g)</a:t>
            </a:r>
            <a:endParaRPr lang="en-US" sz="1500" dirty="0"/>
          </a:p>
        </p:txBody>
      </p:sp>
      <p:sp>
        <p:nvSpPr>
          <p:cNvPr id="24" name="Text 22"/>
          <p:cNvSpPr txBox="1"/>
          <p:nvPr/>
        </p:nvSpPr>
        <p:spPr>
          <a:xfrm>
            <a:off x="9144000" y="4087368"/>
            <a:ext cx="222473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tepe yüksekliği</a:t>
            </a:r>
            <a:endParaRPr lang="en-US" sz="1200" dirty="0"/>
          </a:p>
        </p:txBody>
      </p:sp>
      <p:sp>
        <p:nvSpPr>
          <p:cNvPr id="25" name="Shape 23"/>
          <p:cNvSpPr/>
          <p:nvPr/>
        </p:nvSpPr>
        <p:spPr>
          <a:xfrm>
            <a:off x="640080" y="6382512"/>
            <a:ext cx="128016" cy="128016"/>
          </a:xfrm>
          <a:prstGeom prst="roundRect">
            <a:avLst>
              <a:gd name="adj" fmla="val 28571"/>
            </a:avLst>
          </a:prstGeom>
          <a:solidFill>
            <a:srgbClr val="C6F36B"/>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dersler.perinet.org/iki-boyutta-hareket.html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Vektörel bağıntılar ve bileşenlere ayırma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8</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Sabit ivmeli hareketin denklemleri vektörel olarak da aynen geçerlidir:</a:t>
            </a:r>
            <a:endParaRPr lang="en-US" sz="2200" dirty="0"/>
          </a:p>
        </p:txBody>
      </p:sp>
      <p:sp>
        <p:nvSpPr>
          <p:cNvPr id="7" name="Shape 5"/>
          <p:cNvSpPr/>
          <p:nvPr/>
        </p:nvSpPr>
        <p:spPr>
          <a:xfrm>
            <a:off x="640080" y="2004060"/>
            <a:ext cx="2633472"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004060"/>
            <a:ext cx="2633472"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v⃗ = v⃗₀ + a⃗·t</a:t>
            </a:r>
            <a:endParaRPr lang="en-US" sz="1800" dirty="0"/>
          </a:p>
        </p:txBody>
      </p:sp>
      <p:sp>
        <p:nvSpPr>
          <p:cNvPr id="9" name="Shape 7"/>
          <p:cNvSpPr/>
          <p:nvPr/>
        </p:nvSpPr>
        <p:spPr>
          <a:xfrm>
            <a:off x="3419856" y="2004060"/>
            <a:ext cx="4162349"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3419856" y="2004060"/>
            <a:ext cx="4162349"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r⃗ = r⃗₀ + v⃗₀·t + ½·a⃗·t²</a:t>
            </a:r>
            <a:endParaRPr lang="en-US" sz="1800" dirty="0"/>
          </a:p>
        </p:txBody>
      </p:sp>
      <p:sp>
        <p:nvSpPr>
          <p:cNvPr id="11" name="Text 9"/>
          <p:cNvSpPr txBox="1"/>
          <p:nvPr/>
        </p:nvSpPr>
        <p:spPr>
          <a:xfrm>
            <a:off x="640080" y="282702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Yukarı yönü pozitif alıp a</a:t>
            </a:r>
            <a:pPr indent="0" marL="0">
              <a:lnSpc>
                <a:spcPct val="115000"/>
              </a:lnSpc>
              <a:buNone/>
            </a:pPr>
            <a:r>
              <a:rPr lang="en-US" sz="2200" baseline="-40000" dirty="0">
                <a:solidFill>
                  <a:srgbClr val="0E1426"/>
                </a:solidFill>
                <a:latin typeface="Calibri" pitchFamily="34" charset="0"/>
                <a:ea typeface="Calibri" pitchFamily="34" charset="-122"/>
                <a:cs typeface="Calibri" pitchFamily="34" charset="-120"/>
              </a:rPr>
              <a:t>x</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 0, a</a:t>
            </a:r>
            <a:pPr indent="0" marL="0">
              <a:lnSpc>
                <a:spcPct val="115000"/>
              </a:lnSpc>
              <a:buNone/>
            </a:pPr>
            <a:r>
              <a:rPr lang="en-US" sz="2200" baseline="-40000" dirty="0">
                <a:solidFill>
                  <a:srgbClr val="0E1426"/>
                </a:solidFill>
                <a:latin typeface="Calibri" pitchFamily="34" charset="0"/>
                <a:ea typeface="Calibri" pitchFamily="34" charset="-122"/>
                <a:cs typeface="Calibri" pitchFamily="34" charset="-120"/>
              </a:rPr>
              <a:t>y</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 −g yazarsak ve ilk hızı yatayla α açısı yapacak şekilde bileşenlerine ayırırsak:</a:t>
            </a:r>
            <a:endParaRPr lang="en-US" sz="2200" dirty="0"/>
          </a:p>
        </p:txBody>
      </p:sp>
      <p:sp>
        <p:nvSpPr>
          <p:cNvPr id="12" name="Shape 10"/>
          <p:cNvSpPr/>
          <p:nvPr/>
        </p:nvSpPr>
        <p:spPr>
          <a:xfrm>
            <a:off x="640080" y="3890772"/>
            <a:ext cx="2355494" cy="585216"/>
          </a:xfrm>
          <a:prstGeom prst="roundRect">
            <a:avLst>
              <a:gd name="adj" fmla="val 18750"/>
            </a:avLst>
          </a:prstGeom>
          <a:solidFill>
            <a:srgbClr val="EEF2FC"/>
          </a:solidFill>
          <a:ln w="9525">
            <a:solidFill>
              <a:srgbClr val="CBD7F4"/>
            </a:solidFill>
            <a:prstDash val="solid"/>
          </a:ln>
        </p:spPr>
      </p:sp>
      <p:sp>
        <p:nvSpPr>
          <p:cNvPr id="13" name="Text 11"/>
          <p:cNvSpPr txBox="1"/>
          <p:nvPr/>
        </p:nvSpPr>
        <p:spPr>
          <a:xfrm>
            <a:off x="640080" y="3890772"/>
            <a:ext cx="2355494"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v₀ₓ = v₀·cosα</a:t>
            </a:r>
            <a:endParaRPr lang="en-US" sz="1800" dirty="0"/>
          </a:p>
        </p:txBody>
      </p:sp>
      <p:sp>
        <p:nvSpPr>
          <p:cNvPr id="14" name="Shape 12"/>
          <p:cNvSpPr/>
          <p:nvPr/>
        </p:nvSpPr>
        <p:spPr>
          <a:xfrm>
            <a:off x="3141878" y="3890772"/>
            <a:ext cx="2355494" cy="585216"/>
          </a:xfrm>
          <a:prstGeom prst="roundRect">
            <a:avLst>
              <a:gd name="adj" fmla="val 18750"/>
            </a:avLst>
          </a:prstGeom>
          <a:solidFill>
            <a:srgbClr val="EEF2FC"/>
          </a:solidFill>
          <a:ln w="9525">
            <a:solidFill>
              <a:srgbClr val="CBD7F4"/>
            </a:solidFill>
            <a:prstDash val="solid"/>
          </a:ln>
        </p:spPr>
      </p:sp>
      <p:sp>
        <p:nvSpPr>
          <p:cNvPr id="15" name="Text 13"/>
          <p:cNvSpPr txBox="1"/>
          <p:nvPr/>
        </p:nvSpPr>
        <p:spPr>
          <a:xfrm>
            <a:off x="3141878" y="3890772"/>
            <a:ext cx="2355494"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v₀ᵧ = v₀·sinα</a:t>
            </a:r>
            <a:endParaRPr lang="en-US" sz="1800" dirty="0"/>
          </a:p>
        </p:txBody>
      </p:sp>
      <p:sp>
        <p:nvSpPr>
          <p:cNvPr id="17" name="Shape 14"/>
          <p:cNvSpPr/>
          <p:nvPr/>
        </p:nvSpPr>
        <p:spPr>
          <a:xfrm>
            <a:off x="640080" y="6382512"/>
            <a:ext cx="128016" cy="128016"/>
          </a:xfrm>
          <a:prstGeom prst="roundRect">
            <a:avLst>
              <a:gd name="adj" fmla="val 28571"/>
            </a:avLst>
          </a:prstGeom>
          <a:solidFill>
            <a:srgbClr val="A9E648"/>
          </a:solidFill>
          <a:ln/>
        </p:spPr>
      </p:sp>
      <p:sp>
        <p:nvSpPr>
          <p:cNvPr id="18"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9"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Vektörel bağıntılar ve bileşenlere ayırma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8</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Formüldeki harfler ne anlama geliyor?</a:t>
            </a:r>
            <a:endParaRPr lang="en-US" sz="2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40080" y="1892808"/>
          <a:ext cx="10911535" cy="914400"/>
        </p:xfrm>
        <a:graphic>
          <a:graphicData uri="http://schemas.openxmlformats.org/drawingml/2006/table">
            <a:tbl>
              <a:tblPr/>
              <a:tblGrid>
                <a:gridCol w="1818589"/>
                <a:gridCol w="7729004"/>
                <a:gridCol w="1363942"/>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Sembol</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Anlamı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Birimi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v⃗₀, v₀</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ilk hız ve büyüklüğü (atış sürati)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v₀ₓ, v₀ᵧ</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ilk hızın yatay ve düşey bileşeni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atış açısı (yatayla ölçülür)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ivme; atışlarda g, yönü hep aşağı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m/s²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cismin konumu (x: yatay, y: düşey)</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atıştan beri geçen süre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Vektörel bağıntılar ve bileşenlere ayırma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8</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Bileşenler nereden geliyor?</a:t>
            </a:r>
            <a:endParaRPr lang="en-US" sz="2200" dirty="0"/>
          </a:p>
        </p:txBody>
      </p:sp>
      <p:sp>
        <p:nvSpPr>
          <p:cNvPr id="8" name="Text 6"/>
          <p:cNvSpPr txBox="1"/>
          <p:nvPr/>
        </p:nvSpPr>
        <p:spPr>
          <a:xfrm>
            <a:off x="640080" y="1892808"/>
            <a:ext cx="10911535" cy="2942082"/>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Dik üçgen kur: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ilk hız vektörü hipotenüstür; yatay ve düşey bileşenler üçgenin iki dik kenarıdır.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Yatay kenar: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α açısının komşusudur; cosα = v₀ₓ / v₀ olduğundan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v₀ₓ = v₀·cosα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Düşey kenar: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α açısının karşısındadır; sinα = v₀ᵧ / v₀ olduğundan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v₀ᵧ = v₀·sinα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Kontrol: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Pisagor bağıntısı v₀ₓ² + v₀ᵧ² = v₀² vermelidir.</a:t>
            </a:r>
            <a:endParaRPr lang="en-US" sz="21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Vektörel bağıntılar ve bileşenlere ayırma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8</a:t>
            </a:r>
            <a:endParaRPr lang="en-US" sz="9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1069758"/>
                <a:gridCol w="4279033"/>
                <a:gridCol w="5562743"/>
              </a:tblGrid>
              <a:tr h="418338">
                <a:tc>
                  <a:txBody>
                    <a:bodyPr/>
                    <a:lstStyle/>
                    <a:p>
                      <a:pPr indent="0" marL="0">
                        <a:buNone/>
                      </a:pP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Yatay (x)</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Düşey (y)</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İvme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ax = 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ay = −g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Hız</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vx = v₀·cosα (sabit)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vy = v₀·sinα − g·t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Konum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x = v₀·cosα·t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y = y₀ + v₀·sinα·t − ½g·t²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640080" y="3218688"/>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Herhangi bir anda cismin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sürati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bileşenlerin vektörel toplamıdır; hız vektörü daima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yörüngeye teğettir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p:txBody>
      </p:sp>
      <p:sp>
        <p:nvSpPr>
          <p:cNvPr id="8" name="Shape 5"/>
          <p:cNvSpPr/>
          <p:nvPr/>
        </p:nvSpPr>
        <p:spPr>
          <a:xfrm>
            <a:off x="640080" y="4282440"/>
            <a:ext cx="2772461" cy="585216"/>
          </a:xfrm>
          <a:prstGeom prst="roundRect">
            <a:avLst>
              <a:gd name="adj" fmla="val 18750"/>
            </a:avLst>
          </a:prstGeom>
          <a:solidFill>
            <a:srgbClr val="EEF2FC"/>
          </a:solidFill>
          <a:ln w="9525">
            <a:solidFill>
              <a:srgbClr val="CBD7F4"/>
            </a:solidFill>
            <a:prstDash val="solid"/>
          </a:ln>
        </p:spPr>
      </p:sp>
      <p:sp>
        <p:nvSpPr>
          <p:cNvPr id="9" name="Text 6"/>
          <p:cNvSpPr txBox="1"/>
          <p:nvPr/>
        </p:nvSpPr>
        <p:spPr>
          <a:xfrm>
            <a:off x="640080" y="4282440"/>
            <a:ext cx="2772461"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v = √(vx² + vy²)</a:t>
            </a:r>
            <a:endParaRPr lang="en-US" sz="1800" dirty="0"/>
          </a:p>
        </p:txBody>
      </p:sp>
      <p:sp>
        <p:nvSpPr>
          <p:cNvPr id="10" name="Shape 7"/>
          <p:cNvSpPr/>
          <p:nvPr/>
        </p:nvSpPr>
        <p:spPr>
          <a:xfrm>
            <a:off x="3558845" y="4282440"/>
            <a:ext cx="2494483" cy="585216"/>
          </a:xfrm>
          <a:prstGeom prst="roundRect">
            <a:avLst>
              <a:gd name="adj" fmla="val 18750"/>
            </a:avLst>
          </a:prstGeom>
          <a:solidFill>
            <a:srgbClr val="EEF2FC"/>
          </a:solidFill>
          <a:ln w="9525">
            <a:solidFill>
              <a:srgbClr val="CBD7F4"/>
            </a:solidFill>
            <a:prstDash val="solid"/>
          </a:ln>
        </p:spPr>
      </p:sp>
      <p:sp>
        <p:nvSpPr>
          <p:cNvPr id="11" name="Text 8"/>
          <p:cNvSpPr txBox="1"/>
          <p:nvPr/>
        </p:nvSpPr>
        <p:spPr>
          <a:xfrm>
            <a:off x="3558845" y="4282440"/>
            <a:ext cx="2494483"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tanθ = vy / vx</a:t>
            </a:r>
            <a:endParaRPr lang="en-US" sz="1800" dirty="0"/>
          </a:p>
        </p:txBody>
      </p:sp>
      <p:sp>
        <p:nvSpPr>
          <p:cNvPr id="13" name="Shape 9"/>
          <p:cNvSpPr/>
          <p:nvPr/>
        </p:nvSpPr>
        <p:spPr>
          <a:xfrm>
            <a:off x="640080" y="6382512"/>
            <a:ext cx="128016" cy="128016"/>
          </a:xfrm>
          <a:prstGeom prst="roundRect">
            <a:avLst>
              <a:gd name="adj" fmla="val 28571"/>
            </a:avLst>
          </a:prstGeom>
          <a:solidFill>
            <a:srgbClr val="A9E648"/>
          </a:solidFill>
          <a:ln/>
        </p:spPr>
      </p:sp>
      <p:sp>
        <p:nvSpPr>
          <p:cNvPr id="14"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5"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Vektörel bağıntılar ve bileşenlere ayırma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8</a:t>
            </a:r>
            <a:endParaRPr lang="en-US" sz="950" dirty="0"/>
          </a:p>
        </p:txBody>
      </p:sp>
      <p:sp>
        <p:nvSpPr>
          <p:cNvPr id="6" name="Text 4"/>
          <p:cNvSpPr txBox="1"/>
          <p:nvPr/>
        </p:nvSpPr>
        <p:spPr>
          <a:xfrm>
            <a:off x="640080" y="1325880"/>
            <a:ext cx="10911535" cy="181660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Sorularda en sık kullanılan açıların yaklaşık değerleri aşağıda.</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37° ile 53°'nin birbirini tamamladığına dikkat et: birinin sinüsü ötekinin kosinüsüdür.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37°–53° üçgeni kenarları 3 : 4 : 5 oranında olan ünlü dik üçgendir.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Vektörel bağıntılar ve bileşenlere ayırma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8</a:t>
            </a:r>
            <a:endParaRPr lang="en-US" sz="9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2975873"/>
                <a:gridCol w="3967831"/>
                <a:gridCol w="3967831"/>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Açı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sinα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cosα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30°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0,5</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0,87</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37°</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0,6</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0,8</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45°</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0,71</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0,71</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53°</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0,8</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0,6</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60°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0,87</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0,5</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Vektörel bağıntılar ve bileşenlere ayırma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7 / 8</a:t>
            </a:r>
            <a:endParaRPr lang="en-US" sz="950" dirty="0"/>
          </a:p>
        </p:txBody>
      </p:sp>
      <p:sp>
        <p:nvSpPr>
          <p:cNvPr id="6" name="Shape 4"/>
          <p:cNvSpPr/>
          <p:nvPr/>
        </p:nvSpPr>
        <p:spPr>
          <a:xfrm>
            <a:off x="640080" y="1325880"/>
            <a:ext cx="10911535" cy="1033272"/>
          </a:xfrm>
          <a:prstGeom prst="roundRect">
            <a:avLst>
              <a:gd name="adj" fmla="val 123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704088"/>
          </a:xfrm>
          <a:prstGeom prst="rect">
            <a:avLst/>
          </a:prstGeom>
          <a:solidFill>
            <a:srgbClr val="A56209"/>
          </a:solidFill>
          <a:ln/>
        </p:spPr>
      </p:sp>
      <p:sp>
        <p:nvSpPr>
          <p:cNvPr id="8" name="Text 6"/>
          <p:cNvSpPr txBox="1"/>
          <p:nvPr/>
        </p:nvSpPr>
        <p:spPr>
          <a:xfrm>
            <a:off x="950976" y="1453896"/>
            <a:ext cx="10399471" cy="777240"/>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Bileşenler skaler toplanmaz.</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v</a:t>
            </a:r>
            <a:pPr indent="0" marL="0">
              <a:lnSpc>
                <a:spcPct val="114000"/>
              </a:lnSpc>
              <a:buNone/>
            </a:pPr>
            <a:r>
              <a:rPr lang="en-US" sz="1800" baseline="-40000" dirty="0">
                <a:solidFill>
                  <a:srgbClr val="0E1426"/>
                </a:solidFill>
                <a:latin typeface="Calibri" pitchFamily="34" charset="0"/>
                <a:ea typeface="Calibri" pitchFamily="34" charset="-122"/>
                <a:cs typeface="Calibri" pitchFamily="34" charset="-120"/>
              </a:rPr>
              <a:t>x</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 30 m/s ve v</a:t>
            </a:r>
            <a:pPr indent="0" marL="0">
              <a:lnSpc>
                <a:spcPct val="114000"/>
              </a:lnSpc>
              <a:buNone/>
            </a:pPr>
            <a:r>
              <a:rPr lang="en-US" sz="1800" baseline="-40000" dirty="0">
                <a:solidFill>
                  <a:srgbClr val="0E1426"/>
                </a:solidFill>
                <a:latin typeface="Calibri" pitchFamily="34" charset="0"/>
                <a:ea typeface="Calibri" pitchFamily="34" charset="-122"/>
                <a:cs typeface="Calibri" pitchFamily="34" charset="-120"/>
              </a:rPr>
              <a:t>y</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 40 m/s ise sürat 70 m/s değil,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50 m/s</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'dir. Dik üçgen kurmayı unutma.</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Vektörel bağıntılar ve bileşenlere ayırma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8 / 8</a:t>
            </a:r>
            <a:endParaRPr lang="en-US" sz="950" dirty="0"/>
          </a:p>
        </p:txBody>
      </p:sp>
      <p:sp>
        <p:nvSpPr>
          <p:cNvPr id="6" name="Shape 4"/>
          <p:cNvSpPr/>
          <p:nvPr/>
        </p:nvSpPr>
        <p:spPr>
          <a:xfrm>
            <a:off x="2286824" y="1234440"/>
            <a:ext cx="7618046"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iki-boyutta-hareket-04.png">    </p:cNvPr>
          <p:cNvPicPr>
            <a:picLocks noChangeAspect="1"/>
          </p:cNvPicPr>
          <p:nvPr/>
        </p:nvPicPr>
        <p:blipFill>
          <a:blip r:embed="rId1"/>
          <a:stretch>
            <a:fillRect/>
          </a:stretch>
        </p:blipFill>
        <p:spPr>
          <a:xfrm>
            <a:off x="2515424" y="1325880"/>
            <a:ext cx="7160846"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Solda atış anı: ilk hız, yatayla α açısı yapan bir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vektördür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ve dik üçgenle bileşenlerine ayrılır. Sağda yörüngenin herhangi bir noktası: yeşil bileşen hiç değişmez, sarı bileşen g yüzünden sürekli değişir, ikisinin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vektörel toplamı</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olan mavi ok ise daima eğriye teğettir. Bu yüzden bileşenler skaler toplanmaz: 30 ve 40 bileşenleri 70 değil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50</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verir.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Vektörel bağıntılar ve bileşenlere ayırma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İlk hızı dik üçgenle bileşenlerine ayır: v₀ₓ = v₀·cosα, v₀ᵧ = v₀·sinα. Yatay bileşen sabit kalır, düşey bileşen g ile değişir; sürat bileşenlerin vektörel toplamıdır.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Yatay atış</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Cisim h yüksekliğinden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yatay</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olarak v₀ süratiyle atılırsa (α = 0 olduğu için) ilk hızın düşey bileşeni sıfırdır: v₀ᵧ = 0.</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Düşey hareket bu yüzden tam bir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serbest düşmedir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p:txBody>
      </p:sp>
      <p:sp>
        <p:nvSpPr>
          <p:cNvPr id="7" name="Shape 5"/>
          <p:cNvSpPr/>
          <p:nvPr/>
        </p:nvSpPr>
        <p:spPr>
          <a:xfrm>
            <a:off x="640080" y="2866644"/>
            <a:ext cx="2355494"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866644"/>
            <a:ext cx="2355494"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t = √(2h / g)</a:t>
            </a:r>
            <a:endParaRPr lang="en-US" sz="1800" dirty="0"/>
          </a:p>
        </p:txBody>
      </p:sp>
      <p:sp>
        <p:nvSpPr>
          <p:cNvPr id="9" name="Shape 7"/>
          <p:cNvSpPr/>
          <p:nvPr/>
        </p:nvSpPr>
        <p:spPr>
          <a:xfrm>
            <a:off x="3141878" y="2866644"/>
            <a:ext cx="3050438"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3141878" y="2866644"/>
            <a:ext cx="3050438"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x = v₀ · √(2h / g)</a:t>
            </a:r>
            <a:endParaRPr lang="en-US" sz="1800" dirty="0"/>
          </a:p>
        </p:txBody>
      </p:sp>
      <p:sp>
        <p:nvSpPr>
          <p:cNvPr id="11" name="Shape 9"/>
          <p:cNvSpPr/>
          <p:nvPr/>
        </p:nvSpPr>
        <p:spPr>
          <a:xfrm>
            <a:off x="6338621" y="2866644"/>
            <a:ext cx="1660550"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6338621" y="2866644"/>
            <a:ext cx="166055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vy = g·t</a:t>
            </a:r>
            <a:endParaRPr lang="en-US" sz="1800" dirty="0"/>
          </a:p>
        </p:txBody>
      </p:sp>
      <p:sp>
        <p:nvSpPr>
          <p:cNvPr id="13" name="Shape 11"/>
          <p:cNvSpPr/>
          <p:nvPr/>
        </p:nvSpPr>
        <p:spPr>
          <a:xfrm>
            <a:off x="8145475" y="2866644"/>
            <a:ext cx="2772461" cy="585216"/>
          </a:xfrm>
          <a:prstGeom prst="roundRect">
            <a:avLst>
              <a:gd name="adj" fmla="val 18750"/>
            </a:avLst>
          </a:prstGeom>
          <a:solidFill>
            <a:srgbClr val="EEF2FC"/>
          </a:solidFill>
          <a:ln w="9525">
            <a:solidFill>
              <a:srgbClr val="CBD7F4"/>
            </a:solidFill>
            <a:prstDash val="solid"/>
          </a:ln>
        </p:spPr>
      </p:sp>
      <p:sp>
        <p:nvSpPr>
          <p:cNvPr id="14" name="Text 12"/>
          <p:cNvSpPr txBox="1"/>
          <p:nvPr/>
        </p:nvSpPr>
        <p:spPr>
          <a:xfrm>
            <a:off x="8145475" y="2866644"/>
            <a:ext cx="2772461"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v = √(v₀² + 2gh)</a:t>
            </a:r>
            <a:endParaRPr lang="en-US" sz="1800" dirty="0"/>
          </a:p>
        </p:txBody>
      </p:sp>
      <p:sp>
        <p:nvSpPr>
          <p:cNvPr id="16" name="Shape 13"/>
          <p:cNvSpPr/>
          <p:nvPr/>
        </p:nvSpPr>
        <p:spPr>
          <a:xfrm>
            <a:off x="640080" y="6382512"/>
            <a:ext cx="128016" cy="128016"/>
          </a:xfrm>
          <a:prstGeom prst="roundRect">
            <a:avLst>
              <a:gd name="adj" fmla="val 28571"/>
            </a:avLst>
          </a:prstGeom>
          <a:solidFill>
            <a:srgbClr val="A9E648"/>
          </a:solidFill>
          <a:ln/>
        </p:spPr>
      </p:sp>
      <p:sp>
        <p:nvSpPr>
          <p:cNvPr id="17" name="Text 1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8" name="Text 1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Yatay atış</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Bağıntılar nereden geliyor?</a:t>
            </a:r>
            <a:endParaRPr lang="en-US" sz="2200" dirty="0"/>
          </a:p>
        </p:txBody>
      </p:sp>
      <p:sp>
        <p:nvSpPr>
          <p:cNvPr id="8" name="Text 6"/>
          <p:cNvSpPr txBox="1"/>
          <p:nvPr/>
        </p:nvSpPr>
        <p:spPr>
          <a:xfrm>
            <a:off x="640080" y="1892808"/>
            <a:ext cx="10911535" cy="2574036"/>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Düşeyde süre: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cisim h yüksekliğinden ilk hızsız düşer, h = ½·g·t² olur; buradan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t = √(2h/g)</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Yatayda yol: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yatay hız sabit v₀ olduğundan x = v₀·t; süreyi yerine koyunca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x = v₀·√(2h/g)</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Düşey hız:</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serbest düşmedeki gibi v</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y</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 g·t; yere değerken v</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y</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² = 2gh.</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Sürat:</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dik bileşenler Pisagor ile birleşir: v² = v₀² + v</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y</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² =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v₀² + 2gh</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41</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Yatay atış</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181660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Uçuş süresi v₀'a bağlı değildir.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Topu ister hafifçe it, ister topla fırlat; aynı masadan aynı sürede yere iner.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Değişen tek şey ne kadar uzağa düştüğüdür.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42</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Yatay atış</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Yörünge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yarım paraboldür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Eşit zaman aralıklarında cisim yatayda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eşit</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yollar alır, düşeyde ise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1 : 3 : 5 : 7</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oranında artan yollar alır.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Sayfadaki strobo izlerinde bu iki dizi aynı anda görünür; 01 numaralı laboratuvardaki “Yatay atış · 30 m'den” hazır deneyini strobo izleri açıkken çalıştırıp kendin say.</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43</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Yatay atış</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Shape 4"/>
          <p:cNvSpPr/>
          <p:nvPr/>
        </p:nvSpPr>
        <p:spPr>
          <a:xfrm>
            <a:off x="640080" y="132588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019556"/>
          </a:xfrm>
          <a:prstGeom prst="rect">
            <a:avLst/>
          </a:prstGeom>
          <a:solidFill>
            <a:srgbClr val="3C8C21"/>
          </a:solidFill>
          <a:ln/>
        </p:spPr>
      </p:sp>
      <p:sp>
        <p:nvSpPr>
          <p:cNvPr id="8" name="Text 6"/>
          <p:cNvSpPr txBox="1"/>
          <p:nvPr/>
        </p:nvSpPr>
        <p:spPr>
          <a:xfrm>
            <a:off x="950976" y="145389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Birim kontrolü:</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√(2h/g) için √(m ÷ m/s²) = √(s²) = s çıkar, bu bir süredir ✓. v₀·t için (m/s)·s = m çıkar, bu bir uzunluktur ✓. “t = 2h/g” yazsaydın birim s² olurdu; karekökü unuttuğunu birim söyler.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44</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Yatay atış</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2288781" y="1234440"/>
            <a:ext cx="7614132"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iki-boyutta-hareket-05.png">    </p:cNvPr>
          <p:cNvPicPr>
            <a:picLocks noChangeAspect="1"/>
          </p:cNvPicPr>
          <p:nvPr/>
        </p:nvPicPr>
        <p:blipFill>
          <a:blip r:embed="rId1"/>
          <a:stretch>
            <a:fillRect/>
          </a:stretch>
        </p:blipFill>
        <p:spPr>
          <a:xfrm>
            <a:off x="2517381" y="1325880"/>
            <a:ext cx="7156932"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İki cisim aynı yükseklikten yatay olarak atılıyor; morun sürati mavinin iki katı. Kesikli çizgiler her an ikisinin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aynı yükseklikte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olduğunu gösteriyor: uçuş süresi v₀'a hiç bağlı değil, yalnızca h'ye bağlı (t = √(2h/g)). Sürati iki katına çıkarmak yalnızca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menzili</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iki katına çıkarır.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45</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Yatay atış</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Yatay atışta düşey hareket serbest düşmedir: süre t = √(2h/g) yalnızca yüksekliğe bağlıdır. Menzil x = v₀·t, çarpma sürati v = √(v₀² + 2gh) ile bulunur.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46</a:t>
            </a:r>
            <a:endParaRPr lang="en-US" sz="10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800" b="1" spc="-50" kern="0" dirty="0">
                <a:solidFill>
                  <a:srgbClr val="0E1426"/>
                </a:solidFill>
                <a:latin typeface="Cambria" pitchFamily="34" charset="0"/>
                <a:ea typeface="Cambria" pitchFamily="34" charset="-122"/>
                <a:cs typeface="Cambria" pitchFamily="34" charset="-120"/>
              </a:rPr>
              <a:t>Sayılarla hisset: ne kadar sürede, ne kadar öteye?</a:t>
            </a:r>
            <a:endParaRPr lang="en-US" sz="28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Bağıntılar soyut kalmasın.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Aynı topu hep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10 m/s</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ile yatay olarak, ama farklı yüksekliklerden attığını düşün (g = 10 m/s², hava direnci yok):</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47</a:t>
            </a:r>
            <a:endParaRPr lang="en-US" sz="10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800" b="1" spc="-50" kern="0" dirty="0">
                <a:solidFill>
                  <a:srgbClr val="0E1426"/>
                </a:solidFill>
                <a:latin typeface="Cambria" pitchFamily="34" charset="0"/>
                <a:ea typeface="Cambria" pitchFamily="34" charset="-122"/>
                <a:cs typeface="Cambria" pitchFamily="34" charset="-120"/>
              </a:rPr>
              <a:t>Sayılarla hisset: ne kadar sürede, ne kadar öteye?</a:t>
            </a:r>
            <a:endParaRPr lang="en-US" sz="28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3946725"/>
                <a:gridCol w="2553764"/>
                <a:gridCol w="1392962"/>
                <a:gridCol w="3018084"/>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Yükseklik</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Uçuş süresi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Menzil</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Çarpma sürati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0,8 m (masa)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0,4 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10,8 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5 m (balkon)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 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14,1 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20 m (altı kat)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 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20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22,4 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45 m (on beş kat)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 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30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31,6 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80 m (kule)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 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40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41,2 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48</a:t>
            </a:r>
            <a:endParaRPr lang="en-US" sz="10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800" b="1" spc="-50" kern="0" dirty="0">
                <a:solidFill>
                  <a:srgbClr val="0E1426"/>
                </a:solidFill>
                <a:latin typeface="Cambria" pitchFamily="34" charset="0"/>
                <a:ea typeface="Cambria" pitchFamily="34" charset="-122"/>
                <a:cs typeface="Cambria" pitchFamily="34" charset="-120"/>
              </a:rPr>
              <a:t>Sayılarla hisset: ne kadar sürede, ne kadar öteye?</a:t>
            </a:r>
            <a:endParaRPr lang="en-US" sz="28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Tablodan hemen okunan düzen: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yükseklik 4 katına çıkınca süre ve menzil yalnızca 2 katına çıkıyor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(5 m → 20 m: 1 s → 2 s, 10 m → 20 m).</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Çünkü süre yüksekliğin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kareköküyle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büyür, menzil de süreyle orantılıdır.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Son sütun ise başka bir şey söylüyor: alçaktan atışta çarpma sürati neredeyse 10 m/s'lik ilk hız kadardır, yüksekten atışta ise düşey hız baskın çıkar.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49</a:t>
            </a:r>
            <a:endParaRPr lang="en-US" sz="10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800" b="1" spc="-50" kern="0" dirty="0">
                <a:solidFill>
                  <a:srgbClr val="0E1426"/>
                </a:solidFill>
                <a:latin typeface="Cambria" pitchFamily="34" charset="0"/>
                <a:ea typeface="Cambria" pitchFamily="34" charset="-122"/>
                <a:cs typeface="Cambria" pitchFamily="34" charset="-120"/>
              </a:rPr>
              <a:t>Sayılarla hisset: ne kadar sürede, ne kadar öteye?</a:t>
            </a:r>
            <a:endParaRPr lang="en-US" sz="28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Shape 4"/>
          <p:cNvSpPr/>
          <p:nvPr/>
        </p:nvSpPr>
        <p:spPr>
          <a:xfrm>
            <a:off x="3098444" y="1234440"/>
            <a:ext cx="5994806"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iki-boyutta-hareket-06.png">    </p:cNvPr>
          <p:cNvPicPr>
            <a:picLocks noChangeAspect="1"/>
          </p:cNvPicPr>
          <p:nvPr/>
        </p:nvPicPr>
        <p:blipFill>
          <a:blip r:embed="rId1"/>
          <a:stretch>
            <a:fillRect/>
          </a:stretch>
        </p:blipFill>
        <p:spPr>
          <a:xfrm>
            <a:off x="3327044" y="1325880"/>
            <a:ext cx="5537606"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Tablodaki dört atış aynı çizimde. Yükseklikler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5, 20, 45, 80 m</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diye hızla açılıyor, ama toplar yerde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eşit adımlarla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10, 20, 30, 40 m'ye düşüyor. Kalın çizilen iki atışa bak: yükseklik 20 m'den 80 m'ye, yani 4 katına çıkınca süre 2 s'den 4 s'ye, menzil 20 m'den 40 m'ye, yalnızca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2 katına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çıkıyor. Sebep: süre yüksekliğin kareköküyle büyür.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50</a:t>
            </a:r>
            <a:endParaRPr lang="en-US" sz="10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800" b="1" spc="-50" kern="0" dirty="0">
                <a:solidFill>
                  <a:srgbClr val="0E1426"/>
                </a:solidFill>
                <a:latin typeface="Cambria" pitchFamily="34" charset="0"/>
                <a:ea typeface="Cambria" pitchFamily="34" charset="-122"/>
                <a:cs typeface="Cambria" pitchFamily="34" charset="-120"/>
              </a:rPr>
              <a:t>Sayılarla hisset: ne kadar sürede, ne kadar öteye?</a:t>
            </a:r>
            <a:endParaRPr lang="en-US" sz="28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İlk hızı değiştirmek tabloyu bambaşka biçimde etkiler.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Aynı 20 m'lik binadan 20 m/s ile atarsan süre yine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2 s</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olur, menzil ise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40 m</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'ye çıkar: ilk hız yalnızca menzili ölçekler.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Bahçe hortumu da böyle: bel hizasında (yaklaşık 0,8 m) tutulan ve suyu 5 m/s ile yatay püskürten bir hortumda su 0,4 s'de yere iner ve 5 · 0,4 = 2 m öteye düşer.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Musluğu açıp hızı iki katına çıkarırsan su 4 m öteye gider.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51</a:t>
            </a:r>
            <a:endParaRPr lang="en-US" sz="10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800" b="1" spc="-50" kern="0" dirty="0">
                <a:solidFill>
                  <a:srgbClr val="0E1426"/>
                </a:solidFill>
                <a:latin typeface="Cambria" pitchFamily="34" charset="0"/>
                <a:ea typeface="Cambria" pitchFamily="34" charset="-122"/>
                <a:cs typeface="Cambria" pitchFamily="34" charset="-120"/>
              </a:rPr>
              <a:t>Sayılarla hisset: ne kadar sürede, ne kadar öteye?</a:t>
            </a:r>
            <a:endParaRPr lang="en-US" sz="28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02 numaralı bölümündeki hız sürgüsüyle bunu dene: sarı cisim uzağa gider ama iniş süresi hiç değişmez.</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52</a:t>
            </a:r>
            <a:endParaRPr lang="en-US" sz="10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800" b="1" spc="-50" kern="0" dirty="0">
                <a:solidFill>
                  <a:srgbClr val="0E1426"/>
                </a:solidFill>
                <a:latin typeface="Cambria" pitchFamily="34" charset="0"/>
                <a:ea typeface="Cambria" pitchFamily="34" charset="-122"/>
                <a:cs typeface="Cambria" pitchFamily="34" charset="-120"/>
              </a:rPr>
              <a:t>Sayılarla hisset: ne kadar sürede, ne kadar öteye?</a:t>
            </a:r>
            <a:endParaRPr lang="en-US" sz="28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Yatay atışta süre yüksekliğin kareköküyle büyür ve ilk hızdan bağımsızdır; menzil ilk hızla doğru orantılıdır. 4 kat yükseklik 2 kat süre, 2 kat ilk hız 2 kat menzil demektir.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53</a:t>
            </a:r>
            <a:endParaRPr lang="en-US" sz="10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80 m'lik kuleden topu 10 m/s yerine 20 m/s ile yatay atarsan uçuş süresi ve menzil ne olur?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06 · Sayılarla hisset: ne kadar sürede, ne kadar öteye?</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54</a:t>
            </a:r>
            <a:endParaRPr lang="en-US" sz="10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80 m'lik kuleden topu 10 m/s yerine 20 m/s ile yatay atarsan uçuş süresi ve menzil ne olur?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Uçuş süresi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değişmez</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yine 4 s'dir; süreyi yalnızca yükseklik ve g belirler. Menzil ise ilk hızla doğru orantılı olduğu için iki katına çıkar: 20 · 4 =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80 m</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55</a:t>
            </a:r>
            <a:endParaRPr lang="en-US"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atış</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7</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Cisim yatayla α açısı yapacak şekilde v₀ süratiyle atılırsa hareket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eğik atış</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olur.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Çıkarken düşey hız azalır, tepe noktada sıfırlanır, sonra artarak aşağı yönelir.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Yatay hız ise baştan sona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hiç değişmez</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56</a:t>
            </a:r>
            <a:endParaRPr lang="en-US" sz="10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atış</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7</a:t>
            </a:r>
            <a:endParaRPr lang="en-US" sz="950" dirty="0"/>
          </a:p>
        </p:txBody>
      </p:sp>
      <p:sp>
        <p:nvSpPr>
          <p:cNvPr id="6" name="Shape 4"/>
          <p:cNvSpPr/>
          <p:nvPr/>
        </p:nvSpPr>
        <p:spPr>
          <a:xfrm>
            <a:off x="640080" y="1325880"/>
            <a:ext cx="3189427" cy="585216"/>
          </a:xfrm>
          <a:prstGeom prst="roundRect">
            <a:avLst>
              <a:gd name="adj" fmla="val 18750"/>
            </a:avLst>
          </a:prstGeom>
          <a:solidFill>
            <a:srgbClr val="EEF2FC"/>
          </a:solidFill>
          <a:ln w="9525">
            <a:solidFill>
              <a:srgbClr val="CBD7F4"/>
            </a:solidFill>
            <a:prstDash val="solid"/>
          </a:ln>
        </p:spPr>
      </p:sp>
      <p:sp>
        <p:nvSpPr>
          <p:cNvPr id="7" name="Text 5"/>
          <p:cNvSpPr txBox="1"/>
          <p:nvPr/>
        </p:nvSpPr>
        <p:spPr>
          <a:xfrm>
            <a:off x="640080" y="1325880"/>
            <a:ext cx="3189427"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ttepe = v₀·sinα / g</a:t>
            </a:r>
            <a:endParaRPr lang="en-US" sz="1800" dirty="0"/>
          </a:p>
        </p:txBody>
      </p:sp>
      <p:sp>
        <p:nvSpPr>
          <p:cNvPr id="8" name="Shape 6"/>
          <p:cNvSpPr/>
          <p:nvPr/>
        </p:nvSpPr>
        <p:spPr>
          <a:xfrm>
            <a:off x="3975811" y="1325880"/>
            <a:ext cx="3884371" cy="585216"/>
          </a:xfrm>
          <a:prstGeom prst="roundRect">
            <a:avLst>
              <a:gd name="adj" fmla="val 18750"/>
            </a:avLst>
          </a:prstGeom>
          <a:solidFill>
            <a:srgbClr val="EEF2FC"/>
          </a:solidFill>
          <a:ln w="9525">
            <a:solidFill>
              <a:srgbClr val="CBD7F4"/>
            </a:solidFill>
            <a:prstDash val="solid"/>
          </a:ln>
        </p:spPr>
      </p:sp>
      <p:sp>
        <p:nvSpPr>
          <p:cNvPr id="9" name="Text 7"/>
          <p:cNvSpPr txBox="1"/>
          <p:nvPr/>
        </p:nvSpPr>
        <p:spPr>
          <a:xfrm>
            <a:off x="3975811" y="1325880"/>
            <a:ext cx="3884371"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hmaks = v₀²·sin²α / (2g)</a:t>
            </a:r>
            <a:endParaRPr lang="en-US" sz="1800" dirty="0"/>
          </a:p>
        </p:txBody>
      </p:sp>
      <p:sp>
        <p:nvSpPr>
          <p:cNvPr id="10" name="Shape 8"/>
          <p:cNvSpPr/>
          <p:nvPr/>
        </p:nvSpPr>
        <p:spPr>
          <a:xfrm>
            <a:off x="8006486" y="1325880"/>
            <a:ext cx="3467405" cy="585216"/>
          </a:xfrm>
          <a:prstGeom prst="roundRect">
            <a:avLst>
              <a:gd name="adj" fmla="val 18750"/>
            </a:avLst>
          </a:prstGeom>
          <a:solidFill>
            <a:srgbClr val="EEF2FC"/>
          </a:solidFill>
          <a:ln w="9525">
            <a:solidFill>
              <a:srgbClr val="CBD7F4"/>
            </a:solidFill>
            <a:prstDash val="solid"/>
          </a:ln>
        </p:spPr>
      </p:sp>
      <p:sp>
        <p:nvSpPr>
          <p:cNvPr id="11" name="Text 9"/>
          <p:cNvSpPr txBox="1"/>
          <p:nvPr/>
        </p:nvSpPr>
        <p:spPr>
          <a:xfrm>
            <a:off x="8006486" y="1325880"/>
            <a:ext cx="3467405"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tuçuş = 2·v₀·sinα / g</a:t>
            </a:r>
            <a:endParaRPr lang="en-US" sz="1800" dirty="0"/>
          </a:p>
        </p:txBody>
      </p:sp>
      <p:sp>
        <p:nvSpPr>
          <p:cNvPr id="12" name="Shape 10"/>
          <p:cNvSpPr/>
          <p:nvPr/>
        </p:nvSpPr>
        <p:spPr>
          <a:xfrm>
            <a:off x="640080" y="2039112"/>
            <a:ext cx="2911450" cy="585216"/>
          </a:xfrm>
          <a:prstGeom prst="roundRect">
            <a:avLst>
              <a:gd name="adj" fmla="val 18750"/>
            </a:avLst>
          </a:prstGeom>
          <a:solidFill>
            <a:srgbClr val="EEF2FC"/>
          </a:solidFill>
          <a:ln w="9525">
            <a:solidFill>
              <a:srgbClr val="CBD7F4"/>
            </a:solidFill>
            <a:prstDash val="solid"/>
          </a:ln>
        </p:spPr>
      </p:sp>
      <p:sp>
        <p:nvSpPr>
          <p:cNvPr id="13" name="Text 11"/>
          <p:cNvSpPr txBox="1"/>
          <p:nvPr/>
        </p:nvSpPr>
        <p:spPr>
          <a:xfrm>
            <a:off x="640080" y="2039112"/>
            <a:ext cx="291145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R = v₀²·sin2α / g</a:t>
            </a:r>
            <a:endParaRPr lang="en-US" sz="1800" dirty="0"/>
          </a:p>
        </p:txBody>
      </p:sp>
      <p:sp>
        <p:nvSpPr>
          <p:cNvPr id="15" name="Shape 12"/>
          <p:cNvSpPr/>
          <p:nvPr/>
        </p:nvSpPr>
        <p:spPr>
          <a:xfrm>
            <a:off x="640080" y="6382512"/>
            <a:ext cx="128016" cy="128016"/>
          </a:xfrm>
          <a:prstGeom prst="roundRect">
            <a:avLst>
              <a:gd name="adj" fmla="val 28571"/>
            </a:avLst>
          </a:prstGeom>
          <a:solidFill>
            <a:srgbClr val="A9E648"/>
          </a:solidFill>
          <a:ln/>
        </p:spPr>
      </p:sp>
      <p:sp>
        <p:nvSpPr>
          <p:cNvPr id="16"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7"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57</a:t>
            </a:r>
            <a:endParaRPr lang="en-US" sz="10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atış</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7</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Bağıntılar nereden geliyor?</a:t>
            </a:r>
            <a:endParaRPr lang="en-US" sz="2200" dirty="0"/>
          </a:p>
        </p:txBody>
      </p:sp>
      <p:sp>
        <p:nvSpPr>
          <p:cNvPr id="8" name="Text 6"/>
          <p:cNvSpPr txBox="1"/>
          <p:nvPr/>
        </p:nvSpPr>
        <p:spPr>
          <a:xfrm>
            <a:off x="640080" y="1892808"/>
            <a:ext cx="10911535" cy="2942082"/>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Tepe anı: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tepede v</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y</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 0 olur: 0 = v₀·sinα − g·t, buradan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t</a:t>
            </a:r>
            <a:pPr indent="0" marL="0">
              <a:lnSpc>
                <a:spcPct val="115000"/>
              </a:lnSpc>
              <a:buNone/>
            </a:pPr>
            <a:r>
              <a:rPr lang="en-US" sz="2100" b="1" baseline="-40000" dirty="0">
                <a:solidFill>
                  <a:srgbClr val="0E1426"/>
                </a:solidFill>
                <a:latin typeface="Calibri" pitchFamily="34" charset="0"/>
                <a:ea typeface="Calibri" pitchFamily="34" charset="-122"/>
                <a:cs typeface="Calibri" pitchFamily="34" charset="-120"/>
              </a:rPr>
              <a:t>tepe</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 = v₀·sinα / g</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Tepe yüksekliği: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düşeyde bir düşey atış vardır; v</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y</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² = v₀ᵧ² − 2gh ifadesinde v</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y</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 0 alınır.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Sonuç:</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maks</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 v₀ᵧ² / (2g) =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v₀²·sin²α / (2g)</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Uçuş süresi: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iniş çıkışın ayna görüntüsüdür; aynı yüksekliğe dönüş için süre iki katıdır: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2·v₀·sinα / g</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58</a:t>
            </a:r>
            <a:endParaRPr lang="en-US" sz="10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atış</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7</a:t>
            </a:r>
            <a:endParaRPr lang="en-US" sz="950" dirty="0"/>
          </a:p>
        </p:txBody>
      </p:sp>
      <p:sp>
        <p:nvSpPr>
          <p:cNvPr id="6" name="Text 4"/>
          <p:cNvSpPr txBox="1"/>
          <p:nvPr/>
        </p:nvSpPr>
        <p:spPr>
          <a:xfrm>
            <a:off x="640080" y="1325880"/>
            <a:ext cx="10911535" cy="29733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Son iki bağıntı yalnızca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atış ve iniş noktaları aynı yükseklikteyse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geçerlidir.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tepeden ya da kuleden atıldığında uçuş süresini y = 0 denkleminden (ikinci dereceden denklem) çözmen gerekir.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Laboratuvarın açılış ayarında (25 m/s, 45°, Dünya) fırlattığında ekrandaki 3,60 s uçuş süresi ve 15,9 m tepe yüksekliği tam olarak bu bağıntılardan çıkar.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59</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atış</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7</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Simetri</a:t>
            </a:r>
            <a:endParaRPr lang="en-US" sz="2200" dirty="0"/>
          </a:p>
        </p:txBody>
      </p:sp>
      <p:sp>
        <p:nvSpPr>
          <p:cNvPr id="8" name="Text 6"/>
          <p:cNvSpPr txBox="1"/>
          <p:nvPr/>
        </p:nvSpPr>
        <p:spPr>
          <a:xfrm>
            <a:off x="640080" y="1892808"/>
            <a:ext cx="10911535" cy="220599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Süreler: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çıkış süresi iniş süresine eşittir.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Süratler: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aynı yükseklikten geçerken süratler eşit, düşey hızların yönleri terstir.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Açılar: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iniş açısı, atış açısına eşittir.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Yörünge: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tepe noktasından geçen düşey doğruya göre simetriktir.</a:t>
            </a:r>
            <a:endParaRPr lang="en-US" sz="21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60</a:t>
            </a:r>
            <a:endParaRPr lang="en-US" sz="10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atış</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7</a:t>
            </a:r>
            <a:endParaRPr lang="en-US" sz="950" dirty="0"/>
          </a:p>
        </p:txBody>
      </p:sp>
      <p:sp>
        <p:nvSpPr>
          <p:cNvPr id="6" name="Shape 4"/>
          <p:cNvSpPr/>
          <p:nvPr/>
        </p:nvSpPr>
        <p:spPr>
          <a:xfrm>
            <a:off x="640080" y="132588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019556"/>
          </a:xfrm>
          <a:prstGeom prst="rect">
            <a:avLst/>
          </a:prstGeom>
          <a:solidFill>
            <a:srgbClr val="A56209"/>
          </a:solidFill>
          <a:ln/>
        </p:spPr>
      </p:sp>
      <p:sp>
        <p:nvSpPr>
          <p:cNvPr id="8" name="Text 6"/>
          <p:cNvSpPr txBox="1"/>
          <p:nvPr/>
        </p:nvSpPr>
        <p:spPr>
          <a:xfrm>
            <a:off x="950976" y="145389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Tepe noktada hız sıfır değildir.</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Sıfırlanan yalnızca düşey bileşendir; cisim orada hâlâ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v = v₀·cosα</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süratiyle yatay olarak ilerler. İvme ise hareket boyunca hiç değişmez: her noktada g'dir ve aşağı doğrudur.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61</a:t>
            </a:r>
            <a:endParaRPr lang="en-US" sz="10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atış</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7 / 7</a:t>
            </a:r>
            <a:endParaRPr lang="en-US" sz="950" dirty="0"/>
          </a:p>
        </p:txBody>
      </p:sp>
      <p:sp>
        <p:nvSpPr>
          <p:cNvPr id="6" name="Shape 4"/>
          <p:cNvSpPr/>
          <p:nvPr/>
        </p:nvSpPr>
        <p:spPr>
          <a:xfrm>
            <a:off x="2259828" y="1234440"/>
            <a:ext cx="7672039"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iki-boyutta-hareket-07.png">    </p:cNvPr>
          <p:cNvPicPr>
            <a:picLocks noChangeAspect="1"/>
          </p:cNvPicPr>
          <p:nvPr/>
        </p:nvPicPr>
        <p:blipFill>
          <a:blip r:embed="rId1"/>
          <a:stretch>
            <a:fillRect/>
          </a:stretch>
        </p:blipFill>
        <p:spPr>
          <a:xfrm>
            <a:off x="2488428" y="1325880"/>
            <a:ext cx="7214839"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Eğik atış boyunca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yatay bileşen hiç değişmez</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 yeşil oklar baştan sona aynı boydadır. Düşey bileşen ise her saniye g kadar azalır, tepede sıfırlanır, sonra ters yönde aynı hızla büyür. Tepe noktada hız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sıfır değildir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cisim orada hâlâ v₀·cosα süratiyle yatay olarak ilerler.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62</a:t>
            </a:r>
            <a:endParaRPr lang="en-US" sz="10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atış</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Eğik atışta yatay hız sabit kalır, düşey hız tepede sıfırlanır. Tepeye çıkış süresi v₀·sinα/g, tepe yüksekliği v₀²·sin²α/(2g)'dir; hareket tepeye göre simetriktir.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63</a:t>
            </a:r>
            <a:endParaRPr lang="en-US" sz="10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Eğik atışta cismin sürati yörüngenin neresinde en küçüktür? Orada sıfır olur mu?</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07 · Eğik atış</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64</a:t>
            </a:r>
            <a:endParaRPr lang="en-US" sz="10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Eğik atışta cismin sürati yörüngenin neresinde en küçüktür? Orada sıfır olur mu?</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En küçük sürat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tepe noktasındadır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çünkü orada düşey bileşen sıfırdır ve geriye yalnızca v₀·cosα kalır. Süratin sıfır olması için yatay bileşenin de sıfır olması, yani cismin dümdüz yukarı (α = 90°) atılması gerekir.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65</a:t>
            </a:r>
            <a:endParaRPr lang="en-US" sz="10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Menzil, açı ve tümler açılar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7</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Menzil bağıntısını bileşenlerden türetmek kolaydır: uçuş süresi t = 2v₀sinα / g, yatay yol ise x = v₀cosα · 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İkisini çarpınca</a:t>
            </a:r>
            <a:endParaRPr lang="en-US" sz="2200" dirty="0"/>
          </a:p>
        </p:txBody>
      </p:sp>
      <p:sp>
        <p:nvSpPr>
          <p:cNvPr id="7" name="Shape 5"/>
          <p:cNvSpPr/>
          <p:nvPr/>
        </p:nvSpPr>
        <p:spPr>
          <a:xfrm>
            <a:off x="640080" y="2866644"/>
            <a:ext cx="3745382"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866644"/>
            <a:ext cx="3745382"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R = 2·v₀²·sinα·cosα / g</a:t>
            </a:r>
            <a:endParaRPr lang="en-US" sz="1800" dirty="0"/>
          </a:p>
        </p:txBody>
      </p:sp>
      <p:sp>
        <p:nvSpPr>
          <p:cNvPr id="9" name="Shape 7"/>
          <p:cNvSpPr/>
          <p:nvPr/>
        </p:nvSpPr>
        <p:spPr>
          <a:xfrm>
            <a:off x="4531766" y="2866644"/>
            <a:ext cx="2911450"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4531766" y="2866644"/>
            <a:ext cx="291145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R = v₀²·sin2α / g</a:t>
            </a:r>
            <a:endParaRPr lang="en-US" sz="1800" dirty="0"/>
          </a:p>
        </p:txBody>
      </p:sp>
      <p:sp>
        <p:nvSpPr>
          <p:cNvPr id="11" name="Text 9"/>
          <p:cNvSpPr txBox="1"/>
          <p:nvPr/>
        </p:nvSpPr>
        <p:spPr>
          <a:xfrm>
            <a:off x="640080" y="3689604"/>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İkinci satıra geçerken 2·sinα·cosα = sin2α özdeşliği kullanıldı.</a:t>
            </a:r>
            <a:endParaRPr lang="en-US" sz="2200" dirty="0"/>
          </a:p>
        </p:txBody>
      </p:sp>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66</a:t>
            </a:r>
            <a:endParaRPr lang="en-US" sz="10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Menzil, açı ve tümler açılar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7</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Bağıntıdan üç sonuç doğrudan okunur:</a:t>
            </a:r>
            <a:endParaRPr lang="en-US" sz="2200" dirty="0"/>
          </a:p>
        </p:txBody>
      </p:sp>
      <p:sp>
        <p:nvSpPr>
          <p:cNvPr id="7" name="Text 5"/>
          <p:cNvSpPr txBox="1"/>
          <p:nvPr/>
        </p:nvSpPr>
        <p:spPr>
          <a:xfrm>
            <a:off x="640080" y="2004060"/>
            <a:ext cx="10911535" cy="2482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En uzun menzil 45°'dedir.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sin2α en büyük değerini (1) 2α = 90° için alır.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Tümler açılar aynı menzili verir.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sin2α = sin(180° − 2α) olduğundan α ile 90° − α aynı R'yi verir: 30° ile 60°, 20° ile 70°… Büyük açı daha yükseğe çıkar.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Menzil süratin karesiyle artar.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v₀ iki katına çıkarsa menzil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dört katına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çıkar.</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67</a:t>
            </a:r>
            <a:endParaRPr lang="en-US" sz="10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Menzil, açı ve tümler açılar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7</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Aynı topu hep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20 m/s</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ile, ama beş farklı açıyla attığını düşün (g = 10 m/s²).</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Menzil, tepe yüksekliği ve uçuş süresi şöyle değişir: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68</a:t>
            </a:r>
            <a:endParaRPr lang="en-US" sz="10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Menzil, açı ve tümler açılar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7</a:t>
            </a:r>
            <a:endParaRPr lang="en-US" sz="95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994797"/>
                <a:gridCol w="2333350"/>
                <a:gridCol w="4375031"/>
                <a:gridCol w="3208356"/>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Açı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Menzil</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Tepe yüksekliği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Uçuş süresi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15°</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20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1,3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1,04 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30°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34,6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5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 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45°</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40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2,83 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60°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34,6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15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3,46 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75°</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20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18,7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3,86 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69</a:t>
            </a:r>
            <a:endParaRPr lang="en-US" sz="10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Menzil, açı ve tümler açılar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7</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Menzil sütunu 45°'ye göre simetrik, tepe yüksekliği ve süre sütunları ise açıyla sürekli artıyor.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03 numaralı bölümünde bu beş açıyı sırayla at ve tümler çiftlerin aynı noktaya düştüğünü izle.</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04 numaralı bölümdeki hedef oyunu da aynı gerçeğe dayanır: bir hedefi genellikle biri 45°'nin altında, biri üstünde iki farklı açı vurur.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70</a:t>
            </a:r>
            <a:endParaRPr lang="en-US" sz="10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Menzil, açı ve tümler açılar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7</a:t>
            </a:r>
            <a:endParaRPr lang="en-US" sz="950" dirty="0"/>
          </a:p>
        </p:txBody>
      </p:sp>
      <p:sp>
        <p:nvSpPr>
          <p:cNvPr id="6" name="Shape 4"/>
          <p:cNvSpPr/>
          <p:nvPr/>
        </p:nvSpPr>
        <p:spPr>
          <a:xfrm>
            <a:off x="640080" y="1325880"/>
            <a:ext cx="10911535" cy="1664208"/>
          </a:xfrm>
          <a:prstGeom prst="roundRect">
            <a:avLst>
              <a:gd name="adj" fmla="val 76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335024"/>
          </a:xfrm>
          <a:prstGeom prst="rect">
            <a:avLst/>
          </a:prstGeom>
          <a:solidFill>
            <a:srgbClr val="3C8C21"/>
          </a:solidFill>
          <a:ln/>
        </p:spPr>
      </p:sp>
      <p:sp>
        <p:nvSpPr>
          <p:cNvPr id="8" name="Text 6"/>
          <p:cNvSpPr txBox="1"/>
          <p:nvPr/>
        </p:nvSpPr>
        <p:spPr>
          <a:xfrm>
            <a:off x="950976" y="1453896"/>
            <a:ext cx="10399471" cy="1408176"/>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Yükseklikten atışta 45° en iyi değildir.</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Bir kuleden atıldığında optimum açı 45°'nin altına iner; yükseklik arttıkça yatay hıza pay ayırmak daha kârlıdır. Gerçek hayatta hava direnci de optimum açıyı küçültür. Gülle atma sporcuları 40° civarında atar; gülleyi omuz yüksekliğinden bırakmaları da açıyı 45°'nin altına çeker.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71</a:t>
            </a:r>
            <a:endParaRPr lang="en-US" sz="10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Menzil, açı ve tümler açılar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7 / 7</a:t>
            </a:r>
            <a:endParaRPr lang="en-US" sz="950" dirty="0"/>
          </a:p>
        </p:txBody>
      </p:sp>
      <p:sp>
        <p:nvSpPr>
          <p:cNvPr id="6" name="Shape 4"/>
          <p:cNvSpPr/>
          <p:nvPr/>
        </p:nvSpPr>
        <p:spPr>
          <a:xfrm>
            <a:off x="2169643" y="1234440"/>
            <a:ext cx="7852410"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iki-boyutta-hareket-08.png">    </p:cNvPr>
          <p:cNvPicPr>
            <a:picLocks noChangeAspect="1"/>
          </p:cNvPicPr>
          <p:nvPr/>
        </p:nvPicPr>
        <p:blipFill>
          <a:blip r:embed="rId1"/>
          <a:stretch>
            <a:fillRect/>
          </a:stretch>
        </p:blipFill>
        <p:spPr>
          <a:xfrm>
            <a:off x="2398243" y="1325880"/>
            <a:ext cx="7395210"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Beş atışın da sürati aynı, yalnızca açıları farklı.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Tümler açılar aynı noktaya düşer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(aynı renkli iki eğri): sin2α ile sin(180°−2α) eşittir. Büyük açı daha yükseğe çıkar ve havada daha uzun kalır, ama menzili değiştirmez. En uzağa giden, sin2α'yı bire eşitleyen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45°</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'dir.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72</a:t>
            </a:r>
            <a:endParaRPr lang="en-US" sz="10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Menzil, açı ve tümler açılar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Aynı yükseklikte başlayıp biten atışta menzil R = v₀²·sin2α/g'dir. En uzun menzil 45°'de alınır, tümler açılar aynı menzili verir, menzil ilk süratin karesiyle büyür.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73</a:t>
            </a:r>
            <a:endParaRPr lang="en-US" sz="10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Yörünge denklemi ve grafikler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Yörüngenin denklemini bulmak için zamanı iki denklemin arasından çıkarırız.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Adımlar şöyle:</a:t>
            </a:r>
            <a:endParaRPr lang="en-US" sz="2200" dirty="0"/>
          </a:p>
        </p:txBody>
      </p:sp>
      <p:sp>
        <p:nvSpPr>
          <p:cNvPr id="7" name="Text 5"/>
          <p:cNvSpPr txBox="1"/>
          <p:nvPr/>
        </p:nvSpPr>
        <p:spPr>
          <a:xfrm>
            <a:off x="640080" y="2866644"/>
            <a:ext cx="10911535" cy="1378458"/>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Süreyi yalnız bırak: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x = v₀cosα·t bağıntısından t = x / (v₀cosα).</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Yerine koy:</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bu t'yi y = v₀sinα·t − ½g·t² denkleminde kullan.</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Sadeleştir: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ilk terim x·sinα/cosα = x·tanα olur, ikinci terim x²'li kalır.</a:t>
            </a:r>
            <a:endParaRPr lang="en-US" sz="2100" dirty="0"/>
          </a:p>
        </p:txBody>
      </p:sp>
      <p:sp>
        <p:nvSpPr>
          <p:cNvPr id="8" name="Shape 6"/>
          <p:cNvSpPr/>
          <p:nvPr/>
        </p:nvSpPr>
        <p:spPr>
          <a:xfrm>
            <a:off x="640080" y="4446270"/>
            <a:ext cx="2911450" cy="585216"/>
          </a:xfrm>
          <a:prstGeom prst="roundRect">
            <a:avLst>
              <a:gd name="adj" fmla="val 18750"/>
            </a:avLst>
          </a:prstGeom>
          <a:solidFill>
            <a:srgbClr val="EEF2FC"/>
          </a:solidFill>
          <a:ln w="9525">
            <a:solidFill>
              <a:srgbClr val="CBD7F4"/>
            </a:solidFill>
            <a:prstDash val="solid"/>
          </a:ln>
        </p:spPr>
      </p:sp>
      <p:sp>
        <p:nvSpPr>
          <p:cNvPr id="9" name="Text 7"/>
          <p:cNvSpPr txBox="1"/>
          <p:nvPr/>
        </p:nvSpPr>
        <p:spPr>
          <a:xfrm>
            <a:off x="640080" y="4446270"/>
            <a:ext cx="291145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y = x·tanα − k·x²</a:t>
            </a:r>
            <a:endParaRPr lang="en-US" sz="1800" dirty="0"/>
          </a:p>
        </p:txBody>
      </p:sp>
      <p:sp>
        <p:nvSpPr>
          <p:cNvPr id="10" name="Shape 8"/>
          <p:cNvSpPr/>
          <p:nvPr/>
        </p:nvSpPr>
        <p:spPr>
          <a:xfrm>
            <a:off x="3697834" y="4446270"/>
            <a:ext cx="3467405" cy="585216"/>
          </a:xfrm>
          <a:prstGeom prst="roundRect">
            <a:avLst>
              <a:gd name="adj" fmla="val 18750"/>
            </a:avLst>
          </a:prstGeom>
          <a:solidFill>
            <a:srgbClr val="EEF2FC"/>
          </a:solidFill>
          <a:ln w="9525">
            <a:solidFill>
              <a:srgbClr val="CBD7F4"/>
            </a:solidFill>
            <a:prstDash val="solid"/>
          </a:ln>
        </p:spPr>
      </p:sp>
      <p:sp>
        <p:nvSpPr>
          <p:cNvPr id="11" name="Text 9"/>
          <p:cNvSpPr txBox="1"/>
          <p:nvPr/>
        </p:nvSpPr>
        <p:spPr>
          <a:xfrm>
            <a:off x="3697834" y="4446270"/>
            <a:ext cx="3467405"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k = g / (2·v₀²·cos²α)</a:t>
            </a:r>
            <a:endParaRPr lang="en-US" sz="1800" dirty="0"/>
          </a:p>
        </p:txBody>
      </p:sp>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74</a:t>
            </a:r>
            <a:endParaRPr lang="en-US" sz="10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Yörünge denklemi ve grafikler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y = ax − bx² biçiminde bir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parabol</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denklemidir.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Yörüngenin parabol olmasının sebebi budur: bir eksende zamanla doğrusal, diğerinde zamanın karesiyle değişen bir hareket.</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75</a:t>
            </a:r>
            <a:endParaRPr lang="en-US" sz="10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Yörünge denklemi ve grafikler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graphicFrame>
        <p:nvGraphicFramePr>
          <p:cNvPr id="77"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1007219"/>
                <a:gridCol w="4700354"/>
                <a:gridCol w="1846567"/>
                <a:gridCol w="3357395"/>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Grafik</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Şekli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Eğimi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Altındaki alan</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x – 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Orijinden geçen doğru</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vx (sabit)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y – 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Aşağı açılan parabol</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O andaki vy</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vx – 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Zaman eksenine paralel doğru</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ax = 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Yatay yol (x)</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vy – 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Azalan doğru</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Düşey yer değiştirme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76</a:t>
            </a:r>
            <a:endParaRPr lang="en-US" sz="10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Yörünge denklemi ve grafikler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315620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v</a:t>
            </a:r>
            <a:pPr indent="0" marL="0">
              <a:lnSpc>
                <a:spcPct val="115000"/>
              </a:lnSpc>
              <a:buNone/>
            </a:pPr>
            <a:r>
              <a:rPr lang="en-US" sz="2200" baseline="-40000" dirty="0">
                <a:solidFill>
                  <a:srgbClr val="0E1426"/>
                </a:solidFill>
                <a:latin typeface="Calibri" pitchFamily="34" charset="0"/>
                <a:ea typeface="Calibri" pitchFamily="34" charset="-122"/>
                <a:cs typeface="Calibri" pitchFamily="34" charset="-120"/>
              </a:rPr>
              <a:t>y</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 t doğrusunun zaman eksenini kestiği an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tepe noktasıdır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O ana kadarki üçgenin alanı çıkılan yüksekliği, sonrasındaki (negatif) alan ise inilen yüksekliği verir.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Aynı yükseklikte başlayıp bitiyorsa iki alan eşittir.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Sayfadaki laboratuvarın altında bu dört grafik sen izlerken çizilir.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“Yatay atış · 30 m'den” hazır deneyinde y – t parabolünün tepesi tam başlangıç anındadır: yatay atış, tepesinden başlayan bir eğik atıştır.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77</a:t>
            </a:r>
            <a:endParaRPr lang="en-US" sz="10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Yörünge denklemi ve grafikler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2345719" y="1234440"/>
            <a:ext cx="7500257"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iki-boyutta-hareket-09.png">    </p:cNvPr>
          <p:cNvPicPr>
            <a:picLocks noChangeAspect="1"/>
          </p:cNvPicPr>
          <p:nvPr/>
        </p:nvPicPr>
        <p:blipFill>
          <a:blip r:embed="rId1"/>
          <a:stretch>
            <a:fillRect/>
          </a:stretch>
        </p:blipFill>
        <p:spPr>
          <a:xfrm>
            <a:off x="2574319" y="1325880"/>
            <a:ext cx="7043057"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Dört grafik, iki bağımsız hareketin dört yüzü. Yatayda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x–t doğru, vₓ–t sabittir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düşeyde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y–t parabol, v</a:t>
            </a:r>
            <a:pPr algn="ctr" indent="0" marL="0">
              <a:lnSpc>
                <a:spcPct val="115000"/>
              </a:lnSpc>
              <a:buNone/>
            </a:pPr>
            <a:r>
              <a:rPr lang="en-US" sz="1350" b="1" baseline="-40000" dirty="0">
                <a:solidFill>
                  <a:srgbClr val="0E1426"/>
                </a:solidFill>
                <a:latin typeface="Calibri" pitchFamily="34" charset="0"/>
                <a:ea typeface="Calibri" pitchFamily="34" charset="-122"/>
                <a:cs typeface="Calibri" pitchFamily="34" charset="-120"/>
              </a:rPr>
              <a:t>y</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–t azalan doğrudur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v</a:t>
            </a:r>
            <a:pPr algn="ctr" indent="0" marL="0">
              <a:lnSpc>
                <a:spcPct val="115000"/>
              </a:lnSpc>
              <a:buNone/>
            </a:pPr>
            <a:r>
              <a:rPr lang="en-US" sz="1350" baseline="-40000" dirty="0">
                <a:solidFill>
                  <a:srgbClr val="4A5470"/>
                </a:solidFill>
                <a:latin typeface="Calibri" pitchFamily="34" charset="0"/>
                <a:ea typeface="Calibri" pitchFamily="34" charset="-122"/>
                <a:cs typeface="Calibri" pitchFamily="34" charset="-120"/>
              </a:rPr>
              <a:t>y</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–t doğrusunun zaman eksenini kestiği an tam olarak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tepe noktasıdır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 ana kadarki üçgenin alanı çıkılan yüksekliği, sonrasındaki alan inilen yüksekliği verir.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78</a:t>
            </a:r>
            <a:endParaRPr lang="en-US" sz="10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Yörünge denklemi ve grafikler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Zamanı yok edince yörünge y = x·tanα − k·x² parabolü çıkar. Yatayda x–t doğru ve vₓ–t sabit, düşeyde y–t parabol ve v</a:t>
            </a:r>
            <a:pPr indent="0" marL="0">
              <a:lnSpc>
                <a:spcPct val="125000"/>
              </a:lnSpc>
              <a:buNone/>
            </a:pPr>
            <a:r>
              <a:rPr lang="en-US" sz="2800" baseline="-40000" dirty="0">
                <a:solidFill>
                  <a:srgbClr val="0E1426"/>
                </a:solidFill>
                <a:latin typeface="Cambria" pitchFamily="34" charset="0"/>
                <a:ea typeface="Cambria" pitchFamily="34" charset="-122"/>
                <a:cs typeface="Cambria" pitchFamily="34" charset="-120"/>
              </a:rPr>
              <a:t>y</a:t>
            </a:r>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–t eğimi −g olan doğrudur.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79</a:t>
            </a:r>
            <a:endParaRPr lang="en-US" sz="10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yüksekten atış, düşen bir hedefe nişan, hava direnci ve atışların gerçek hayattaki yüzü.</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Yüksekten atış: 45° artık en iyi değil</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Düşen hedefe nişan: bağımsızlığın en şaşırtıcı sonucu</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Hava direnci işe karışınca: modelin sınırları</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13   </a:t>
            </a:r>
            <a:pPr indent="0" marL="0">
              <a:buNone/>
            </a:pPr>
            <a:r>
              <a:rPr lang="en-US" sz="1300" dirty="0">
                <a:solidFill>
                  <a:srgbClr val="FFFFFF"/>
                </a:solidFill>
                <a:latin typeface="Calibri" pitchFamily="34" charset="0"/>
                <a:ea typeface="Calibri" pitchFamily="34" charset="-122"/>
                <a:cs typeface="Calibri" pitchFamily="34" charset="-120"/>
              </a:rPr>
              <a:t>Atışlar gerçek dünyada</a:t>
            </a:r>
            <a:endParaRPr lang="en-US" sz="1300" dirty="0"/>
          </a:p>
        </p:txBody>
      </p:sp>
      <p:sp>
        <p:nvSpPr>
          <p:cNvPr id="10" name="Shape 8"/>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1" name="Image 0" descr="/tmp/dersler-sekiller/iki-boyutta-hareket-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2" name="Text 9"/>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Uzun atlama bir eğik atıştır.</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Sporcu tahtadan ayrıldığı anda üzerinde yalnızca ağırlığı (ve küçük bir hava direnci) kalır; ağırlık merkezi bir parabol çizer. Havada kollarını ve bacaklarını nasıl savurursa savursun bu yayı değiştiremez: atlayışın uzunluğunu kalkıştaki hız ve açı belirler.</a:t>
            </a:r>
            <a:endParaRPr lang="en-US" sz="1150" dirty="0"/>
          </a:p>
        </p:txBody>
      </p:sp>
      <p:sp>
        <p:nvSpPr>
          <p:cNvPr id="13" name="Shape 10"/>
          <p:cNvSpPr/>
          <p:nvPr/>
        </p:nvSpPr>
        <p:spPr>
          <a:xfrm>
            <a:off x="640080" y="6382512"/>
            <a:ext cx="128016" cy="128016"/>
          </a:xfrm>
          <a:prstGeom prst="roundRect">
            <a:avLst>
              <a:gd name="adj" fmla="val 28571"/>
            </a:avLst>
          </a:prstGeom>
          <a:solidFill>
            <a:srgbClr val="C6F36B"/>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dersler.perinet.org/iki-boyutta-hareket.html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80</a:t>
            </a:r>
            <a:endParaRPr lang="en-US" sz="10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Yüksekten atış: 45° artık en iyi değil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7</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Atış noktası iniş noktasından h kadar yüksekse simetri bozulur: cisim atıldığı hizaya döndükten sonra h kadar daha düşer.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durumda R = v₀²·sin2α/g kullanılamaz; uçuş süresini cismin yere değdiği an yazılan düşey denklemden bulursun.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Yukarıyı pozitif alırsan:</a:t>
            </a:r>
            <a:endParaRPr lang="en-US" sz="2200" dirty="0"/>
          </a:p>
        </p:txBody>
      </p:sp>
      <p:sp>
        <p:nvSpPr>
          <p:cNvPr id="7" name="Shape 5"/>
          <p:cNvSpPr/>
          <p:nvPr/>
        </p:nvSpPr>
        <p:spPr>
          <a:xfrm>
            <a:off x="640080" y="3729228"/>
            <a:ext cx="3606394"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3729228"/>
            <a:ext cx="3606394"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h + v₀ᵧ·t − ½·g·t² = 0</a:t>
            </a:r>
            <a:endParaRPr lang="en-US" sz="1800" dirty="0"/>
          </a:p>
        </p:txBody>
      </p:sp>
      <p:sp>
        <p:nvSpPr>
          <p:cNvPr id="9" name="Shape 7"/>
          <p:cNvSpPr/>
          <p:nvPr/>
        </p:nvSpPr>
        <p:spPr>
          <a:xfrm>
            <a:off x="4392778" y="3729228"/>
            <a:ext cx="2077517"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4392778" y="3729228"/>
            <a:ext cx="2077517"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R = v₀ₓ · t</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81</a:t>
            </a:r>
            <a:endParaRPr lang="en-US" sz="10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Yüksekten atış: 45° artık en iyi değil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7</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ikinci dereceden denklemin iki kökü çıkar; negatif olanı atıştan önceki bir anı gösterir ve atılır.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Şimdi 20 m yükseklikteki bir kuleden topu hep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10 m/s</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ile, ama farklı açılarla attığını düşün (g = 10 m/s²):</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82</a:t>
            </a:r>
            <a:endParaRPr lang="en-US" sz="10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Yüksekten atış: 45° artık en iyi değil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7</a:t>
            </a:r>
            <a:endParaRPr lang="en-US" sz="950" dirty="0"/>
          </a:p>
        </p:txBody>
      </p:sp>
      <p:graphicFrame>
        <p:nvGraphicFramePr>
          <p:cNvPr id="84"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2797830"/>
                <a:gridCol w="3077612"/>
                <a:gridCol w="5036093"/>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Açı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Uçuş süresi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Menzil</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0° (yatay)</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 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20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15°</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2,28 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22,0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 24°</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2,45 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22,4 m (en uzun)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30°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2,56 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22,2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45°</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2,83 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20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83</a:t>
            </a:r>
            <a:endParaRPr lang="en-US" sz="10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Yüksekten atış: 45° artık en iyi değil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7</a:t>
            </a:r>
            <a:endParaRPr lang="en-US" sz="950" dirty="0"/>
          </a:p>
        </p:txBody>
      </p:sp>
      <p:sp>
        <p:nvSpPr>
          <p:cNvPr id="6" name="Text 4"/>
          <p:cNvSpPr txBox="1"/>
          <p:nvPr/>
        </p:nvSpPr>
        <p:spPr>
          <a:xfrm>
            <a:off x="640080" y="1325880"/>
            <a:ext cx="10911535" cy="267919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Şaşırtıcı bir sonuç: bu kulede 45°'lik atış, yatay atıştan daha uzağa gitmiyor; ikisi de 20 m'ye düşüyor.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En uzun menzil yaklaşık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24°</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'de.</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Neden?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Cisim zaten yüksekten düşeceği için havada kalma süresini artırmaya pek gerek yoktur; hızın büyük kısmını yataya vermek daha kârlıdır.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84</a:t>
            </a:r>
            <a:endParaRPr lang="en-US" sz="10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Yüksekten atış: 45° artık en iyi değil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7</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Aynı kuleden 20 m/s ile atınca en iyi açı yaklaşık 35°'ye çıkar: ilk hız yüksekliğe göre büyüdükçe en iyi açı 45°'ye yaklaşır.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85</a:t>
            </a:r>
            <a:endParaRPr lang="en-US" sz="10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Yüksekten atış: 45° artık en iyi değil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7</a:t>
            </a:r>
            <a:endParaRPr lang="en-US" sz="950" dirty="0"/>
          </a:p>
        </p:txBody>
      </p:sp>
      <p:sp>
        <p:nvSpPr>
          <p:cNvPr id="6" name="Shape 4"/>
          <p:cNvSpPr/>
          <p:nvPr/>
        </p:nvSpPr>
        <p:spPr>
          <a:xfrm>
            <a:off x="2828070" y="1234440"/>
            <a:ext cx="6535555"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iki-boyutta-hareket-10.png">    </p:cNvPr>
          <p:cNvPicPr>
            <a:picLocks noChangeAspect="1"/>
          </p:cNvPicPr>
          <p:nvPr/>
        </p:nvPicPr>
        <p:blipFill>
          <a:blip r:embed="rId1"/>
          <a:stretch>
            <a:fillRect/>
          </a:stretch>
        </p:blipFill>
        <p:spPr>
          <a:xfrm>
            <a:off x="3056670" y="1325880"/>
            <a:ext cx="6078355"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Kuleden aynı süratle üç atış, ölçekli çizildi.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Yatay atış ile 45°</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aynı noktaya, 20 m'ye düşüyor. En uzağa giden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24°</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'lik yatık atış. Cisim zaten 20 m düşeceği için havada kalma süresi kendiliğinden uzun; hızın büyük kısmını yataya vermek daha kârlı.</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86</a:t>
            </a:r>
            <a:endParaRPr lang="en-US" sz="10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Yüksekten atış: 45° artık en iyi değil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7 / 7</a:t>
            </a:r>
            <a:endParaRPr lang="en-US" sz="950" dirty="0"/>
          </a:p>
        </p:txBody>
      </p:sp>
      <p:sp>
        <p:nvSpPr>
          <p:cNvPr id="6" name="Shape 4"/>
          <p:cNvSpPr/>
          <p:nvPr/>
        </p:nvSpPr>
        <p:spPr>
          <a:xfrm>
            <a:off x="3622681" y="1271016"/>
            <a:ext cx="4946333" cy="3334131"/>
          </a:xfrm>
          <a:prstGeom prst="roundRect">
            <a:avLst>
              <a:gd name="adj" fmla="val 384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iki-boyutta-hareket-ek1-genis.jpg">    </p:cNvPr>
          <p:cNvPicPr>
            <a:picLocks noChangeAspect="1"/>
          </p:cNvPicPr>
          <p:nvPr/>
        </p:nvPicPr>
        <p:blipFill>
          <a:blip r:embed="rId1"/>
          <a:stretch>
            <a:fillRect/>
          </a:stretch>
        </p:blipFill>
        <p:spPr>
          <a:xfrm>
            <a:off x="3677545" y="1325880"/>
            <a:ext cx="4836605" cy="3224403"/>
          </a:xfrm>
          <a:prstGeom prst="rect">
            <a:avLst/>
          </a:prstGeom>
        </p:spPr>
      </p:pic>
      <p:sp>
        <p:nvSpPr>
          <p:cNvPr id="8" name="Text 5"/>
          <p:cNvSpPr txBox="1"/>
          <p:nvPr/>
        </p:nvSpPr>
        <p:spPr>
          <a:xfrm>
            <a:off x="1249528" y="4788027"/>
            <a:ext cx="9692640" cy="1356741"/>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Yüksekten atılan taşın yolu</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simetrik değildir: taş el hizasının biraz üstüne çıkıp geri döner, ama yolunun çok daha uzun kısmı ondan sonra, kayalığın dibindeki denize doğru süren düşüşte kalır. Hava direnci ihmal edilirse taşın yatay hızı yol boyunca değişmez; düşüş uzadıkça büyüyen yalnızca düşey hızdır. Taş zaten yüksekten düşeceği için havada kalma süresini artırmaya pek gerek yoktur; hızın büyük kısmını yataya vermek, yani 45°'den daha yatık atmak menzili artırır.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87</a:t>
            </a:r>
            <a:endParaRPr lang="en-US" sz="10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Yüksekten atış: 45° artık en iyi değil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Atış noktası iniş noktasından yüksekse süre ikinci dereceden denklemden bulunur ve en uzun menzil 45°'nin altındaki bir açıda alınır. Yükseklik ilk hıza göre büyüdükçe bu açı küçülür.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88</a:t>
            </a:r>
            <a:endParaRPr lang="en-US" sz="10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Bu kulede yatay atış ile 45°'lik atış aynı yere düşüyor. Hangisi yere daha hızlı çarpar?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10 · Yüksekten atış: 45° artık en iyi değil</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89</a:t>
            </a:r>
            <a:endParaRPr lang="en-US" sz="10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Bu kulede yatay atış ile 45°'lik atış aynı yere düşüyor. Hangisi yere daha hızlı çarpar?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İkisi de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aynı süratle</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çarpar. v² = v₀² + 2gh bağıntısında atış açısı hiç geçmez: v² = 100 + 400 = 500, v ≈ 22,4 m/s. Açı yalnızca çarpma yönünü ve havada kalma süresini değiştirir.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90</a:t>
            </a:r>
            <a:endParaRPr lang="en-US" sz="10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600" b="1" spc="-50" kern="0" dirty="0">
                <a:solidFill>
                  <a:srgbClr val="0E1426"/>
                </a:solidFill>
                <a:latin typeface="Cambria" pitchFamily="34" charset="0"/>
                <a:ea typeface="Cambria" pitchFamily="34" charset="-122"/>
                <a:cs typeface="Cambria" pitchFamily="34" charset="-120"/>
              </a:rPr>
              <a:t>Düşen hedefe nişan: bağımsızlığın en şaşırtıcı sonucu</a:t>
            </a:r>
            <a:endParaRPr lang="en-US" sz="26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315620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Fizik derslerinin klasik bir düşünce deneyi: bir avcı, daldan sarkan bir maymuna doğrudan nişan alır.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Maymun, silah ateşlendiği anda kendini bırakır.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Avcı nişanını düzeltmeli mi?</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Sezgi “maymun aşağı kaçtığına göre mermi üstünden geçer” der.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Oysa mermi yine maymuna isabet eder — yeter ki maymun yere değmeden önce mermi ona ulaşsın.</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91</a:t>
            </a:r>
            <a:endParaRPr lang="en-US" sz="10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600" b="1" spc="-50" kern="0" dirty="0">
                <a:solidFill>
                  <a:srgbClr val="0E1426"/>
                </a:solidFill>
                <a:latin typeface="Cambria" pitchFamily="34" charset="0"/>
                <a:ea typeface="Cambria" pitchFamily="34" charset="-122"/>
                <a:cs typeface="Cambria" pitchFamily="34" charset="-120"/>
              </a:rPr>
              <a:t>Düşen hedefe nişan: bağımsızlığın en şaşırtıcı sonucu</a:t>
            </a:r>
            <a:endParaRPr lang="en-US" sz="26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315620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Sebebi bağımsızlık ilkesidir.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Yerçekimi olmasaydı mermi namlunun gösterdiği düz çizgi boyunca gider ve maymunun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ilk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bulunduğu noktaya varırdı.</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Yerçekimi, mermiyi bu düz çizginin altına her an ½·g·t² kadar indirir.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Maymun da aynı anda serbest düşmeye başladığı için kendi ilk yerinin tam ½·g·t² kadar altındadır.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İkisi aynı sürede aynı miktar düştüğünden buluşurlar.</a:t>
            </a:r>
            <a:endParaRPr lang="en-US" sz="2200" dirty="0"/>
          </a:p>
        </p:txBody>
      </p:sp>
      <p:sp>
        <p:nvSpPr>
          <p:cNvPr id="7" name="Shape 5"/>
          <p:cNvSpPr/>
          <p:nvPr/>
        </p:nvSpPr>
        <p:spPr>
          <a:xfrm>
            <a:off x="640080" y="4683252"/>
            <a:ext cx="4023360"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4683252"/>
            <a:ext cx="402336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mermi: düz çizgi − ½·g·t²</a:t>
            </a:r>
            <a:endParaRPr lang="en-US" sz="1800" dirty="0"/>
          </a:p>
        </p:txBody>
      </p:sp>
      <p:sp>
        <p:nvSpPr>
          <p:cNvPr id="9" name="Shape 7"/>
          <p:cNvSpPr/>
          <p:nvPr/>
        </p:nvSpPr>
        <p:spPr>
          <a:xfrm>
            <a:off x="4809744" y="4683252"/>
            <a:ext cx="3745382"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4809744" y="4683252"/>
            <a:ext cx="3745382"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hedef: ilk yer − ½·g·t²</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92</a:t>
            </a:r>
            <a:endParaRPr lang="en-US" sz="10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600" b="1" spc="-50" kern="0" dirty="0">
                <a:solidFill>
                  <a:srgbClr val="0E1426"/>
                </a:solidFill>
                <a:latin typeface="Cambria" pitchFamily="34" charset="0"/>
                <a:ea typeface="Cambria" pitchFamily="34" charset="-122"/>
                <a:cs typeface="Cambria" pitchFamily="34" charset="-120"/>
              </a:rPr>
              <a:t>Düşen hedefe nişan: bağımsızlığın en şaşırtıcı sonucu</a:t>
            </a:r>
            <a:endParaRPr lang="en-US" sz="26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Shape 4"/>
          <p:cNvSpPr/>
          <p:nvPr/>
        </p:nvSpPr>
        <p:spPr>
          <a:xfrm>
            <a:off x="2651939" y="1234440"/>
            <a:ext cx="6887817"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iki-boyutta-hareket-11.png">    </p:cNvPr>
          <p:cNvPicPr>
            <a:picLocks noChangeAspect="1"/>
          </p:cNvPicPr>
          <p:nvPr/>
        </p:nvPicPr>
        <p:blipFill>
          <a:blip r:embed="rId1"/>
          <a:stretch>
            <a:fillRect/>
          </a:stretch>
        </p:blipFill>
        <p:spPr>
          <a:xfrm>
            <a:off x="2880539" y="1325880"/>
            <a:ext cx="6430617"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Kesikli çizgi nişan çizgisi; boş halkalar merminin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g olmasaydı</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bulunacağı yerler. Yerçekimi mermiyi bu yerlerin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½gt²</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kadar altına indirir. Hedef de aynı anda bırakıldığı için aynı sürede ilk yerinin tam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½gt²</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altına iner: iki sarı ok eşit. Bu yüzden ikisi hedefin düşey çizgisinde buluşur.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93</a:t>
            </a:r>
            <a:endParaRPr lang="en-US" sz="10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600" b="1" spc="-50" kern="0" dirty="0">
                <a:solidFill>
                  <a:srgbClr val="0E1426"/>
                </a:solidFill>
                <a:latin typeface="Cambria" pitchFamily="34" charset="0"/>
                <a:ea typeface="Cambria" pitchFamily="34" charset="-122"/>
                <a:cs typeface="Cambria" pitchFamily="34" charset="-120"/>
              </a:rPr>
              <a:t>Düşen hedefe nişan: bağımsızlığın en şaşırtıcı sonucu</a:t>
            </a:r>
            <a:endParaRPr lang="en-US" sz="26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2482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Sayılarla: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100 m ötedeki hedefe 200 m/s'lik mermi 0,5 s'de varır; bu sürede ikisi de ½·10·0,5² = 1,25 m düşer.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Açı fark etmez:</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nişan eğik de olsa sonuç aynıdır; iki cisim de düz çizgiden aynı miktarda sapar.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Hız fark etmez:</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mermi yavaşsa ikisi daha çok düşer ama yine buluşur; yeter ki hedef yere değmeden varsın.</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94</a:t>
            </a:r>
            <a:endParaRPr lang="en-US" sz="10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600" b="1" spc="-50" kern="0" dirty="0">
                <a:solidFill>
                  <a:srgbClr val="0E1426"/>
                </a:solidFill>
                <a:latin typeface="Cambria" pitchFamily="34" charset="0"/>
                <a:ea typeface="Cambria" pitchFamily="34" charset="-122"/>
                <a:cs typeface="Cambria" pitchFamily="34" charset="-120"/>
              </a:rPr>
              <a:t>Düşen hedefe nişan: bağımsızlığın en şaşırtıcı sonucu</a:t>
            </a:r>
            <a:endParaRPr lang="en-US" sz="26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3267780" y="1271016"/>
            <a:ext cx="5656136" cy="3807333"/>
          </a:xfrm>
          <a:prstGeom prst="roundRect">
            <a:avLst>
              <a:gd name="adj" fmla="val 336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iki-boyutta-hareket-ek2-genis.jpg">    </p:cNvPr>
          <p:cNvPicPr>
            <a:picLocks noChangeAspect="1"/>
          </p:cNvPicPr>
          <p:nvPr/>
        </p:nvPicPr>
        <p:blipFill>
          <a:blip r:embed="rId1"/>
          <a:stretch>
            <a:fillRect/>
          </a:stretch>
        </p:blipFill>
        <p:spPr>
          <a:xfrm>
            <a:off x="3322644" y="1325880"/>
            <a:ext cx="5546408" cy="3697605"/>
          </a:xfrm>
          <a:prstGeom prst="rect">
            <a:avLst/>
          </a:prstGeom>
        </p:spPr>
      </p:pic>
      <p:sp>
        <p:nvSpPr>
          <p:cNvPr id="8" name="Text 5"/>
          <p:cNvSpPr txBox="1"/>
          <p:nvPr/>
        </p:nvSpPr>
        <p:spPr>
          <a:xfrm>
            <a:off x="1249528" y="5261229"/>
            <a:ext cx="9692640" cy="883539"/>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Düşen hedef deneyinde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tüp doğrudan oyuncağın ilk yerine nişanlanır ve top tüpten çıktığı anda tutucu oyuncağı bırakır. Top da oyuncak da aynı sürede aynı ½·g·t² kadar düştüğü için top, nişan çizgisinin altında ama tam oyuncağın hizasında onunla buluşur.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95</a:t>
            </a:r>
            <a:endParaRPr lang="en-US" sz="105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600" b="1" spc="-50" kern="0" dirty="0">
                <a:solidFill>
                  <a:srgbClr val="0E1426"/>
                </a:solidFill>
                <a:latin typeface="Cambria" pitchFamily="34" charset="0"/>
                <a:ea typeface="Cambria" pitchFamily="34" charset="-122"/>
                <a:cs typeface="Cambria" pitchFamily="34" charset="-120"/>
              </a:rPr>
              <a:t>Düşen hedefe nişan: bağımsızlığın en şaşırtıcı sonucu</a:t>
            </a:r>
            <a:endParaRPr lang="en-US" sz="26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Aynı anda serbest kalan mermi ve hedef, aynı sürede aynı ½·g·t² kadar düşer. Bu yüzden düşen hedefe doğrudan nişan alınırsa mermi, hedef yere değmeden varmak koşuluyla isabet eder.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96</a:t>
            </a:r>
            <a:endParaRPr lang="en-US" sz="10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Maymun kendini bırakmasaydı, 200 m/s'lik mermi 100 m ötede ona göre nereden geçerdi?</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11 · Düşen hedefe nişan: bağımsızlığın en şaşırtıcı sonucu</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97</a:t>
            </a:r>
            <a:endParaRPr lang="en-US" sz="10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Maymun kendini bırakmasaydı, 200 m/s'lik mermi 100 m ötede ona göre nereden geçerdi?</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Maymunun yaklaşık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1,25 m altından</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Mermi 0,5 s içinde düz nişan çizgisinin 1,25 m altına iner; yerinde kalan hedef ise nişan çizgisinin üzerinde durur. Düşen hedefi vuran şey, yerinde kalan hedefi ıskalatan şeyle aynıdır: yerçekimi.</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98</a:t>
            </a:r>
            <a:endParaRPr lang="en-US" sz="10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100" b="1" spc="-50" kern="0" dirty="0">
                <a:solidFill>
                  <a:srgbClr val="0E1426"/>
                </a:solidFill>
                <a:latin typeface="Cambria" pitchFamily="34" charset="0"/>
                <a:ea typeface="Cambria" pitchFamily="34" charset="-122"/>
                <a:cs typeface="Cambria" pitchFamily="34" charset="-120"/>
              </a:rPr>
              <a:t>Hava direnci işe karışınca: modelin sınırları</a:t>
            </a:r>
            <a:endParaRPr lang="en-US" sz="31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345033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Buraya kadar hava direncini ihmal ettik.</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ağır ve yavaş cisimler için çok iyi bir yaklaşımdır: birkaç metreden atılan bir taş ya da bilye, hesapladığımız parabolü neredeyse birebir izler.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Ama hız büyüdükçe ya da cisim hafifleyip genişledikçe hava direnci ağırlığın yanında önemli hâle gelir ve yörünge parabolden uzaklaşır.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Hava direnci hızla büyüyen ve harekete ters yönlü bir kuvvettir; bu yüzden hem yatay hem düşey hareketi etkiler.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99</a:t>
            </a:r>
            <a:endParaRPr lang="en-US" sz="10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100" b="1" spc="-50" kern="0" dirty="0">
                <a:solidFill>
                  <a:srgbClr val="0E1426"/>
                </a:solidFill>
                <a:latin typeface="Cambria" pitchFamily="34" charset="0"/>
                <a:ea typeface="Cambria" pitchFamily="34" charset="-122"/>
                <a:cs typeface="Cambria" pitchFamily="34" charset="-120"/>
              </a:rPr>
              <a:t>Hava direnci işe karışınca: modelin sınırları</a:t>
            </a:r>
            <a:endParaRPr lang="en-US" sz="31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294208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Yatay hız sabit kalmaz:</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direnç yatayda da etki ettiği için cisim ileri giderken yavaşlar.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Menzil kısalır: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gerçek top, havasız ortamdaki menzilinin belirgin biçimde altında kalır.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Simetri bozulur: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iniş çıkıştan daha dik olur ve daha uzun sürer.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En iyi açı küçülür: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hızlı ve hafif toplarda en uzun menzil 45°'nin altındaki açılarda alınır.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100</a:t>
            </a:r>
            <a:endParaRPr lang="en-US" sz="105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100" b="1" spc="-50" kern="0" dirty="0">
                <a:solidFill>
                  <a:srgbClr val="0E1426"/>
                </a:solidFill>
                <a:latin typeface="Cambria" pitchFamily="34" charset="0"/>
                <a:ea typeface="Cambria" pitchFamily="34" charset="-122"/>
                <a:cs typeface="Cambria" pitchFamily="34" charset="-120"/>
              </a:rPr>
              <a:t>Hava direnci işe karışınca: modelin sınırları</a:t>
            </a:r>
            <a:endParaRPr lang="en-US" sz="31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82753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Kütle yeniden önem kazanır: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aynı boyutta ağır top, direnci ağırlığına oranla daha az hisseder.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101</a:t>
            </a:r>
            <a:endParaRPr lang="en-US" sz="10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100" b="1" spc="-50" kern="0" dirty="0">
                <a:solidFill>
                  <a:srgbClr val="0E1426"/>
                </a:solidFill>
                <a:latin typeface="Cambria" pitchFamily="34" charset="0"/>
                <a:ea typeface="Cambria" pitchFamily="34" charset="-122"/>
                <a:cs typeface="Cambria" pitchFamily="34" charset="-120"/>
              </a:rPr>
              <a:t>Hava direnci işe karışınca: modelin sınırları</a:t>
            </a:r>
            <a:endParaRPr lang="en-US" sz="31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Shape 4"/>
          <p:cNvSpPr/>
          <p:nvPr/>
        </p:nvSpPr>
        <p:spPr>
          <a:xfrm>
            <a:off x="1473949" y="1234440"/>
            <a:ext cx="9243797"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iki-boyutta-hareket-12.png">    </p:cNvPr>
          <p:cNvPicPr>
            <a:picLocks noChangeAspect="1"/>
          </p:cNvPicPr>
          <p:nvPr/>
        </p:nvPicPr>
        <p:blipFill>
          <a:blip r:embed="rId1"/>
          <a:stretch>
            <a:fillRect/>
          </a:stretch>
        </p:blipFill>
        <p:spPr>
          <a:xfrm>
            <a:off x="1702549" y="1325880"/>
            <a:ext cx="8786597"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Kesikli eğri havasız ortamdaki parabol; noktalar eşit zaman aralıklarını gösteriyor ve yatayda hep eşit aralıklı. Mavi eğride hava direnci var: noktaların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yatay aralıkları kısalıyor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yani yatay hız da azalıyor. Top daha alçaktan geçiyor,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inişi çıkışından dik</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ve menzili belirgin biçimde kısa.</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102</a:t>
            </a:r>
            <a:endParaRPr lang="en-US" sz="105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100" b="1" spc="-50" kern="0" dirty="0">
                <a:solidFill>
                  <a:srgbClr val="0E1426"/>
                </a:solidFill>
                <a:latin typeface="Cambria" pitchFamily="34" charset="0"/>
                <a:ea typeface="Cambria" pitchFamily="34" charset="-122"/>
                <a:cs typeface="Cambria" pitchFamily="34" charset="-120"/>
              </a:rPr>
              <a:t>Hava direnci işe karışınca: modelin sınırları</a:t>
            </a:r>
            <a:endParaRPr lang="en-US" sz="31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örnek fikir versin: havasız bir ortamda 40 m/s ile 45°'de atılan bir top R = 1600/10 = 160 m giderdi.</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Gerçek bir top bu hızda havayla o kadar güçlü etkileşir ki bu uzaklığın çok gerisinde kalır.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Badminton topu ya da pinpon topu gibi hafif cisimlerde fark çok daha büyüktür.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Hava direncinin ayrıntıları bu ünitenin “Limit hız” konusunda.</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103</a:t>
            </a:r>
            <a:endParaRPr lang="en-US" sz="105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100" b="1" spc="-50" kern="0" dirty="0">
                <a:solidFill>
                  <a:srgbClr val="0E1426"/>
                </a:solidFill>
                <a:latin typeface="Cambria" pitchFamily="34" charset="0"/>
                <a:ea typeface="Cambria" pitchFamily="34" charset="-122"/>
                <a:cs typeface="Cambria" pitchFamily="34" charset="-120"/>
              </a:rPr>
              <a:t>Hava direnci işe karışınca: modelin sınırları</a:t>
            </a:r>
            <a:endParaRPr lang="en-US" sz="31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3267780" y="1271016"/>
            <a:ext cx="5656136" cy="3807333"/>
          </a:xfrm>
          <a:prstGeom prst="roundRect">
            <a:avLst>
              <a:gd name="adj" fmla="val 336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iki-boyutta-hareket-ek3-genis.jpg">    </p:cNvPr>
          <p:cNvPicPr>
            <a:picLocks noChangeAspect="1"/>
          </p:cNvPicPr>
          <p:nvPr/>
        </p:nvPicPr>
        <p:blipFill>
          <a:blip r:embed="rId1"/>
          <a:stretch>
            <a:fillRect/>
          </a:stretch>
        </p:blipFill>
        <p:spPr>
          <a:xfrm>
            <a:off x="3322644" y="1325880"/>
            <a:ext cx="5546408" cy="3697605"/>
          </a:xfrm>
          <a:prstGeom prst="rect">
            <a:avLst/>
          </a:prstGeom>
        </p:spPr>
      </p:pic>
      <p:sp>
        <p:nvSpPr>
          <p:cNvPr id="8" name="Text 5"/>
          <p:cNvSpPr txBox="1"/>
          <p:nvPr/>
        </p:nvSpPr>
        <p:spPr>
          <a:xfrm>
            <a:off x="1249528" y="5261229"/>
            <a:ext cx="9692640" cy="883539"/>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Tüylü top</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hafif ve geniş olduğu için hava direnci onun için ağırlığının yanında büyüktür ve yatay hızını hızla azaltır. Bu yüzden top yatık bir yayla çıkar, ama tepe noktasından sonra çıkıştakinden daha dik bir yolla iner. Havasız ortamda çizeceği simetrik parabolün yerini yamuk bir eğri alır.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104</a:t>
            </a:r>
            <a:endParaRPr lang="en-US" sz="105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100" b="1" spc="-50" kern="0" dirty="0">
                <a:solidFill>
                  <a:srgbClr val="0E1426"/>
                </a:solidFill>
                <a:latin typeface="Cambria" pitchFamily="34" charset="0"/>
                <a:ea typeface="Cambria" pitchFamily="34" charset="-122"/>
                <a:cs typeface="Cambria" pitchFamily="34" charset="-120"/>
              </a:rPr>
              <a:t>Hava direnci işe karışınca: modelin sınırları</a:t>
            </a:r>
            <a:endParaRPr lang="en-US" sz="31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Hava direnci yatay hızı da azaltır; menzil kısalır, iniş çıkıştan dik ve uzun olur, en iyi açı 45°'nin altına iner. Ağır ve yavaş cisimlerde parabol modeli yine çok iyi çalışır.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105</a:t>
            </a:r>
            <a:endParaRPr lang="en-US" sz="105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Hava direnci varken eğik atılan bir topun çıkışı mı daha uzun sürer, inişi mi?</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12 · Hava direnci işe karışınca: modelin sınırları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106</a:t>
            </a:r>
            <a:endParaRPr lang="en-US" sz="105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Hava direnci varken eğik atılan bir topun çıkışı mı daha uzun sürer, inişi mi?</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İnişi.</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Çıkarken ağırlık da direnç de aşağı yönlüdür, top çabuk yavaşlar. İnerken direnç yukarı yönlüdür ve ağırlığın bir kısmını götürür; top daha yavaş hızlanır. Bu yüzden iniş daha uzun sürer ve yörünge inişte dikleşir.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107</a:t>
            </a:r>
            <a:endParaRPr lang="en-US" sz="105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Atışlar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Atış hareketi yalnızca ders kitabı problemi değildir; sporda, kurtarma çalışmalarında ve mühendislikte her gün hesaplanır.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Hepsinde aynı iki kural işler: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yatayda sabit hız, düşeyde sabit ivme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Gerçek sayılar ise modelin nerede yeterli, nerede eksik kaldığını gösterir.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108</a:t>
            </a:r>
            <a:endParaRPr lang="en-US" sz="105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Atışlar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331012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Uzun atlama: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sporcular tahtadan yaklaşık 9–10 m/s hızla ama 45° değil, 20° civarında ayrılır; koşudan gelen hızı dikleşerek harcamak kârlı değildir.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Havadan yardım:</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500 m yükseklikte 100 m/s ile uçan uçaktan bırakılan paket 10 s düşer ve yatayda 1 km gider; hedeften 1 km önce bırakılır.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Basketbol: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çember yerden 3,05 m yüksektedir. Yüksek kavisli şut çembere dik iner; çemberin ağzı topa daha geniş görünür, hata payı artar.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Ay'da atış:</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Ay'da g yaklaşık altı kat küçüktür; 25 m/s ve 45° ile atılan cismin menzili 63,7 m'den yaklaşık 386 m'ye çıkar.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109</a:t>
            </a:r>
            <a:endParaRPr lang="en-US" sz="105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Atışlar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82753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Fıskiyeler: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su jetleri de birer atıştır. Düşey 10 m/s ile fışkıran su v₀²/(2g) = 5 m yükselir; tasarımcı yüksekliği bu bağıntıyla seçer.</a:t>
            </a:r>
            <a:endParaRPr lang="en-US" sz="2100" dirty="0"/>
          </a:p>
        </p:txBody>
      </p:sp>
      <p:sp>
        <p:nvSpPr>
          <p:cNvPr id="7" name="Text 5"/>
          <p:cNvSpPr txBox="1"/>
          <p:nvPr/>
        </p:nvSpPr>
        <p:spPr>
          <a:xfrm>
            <a:off x="640080" y="23545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Havadan yardım örneğinde bir ayrıntı daha var: paket yere değdiğinde uçak tam onun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üstündedir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çünkü ikisinin yatay hızı hep aynıdır.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 örneğini laboratuvardaki “Ay'da 45°” hazır deneyiyle kendin görebilirsin; cisim havada yaklaşık 22 saniye kalır.</a:t>
            </a:r>
            <a:endParaRPr lang="en-US" sz="22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110</a:t>
            </a:r>
            <a:endParaRPr lang="en-US" sz="105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Atışlar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Shape 4"/>
          <p:cNvSpPr/>
          <p:nvPr/>
        </p:nvSpPr>
        <p:spPr>
          <a:xfrm>
            <a:off x="2720350" y="1234440"/>
            <a:ext cx="6750996"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iki-boyutta-hareket-13.png">    </p:cNvPr>
          <p:cNvPicPr>
            <a:picLocks noChangeAspect="1"/>
          </p:cNvPicPr>
          <p:nvPr/>
        </p:nvPicPr>
        <p:blipFill>
          <a:blip r:embed="rId1"/>
          <a:stretch>
            <a:fillRect/>
          </a:stretch>
        </p:blipFill>
        <p:spPr>
          <a:xfrm>
            <a:off x="2948950" y="1325880"/>
            <a:ext cx="6293796"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Uçağın ve paketin eşit zaman aralıklı konumları. Paket bırakıldığı anda uçağın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yatay hızını</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taşır ve havada bu hız değişmez; bu yüzden düşerken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hep uçağın tam altında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kalır. Düştüğü sürede uçakla birlikte 1 km ileri gittiği için hedefin üstünde değil,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1 km önce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bırakılır.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111</a:t>
            </a:r>
            <a:endParaRPr lang="en-US" sz="105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Atışlar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Uzun atlamadan havadan yardıma, basketboldan fıskiyelere kadar atışlar yatayda sabit hız, düşeyde sabit ivme kuralıyla çözülür. Gerçek en iyi açıyı hava direnci ve vücudun sınırları da belirler.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112</a:t>
            </a:r>
            <a:endParaRPr lang="en-US" sz="105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sınavda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14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15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7 ÇÖZÜMLÜ ÖRNEK</a:t>
            </a:r>
            <a:endParaRPr lang="en-US" sz="1050" dirty="0"/>
          </a:p>
        </p:txBody>
      </p:sp>
      <p:sp>
        <p:nvSpPr>
          <p:cNvPr id="9" name="Shape 7"/>
          <p:cNvSpPr/>
          <p:nvPr/>
        </p:nvSpPr>
        <p:spPr>
          <a:xfrm>
            <a:off x="6172200" y="1481328"/>
            <a:ext cx="5379415" cy="512064"/>
          </a:xfrm>
          <a:prstGeom prst="roundRect">
            <a:avLst>
              <a:gd name="adj" fmla="val 17857"/>
            </a:avLst>
          </a:prstGeom>
          <a:solidFill>
            <a:srgbClr val="1C2542"/>
          </a:solidFill>
          <a:ln w="9525">
            <a:solidFill>
              <a:srgbClr val="2C3860"/>
            </a:solidFill>
            <a:prstDash val="solid"/>
          </a:ln>
        </p:spPr>
      </p:sp>
      <p:sp>
        <p:nvSpPr>
          <p:cNvPr id="10" name="Text 8"/>
          <p:cNvSpPr txBox="1"/>
          <p:nvPr/>
        </p:nvSpPr>
        <p:spPr>
          <a:xfrm>
            <a:off x="6400800" y="148132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Masadan yuvarlanan bilye</a:t>
            </a:r>
            <a:endParaRPr lang="en-US" sz="1300" dirty="0"/>
          </a:p>
        </p:txBody>
      </p:sp>
      <p:sp>
        <p:nvSpPr>
          <p:cNvPr id="11" name="Text 9"/>
          <p:cNvSpPr txBox="1"/>
          <p:nvPr/>
        </p:nvSpPr>
        <p:spPr>
          <a:xfrm>
            <a:off x="10362895" y="1481328"/>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84832"/>
            <a:ext cx="5379415" cy="512064"/>
          </a:xfrm>
          <a:prstGeom prst="roundRect">
            <a:avLst>
              <a:gd name="adj" fmla="val 17857"/>
            </a:avLst>
          </a:prstGeom>
          <a:solidFill>
            <a:srgbClr val="1C2542"/>
          </a:solidFill>
          <a:ln w="9525">
            <a:solidFill>
              <a:srgbClr val="2C3860"/>
            </a:solidFill>
            <a:prstDash val="solid"/>
          </a:ln>
        </p:spPr>
      </p:sp>
      <p:sp>
        <p:nvSpPr>
          <p:cNvPr id="13" name="Text 11"/>
          <p:cNvSpPr txBox="1"/>
          <p:nvPr/>
        </p:nvSpPr>
        <p:spPr>
          <a:xfrm>
            <a:off x="6400800" y="208483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80 m yüksekten yatay atış</a:t>
            </a:r>
            <a:endParaRPr lang="en-US" sz="1300" dirty="0"/>
          </a:p>
        </p:txBody>
      </p:sp>
      <p:sp>
        <p:nvSpPr>
          <p:cNvPr id="14" name="Text 12"/>
          <p:cNvSpPr txBox="1"/>
          <p:nvPr/>
        </p:nvSpPr>
        <p:spPr>
          <a:xfrm>
            <a:off x="10362895" y="2084832"/>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88336"/>
            <a:ext cx="5379415" cy="512064"/>
          </a:xfrm>
          <a:prstGeom prst="roundRect">
            <a:avLst>
              <a:gd name="adj" fmla="val 17857"/>
            </a:avLst>
          </a:prstGeom>
          <a:solidFill>
            <a:srgbClr val="1C2542"/>
          </a:solidFill>
          <a:ln w="9525">
            <a:solidFill>
              <a:srgbClr val="2C3860"/>
            </a:solidFill>
            <a:prstDash val="solid"/>
          </a:ln>
        </p:spPr>
      </p:sp>
      <p:sp>
        <p:nvSpPr>
          <p:cNvPr id="16" name="Text 14"/>
          <p:cNvSpPr txBox="1"/>
          <p:nvPr/>
        </p:nvSpPr>
        <p:spPr>
          <a:xfrm>
            <a:off x="6400800" y="2688336"/>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53° ile eğik atış</a:t>
            </a:r>
            <a:endParaRPr lang="en-US" sz="1300" dirty="0"/>
          </a:p>
        </p:txBody>
      </p:sp>
      <p:sp>
        <p:nvSpPr>
          <p:cNvPr id="17" name="Text 15"/>
          <p:cNvSpPr txBox="1"/>
          <p:nvPr/>
        </p:nvSpPr>
        <p:spPr>
          <a:xfrm>
            <a:off x="10362895" y="2688336"/>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18" name="Shape 16"/>
          <p:cNvSpPr/>
          <p:nvPr/>
        </p:nvSpPr>
        <p:spPr>
          <a:xfrm>
            <a:off x="6172200" y="3291840"/>
            <a:ext cx="5379415" cy="512064"/>
          </a:xfrm>
          <a:prstGeom prst="roundRect">
            <a:avLst>
              <a:gd name="adj" fmla="val 17857"/>
            </a:avLst>
          </a:prstGeom>
          <a:solidFill>
            <a:srgbClr val="1C2542"/>
          </a:solidFill>
          <a:ln w="9525">
            <a:solidFill>
              <a:srgbClr val="2C3860"/>
            </a:solidFill>
            <a:prstDash val="solid"/>
          </a:ln>
        </p:spPr>
      </p:sp>
      <p:sp>
        <p:nvSpPr>
          <p:cNvPr id="19" name="Text 17"/>
          <p:cNvSpPr txBox="1"/>
          <p:nvPr/>
        </p:nvSpPr>
        <p:spPr>
          <a:xfrm>
            <a:off x="6400800" y="3291840"/>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Aynı süratle farklı açılar</a:t>
            </a:r>
            <a:endParaRPr lang="en-US" sz="1300" dirty="0"/>
          </a:p>
        </p:txBody>
      </p:sp>
      <p:sp>
        <p:nvSpPr>
          <p:cNvPr id="20" name="Text 18"/>
          <p:cNvSpPr txBox="1"/>
          <p:nvPr/>
        </p:nvSpPr>
        <p:spPr>
          <a:xfrm>
            <a:off x="10362895" y="3291840"/>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895344"/>
            <a:ext cx="5379415" cy="512064"/>
          </a:xfrm>
          <a:prstGeom prst="roundRect">
            <a:avLst>
              <a:gd name="adj" fmla="val 17857"/>
            </a:avLst>
          </a:prstGeom>
          <a:solidFill>
            <a:srgbClr val="1C2542"/>
          </a:solidFill>
          <a:ln w="9525">
            <a:solidFill>
              <a:srgbClr val="2C3860"/>
            </a:solidFill>
            <a:prstDash val="solid"/>
          </a:ln>
        </p:spPr>
      </p:sp>
      <p:sp>
        <p:nvSpPr>
          <p:cNvPr id="22" name="Text 20"/>
          <p:cNvSpPr txBox="1"/>
          <p:nvPr/>
        </p:nvSpPr>
        <p:spPr>
          <a:xfrm>
            <a:off x="6400800" y="3895344"/>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Uçaktan bırakılan yardım paketi</a:t>
            </a:r>
            <a:endParaRPr lang="en-US" sz="1300" dirty="0"/>
          </a:p>
        </p:txBody>
      </p:sp>
      <p:sp>
        <p:nvSpPr>
          <p:cNvPr id="23" name="Text 21"/>
          <p:cNvSpPr txBox="1"/>
          <p:nvPr/>
        </p:nvSpPr>
        <p:spPr>
          <a:xfrm>
            <a:off x="10362895" y="3895344"/>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4" name="Shape 22"/>
          <p:cNvSpPr/>
          <p:nvPr/>
        </p:nvSpPr>
        <p:spPr>
          <a:xfrm>
            <a:off x="6172200" y="4498848"/>
            <a:ext cx="5379415" cy="512064"/>
          </a:xfrm>
          <a:prstGeom prst="roundRect">
            <a:avLst>
              <a:gd name="adj" fmla="val 17857"/>
            </a:avLst>
          </a:prstGeom>
          <a:solidFill>
            <a:srgbClr val="1C2542"/>
          </a:solidFill>
          <a:ln w="9525">
            <a:solidFill>
              <a:srgbClr val="2C3860"/>
            </a:solidFill>
            <a:prstDash val="solid"/>
          </a:ln>
        </p:spPr>
      </p:sp>
      <p:sp>
        <p:nvSpPr>
          <p:cNvPr id="25" name="Text 23"/>
          <p:cNvSpPr txBox="1"/>
          <p:nvPr/>
        </p:nvSpPr>
        <p:spPr>
          <a:xfrm>
            <a:off x="6400800" y="449884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Top duvarın üstünden geçer mi?</a:t>
            </a:r>
            <a:endParaRPr lang="en-US" sz="1300" dirty="0"/>
          </a:p>
        </p:txBody>
      </p:sp>
      <p:sp>
        <p:nvSpPr>
          <p:cNvPr id="26" name="Text 24"/>
          <p:cNvSpPr txBox="1"/>
          <p:nvPr/>
        </p:nvSpPr>
        <p:spPr>
          <a:xfrm>
            <a:off x="10362895" y="4498848"/>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172200" y="5102352"/>
            <a:ext cx="5379415" cy="512064"/>
          </a:xfrm>
          <a:prstGeom prst="roundRect">
            <a:avLst>
              <a:gd name="adj" fmla="val 17857"/>
            </a:avLst>
          </a:prstGeom>
          <a:solidFill>
            <a:srgbClr val="1C2542"/>
          </a:solidFill>
          <a:ln w="9525">
            <a:solidFill>
              <a:srgbClr val="2C3860"/>
            </a:solidFill>
            <a:prstDash val="solid"/>
          </a:ln>
        </p:spPr>
      </p:sp>
      <p:sp>
        <p:nvSpPr>
          <p:cNvPr id="28" name="Text 26"/>
          <p:cNvSpPr txBox="1"/>
          <p:nvPr/>
        </p:nvSpPr>
        <p:spPr>
          <a:xfrm>
            <a:off x="6400800" y="510235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7   Yükseklikten eğik atış</a:t>
            </a:r>
            <a:endParaRPr lang="en-US" sz="1300" dirty="0"/>
          </a:p>
        </p:txBody>
      </p:sp>
      <p:sp>
        <p:nvSpPr>
          <p:cNvPr id="29" name="Text 27"/>
          <p:cNvSpPr txBox="1"/>
          <p:nvPr/>
        </p:nvSpPr>
        <p:spPr>
          <a:xfrm>
            <a:off x="10362895" y="5102352"/>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0" name="Shape 28"/>
          <p:cNvSpPr/>
          <p:nvPr/>
        </p:nvSpPr>
        <p:spPr>
          <a:xfrm>
            <a:off x="640080" y="6382512"/>
            <a:ext cx="128016" cy="128016"/>
          </a:xfrm>
          <a:prstGeom prst="roundRect">
            <a:avLst>
              <a:gd name="adj" fmla="val 28571"/>
            </a:avLst>
          </a:prstGeom>
          <a:solidFill>
            <a:srgbClr val="C6F36B"/>
          </a:solidFill>
          <a:ln/>
        </p:spPr>
      </p:sp>
      <p:sp>
        <p:nvSpPr>
          <p:cNvPr id="31" name="Text 2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dersler.perinet.org/iki-boyutta-hareket.html</a:t>
            </a:r>
            <a:endParaRPr lang="en-US" sz="1050" dirty="0"/>
          </a:p>
        </p:txBody>
      </p:sp>
      <p:sp>
        <p:nvSpPr>
          <p:cNvPr id="32" name="Text 3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113</a:t>
            </a:r>
            <a:endParaRPr lang="en-US" sz="105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Masadan yuvarlanan bilye</a:t>
            </a:r>
            <a:endParaRPr lang="en-US" sz="1450" dirty="0"/>
          </a:p>
        </p:txBody>
      </p:sp>
      <p:sp>
        <p:nvSpPr>
          <p:cNvPr id="8" name="Shape 6"/>
          <p:cNvSpPr/>
          <p:nvPr/>
        </p:nvSpPr>
        <p:spPr>
          <a:xfrm>
            <a:off x="640080" y="1645920"/>
            <a:ext cx="10911535" cy="1627632"/>
          </a:xfrm>
          <a:prstGeom prst="roundRect">
            <a:avLst>
              <a:gd name="adj" fmla="val 8989"/>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170432"/>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0,8 m yüksekliğindeki bir masanın kenarından yatay olarak yuvarlanan bilye, masanın ayağından 1,2 m ötede yere düşüyor. (a) Düşme süresini, (b) bilyenin masadan ayrılma süratini, (c) yere çarpma süratini bulunuz.</a:t>
            </a:r>
            <a:endParaRPr lang="en-US" sz="2000" dirty="0"/>
          </a:p>
        </p:txBody>
      </p:sp>
      <p:sp>
        <p:nvSpPr>
          <p:cNvPr id="11" name="Shape 9"/>
          <p:cNvSpPr/>
          <p:nvPr/>
        </p:nvSpPr>
        <p:spPr>
          <a:xfrm>
            <a:off x="3218586" y="3474720"/>
            <a:ext cx="5754524" cy="2779776"/>
          </a:xfrm>
          <a:prstGeom prst="roundRect">
            <a:avLst>
              <a:gd name="adj" fmla="val 526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iki-boyutta-hareket-14.png">    </p:cNvPr>
          <p:cNvPicPr>
            <a:picLocks noChangeAspect="1"/>
          </p:cNvPicPr>
          <p:nvPr/>
        </p:nvPicPr>
        <p:blipFill>
          <a:blip r:embed="rId1"/>
          <a:stretch>
            <a:fillRect/>
          </a:stretch>
        </p:blipFill>
        <p:spPr>
          <a:xfrm>
            <a:off x="3447186" y="3584448"/>
            <a:ext cx="5297324" cy="2560320"/>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114</a:t>
            </a:r>
            <a:endParaRPr lang="en-US" sz="105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Masadan yuvarlanan bilye</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0,8 m yüksekliğindeki bir masanın kenarından yatay olarak yuvarlanan bilye, masanın ayağından 1,2 m ötede yere düşüyor. (a) Düşme süresini, (b) bilyenin masadan ayrılma süratini, (c) yere çarpma süratini bulunuz.</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h = 0,8 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x = 1,2 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yatay yuvarlanıyor → v₀ᵧ = 0</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 = 10 m/s²</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düşme süresi t</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masadan ayrılma sürati v₀</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 yere çarpma sürati v</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115</a:t>
            </a:r>
            <a:endParaRPr lang="en-US" sz="105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Çözüm</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Masadan yuvarlanan bilye</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Düşeyde serbest düşme: 0,8 = ½·10·t² → t² = 0,16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t = 0,4 s</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Yatayda sabit hız: v₀ = x / t = 1,2 / 0,4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3 m/s</a:t>
            </a:r>
            <a:endParaRPr lang="en-US" sz="2000" dirty="0"/>
          </a:p>
        </p:txBody>
      </p:sp>
      <p:sp>
        <p:nvSpPr>
          <p:cNvPr id="16" name="Shape 14"/>
          <p:cNvSpPr/>
          <p:nvPr/>
        </p:nvSpPr>
        <p:spPr>
          <a:xfrm>
            <a:off x="640080" y="4120896"/>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447032"/>
            <a:ext cx="420624" cy="420624"/>
          </a:xfrm>
          <a:prstGeom prst="roundRect">
            <a:avLst>
              <a:gd name="adj" fmla="val 26000"/>
            </a:avLst>
          </a:prstGeom>
          <a:solidFill>
            <a:srgbClr val="A56209"/>
          </a:solidFill>
          <a:ln/>
        </p:spPr>
      </p:sp>
      <p:sp>
        <p:nvSpPr>
          <p:cNvPr id="18" name="Text 16"/>
          <p:cNvSpPr txBox="1"/>
          <p:nvPr/>
        </p:nvSpPr>
        <p:spPr>
          <a:xfrm>
            <a:off x="914400" y="4447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v</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y</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g·t = 4 m/s → v = √(3² + 4²)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5 m/s</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116</a:t>
            </a:r>
            <a:endParaRPr lang="en-US" sz="105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80 m yüksekten yatay atış</a:t>
            </a:r>
            <a:endParaRPr lang="en-US" sz="1450" dirty="0"/>
          </a:p>
        </p:txBody>
      </p:sp>
      <p:sp>
        <p:nvSpPr>
          <p:cNvPr id="8" name="Shape 6"/>
          <p:cNvSpPr/>
          <p:nvPr/>
        </p:nvSpPr>
        <p:spPr>
          <a:xfrm>
            <a:off x="640080" y="1645920"/>
            <a:ext cx="10911535" cy="1274064"/>
          </a:xfrm>
          <a:prstGeom prst="roundRect">
            <a:avLst>
              <a:gd name="adj" fmla="val 1148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816864"/>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80 m yüksekliğindeki bir kuleden yatay doğrultuda 30 m/s süratle atılan cisim için: (a) uçuş süresini, (b) menzili, (c) yere çarpma süratini bulunuz.</a:t>
            </a:r>
            <a:endParaRPr lang="en-US" sz="2000" dirty="0"/>
          </a:p>
        </p:txBody>
      </p:sp>
      <p:sp>
        <p:nvSpPr>
          <p:cNvPr id="11" name="Shape 9"/>
          <p:cNvSpPr/>
          <p:nvPr/>
        </p:nvSpPr>
        <p:spPr>
          <a:xfrm>
            <a:off x="3024430" y="3121152"/>
            <a:ext cx="6142835" cy="3133344"/>
          </a:xfrm>
          <a:prstGeom prst="roundRect">
            <a:avLst>
              <a:gd name="adj" fmla="val 466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iki-boyutta-hareket-15.png">    </p:cNvPr>
          <p:cNvPicPr>
            <a:picLocks noChangeAspect="1"/>
          </p:cNvPicPr>
          <p:nvPr/>
        </p:nvPicPr>
        <p:blipFill>
          <a:blip r:embed="rId1"/>
          <a:stretch>
            <a:fillRect/>
          </a:stretch>
        </p:blipFill>
        <p:spPr>
          <a:xfrm>
            <a:off x="3253030" y="3230880"/>
            <a:ext cx="5685635" cy="2913888"/>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117</a:t>
            </a:r>
            <a:endParaRPr lang="en-US" sz="105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80 m yüksekten yatay atış</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80 m yüksekliğindeki bir kuleden yatay doğrultuda 30 m/s süratle atılan cisim için: (a) uçuş süresini, (b) menzili, (c) yere çarpma süratini bulunuz.</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h = 80 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v₀ = 30 m/s (yatay atış → v₀ᵧ = 0)</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 = 10 m/s²</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uçuş süresi t</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menzil x</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 yere çarpma sürati v</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118</a:t>
            </a:r>
            <a:endParaRPr lang="en-US" sz="105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Çözüm</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80 m yüksekten yatay atış</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Düşey hareket serbest düşmedir: 80 = ½·10·t² → t² = 16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t = 4 s</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Yatayda sabit hız: x = 30 · 4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120 m</a:t>
            </a:r>
            <a:endParaRPr lang="en-US" sz="2000" dirty="0"/>
          </a:p>
        </p:txBody>
      </p:sp>
      <p:sp>
        <p:nvSpPr>
          <p:cNvPr id="16" name="Shape 14"/>
          <p:cNvSpPr/>
          <p:nvPr/>
        </p:nvSpPr>
        <p:spPr>
          <a:xfrm>
            <a:off x="640080" y="4120896"/>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720133"/>
            <a:ext cx="420624" cy="420624"/>
          </a:xfrm>
          <a:prstGeom prst="roundRect">
            <a:avLst>
              <a:gd name="adj" fmla="val 26000"/>
            </a:avLst>
          </a:prstGeom>
          <a:solidFill>
            <a:srgbClr val="A56209"/>
          </a:solidFill>
          <a:ln/>
        </p:spPr>
      </p:sp>
      <p:sp>
        <p:nvSpPr>
          <p:cNvPr id="18" name="Text 16"/>
          <p:cNvSpPr txBox="1"/>
          <p:nvPr/>
        </p:nvSpPr>
        <p:spPr>
          <a:xfrm>
            <a:off x="914400" y="4720133"/>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1509370"/>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v</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y</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g·t = 40 m/s, v</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x</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30 m/s → v = √(30² + 40²)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50 m/s</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Yerle yaptığı açı: tanθ = 40/30 → θ ≈ 53°.</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119</a:t>
            </a:r>
            <a:endParaRPr lang="en-US" sz="105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53° ile eğik atış</a:t>
            </a:r>
            <a:endParaRPr lang="en-US" sz="1450" dirty="0"/>
          </a:p>
        </p:txBody>
      </p:sp>
      <p:sp>
        <p:nvSpPr>
          <p:cNvPr id="8" name="Shape 6"/>
          <p:cNvSpPr/>
          <p:nvPr/>
        </p:nvSpPr>
        <p:spPr>
          <a:xfrm>
            <a:off x="640080" y="1645920"/>
            <a:ext cx="10911535" cy="1627632"/>
          </a:xfrm>
          <a:prstGeom prst="roundRect">
            <a:avLst>
              <a:gd name="adj" fmla="val 8989"/>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170432"/>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Yerden 50 m/s süratle, yatayla 53° açı yapacak şekilde atılan cisim için: (a) tepe noktasına çıkma süresini, (b) maksimum yüksekliği, (c) menzili bulunuz. (sin53° = 0,8 · cos53° = 0,6)</a:t>
            </a:r>
            <a:endParaRPr lang="en-US" sz="2000" dirty="0"/>
          </a:p>
        </p:txBody>
      </p:sp>
      <p:sp>
        <p:nvSpPr>
          <p:cNvPr id="11" name="Shape 9"/>
          <p:cNvSpPr/>
          <p:nvPr/>
        </p:nvSpPr>
        <p:spPr>
          <a:xfrm>
            <a:off x="3306928" y="3474720"/>
            <a:ext cx="5577840" cy="2779776"/>
          </a:xfrm>
          <a:prstGeom prst="roundRect">
            <a:avLst>
              <a:gd name="adj" fmla="val 526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iki-boyutta-hareket-16.png">    </p:cNvPr>
          <p:cNvPicPr>
            <a:picLocks noChangeAspect="1"/>
          </p:cNvPicPr>
          <p:nvPr/>
        </p:nvPicPr>
        <p:blipFill>
          <a:blip r:embed="rId1"/>
          <a:stretch>
            <a:fillRect/>
          </a:stretch>
        </p:blipFill>
        <p:spPr>
          <a:xfrm>
            <a:off x="3535528" y="3584448"/>
            <a:ext cx="5120640" cy="2560320"/>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120</a:t>
            </a:r>
            <a:endParaRPr lang="en-US" sz="105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53° ile eğik atış</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Yerden 50 m/s süratle, yatayla 53° açı yapacak şekilde atılan cisim için: (a) tepe noktasına çıkma süresini, (b) maksimum yüksekliği, (c) menzili bulunuz. (sin53° = 0,8 · cos53° = 0,6)</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500" dirty="0">
                <a:solidFill>
                  <a:srgbClr val="0E1426"/>
                </a:solidFill>
                <a:latin typeface="Calibri" pitchFamily="34" charset="0"/>
                <a:ea typeface="Calibri" pitchFamily="34" charset="-122"/>
                <a:cs typeface="Calibri" pitchFamily="34" charset="-120"/>
              </a:rPr>
              <a:t>v₀ = 50 m/s</a:t>
            </a:r>
            <a:endParaRPr lang="en-US" sz="1500" dirty="0"/>
          </a:p>
          <a:p>
            <a:pPr marL="203200" indent="-203200">
              <a:lnSpc>
                <a:spcPct val="110000"/>
              </a:lnSpc>
              <a:spcAft>
                <a:spcPts val="500"/>
              </a:spcAft>
              <a:buSzPct val="100000"/>
              <a:buChar char="▪"/>
            </a:pPr>
            <a:r>
              <a:rPr lang="en-US" sz="1500" dirty="0">
                <a:solidFill>
                  <a:srgbClr val="0E1426"/>
                </a:solidFill>
                <a:latin typeface="Calibri" pitchFamily="34" charset="0"/>
                <a:ea typeface="Calibri" pitchFamily="34" charset="-122"/>
                <a:cs typeface="Calibri" pitchFamily="34" charset="-120"/>
              </a:rPr>
              <a:t>α = 53°</a:t>
            </a:r>
            <a:endParaRPr lang="en-US" sz="1500" dirty="0"/>
          </a:p>
          <a:p>
            <a:pPr marL="203200" indent="-203200">
              <a:lnSpc>
                <a:spcPct val="110000"/>
              </a:lnSpc>
              <a:spcAft>
                <a:spcPts val="500"/>
              </a:spcAft>
              <a:buSzPct val="100000"/>
              <a:buChar char="▪"/>
            </a:pPr>
            <a:r>
              <a:rPr lang="en-US" sz="1500" dirty="0">
                <a:solidFill>
                  <a:srgbClr val="0E1426"/>
                </a:solidFill>
                <a:latin typeface="Calibri" pitchFamily="34" charset="0"/>
                <a:ea typeface="Calibri" pitchFamily="34" charset="-122"/>
                <a:cs typeface="Calibri" pitchFamily="34" charset="-120"/>
              </a:rPr>
              <a:t>sin53° = 0,8</a:t>
            </a:r>
            <a:endParaRPr lang="en-US" sz="1500" dirty="0"/>
          </a:p>
          <a:p>
            <a:pPr marL="203200" indent="-203200">
              <a:lnSpc>
                <a:spcPct val="110000"/>
              </a:lnSpc>
              <a:spcAft>
                <a:spcPts val="500"/>
              </a:spcAft>
              <a:buSzPct val="100000"/>
              <a:buChar char="▪"/>
            </a:pPr>
            <a:r>
              <a:rPr lang="en-US" sz="1500" dirty="0">
                <a:solidFill>
                  <a:srgbClr val="0E1426"/>
                </a:solidFill>
                <a:latin typeface="Calibri" pitchFamily="34" charset="0"/>
                <a:ea typeface="Calibri" pitchFamily="34" charset="-122"/>
                <a:cs typeface="Calibri" pitchFamily="34" charset="-120"/>
              </a:rPr>
              <a:t>cos53° = 0,6</a:t>
            </a:r>
            <a:endParaRPr lang="en-US" sz="1500" dirty="0"/>
          </a:p>
          <a:p>
            <a:pPr marL="203200" indent="-203200">
              <a:lnSpc>
                <a:spcPct val="110000"/>
              </a:lnSpc>
              <a:spcAft>
                <a:spcPts val="500"/>
              </a:spcAft>
              <a:buSzPct val="100000"/>
              <a:buChar char="▪"/>
            </a:pPr>
            <a:r>
              <a:rPr lang="en-US" sz="1500" dirty="0">
                <a:solidFill>
                  <a:srgbClr val="0E1426"/>
                </a:solidFill>
                <a:latin typeface="Calibri" pitchFamily="34" charset="0"/>
                <a:ea typeface="Calibri" pitchFamily="34" charset="-122"/>
                <a:cs typeface="Calibri" pitchFamily="34" charset="-120"/>
              </a:rPr>
              <a:t>g = 10 m/s²</a:t>
            </a:r>
            <a:endParaRPr lang="en-US" sz="1500" dirty="0"/>
          </a:p>
          <a:p>
            <a:pPr marL="203200" indent="-203200">
              <a:lnSpc>
                <a:spcPct val="110000"/>
              </a:lnSpc>
              <a:spcAft>
                <a:spcPts val="500"/>
              </a:spcAft>
              <a:buSzPct val="100000"/>
              <a:buChar char="▪"/>
            </a:pPr>
            <a:r>
              <a:rPr lang="en-US" sz="1500" dirty="0">
                <a:solidFill>
                  <a:srgbClr val="0E1426"/>
                </a:solidFill>
                <a:latin typeface="Calibri" pitchFamily="34" charset="0"/>
                <a:ea typeface="Calibri" pitchFamily="34" charset="-122"/>
                <a:cs typeface="Calibri" pitchFamily="34" charset="-120"/>
              </a:rPr>
              <a:t>cisim yerden atılıp yere iniyor</a:t>
            </a:r>
            <a:endParaRPr lang="en-US" sz="15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tepeye çıkma süresi ttepe</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maksimum yükseklik hmaks</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 menzil R</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121</a:t>
            </a:r>
            <a:endParaRPr lang="en-US" sz="105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53° ile eğik atış</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Bileşenler: v₀ₓ = 50·0,6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30 m/s</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v₀ᵧ = 50·0,8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40 m/s</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Tepede v</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y</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0 → 0 = 40 − 10·t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t = 4 s</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122</a:t>
            </a:r>
            <a:endParaRPr lang="en-US" sz="105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53° ile eğik atış</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h = 40²/(2·10)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80 m</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Uçuş süresi 2·4 = 8 s → R = 30 · 8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240 m</a:t>
            </a:r>
            <a:endParaRPr lang="en-US" sz="2000" dirty="0"/>
          </a:p>
        </p:txBody>
      </p:sp>
      <p:sp>
        <p:nvSpPr>
          <p:cNvPr id="16" name="Shape 14"/>
          <p:cNvSpPr/>
          <p:nvPr/>
        </p:nvSpPr>
        <p:spPr>
          <a:xfrm>
            <a:off x="640080" y="5431536"/>
            <a:ext cx="10911535" cy="713232"/>
          </a:xfrm>
          <a:prstGeom prst="roundRect">
            <a:avLst>
              <a:gd name="adj" fmla="val 2051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Text 15"/>
          <p:cNvSpPr txBox="1"/>
          <p:nvPr/>
        </p:nvSpPr>
        <p:spPr>
          <a:xfrm>
            <a:off x="960120" y="5559552"/>
            <a:ext cx="1828800" cy="219456"/>
          </a:xfrm>
          <a:prstGeom prst="rect">
            <a:avLst/>
          </a:prstGeom>
          <a:noFill/>
          <a:ln/>
        </p:spPr>
        <p:txBody>
          <a:bodyPr wrap="square" lIns="0" tIns="0" rIns="0" bIns="0" rtlCol="0" anchor="ctr"/>
          <a:lstStyle/>
          <a:p>
            <a:pPr indent="0" marL="0">
              <a:buNone/>
            </a:pPr>
            <a:r>
              <a:rPr lang="en-US" sz="1000" b="1" spc="200" kern="0" dirty="0">
                <a:solidFill>
                  <a:srgbClr val="7B849E"/>
                </a:solidFill>
                <a:latin typeface="Calibri" pitchFamily="34" charset="0"/>
                <a:ea typeface="Calibri" pitchFamily="34" charset="-122"/>
                <a:cs typeface="Calibri" pitchFamily="34" charset="-120"/>
              </a:rPr>
              <a:t>NOT</a:t>
            </a:r>
            <a:endParaRPr lang="en-US" sz="1000" dirty="0"/>
          </a:p>
        </p:txBody>
      </p:sp>
      <p:sp>
        <p:nvSpPr>
          <p:cNvPr id="18" name="Text 16"/>
          <p:cNvSpPr txBox="1"/>
          <p:nvPr/>
        </p:nvSpPr>
        <p:spPr>
          <a:xfrm>
            <a:off x="960120" y="5797296"/>
            <a:ext cx="10271455" cy="256032"/>
          </a:xfrm>
          <a:prstGeom prst="rect">
            <a:avLst/>
          </a:prstGeom>
          <a:noFill/>
          <a:ln/>
        </p:spPr>
        <p:txBody>
          <a:bodyPr wrap="square" lIns="0" tIns="0" rIns="0" bIns="0" rtlCol="0" anchor="t"/>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Kontrol: R = v₀²·sin2α / g = 2500 · sin106° / 10 ≈ 2500 · 0,96 / 10 = 240 m ✓</a:t>
            </a:r>
            <a:endParaRPr lang="en-US" sz="15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123</a:t>
            </a:r>
            <a:endParaRPr lang="en-US" sz="105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Aynı süratle farklı açılar</a:t>
            </a:r>
            <a:endParaRPr lang="en-US" sz="1450" dirty="0"/>
          </a:p>
        </p:txBody>
      </p:sp>
      <p:sp>
        <p:nvSpPr>
          <p:cNvPr id="8" name="Shape 6"/>
          <p:cNvSpPr/>
          <p:nvPr/>
        </p:nvSpPr>
        <p:spPr>
          <a:xfrm>
            <a:off x="640080" y="1645920"/>
            <a:ext cx="10911535" cy="1274064"/>
          </a:xfrm>
          <a:prstGeom prst="roundRect">
            <a:avLst>
              <a:gd name="adj" fmla="val 1148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816864"/>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20 m/s süratle atılan bir cismin 30°, 45° ve 60° için menzillerini karşılaştırınız.</a:t>
            </a:r>
            <a:endParaRPr lang="en-US" sz="2000" dirty="0"/>
          </a:p>
        </p:txBody>
      </p:sp>
      <p:sp>
        <p:nvSpPr>
          <p:cNvPr id="11" name="Shape 9"/>
          <p:cNvSpPr/>
          <p:nvPr/>
        </p:nvSpPr>
        <p:spPr>
          <a:xfrm>
            <a:off x="2299134" y="3121152"/>
            <a:ext cx="7593427" cy="3133344"/>
          </a:xfrm>
          <a:prstGeom prst="roundRect">
            <a:avLst>
              <a:gd name="adj" fmla="val 466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iki-boyutta-hareket-17.png">    </p:cNvPr>
          <p:cNvPicPr>
            <a:picLocks noChangeAspect="1"/>
          </p:cNvPicPr>
          <p:nvPr/>
        </p:nvPicPr>
        <p:blipFill>
          <a:blip r:embed="rId1"/>
          <a:stretch>
            <a:fillRect/>
          </a:stretch>
        </p:blipFill>
        <p:spPr>
          <a:xfrm>
            <a:off x="2527734" y="3230880"/>
            <a:ext cx="7136227" cy="2913888"/>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124</a:t>
            </a:r>
            <a:endParaRPr lang="en-US" sz="105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Aynı süratle farklı açılar</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20 m/s süratle atılan bir cismin 30°, 45° ve 60° için menzillerini karşılaştırınız.</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v₀ = 20 m/s</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α = 30°, 45° ve 60°</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 = 10 m/s²</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sin60° = sin120° ≈ 0,866</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sin90° = 1</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üç açı için menzil R ve menzillerin karşılaştırılması</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125</a:t>
            </a:r>
            <a:endParaRPr lang="en-US" sz="105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Aynı süratle farklı açılar</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R = v₀²·sin2α / g = 400·sin2α / 10 = 40·sin2α</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30° → 40·sin60° = 40·0,866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34,6 m</a:t>
            </a:r>
            <a:endParaRPr lang="en-US" sz="2000" dirty="0"/>
          </a:p>
        </p:txBody>
      </p:sp>
      <p:sp>
        <p:nvSpPr>
          <p:cNvPr id="16" name="Shape 14"/>
          <p:cNvSpPr/>
          <p:nvPr/>
        </p:nvSpPr>
        <p:spPr>
          <a:xfrm>
            <a:off x="640080" y="4120896"/>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447032"/>
            <a:ext cx="420624" cy="420624"/>
          </a:xfrm>
          <a:prstGeom prst="roundRect">
            <a:avLst>
              <a:gd name="adj" fmla="val 26000"/>
            </a:avLst>
          </a:prstGeom>
          <a:solidFill>
            <a:srgbClr val="A56209"/>
          </a:solidFill>
          <a:ln/>
        </p:spPr>
      </p:sp>
      <p:sp>
        <p:nvSpPr>
          <p:cNvPr id="18" name="Text 16"/>
          <p:cNvSpPr txBox="1"/>
          <p:nvPr/>
        </p:nvSpPr>
        <p:spPr>
          <a:xfrm>
            <a:off x="914400" y="4447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45° → 40·sin90°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40 m</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(en uzun)</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126</a:t>
            </a:r>
            <a:endParaRPr lang="en-US" sz="105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Aynı süratle farklı açılar</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60° → 40·sin120° = 40·0,866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34,6 m</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30° ile aynı!</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Uçuş süreleri farklıdır: 30° için 2 s, 60° için 3,46 s. Aynı yere düşerler, ama biri diğerinden çok daha uzun havada kalır.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127</a:t>
            </a:r>
            <a:endParaRPr lang="en-US" sz="105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Uçaktan bırakılan yardım paketi</a:t>
            </a:r>
            <a:endParaRPr lang="en-US" sz="1450" dirty="0"/>
          </a:p>
        </p:txBody>
      </p:sp>
      <p:sp>
        <p:nvSpPr>
          <p:cNvPr id="8" name="Shape 6"/>
          <p:cNvSpPr/>
          <p:nvPr/>
        </p:nvSpPr>
        <p:spPr>
          <a:xfrm>
            <a:off x="640080" y="1645920"/>
            <a:ext cx="10911535" cy="1601114"/>
          </a:xfrm>
          <a:prstGeom prst="roundRect">
            <a:avLst>
              <a:gd name="adj" fmla="val 9138"/>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143914"/>
          </a:xfrm>
          <a:prstGeom prst="rect">
            <a:avLst/>
          </a:prstGeom>
          <a:noFill/>
          <a:ln/>
        </p:spPr>
        <p:txBody>
          <a:bodyPr wrap="square" lIns="0" tIns="0" rIns="0" bIns="0" rtlCol="0" anchor="t"/>
          <a:lstStyle/>
          <a:p>
            <a:pPr indent="0" marL="0">
              <a:lnSpc>
                <a:spcPct val="116000"/>
              </a:lnSpc>
              <a:buNone/>
            </a:pPr>
            <a:r>
              <a:rPr lang="en-US" sz="1950" dirty="0">
                <a:solidFill>
                  <a:srgbClr val="0E1426"/>
                </a:solidFill>
                <a:latin typeface="Calibri" pitchFamily="34" charset="0"/>
                <a:ea typeface="Calibri" pitchFamily="34" charset="-122"/>
                <a:cs typeface="Calibri" pitchFamily="34" charset="-120"/>
              </a:rPr>
              <a:t>500 m yükseklikte, yatay doğrultuda 100 m/s süratle uçan bir uçak yere bir yardım paketi bırakacak. (a) Paket kaç saniyede yere iner? (b) Uçak, hedefin kaç metre gerisindeyken paketi bırakmalıdır? (c) Paket yere değdiğinde uçak nerededir?</a:t>
            </a:r>
            <a:endParaRPr lang="en-US" sz="1950" dirty="0"/>
          </a:p>
        </p:txBody>
      </p:sp>
      <p:sp>
        <p:nvSpPr>
          <p:cNvPr id="11" name="Shape 9"/>
          <p:cNvSpPr/>
          <p:nvPr/>
        </p:nvSpPr>
        <p:spPr>
          <a:xfrm>
            <a:off x="3567836" y="3448202"/>
            <a:ext cx="5056022" cy="2806294"/>
          </a:xfrm>
          <a:prstGeom prst="roundRect">
            <a:avLst>
              <a:gd name="adj" fmla="val 521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iki-boyutta-hareket-18.png">    </p:cNvPr>
          <p:cNvPicPr>
            <a:picLocks noChangeAspect="1"/>
          </p:cNvPicPr>
          <p:nvPr/>
        </p:nvPicPr>
        <p:blipFill>
          <a:blip r:embed="rId1"/>
          <a:stretch>
            <a:fillRect/>
          </a:stretch>
        </p:blipFill>
        <p:spPr>
          <a:xfrm>
            <a:off x="3796436" y="3557930"/>
            <a:ext cx="4598822" cy="2586838"/>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128</a:t>
            </a:r>
            <a:endParaRPr lang="en-US" sz="105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Uçaktan bırakılan yardım paketi</a:t>
            </a:r>
            <a:endParaRPr lang="en-US" sz="1450" dirty="0"/>
          </a:p>
        </p:txBody>
      </p:sp>
      <p:sp>
        <p:nvSpPr>
          <p:cNvPr id="8" name="Shape 6"/>
          <p:cNvSpPr/>
          <p:nvPr/>
        </p:nvSpPr>
        <p:spPr>
          <a:xfrm>
            <a:off x="640080" y="1645920"/>
            <a:ext cx="10911535" cy="2124456"/>
          </a:xfrm>
          <a:prstGeom prst="roundRect">
            <a:avLst>
              <a:gd name="adj" fmla="val 6887"/>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575816"/>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500 m yükseklikte, yatay doğrultuda 100 m/s süratle uçan bir uçak yere bir yardım paketi bırakacak. (a) Paket kaç saniyede yere iner? (b) Uçak, hedefin kaç metre gerisindeyken paketi bırakmalıdır? (c) Paket yere değdiğinde uçak nerededir?</a:t>
            </a:r>
            <a:endParaRPr lang="en-US" sz="2000" dirty="0"/>
          </a:p>
        </p:txBody>
      </p:sp>
      <p:sp>
        <p:nvSpPr>
          <p:cNvPr id="11" name="Shape 9"/>
          <p:cNvSpPr/>
          <p:nvPr/>
        </p:nvSpPr>
        <p:spPr>
          <a:xfrm>
            <a:off x="640080"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4136136"/>
            <a:ext cx="54864" cy="1844040"/>
          </a:xfrm>
          <a:prstGeom prst="rect">
            <a:avLst/>
          </a:prstGeom>
          <a:solidFill>
            <a:srgbClr val="2957D4"/>
          </a:solidFill>
          <a:ln/>
        </p:spPr>
      </p:sp>
      <p:sp>
        <p:nvSpPr>
          <p:cNvPr id="13" name="Text 11"/>
          <p:cNvSpPr txBox="1"/>
          <p:nvPr/>
        </p:nvSpPr>
        <p:spPr>
          <a:xfrm>
            <a:off x="914400" y="4117848"/>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447032"/>
            <a:ext cx="4769968"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h = 500 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uçağın yatay hızı 100 m/s → paketin ilk hızı v₀ = 100 m/s, v₀ᵧ = 0</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 = 10 m/s²</a:t>
            </a:r>
            <a:endParaRPr lang="en-US" sz="1800" dirty="0"/>
          </a:p>
        </p:txBody>
      </p:sp>
      <p:sp>
        <p:nvSpPr>
          <p:cNvPr id="15" name="Shape 13"/>
          <p:cNvSpPr/>
          <p:nvPr/>
        </p:nvSpPr>
        <p:spPr>
          <a:xfrm>
            <a:off x="6233008"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4136136"/>
            <a:ext cx="54864" cy="1844040"/>
          </a:xfrm>
          <a:prstGeom prst="rect">
            <a:avLst/>
          </a:prstGeom>
          <a:solidFill>
            <a:srgbClr val="5F4BD8"/>
          </a:solidFill>
          <a:ln/>
        </p:spPr>
      </p:sp>
      <p:sp>
        <p:nvSpPr>
          <p:cNvPr id="17" name="Text 15"/>
          <p:cNvSpPr txBox="1"/>
          <p:nvPr/>
        </p:nvSpPr>
        <p:spPr>
          <a:xfrm>
            <a:off x="6507328" y="4117848"/>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447032"/>
            <a:ext cx="4769968"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iniş süresi t</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bırakma anında hedefe yatay uzaklık x</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 paket yere değince uçağın yeri</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129</a:t>
            </a:r>
            <a:endParaRPr lang="en-US" sz="105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Uçaktan bırakılan yardım paketi</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Paket bırakıldığı anda uçağın yatay hızına sahiptir: v₀ = 100 m/s, v₀ᵧ = 0 (yatay atış).</a:t>
            </a:r>
            <a:endParaRPr lang="en-US" sz="2000" dirty="0"/>
          </a:p>
        </p:txBody>
      </p:sp>
      <p:sp>
        <p:nvSpPr>
          <p:cNvPr id="12" name="Shape 10"/>
          <p:cNvSpPr/>
          <p:nvPr/>
        </p:nvSpPr>
        <p:spPr>
          <a:xfrm>
            <a:off x="640080" y="342961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755746"/>
            <a:ext cx="420624" cy="420624"/>
          </a:xfrm>
          <a:prstGeom prst="roundRect">
            <a:avLst>
              <a:gd name="adj" fmla="val 26000"/>
            </a:avLst>
          </a:prstGeom>
          <a:solidFill>
            <a:srgbClr val="A56209"/>
          </a:solidFill>
          <a:ln/>
        </p:spPr>
      </p:sp>
      <p:sp>
        <p:nvSpPr>
          <p:cNvPr id="14" name="Text 12"/>
          <p:cNvSpPr txBox="1"/>
          <p:nvPr/>
        </p:nvSpPr>
        <p:spPr>
          <a:xfrm>
            <a:off x="914400" y="37557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348447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500 = ½·10·t² → t² = 100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t = 10 s</a:t>
            </a:r>
            <a:endParaRPr lang="en-US" sz="2000" dirty="0"/>
          </a:p>
        </p:txBody>
      </p:sp>
      <p:sp>
        <p:nvSpPr>
          <p:cNvPr id="16" name="Shape 14"/>
          <p:cNvSpPr/>
          <p:nvPr/>
        </p:nvSpPr>
        <p:spPr>
          <a:xfrm>
            <a:off x="640080" y="466709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993234"/>
            <a:ext cx="420624" cy="420624"/>
          </a:xfrm>
          <a:prstGeom prst="roundRect">
            <a:avLst>
              <a:gd name="adj" fmla="val 26000"/>
            </a:avLst>
          </a:prstGeom>
          <a:solidFill>
            <a:srgbClr val="A56209"/>
          </a:solidFill>
          <a:ln/>
        </p:spPr>
      </p:sp>
      <p:sp>
        <p:nvSpPr>
          <p:cNvPr id="18" name="Text 16"/>
          <p:cNvSpPr txBox="1"/>
          <p:nvPr/>
        </p:nvSpPr>
        <p:spPr>
          <a:xfrm>
            <a:off x="914400" y="499323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721962"/>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x = 100 · 10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1000 m</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paket hedeften 1 km önce bırakılmalıdır.</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130</a:t>
            </a:r>
            <a:endParaRPr lang="en-US" sz="105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Uçaktan bırakılan yardım paketi</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Uçak da 10 s'de 1000 m gider: paket yere değdiğinde uçak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tam üstündedir</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t>
            </a:r>
            <a:endParaRPr lang="en-US" sz="2000" dirty="0"/>
          </a:p>
        </p:txBody>
      </p:sp>
      <p:sp>
        <p:nvSpPr>
          <p:cNvPr id="12" name="Shape 10"/>
          <p:cNvSpPr/>
          <p:nvPr/>
        </p:nvSpPr>
        <p:spPr>
          <a:xfrm>
            <a:off x="640080" y="342961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755746"/>
            <a:ext cx="420624" cy="420624"/>
          </a:xfrm>
          <a:prstGeom prst="roundRect">
            <a:avLst>
              <a:gd name="adj" fmla="val 26000"/>
            </a:avLst>
          </a:prstGeom>
          <a:solidFill>
            <a:srgbClr val="A56209"/>
          </a:solidFill>
          <a:ln/>
        </p:spPr>
      </p:sp>
      <p:sp>
        <p:nvSpPr>
          <p:cNvPr id="14" name="Text 12"/>
          <p:cNvSpPr txBox="1"/>
          <p:nvPr/>
        </p:nvSpPr>
        <p:spPr>
          <a:xfrm>
            <a:off x="914400" y="37557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5" name="Text 13"/>
          <p:cNvSpPr txBox="1"/>
          <p:nvPr/>
        </p:nvSpPr>
        <p:spPr>
          <a:xfrm>
            <a:off x="1508760" y="348447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Çarpma: v</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y</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100 m/s → v = √(100² + 100²)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141 m/s</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yerle 45° açıyla.</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131</a:t>
            </a:r>
            <a:endParaRPr lang="en-US" sz="105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Top duvarın üstünden geçer mi?</a:t>
            </a:r>
            <a:endParaRPr lang="en-US" sz="1450" dirty="0"/>
          </a:p>
        </p:txBody>
      </p:sp>
      <p:sp>
        <p:nvSpPr>
          <p:cNvPr id="8" name="Shape 6"/>
          <p:cNvSpPr/>
          <p:nvPr/>
        </p:nvSpPr>
        <p:spPr>
          <a:xfrm>
            <a:off x="640080" y="1645920"/>
            <a:ext cx="10911535" cy="1737360"/>
          </a:xfrm>
          <a:prstGeom prst="roundRect">
            <a:avLst>
              <a:gd name="adj" fmla="val 8421"/>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280160"/>
          </a:xfrm>
          <a:prstGeom prst="rect">
            <a:avLst/>
          </a:prstGeom>
          <a:noFill/>
          <a:ln/>
        </p:spPr>
        <p:txBody>
          <a:bodyPr wrap="square" lIns="0" tIns="0" rIns="0" bIns="0" rtlCol="0" anchor="t"/>
          <a:lstStyle/>
          <a:p>
            <a:pPr indent="0" marL="0">
              <a:lnSpc>
                <a:spcPct val="116000"/>
              </a:lnSpc>
              <a:buNone/>
            </a:pPr>
            <a:r>
              <a:rPr lang="en-US" sz="1900" dirty="0">
                <a:solidFill>
                  <a:srgbClr val="0E1426"/>
                </a:solidFill>
                <a:latin typeface="Calibri" pitchFamily="34" charset="0"/>
                <a:ea typeface="Calibri" pitchFamily="34" charset="-122"/>
                <a:cs typeface="Calibri" pitchFamily="34" charset="-120"/>
              </a:rPr>
              <a:t>Yerden 25 m/s süratle, yatayla 37° açıyla atılan bir top, 20 m ötedeki 8 m yüksekliğindeki bir duvara doğru gidiyor. (a) Top duvarı aşar mı? (b) Duvarın hizasından geçerken yükselmekte mi, alçalmakta mıdır? (c) Duvar olmasaydı top nereye düşerdi? (sin37° = 0,6 · cos37° = 0,8)</a:t>
            </a:r>
            <a:endParaRPr lang="en-US" sz="1900" dirty="0"/>
          </a:p>
        </p:txBody>
      </p:sp>
      <p:sp>
        <p:nvSpPr>
          <p:cNvPr id="11" name="Shape 9"/>
          <p:cNvSpPr/>
          <p:nvPr/>
        </p:nvSpPr>
        <p:spPr>
          <a:xfrm>
            <a:off x="3416656" y="3584448"/>
            <a:ext cx="5358384" cy="2670048"/>
          </a:xfrm>
          <a:prstGeom prst="roundRect">
            <a:avLst>
              <a:gd name="adj" fmla="val 547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iki-boyutta-hareket-19.png">    </p:cNvPr>
          <p:cNvPicPr>
            <a:picLocks noChangeAspect="1"/>
          </p:cNvPicPr>
          <p:nvPr/>
        </p:nvPicPr>
        <p:blipFill>
          <a:blip r:embed="rId1"/>
          <a:stretch>
            <a:fillRect/>
          </a:stretch>
        </p:blipFill>
        <p:spPr>
          <a:xfrm>
            <a:off x="3645256" y="3694176"/>
            <a:ext cx="4901184" cy="2450592"/>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132</a:t>
            </a:r>
            <a:endParaRPr lang="en-US" sz="105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Top duvarın üstünden geçer mi?</a:t>
            </a:r>
            <a:endParaRPr lang="en-US" sz="1450" dirty="0"/>
          </a:p>
        </p:txBody>
      </p:sp>
      <p:sp>
        <p:nvSpPr>
          <p:cNvPr id="8" name="Shape 6"/>
          <p:cNvSpPr/>
          <p:nvPr/>
        </p:nvSpPr>
        <p:spPr>
          <a:xfrm>
            <a:off x="640080" y="1645920"/>
            <a:ext cx="10911535" cy="2124456"/>
          </a:xfrm>
          <a:prstGeom prst="roundRect">
            <a:avLst>
              <a:gd name="adj" fmla="val 6887"/>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575816"/>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Yerden 25 m/s süratle, yatayla 37° açıyla atılan bir top, 20 m ötedeki 8 m yüksekliğindeki bir duvara doğru gidiyor. (a) Top duvarı aşar mı? (b) Duvarın hizasından geçerken yükselmekte mi, alçalmakta mıdır? (c) Duvar olmasaydı top nereye düşerdi? (sin37° = 0,6 · cos37° = 0,8)</a:t>
            </a:r>
            <a:endParaRPr lang="en-US" sz="2000" dirty="0"/>
          </a:p>
        </p:txBody>
      </p:sp>
      <p:sp>
        <p:nvSpPr>
          <p:cNvPr id="11" name="Shape 9"/>
          <p:cNvSpPr/>
          <p:nvPr/>
        </p:nvSpPr>
        <p:spPr>
          <a:xfrm>
            <a:off x="640080"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4136136"/>
            <a:ext cx="54864" cy="1844040"/>
          </a:xfrm>
          <a:prstGeom prst="rect">
            <a:avLst/>
          </a:prstGeom>
          <a:solidFill>
            <a:srgbClr val="2957D4"/>
          </a:solidFill>
          <a:ln/>
        </p:spPr>
      </p:sp>
      <p:sp>
        <p:nvSpPr>
          <p:cNvPr id="13" name="Text 11"/>
          <p:cNvSpPr txBox="1"/>
          <p:nvPr/>
        </p:nvSpPr>
        <p:spPr>
          <a:xfrm>
            <a:off x="914400" y="4117848"/>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447032"/>
            <a:ext cx="2339264"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v₀ = 25 m/s</a:t>
            </a:r>
            <a:endParaRPr lang="en-US" sz="1600" dirty="0"/>
          </a:p>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α = 37°</a:t>
            </a:r>
            <a:endParaRPr lang="en-US" sz="1600" dirty="0"/>
          </a:p>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sin37° = 0,6</a:t>
            </a:r>
            <a:endParaRPr lang="en-US" sz="1600" dirty="0"/>
          </a:p>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cos37° = 0,8</a:t>
            </a:r>
            <a:endParaRPr lang="en-US" sz="1600" dirty="0"/>
          </a:p>
        </p:txBody>
      </p:sp>
      <p:sp>
        <p:nvSpPr>
          <p:cNvPr id="15" name="Text 13"/>
          <p:cNvSpPr txBox="1"/>
          <p:nvPr/>
        </p:nvSpPr>
        <p:spPr>
          <a:xfrm>
            <a:off x="3381680" y="4447032"/>
            <a:ext cx="2339264"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duvara uzaklık 20 m</a:t>
            </a:r>
            <a:endParaRPr lang="en-US" sz="1600" dirty="0"/>
          </a:p>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duvar yüksekliği 8 m</a:t>
            </a:r>
            <a:endParaRPr lang="en-US" sz="1600" dirty="0"/>
          </a:p>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g = 10 m/s²</a:t>
            </a:r>
            <a:endParaRPr lang="en-US" sz="1600" dirty="0"/>
          </a:p>
        </p:txBody>
      </p:sp>
      <p:sp>
        <p:nvSpPr>
          <p:cNvPr id="16" name="Shape 14"/>
          <p:cNvSpPr/>
          <p:nvPr/>
        </p:nvSpPr>
        <p:spPr>
          <a:xfrm>
            <a:off x="6233008"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6251296" y="4136136"/>
            <a:ext cx="54864" cy="1844040"/>
          </a:xfrm>
          <a:prstGeom prst="rect">
            <a:avLst/>
          </a:prstGeom>
          <a:solidFill>
            <a:srgbClr val="5F4BD8"/>
          </a:solidFill>
          <a:ln/>
        </p:spPr>
      </p:sp>
      <p:sp>
        <p:nvSpPr>
          <p:cNvPr id="18" name="Text 16"/>
          <p:cNvSpPr txBox="1"/>
          <p:nvPr/>
        </p:nvSpPr>
        <p:spPr>
          <a:xfrm>
            <a:off x="6507328" y="4117848"/>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9" name="Text 17"/>
          <p:cNvSpPr txBox="1"/>
          <p:nvPr/>
        </p:nvSpPr>
        <p:spPr>
          <a:xfrm>
            <a:off x="6543904" y="4447032"/>
            <a:ext cx="4769968"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top duvarı aşar mı</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duvar hizasında yükseliyor mu, alçalıyor mu</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 duvar olmasaydı menzil R</a:t>
            </a:r>
            <a:endParaRPr lang="en-US" sz="18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133</a:t>
            </a:r>
            <a:endParaRPr lang="en-US" sz="105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Top duvarın üstünden geçer mi?</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Bileşenler: v₀ₓ = 25·0,8 = 20 m/s, v₀ᵧ = 25·0,6 = 15 m/s</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Duvara varış: t = 20 / 20 = 1 s</a:t>
            </a:r>
            <a:endParaRPr lang="en-US" sz="2000" dirty="0"/>
          </a:p>
        </p:txBody>
      </p:sp>
      <p:sp>
        <p:nvSpPr>
          <p:cNvPr id="16" name="Shape 14"/>
          <p:cNvSpPr/>
          <p:nvPr/>
        </p:nvSpPr>
        <p:spPr>
          <a:xfrm>
            <a:off x="640080" y="4120896"/>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720133"/>
            <a:ext cx="420624" cy="420624"/>
          </a:xfrm>
          <a:prstGeom prst="roundRect">
            <a:avLst>
              <a:gd name="adj" fmla="val 26000"/>
            </a:avLst>
          </a:prstGeom>
          <a:solidFill>
            <a:srgbClr val="A56209"/>
          </a:solidFill>
          <a:ln/>
        </p:spPr>
      </p:sp>
      <p:sp>
        <p:nvSpPr>
          <p:cNvPr id="18" name="Text 16"/>
          <p:cNvSpPr txBox="1"/>
          <p:nvPr/>
        </p:nvSpPr>
        <p:spPr>
          <a:xfrm>
            <a:off x="914400" y="4720133"/>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1509370"/>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O andaki yükseklik: y = 15·1 − 5·1² = 10 m &gt; 8 m → top duvarı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 m farkla aşar</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134</a:t>
            </a:r>
            <a:endParaRPr lang="en-US" sz="105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Top duvarın üstünden geçer mi?</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v</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y</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15 − 10·1 = +5 m/s &gt; 0 → top hâlâ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yükselmektedir</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(tepeye 1,5 s'de varır).</a:t>
            </a:r>
            <a:endParaRPr lang="en-US" sz="2000" dirty="0"/>
          </a:p>
        </p:txBody>
      </p:sp>
      <p:sp>
        <p:nvSpPr>
          <p:cNvPr id="12" name="Shape 10"/>
          <p:cNvSpPr/>
          <p:nvPr/>
        </p:nvSpPr>
        <p:spPr>
          <a:xfrm>
            <a:off x="640080" y="342961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755746"/>
            <a:ext cx="420624" cy="420624"/>
          </a:xfrm>
          <a:prstGeom prst="roundRect">
            <a:avLst>
              <a:gd name="adj" fmla="val 26000"/>
            </a:avLst>
          </a:prstGeom>
          <a:solidFill>
            <a:srgbClr val="A56209"/>
          </a:solidFill>
          <a:ln/>
        </p:spPr>
      </p:sp>
      <p:sp>
        <p:nvSpPr>
          <p:cNvPr id="14" name="Text 12"/>
          <p:cNvSpPr txBox="1"/>
          <p:nvPr/>
        </p:nvSpPr>
        <p:spPr>
          <a:xfrm>
            <a:off x="914400" y="37557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5" name="Text 13"/>
          <p:cNvSpPr txBox="1"/>
          <p:nvPr/>
        </p:nvSpPr>
        <p:spPr>
          <a:xfrm>
            <a:off x="1508760" y="348447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Uçuş süresi 2·15/10 = 3 s → R = 20 · 3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60 m</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135</a:t>
            </a:r>
            <a:endParaRPr lang="en-US" sz="105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Yükseklikten eğik atış</a:t>
            </a:r>
            <a:endParaRPr lang="en-US" sz="1450" dirty="0"/>
          </a:p>
        </p:txBody>
      </p:sp>
      <p:sp>
        <p:nvSpPr>
          <p:cNvPr id="8" name="Shape 6"/>
          <p:cNvSpPr/>
          <p:nvPr/>
        </p:nvSpPr>
        <p:spPr>
          <a:xfrm>
            <a:off x="640080" y="1645920"/>
            <a:ext cx="10911535" cy="1627632"/>
          </a:xfrm>
          <a:prstGeom prst="roundRect">
            <a:avLst>
              <a:gd name="adj" fmla="val 8989"/>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170432"/>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20 m yüksekliğindeki bir çatıdan, yatayla 37° açıyla 25 m/s süratle atılan cisim için: (a) yere çarpma süresini, (b) yatay uzaklığı, (c) çarpma süratini bulunuz. (sin37° = 0,6 · cos37° = 0,8)</a:t>
            </a:r>
            <a:endParaRPr lang="en-US" sz="2000" dirty="0"/>
          </a:p>
        </p:txBody>
      </p:sp>
      <p:sp>
        <p:nvSpPr>
          <p:cNvPr id="11" name="Shape 9"/>
          <p:cNvSpPr/>
          <p:nvPr/>
        </p:nvSpPr>
        <p:spPr>
          <a:xfrm>
            <a:off x="3263426" y="3474720"/>
            <a:ext cx="5664843" cy="2779776"/>
          </a:xfrm>
          <a:prstGeom prst="roundRect">
            <a:avLst>
              <a:gd name="adj" fmla="val 526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iki-boyutta-hareket-20.png">    </p:cNvPr>
          <p:cNvPicPr>
            <a:picLocks noChangeAspect="1"/>
          </p:cNvPicPr>
          <p:nvPr/>
        </p:nvPicPr>
        <p:blipFill>
          <a:blip r:embed="rId1"/>
          <a:stretch>
            <a:fillRect/>
          </a:stretch>
        </p:blipFill>
        <p:spPr>
          <a:xfrm>
            <a:off x="3492026" y="3584448"/>
            <a:ext cx="5207643" cy="2560320"/>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136</a:t>
            </a:r>
            <a:endParaRPr lang="en-US" sz="105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Yükseklikten eğik atış</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20 m yüksekliğindeki bir çatıdan, yatayla 37° açıyla 25 m/s süratle atılan cisim için: (a) yere çarpma süresini, (b) yatay uzaklığı, (c) çarpma süratini bulunuz. (sin37° = 0,6 · cos37° = 0,8)</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500" dirty="0">
                <a:solidFill>
                  <a:srgbClr val="0E1426"/>
                </a:solidFill>
                <a:latin typeface="Calibri" pitchFamily="34" charset="0"/>
                <a:ea typeface="Calibri" pitchFamily="34" charset="-122"/>
                <a:cs typeface="Calibri" pitchFamily="34" charset="-120"/>
              </a:rPr>
              <a:t>h = 20 m</a:t>
            </a:r>
            <a:endParaRPr lang="en-US" sz="1500" dirty="0"/>
          </a:p>
          <a:p>
            <a:pPr marL="203200" indent="-203200">
              <a:lnSpc>
                <a:spcPct val="110000"/>
              </a:lnSpc>
              <a:spcAft>
                <a:spcPts val="500"/>
              </a:spcAft>
              <a:buSzPct val="100000"/>
              <a:buChar char="▪"/>
            </a:pPr>
            <a:r>
              <a:rPr lang="en-US" sz="1500" dirty="0">
                <a:solidFill>
                  <a:srgbClr val="0E1426"/>
                </a:solidFill>
                <a:latin typeface="Calibri" pitchFamily="34" charset="0"/>
                <a:ea typeface="Calibri" pitchFamily="34" charset="-122"/>
                <a:cs typeface="Calibri" pitchFamily="34" charset="-120"/>
              </a:rPr>
              <a:t>v₀ = 25 m/s</a:t>
            </a:r>
            <a:endParaRPr lang="en-US" sz="1500" dirty="0"/>
          </a:p>
          <a:p>
            <a:pPr marL="203200" indent="-203200">
              <a:lnSpc>
                <a:spcPct val="110000"/>
              </a:lnSpc>
              <a:spcAft>
                <a:spcPts val="500"/>
              </a:spcAft>
              <a:buSzPct val="100000"/>
              <a:buChar char="▪"/>
            </a:pPr>
            <a:r>
              <a:rPr lang="en-US" sz="1500" dirty="0">
                <a:solidFill>
                  <a:srgbClr val="0E1426"/>
                </a:solidFill>
                <a:latin typeface="Calibri" pitchFamily="34" charset="0"/>
                <a:ea typeface="Calibri" pitchFamily="34" charset="-122"/>
                <a:cs typeface="Calibri" pitchFamily="34" charset="-120"/>
              </a:rPr>
              <a:t>α = 37°</a:t>
            </a:r>
            <a:endParaRPr lang="en-US" sz="1500" dirty="0"/>
          </a:p>
          <a:p>
            <a:pPr marL="203200" indent="-203200">
              <a:lnSpc>
                <a:spcPct val="110000"/>
              </a:lnSpc>
              <a:spcAft>
                <a:spcPts val="500"/>
              </a:spcAft>
              <a:buSzPct val="100000"/>
              <a:buChar char="▪"/>
            </a:pPr>
            <a:r>
              <a:rPr lang="en-US" sz="1500" dirty="0">
                <a:solidFill>
                  <a:srgbClr val="0E1426"/>
                </a:solidFill>
                <a:latin typeface="Calibri" pitchFamily="34" charset="0"/>
                <a:ea typeface="Calibri" pitchFamily="34" charset="-122"/>
                <a:cs typeface="Calibri" pitchFamily="34" charset="-120"/>
              </a:rPr>
              <a:t>sin37° = 0,6</a:t>
            </a:r>
            <a:endParaRPr lang="en-US" sz="1500" dirty="0"/>
          </a:p>
          <a:p>
            <a:pPr marL="203200" indent="-203200">
              <a:lnSpc>
                <a:spcPct val="110000"/>
              </a:lnSpc>
              <a:spcAft>
                <a:spcPts val="500"/>
              </a:spcAft>
              <a:buSzPct val="100000"/>
              <a:buChar char="▪"/>
            </a:pPr>
            <a:r>
              <a:rPr lang="en-US" sz="1500" dirty="0">
                <a:solidFill>
                  <a:srgbClr val="0E1426"/>
                </a:solidFill>
                <a:latin typeface="Calibri" pitchFamily="34" charset="0"/>
                <a:ea typeface="Calibri" pitchFamily="34" charset="-122"/>
                <a:cs typeface="Calibri" pitchFamily="34" charset="-120"/>
              </a:rPr>
              <a:t>cos37° = 0,8</a:t>
            </a:r>
            <a:endParaRPr lang="en-US" sz="1500" dirty="0"/>
          </a:p>
          <a:p>
            <a:pPr marL="203200" indent="-203200">
              <a:lnSpc>
                <a:spcPct val="110000"/>
              </a:lnSpc>
              <a:spcAft>
                <a:spcPts val="500"/>
              </a:spcAft>
              <a:buSzPct val="100000"/>
              <a:buChar char="▪"/>
            </a:pPr>
            <a:r>
              <a:rPr lang="en-US" sz="1500" dirty="0">
                <a:solidFill>
                  <a:srgbClr val="0E1426"/>
                </a:solidFill>
                <a:latin typeface="Calibri" pitchFamily="34" charset="0"/>
                <a:ea typeface="Calibri" pitchFamily="34" charset="-122"/>
                <a:cs typeface="Calibri" pitchFamily="34" charset="-120"/>
              </a:rPr>
              <a:t>g = 10 m/s²</a:t>
            </a:r>
            <a:endParaRPr lang="en-US" sz="15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yere çarpma süresi t</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yatay uzaklık x</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 çarpma sürati v</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137</a:t>
            </a:r>
            <a:endParaRPr lang="en-US" sz="105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Yükseklikten eğik atış</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Bileşenler: v₀ₓ = 25·0,8 = 20 m/s, v₀ᵧ = 25·0,6 = 15 m/s</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Yere değince y = 0: 20 + 15t − 5t² = 0 → t² − 3t − 4 = 0 → (t − 4)(t + 1) = 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t = 4 s</a:t>
            </a:r>
            <a:endParaRPr lang="en-US" sz="2000" dirty="0"/>
          </a:p>
        </p:txBody>
      </p:sp>
      <p:sp>
        <p:nvSpPr>
          <p:cNvPr id="16" name="Shape 14"/>
          <p:cNvSpPr/>
          <p:nvPr/>
        </p:nvSpPr>
        <p:spPr>
          <a:xfrm>
            <a:off x="640080" y="466709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993234"/>
            <a:ext cx="420624" cy="420624"/>
          </a:xfrm>
          <a:prstGeom prst="roundRect">
            <a:avLst>
              <a:gd name="adj" fmla="val 26000"/>
            </a:avLst>
          </a:prstGeom>
          <a:solidFill>
            <a:srgbClr val="A56209"/>
          </a:solidFill>
          <a:ln/>
        </p:spPr>
      </p:sp>
      <p:sp>
        <p:nvSpPr>
          <p:cNvPr id="18" name="Text 16"/>
          <p:cNvSpPr txBox="1"/>
          <p:nvPr/>
        </p:nvSpPr>
        <p:spPr>
          <a:xfrm>
            <a:off x="914400" y="499323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721962"/>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x = 20 · 4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80 m</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138</a:t>
            </a:r>
            <a:endParaRPr lang="en-US" sz="105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Yükseklikten eğik atış</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v</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y</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15 − 10·4 = −25 m/s (aşağı), v</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x</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20 m/s → v = √(20² + 25²) = √1025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32 m/s</a:t>
            </a:r>
            <a:endParaRPr lang="en-US" sz="2000" dirty="0"/>
          </a:p>
        </p:txBody>
      </p:sp>
      <p:sp>
        <p:nvSpPr>
          <p:cNvPr id="12" name="Shape 10"/>
          <p:cNvSpPr/>
          <p:nvPr/>
        </p:nvSpPr>
        <p:spPr>
          <a:xfrm>
            <a:off x="640080" y="342961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4028846"/>
            <a:ext cx="420624" cy="420624"/>
          </a:xfrm>
          <a:prstGeom prst="roundRect">
            <a:avLst>
              <a:gd name="adj" fmla="val 26000"/>
            </a:avLst>
          </a:prstGeom>
          <a:solidFill>
            <a:srgbClr val="A56209"/>
          </a:solidFill>
          <a:ln/>
        </p:spPr>
      </p:sp>
      <p:sp>
        <p:nvSpPr>
          <p:cNvPr id="14" name="Text 12"/>
          <p:cNvSpPr txBox="1"/>
          <p:nvPr/>
        </p:nvSpPr>
        <p:spPr>
          <a:xfrm>
            <a:off x="914400" y="40288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5" name="Text 13"/>
          <p:cNvSpPr txBox="1"/>
          <p:nvPr/>
        </p:nvSpPr>
        <p:spPr>
          <a:xfrm>
            <a:off x="1508760" y="348447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Kısa yol: v² = v₀² + 2gh = 625 + 2·10·20 = 1025 ✓ (yükseklik farkı aynıysa atış açısı sürati değiştirmez)</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139</a:t>
            </a:r>
            <a:endParaRPr lang="en-US" sz="105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1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1,25 m yüksekliğindeki bir masanın kenarından yatay yuvarlanan bilye kaç saniyede yere düşer?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(g = 10 m/s², hava direnci yok, sin37° = 0,6 · cos37° = 0,8)</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140</a:t>
            </a:r>
            <a:endParaRPr lang="en-US" sz="105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1,25 m yüksekliğindeki bir masanın kenarından yatay yuvarlanan bilye kaç saniyede yere düşer?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Düşeyde serbest düşme vardır: t = √(2h / g) = √(2 · 1,25 / 10) = √0,25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0,5 s</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Bilyenin masadan ayrılma sürati bu süreyi değiştirmez.</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141</a:t>
            </a:r>
            <a:endParaRPr lang="en-US" sz="105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2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Bir top 40 m/s süratle, yatayla 37° açı yapacak biçimde atılıyor. İlk hızın yatay ve düşey bileşenleri kaç m/s'dir?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(g = 10 m/s², hava direnci yok, sin37° = 0,6 · cos37° = 0,8)</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142</a:t>
            </a:r>
            <a:endParaRPr lang="en-US" sz="105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Bir top 40 m/s süratle, yatayla 37° açı yapacak biçimde atılıyor. İlk hızın yatay ve düşey bileşenleri kaç m/s'dir?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v₀ₓ = v₀ · cos37° = 40 · 0,8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32 m/s</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v₀ᵧ = v₀ · sin37° = 40 · 0,6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24 m/s</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Kontrol: 32² + 24² = 1024 + 576 = 1600 = 40² ✓</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143</a:t>
            </a:r>
            <a:endParaRPr lang="en-US" sz="105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3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20 m yüksekliğindeki bir çatıdan 15 m/s ile yatay atılan top, binanın kaç metre ötesine düşer ve yere kaç m/s süratle çarpar?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(g = 10 m/s², hava direnci yok, sin37° = 0,6 · cos37° = 0,8)</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144</a:t>
            </a:r>
            <a:endParaRPr lang="en-US" sz="105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20 m yüksekliğindeki bir çatıdan 15 m/s ile yatay atılan top, binanın kaç metre ötesine düşer ve yere kaç m/s süratle çarpar?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Süre t = √(2 · 20 / 10) = 2 s. Yatayda x = v₀ · t = 15 · 2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30 m</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Düşey hız v</a:t>
            </a:r>
            <a:pPr indent="0" marL="0">
              <a:lnSpc>
                <a:spcPct val="125000"/>
              </a:lnSpc>
              <a:buNone/>
            </a:pPr>
            <a:r>
              <a:rPr lang="en-US" sz="2400" baseline="-40000" dirty="0">
                <a:solidFill>
                  <a:srgbClr val="0E1426"/>
                </a:solidFill>
                <a:latin typeface="Calibri" pitchFamily="34" charset="0"/>
                <a:ea typeface="Calibri" pitchFamily="34" charset="-122"/>
                <a:cs typeface="Calibri" pitchFamily="34" charset="-120"/>
              </a:rPr>
              <a:t>y</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 g · t = 20 m/s → v = √(15² + 20²) = √625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25 m/s</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145</a:t>
            </a:r>
            <a:endParaRPr lang="en-US" sz="105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4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Yerden atılan bir topun ilk hız bileşenleri v₀ₓ = 10 m/s ve v₀ᵧ = 20 m/s'dir. Top kaç saniye havada kalır, kaç metre öteye düşer ve tepede sürati kaç m/s olur?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(g = 10 m/s², hava direnci yok, sin37° = 0,6 · cos37° = 0,8)</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146</a:t>
            </a:r>
            <a:endParaRPr lang="en-US" sz="105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Yerden atılan bir topun ilk hız bileşenleri v₀ₓ = 10 m/s ve v₀ᵧ = 20 m/s'dir. Top kaç saniye havada kalır, kaç metre öteye düşer ve tepede sürati kaç m/s olur?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Tepeye çıkış t</a:t>
            </a:r>
            <a:pPr indent="0" marL="0">
              <a:lnSpc>
                <a:spcPct val="125000"/>
              </a:lnSpc>
              <a:buNone/>
            </a:pPr>
            <a:r>
              <a:rPr lang="en-US" sz="2400" baseline="-40000" dirty="0">
                <a:solidFill>
                  <a:srgbClr val="0E1426"/>
                </a:solidFill>
                <a:latin typeface="Calibri" pitchFamily="34" charset="0"/>
                <a:ea typeface="Calibri" pitchFamily="34" charset="-122"/>
                <a:cs typeface="Calibri" pitchFamily="34" charset="-120"/>
              </a:rPr>
              <a:t>tepe</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 v₀ᵧ / g = 20 / 10 = 2 s, iniş de 2 s sürer: top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4 s</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havada kalır. Menzil R = v₀ₓ · t = 10 · 4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40 m</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Tepede v</a:t>
            </a:r>
            <a:pPr indent="0" marL="0">
              <a:lnSpc>
                <a:spcPct val="125000"/>
              </a:lnSpc>
              <a:buNone/>
            </a:pPr>
            <a:r>
              <a:rPr lang="en-US" sz="2400" baseline="-40000" dirty="0">
                <a:solidFill>
                  <a:srgbClr val="0E1426"/>
                </a:solidFill>
                <a:latin typeface="Calibri" pitchFamily="34" charset="0"/>
                <a:ea typeface="Calibri" pitchFamily="34" charset="-122"/>
                <a:cs typeface="Calibri" pitchFamily="34" charset="-120"/>
              </a:rPr>
              <a:t>y</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 0 olur ama yatay hız sürer: sürat sıfır değil,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10 m/s</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'dir.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147</a:t>
            </a:r>
            <a:endParaRPr lang="en-US" sz="105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5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FBE9EE"/>
          </a:solidFill>
          <a:ln w="9525">
            <a:solidFill>
              <a:srgbClr val="C53455"/>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20 m/s ile yatay atılan bir taşın hızı kaç saniye sonra yatayla 45° açı yapar? O ana kadar taş kaç metre düşmüştür?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(g = 10 m/s², hava direnci yok, sin37° = 0,6 · cos37° = 0,8)</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148</a:t>
            </a:r>
            <a:endParaRPr lang="en-US" sz="105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20 m/s ile yatay atılan bir taşın hızı kaç saniye sonra yatayla 45° açı yapar? O ana kadar taş kaç metre düşmüştür?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45°'de tanθ = v</a:t>
            </a:r>
            <a:pPr indent="0" marL="0">
              <a:lnSpc>
                <a:spcPct val="125000"/>
              </a:lnSpc>
              <a:buNone/>
            </a:pPr>
            <a:r>
              <a:rPr lang="en-US" sz="2400" baseline="-40000" dirty="0">
                <a:solidFill>
                  <a:srgbClr val="0E1426"/>
                </a:solidFill>
                <a:latin typeface="Calibri" pitchFamily="34" charset="0"/>
                <a:ea typeface="Calibri" pitchFamily="34" charset="-122"/>
                <a:cs typeface="Calibri" pitchFamily="34" charset="-120"/>
              </a:rPr>
              <a:t>y</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 v</a:t>
            </a:r>
            <a:pPr indent="0" marL="0">
              <a:lnSpc>
                <a:spcPct val="125000"/>
              </a:lnSpc>
              <a:buNone/>
            </a:pPr>
            <a:r>
              <a:rPr lang="en-US" sz="2400" baseline="-40000" dirty="0">
                <a:solidFill>
                  <a:srgbClr val="0E1426"/>
                </a:solidFill>
                <a:latin typeface="Calibri" pitchFamily="34" charset="0"/>
                <a:ea typeface="Calibri" pitchFamily="34" charset="-122"/>
                <a:cs typeface="Calibri" pitchFamily="34" charset="-120"/>
              </a:rPr>
              <a:t>x</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 1 olur, yani v</a:t>
            </a:r>
            <a:pPr indent="0" marL="0">
              <a:lnSpc>
                <a:spcPct val="125000"/>
              </a:lnSpc>
              <a:buNone/>
            </a:pPr>
            <a:r>
              <a:rPr lang="en-US" sz="2400" baseline="-40000" dirty="0">
                <a:solidFill>
                  <a:srgbClr val="0E1426"/>
                </a:solidFill>
                <a:latin typeface="Calibri" pitchFamily="34" charset="0"/>
                <a:ea typeface="Calibri" pitchFamily="34" charset="-122"/>
                <a:cs typeface="Calibri" pitchFamily="34" charset="-120"/>
              </a:rPr>
              <a:t>y</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 v</a:t>
            </a:r>
            <a:pPr indent="0" marL="0">
              <a:lnSpc>
                <a:spcPct val="125000"/>
              </a:lnSpc>
              <a:buNone/>
            </a:pPr>
            <a:r>
              <a:rPr lang="en-US" sz="2400" baseline="-40000" dirty="0">
                <a:solidFill>
                  <a:srgbClr val="0E1426"/>
                </a:solidFill>
                <a:latin typeface="Calibri" pitchFamily="34" charset="0"/>
                <a:ea typeface="Calibri" pitchFamily="34" charset="-122"/>
                <a:cs typeface="Calibri" pitchFamily="34" charset="-120"/>
              </a:rPr>
              <a:t>x</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 20 m/s olmalı. v</a:t>
            </a:r>
            <a:pPr indent="0" marL="0">
              <a:lnSpc>
                <a:spcPct val="125000"/>
              </a:lnSpc>
              <a:buNone/>
            </a:pPr>
            <a:r>
              <a:rPr lang="en-US" sz="2400" baseline="-40000" dirty="0">
                <a:solidFill>
                  <a:srgbClr val="0E1426"/>
                </a:solidFill>
                <a:latin typeface="Calibri" pitchFamily="34" charset="0"/>
                <a:ea typeface="Calibri" pitchFamily="34" charset="-122"/>
                <a:cs typeface="Calibri" pitchFamily="34" charset="-120"/>
              </a:rPr>
              <a:t>y</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 g · t → 20 = 10 · t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t = 2 s</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Bu sürede düşülen yol ½ · g · t² = 5 · 2²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20 m</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O anki sürat √(20² + 20²) ≈ 28,3 m/s olur.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149</a:t>
            </a:r>
            <a:endParaRPr lang="en-US" sz="105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“Tepe noktada hız sıfırdır.”</a:t>
            </a:r>
            <a:endParaRPr lang="en-US" sz="1900" dirty="0"/>
          </a:p>
        </p:txBody>
      </p:sp>
      <p:sp>
        <p:nvSpPr>
          <p:cNvPr id="11" name="Shape 9"/>
          <p:cNvSpPr/>
          <p:nvPr/>
        </p:nvSpPr>
        <p:spPr>
          <a:xfrm>
            <a:off x="841248" y="2271522"/>
            <a:ext cx="310896" cy="310896"/>
          </a:xfrm>
          <a:prstGeom prst="roundRect">
            <a:avLst>
              <a:gd name="adj" fmla="val 26471"/>
            </a:avLst>
          </a:prstGeom>
          <a:solidFill>
            <a:srgbClr val="EAF7DC"/>
          </a:solidFill>
          <a:ln/>
        </p:spPr>
      </p:sp>
      <p:sp>
        <p:nvSpPr>
          <p:cNvPr id="12" name="Text 10"/>
          <p:cNvSpPr txBox="1"/>
          <p:nvPr/>
        </p:nvSpPr>
        <p:spPr>
          <a:xfrm>
            <a:off x="841248"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Sıfırlanan yalnızca v</a:t>
            </a:r>
            <a:pPr indent="0" marL="0">
              <a:lnSpc>
                <a:spcPct val="108000"/>
              </a:lnSpc>
              <a:buNone/>
            </a:pPr>
            <a:r>
              <a:rPr lang="en-US" sz="1700" baseline="-40000" dirty="0">
                <a:solidFill>
                  <a:srgbClr val="4A5470"/>
                </a:solidFill>
                <a:latin typeface="Calibri" pitchFamily="34" charset="0"/>
                <a:ea typeface="Calibri" pitchFamily="34" charset="-122"/>
                <a:cs typeface="Calibri" pitchFamily="34" charset="-120"/>
              </a:rPr>
              <a:t>y</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'dir; yatay bileşen v₀cosα devam eder. Yalnızca düşey atışta (α = 90°) hız tümüyle sıfırlanır.</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“Tepe noktada ivme sıfırdır.”</a:t>
            </a:r>
            <a:endParaRPr lang="en-US" sz="1900" dirty="0"/>
          </a:p>
        </p:txBody>
      </p:sp>
      <p:sp>
        <p:nvSpPr>
          <p:cNvPr id="18" name="Shape 16"/>
          <p:cNvSpPr/>
          <p:nvPr/>
        </p:nvSpPr>
        <p:spPr>
          <a:xfrm>
            <a:off x="6406744" y="2271522"/>
            <a:ext cx="310896" cy="310896"/>
          </a:xfrm>
          <a:prstGeom prst="roundRect">
            <a:avLst>
              <a:gd name="adj" fmla="val 26471"/>
            </a:avLst>
          </a:prstGeom>
          <a:solidFill>
            <a:srgbClr val="EAF7DC"/>
          </a:solidFill>
          <a:ln/>
        </p:spPr>
      </p:sp>
      <p:sp>
        <p:nvSpPr>
          <p:cNvPr id="19" name="Text 17"/>
          <p:cNvSpPr txBox="1"/>
          <p:nvPr/>
        </p:nvSpPr>
        <p:spPr>
          <a:xfrm>
            <a:off x="6406744"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İvme hareket boyunca sabittir: g, aşağı yönde.</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“Yatay hız düşme süresini etkiler.”</a:t>
            </a:r>
            <a:endParaRPr lang="en-US" sz="1900" dirty="0"/>
          </a:p>
        </p:txBody>
      </p:sp>
      <p:sp>
        <p:nvSpPr>
          <p:cNvPr id="25" name="Shape 23"/>
          <p:cNvSpPr/>
          <p:nvPr/>
        </p:nvSpPr>
        <p:spPr>
          <a:xfrm>
            <a:off x="841248" y="4612386"/>
            <a:ext cx="310896" cy="310896"/>
          </a:xfrm>
          <a:prstGeom prst="roundRect">
            <a:avLst>
              <a:gd name="adj" fmla="val 26471"/>
            </a:avLst>
          </a:prstGeom>
          <a:solidFill>
            <a:srgbClr val="EAF7DC"/>
          </a:solidFill>
          <a:ln/>
        </p:spPr>
      </p:sp>
      <p:sp>
        <p:nvSpPr>
          <p:cNvPr id="26" name="Text 24"/>
          <p:cNvSpPr txBox="1"/>
          <p:nvPr/>
        </p:nvSpPr>
        <p:spPr>
          <a:xfrm>
            <a:off x="841248" y="461238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594098"/>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Etkilemez. Süre yalnızca düşey harekete, yani yüksekliğe, v₀ᵧ'ye ve g'ye bağlıdır.</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İvmeyi yörüngeye teğet sanmak.</a:t>
            </a:r>
            <a:endParaRPr lang="en-US" sz="1900" dirty="0"/>
          </a:p>
        </p:txBody>
      </p:sp>
      <p:sp>
        <p:nvSpPr>
          <p:cNvPr id="32" name="Shape 30"/>
          <p:cNvSpPr/>
          <p:nvPr/>
        </p:nvSpPr>
        <p:spPr>
          <a:xfrm>
            <a:off x="6406744" y="4612386"/>
            <a:ext cx="310896" cy="310896"/>
          </a:xfrm>
          <a:prstGeom prst="roundRect">
            <a:avLst>
              <a:gd name="adj" fmla="val 26471"/>
            </a:avLst>
          </a:prstGeom>
          <a:solidFill>
            <a:srgbClr val="EAF7DC"/>
          </a:solidFill>
          <a:ln/>
        </p:spPr>
      </p:sp>
      <p:sp>
        <p:nvSpPr>
          <p:cNvPr id="33" name="Text 31"/>
          <p:cNvSpPr txBox="1"/>
          <p:nvPr/>
        </p:nvSpPr>
        <p:spPr>
          <a:xfrm>
            <a:off x="6406744" y="461238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594098"/>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Teğet olan hızdır; ivme her noktada düşeydir.</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150</a:t>
            </a:r>
            <a:endParaRPr lang="en-US" sz="105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Menzil formülünü her yerde kullanmak.</a:t>
            </a:r>
            <a:endParaRPr lang="en-US" sz="1900" dirty="0"/>
          </a:p>
        </p:txBody>
      </p:sp>
      <p:sp>
        <p:nvSpPr>
          <p:cNvPr id="11" name="Shape 9"/>
          <p:cNvSpPr/>
          <p:nvPr/>
        </p:nvSpPr>
        <p:spPr>
          <a:xfrm>
            <a:off x="841248" y="2604516"/>
            <a:ext cx="310896" cy="310896"/>
          </a:xfrm>
          <a:prstGeom prst="roundRect">
            <a:avLst>
              <a:gd name="adj" fmla="val 26471"/>
            </a:avLst>
          </a:prstGeom>
          <a:solidFill>
            <a:srgbClr val="EAF7DC"/>
          </a:solidFill>
          <a:ln/>
        </p:spPr>
      </p:sp>
      <p:sp>
        <p:nvSpPr>
          <p:cNvPr id="12" name="Text 10"/>
          <p:cNvSpPr txBox="1"/>
          <p:nvPr/>
        </p:nvSpPr>
        <p:spPr>
          <a:xfrm>
            <a:off x="841248" y="260451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586228"/>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R = v₀²sin2α/g yalnızca atış ve iniş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aynı yükseklikteyse</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geçerlidir.</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Bileşenleri skaler toplamak.</a:t>
            </a:r>
            <a:endParaRPr lang="en-US" sz="1900" dirty="0"/>
          </a:p>
        </p:txBody>
      </p:sp>
      <p:sp>
        <p:nvSpPr>
          <p:cNvPr id="18" name="Shape 16"/>
          <p:cNvSpPr/>
          <p:nvPr/>
        </p:nvSpPr>
        <p:spPr>
          <a:xfrm>
            <a:off x="6406744" y="2271522"/>
            <a:ext cx="310896" cy="310896"/>
          </a:xfrm>
          <a:prstGeom prst="roundRect">
            <a:avLst>
              <a:gd name="adj" fmla="val 26471"/>
            </a:avLst>
          </a:prstGeom>
          <a:solidFill>
            <a:srgbClr val="EAF7DC"/>
          </a:solidFill>
          <a:ln/>
        </p:spPr>
      </p:sp>
      <p:sp>
        <p:nvSpPr>
          <p:cNvPr id="19" name="Text 17"/>
          <p:cNvSpPr txBox="1"/>
          <p:nvPr/>
        </p:nvSpPr>
        <p:spPr>
          <a:xfrm>
            <a:off x="6406744"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v = √(v</a:t>
            </a:r>
            <a:pPr indent="0" marL="0">
              <a:lnSpc>
                <a:spcPct val="108000"/>
              </a:lnSpc>
              <a:buNone/>
            </a:pPr>
            <a:r>
              <a:rPr lang="en-US" sz="1700" baseline="-40000" dirty="0">
                <a:solidFill>
                  <a:srgbClr val="4A5470"/>
                </a:solidFill>
                <a:latin typeface="Calibri" pitchFamily="34" charset="0"/>
                <a:ea typeface="Calibri" pitchFamily="34" charset="-122"/>
                <a:cs typeface="Calibri" pitchFamily="34" charset="-120"/>
              </a:rPr>
              <a:t>x</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² + v</a:t>
            </a:r>
            <a:pPr indent="0" marL="0">
              <a:lnSpc>
                <a:spcPct val="108000"/>
              </a:lnSpc>
              <a:buNone/>
            </a:pPr>
            <a:r>
              <a:rPr lang="en-US" sz="1700" baseline="-40000" dirty="0">
                <a:solidFill>
                  <a:srgbClr val="4A5470"/>
                </a:solidFill>
                <a:latin typeface="Calibri" pitchFamily="34" charset="0"/>
                <a:ea typeface="Calibri" pitchFamily="34" charset="-122"/>
                <a:cs typeface="Calibri" pitchFamily="34" charset="-120"/>
              </a:rPr>
              <a:t>y</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²); v</a:t>
            </a:r>
            <a:pPr indent="0" marL="0">
              <a:lnSpc>
                <a:spcPct val="108000"/>
              </a:lnSpc>
              <a:buNone/>
            </a:pPr>
            <a:r>
              <a:rPr lang="en-US" sz="1700" baseline="-40000" dirty="0">
                <a:solidFill>
                  <a:srgbClr val="4A5470"/>
                </a:solidFill>
                <a:latin typeface="Calibri" pitchFamily="34" charset="0"/>
                <a:ea typeface="Calibri" pitchFamily="34" charset="-122"/>
                <a:cs typeface="Calibri" pitchFamily="34" charset="-120"/>
              </a:rPr>
              <a:t>x</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 v</a:t>
            </a:r>
            <a:pPr indent="0" marL="0">
              <a:lnSpc>
                <a:spcPct val="108000"/>
              </a:lnSpc>
              <a:buNone/>
            </a:pPr>
            <a:r>
              <a:rPr lang="en-US" sz="1700" baseline="-40000" dirty="0">
                <a:solidFill>
                  <a:srgbClr val="4A5470"/>
                </a:solidFill>
                <a:latin typeface="Calibri" pitchFamily="34" charset="0"/>
                <a:ea typeface="Calibri" pitchFamily="34" charset="-122"/>
                <a:cs typeface="Calibri" pitchFamily="34" charset="-120"/>
              </a:rPr>
              <a:t>y</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değil.</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sinüs ile kosinüsü karıştırmak.</a:t>
            </a:r>
            <a:endParaRPr lang="en-US" sz="1900" dirty="0"/>
          </a:p>
        </p:txBody>
      </p:sp>
      <p:sp>
        <p:nvSpPr>
          <p:cNvPr id="25" name="Shape 23"/>
          <p:cNvSpPr/>
          <p:nvPr/>
        </p:nvSpPr>
        <p:spPr>
          <a:xfrm>
            <a:off x="841248" y="4612386"/>
            <a:ext cx="310896" cy="310896"/>
          </a:xfrm>
          <a:prstGeom prst="roundRect">
            <a:avLst>
              <a:gd name="adj" fmla="val 26471"/>
            </a:avLst>
          </a:prstGeom>
          <a:solidFill>
            <a:srgbClr val="EAF7DC"/>
          </a:solidFill>
          <a:ln/>
        </p:spPr>
      </p:sp>
      <p:sp>
        <p:nvSpPr>
          <p:cNvPr id="26" name="Text 24"/>
          <p:cNvSpPr txBox="1"/>
          <p:nvPr/>
        </p:nvSpPr>
        <p:spPr>
          <a:xfrm>
            <a:off x="841248" y="461238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594098"/>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Açı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yatayla</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ölçülüyorsa yatay bileşen kosinüslü, düşey bileşen sinüslüdür. Açı düşeyle veriliyorsa tam tersi.</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Kütleyi hesaba katmak.</a:t>
            </a:r>
            <a:endParaRPr lang="en-US" sz="1900" dirty="0"/>
          </a:p>
        </p:txBody>
      </p:sp>
      <p:sp>
        <p:nvSpPr>
          <p:cNvPr id="32" name="Shape 30"/>
          <p:cNvSpPr/>
          <p:nvPr/>
        </p:nvSpPr>
        <p:spPr>
          <a:xfrm>
            <a:off x="6406744" y="4612386"/>
            <a:ext cx="310896" cy="310896"/>
          </a:xfrm>
          <a:prstGeom prst="roundRect">
            <a:avLst>
              <a:gd name="adj" fmla="val 26471"/>
            </a:avLst>
          </a:prstGeom>
          <a:solidFill>
            <a:srgbClr val="EAF7DC"/>
          </a:solidFill>
          <a:ln/>
        </p:spPr>
      </p:sp>
      <p:sp>
        <p:nvSpPr>
          <p:cNvPr id="33" name="Text 31"/>
          <p:cNvSpPr txBox="1"/>
          <p:nvPr/>
        </p:nvSpPr>
        <p:spPr>
          <a:xfrm>
            <a:off x="6406744" y="461238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594098"/>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Hiçbir bağıntıda m yoktur; hava direnci ihmal edildiği sürece ağır cisim de hafif cisim de aynı yörüngeyi çizer.</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dersler.perinet.org/iki-boyutta-hareket.html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151</a:t>
            </a:r>
            <a:endParaRPr lang="en-US" sz="105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Yatayda </a:t>
            </a:r>
            <a:pPr indent="0" marL="0">
              <a:buNone/>
            </a:pPr>
            <a:r>
              <a:rPr lang="en-US" sz="1500" b="1" dirty="0">
                <a:solidFill>
                  <a:srgbClr val="FFFFFF"/>
                </a:solidFill>
                <a:latin typeface="Calibri" pitchFamily="34" charset="0"/>
                <a:ea typeface="Calibri" pitchFamily="34" charset="-122"/>
                <a:cs typeface="Calibri" pitchFamily="34" charset="-120"/>
              </a:rPr>
              <a:t>a</a:t>
            </a:r>
            <a:pPr indent="0" marL="0">
              <a:buNone/>
            </a:pPr>
            <a:r>
              <a:rPr lang="en-US" sz="1500" b="1" baseline="-40000" dirty="0">
                <a:solidFill>
                  <a:srgbClr val="FFFFFF"/>
                </a:solidFill>
                <a:latin typeface="Calibri" pitchFamily="34" charset="0"/>
                <a:ea typeface="Calibri" pitchFamily="34" charset="-122"/>
                <a:cs typeface="Calibri" pitchFamily="34" charset="-120"/>
              </a:rPr>
              <a:t>x</a:t>
            </a:r>
            <a:pPr indent="0" marL="0">
              <a:buNone/>
            </a:pPr>
            <a:r>
              <a:rPr lang="en-US" sz="1500" b="1" dirty="0">
                <a:solidFill>
                  <a:srgbClr val="FFFFFF"/>
                </a:solidFill>
                <a:latin typeface="Calibri" pitchFamily="34" charset="0"/>
                <a:ea typeface="Calibri" pitchFamily="34" charset="-122"/>
                <a:cs typeface="Calibri" pitchFamily="34" charset="-120"/>
              </a:rPr>
              <a:t> = 0</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Düşeyde </a:t>
            </a:r>
            <a:pPr indent="0" marL="0">
              <a:buNone/>
            </a:pPr>
            <a:r>
              <a:rPr lang="en-US" sz="1500" b="1" dirty="0">
                <a:solidFill>
                  <a:srgbClr val="FFFFFF"/>
                </a:solidFill>
                <a:latin typeface="Calibri" pitchFamily="34" charset="0"/>
                <a:ea typeface="Calibri" pitchFamily="34" charset="-122"/>
                <a:cs typeface="Calibri" pitchFamily="34" charset="-120"/>
              </a:rPr>
              <a:t>a</a:t>
            </a:r>
            <a:pPr indent="0" marL="0">
              <a:buNone/>
            </a:pPr>
            <a:r>
              <a:rPr lang="en-US" sz="1500" b="1" baseline="-40000" dirty="0">
                <a:solidFill>
                  <a:srgbClr val="FFFFFF"/>
                </a:solidFill>
                <a:latin typeface="Calibri" pitchFamily="34" charset="0"/>
                <a:ea typeface="Calibri" pitchFamily="34" charset="-122"/>
                <a:cs typeface="Calibri" pitchFamily="34" charset="-120"/>
              </a:rPr>
              <a:t>y</a:t>
            </a:r>
            <a:pPr indent="0" marL="0">
              <a:buNone/>
            </a:pPr>
            <a:r>
              <a:rPr lang="en-US" sz="1500" b="1" dirty="0">
                <a:solidFill>
                  <a:srgbClr val="FFFFFF"/>
                </a:solidFill>
                <a:latin typeface="Calibri" pitchFamily="34" charset="0"/>
                <a:ea typeface="Calibri" pitchFamily="34" charset="-122"/>
                <a:cs typeface="Calibri" pitchFamily="34" charset="-120"/>
              </a:rPr>
              <a:t> = g</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Yörünge </a:t>
            </a:r>
            <a:pPr indent="0" marL="0">
              <a:buNone/>
            </a:pPr>
            <a:r>
              <a:rPr lang="en-US" sz="1500" b="1" dirty="0">
                <a:solidFill>
                  <a:srgbClr val="FFFFFF"/>
                </a:solidFill>
                <a:latin typeface="Calibri" pitchFamily="34" charset="0"/>
                <a:ea typeface="Calibri" pitchFamily="34" charset="-122"/>
                <a:cs typeface="Calibri" pitchFamily="34" charset="-120"/>
              </a:rPr>
              <a:t>parabol</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En uzun menzil </a:t>
            </a:r>
            <a:pPr indent="0" marL="0">
              <a:buNone/>
            </a:pPr>
            <a:r>
              <a:rPr lang="en-US" sz="1500" b="1" dirty="0">
                <a:solidFill>
                  <a:srgbClr val="FFFFFF"/>
                </a:solidFill>
                <a:latin typeface="Calibri" pitchFamily="34" charset="0"/>
                <a:ea typeface="Calibri" pitchFamily="34" charset="-122"/>
                <a:cs typeface="Calibri" pitchFamily="34" charset="-120"/>
              </a:rPr>
              <a:t>45°</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85166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x = v₀·cosα · t</a:t>
            </a:r>
            <a:endParaRPr lang="en-US" sz="1350" dirty="0"/>
          </a:p>
        </p:txBody>
      </p:sp>
      <p:sp>
        <p:nvSpPr>
          <p:cNvPr id="16" name="Text 14"/>
          <p:cNvSpPr txBox="1"/>
          <p:nvPr/>
        </p:nvSpPr>
        <p:spPr>
          <a:xfrm>
            <a:off x="8572500" y="2395728"/>
            <a:ext cx="279623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yatayda sabit hız</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2692908"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y = v₀·sinα · t − ½g·t²</a:t>
            </a:r>
            <a:endParaRPr lang="en-US" sz="1350" dirty="0"/>
          </a:p>
        </p:txBody>
      </p:sp>
      <p:sp>
        <p:nvSpPr>
          <p:cNvPr id="19" name="Text 17"/>
          <p:cNvSpPr txBox="1"/>
          <p:nvPr/>
        </p:nvSpPr>
        <p:spPr>
          <a:xfrm>
            <a:off x="9413748" y="3218688"/>
            <a:ext cx="1954987"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düşeyde sabit ivme</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206197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R = v₀²·sin2α / g</a:t>
            </a:r>
            <a:endParaRPr lang="en-US" sz="1350" dirty="0"/>
          </a:p>
        </p:txBody>
      </p:sp>
      <p:sp>
        <p:nvSpPr>
          <p:cNvPr id="22" name="Text 20"/>
          <p:cNvSpPr txBox="1"/>
          <p:nvPr/>
        </p:nvSpPr>
        <p:spPr>
          <a:xfrm>
            <a:off x="8782812" y="4041648"/>
            <a:ext cx="258592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aynı yükseklikte menzil</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23774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h = v₀²·sin²α / (2g)</a:t>
            </a:r>
            <a:endParaRPr lang="en-US" sz="1350" dirty="0"/>
          </a:p>
        </p:txBody>
      </p:sp>
      <p:sp>
        <p:nvSpPr>
          <p:cNvPr id="25" name="Text 23"/>
          <p:cNvSpPr txBox="1"/>
          <p:nvPr/>
        </p:nvSpPr>
        <p:spPr>
          <a:xfrm>
            <a:off x="9098280" y="4864608"/>
            <a:ext cx="22704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tepe yüksekliği</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dersler.perinet.org/iki-boyutta-hareket.html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03 · Newton'un hareket yasaları</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152</Slides>
  <Notes>152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152</vt:i4>
      </vt:variant>
    </vt:vector>
  </HeadingPairs>
  <TitlesOfParts>
    <vt:vector size="1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İki boyutta sabit ivmeli hareket — Dersler</dc:title>
  <dc:subject>Fizik · Kuvvet ve Hareket</dc:subject>
  <dc:creator>Dersler</dc:creator>
  <cp:lastModifiedBy>Dersler</cp:lastModifiedBy>
  <cp:revision>1</cp:revision>
  <dcterms:created xsi:type="dcterms:W3CDTF">2026-09-30T12:20:24Z</dcterms:created>
  <dcterms:modified xsi:type="dcterms:W3CDTF">2026-09-30T12:20:24Z</dcterms:modified>
</cp:coreProperties>
</file>