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45 m'den 20 m/s ile yatay atış (g = 10 m/s²)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yörünge</c:v>
                </c:pt>
              </c:strCache>
            </c:strRef>
          </c:tx>
          <c:spPr>
            <a:solidFill>
              <a:srgbClr val="A56209"/>
            </a:solidFill>
            <a:ln w="3810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1.5</c:v>
                </c:pt>
                <c:pt idx="2">
                  <c:v>3</c:v>
                </c:pt>
                <c:pt idx="3">
                  <c:v>4.5</c:v>
                </c:pt>
                <c:pt idx="4">
                  <c:v>6</c:v>
                </c:pt>
                <c:pt idx="5">
                  <c:v>7.5</c:v>
                </c:pt>
                <c:pt idx="6">
                  <c:v>9</c:v>
                </c:pt>
                <c:pt idx="7">
                  <c:v>10.5</c:v>
                </c:pt>
                <c:pt idx="8">
                  <c:v>12</c:v>
                </c:pt>
                <c:pt idx="9">
                  <c:v>13.5</c:v>
                </c:pt>
                <c:pt idx="10">
                  <c:v>15</c:v>
                </c:pt>
                <c:pt idx="11">
                  <c:v>16.5</c:v>
                </c:pt>
                <c:pt idx="12">
                  <c:v>18</c:v>
                </c:pt>
                <c:pt idx="13">
                  <c:v>19.5</c:v>
                </c:pt>
                <c:pt idx="14">
                  <c:v>21</c:v>
                </c:pt>
                <c:pt idx="15">
                  <c:v>22.5</c:v>
                </c:pt>
                <c:pt idx="16">
                  <c:v>24</c:v>
                </c:pt>
                <c:pt idx="17">
                  <c:v>25.5</c:v>
                </c:pt>
                <c:pt idx="18">
                  <c:v>27</c:v>
                </c:pt>
                <c:pt idx="19">
                  <c:v>28.5</c:v>
                </c:pt>
                <c:pt idx="20">
                  <c:v>30</c:v>
                </c:pt>
                <c:pt idx="21">
                  <c:v>31.5</c:v>
                </c:pt>
                <c:pt idx="22">
                  <c:v>33</c:v>
                </c:pt>
                <c:pt idx="23">
                  <c:v>34.5</c:v>
                </c:pt>
                <c:pt idx="24">
                  <c:v>36</c:v>
                </c:pt>
                <c:pt idx="25">
                  <c:v>37.5</c:v>
                </c:pt>
                <c:pt idx="26">
                  <c:v>39</c:v>
                </c:pt>
                <c:pt idx="27">
                  <c:v>40.5</c:v>
                </c:pt>
                <c:pt idx="28">
                  <c:v>42</c:v>
                </c:pt>
                <c:pt idx="29">
                  <c:v>43.5</c:v>
                </c:pt>
                <c:pt idx="30">
                  <c:v>45</c:v>
                </c:pt>
                <c:pt idx="31">
                  <c:v>46.5</c:v>
                </c:pt>
                <c:pt idx="32">
                  <c:v>48</c:v>
                </c:pt>
                <c:pt idx="33">
                  <c:v>49.5</c:v>
                </c:pt>
                <c:pt idx="34">
                  <c:v>51</c:v>
                </c:pt>
                <c:pt idx="35">
                  <c:v>52.5</c:v>
                </c:pt>
                <c:pt idx="36">
                  <c:v>54</c:v>
                </c:pt>
                <c:pt idx="37">
                  <c:v>55.5</c:v>
                </c:pt>
                <c:pt idx="38">
                  <c:v>57</c:v>
                </c:pt>
                <c:pt idx="39">
                  <c:v>58.5</c:v>
                </c:pt>
                <c:pt idx="40">
                  <c:v>60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45</c:v>
                </c:pt>
                <c:pt idx="1">
                  <c:v>44.97</c:v>
                </c:pt>
                <c:pt idx="2">
                  <c:v>44.89</c:v>
                </c:pt>
                <c:pt idx="3">
                  <c:v>44.75</c:v>
                </c:pt>
                <c:pt idx="4">
                  <c:v>44.55</c:v>
                </c:pt>
                <c:pt idx="5">
                  <c:v>44.3</c:v>
                </c:pt>
                <c:pt idx="6">
                  <c:v>43.99</c:v>
                </c:pt>
                <c:pt idx="7">
                  <c:v>43.62</c:v>
                </c:pt>
                <c:pt idx="8">
                  <c:v>43.2</c:v>
                </c:pt>
                <c:pt idx="9">
                  <c:v>42.72</c:v>
                </c:pt>
                <c:pt idx="10">
                  <c:v>42.19</c:v>
                </c:pt>
                <c:pt idx="11">
                  <c:v>41.6</c:v>
                </c:pt>
                <c:pt idx="12">
                  <c:v>40.95</c:v>
                </c:pt>
                <c:pt idx="13">
                  <c:v>40.25</c:v>
                </c:pt>
                <c:pt idx="14">
                  <c:v>39.49</c:v>
                </c:pt>
                <c:pt idx="15">
                  <c:v>38.67</c:v>
                </c:pt>
                <c:pt idx="16">
                  <c:v>37.8</c:v>
                </c:pt>
                <c:pt idx="17">
                  <c:v>36.87</c:v>
                </c:pt>
                <c:pt idx="18">
                  <c:v>35.89</c:v>
                </c:pt>
                <c:pt idx="19">
                  <c:v>34.85</c:v>
                </c:pt>
                <c:pt idx="20">
                  <c:v>33.75</c:v>
                </c:pt>
                <c:pt idx="21">
                  <c:v>32.6</c:v>
                </c:pt>
                <c:pt idx="22">
                  <c:v>31.39</c:v>
                </c:pt>
                <c:pt idx="23">
                  <c:v>30.12</c:v>
                </c:pt>
                <c:pt idx="24">
                  <c:v>28.8</c:v>
                </c:pt>
                <c:pt idx="25">
                  <c:v>27.42</c:v>
                </c:pt>
                <c:pt idx="26">
                  <c:v>25.99</c:v>
                </c:pt>
                <c:pt idx="27">
                  <c:v>24.5</c:v>
                </c:pt>
                <c:pt idx="28">
                  <c:v>22.95</c:v>
                </c:pt>
                <c:pt idx="29">
                  <c:v>21.35</c:v>
                </c:pt>
                <c:pt idx="30">
                  <c:v>19.69</c:v>
                </c:pt>
                <c:pt idx="31">
                  <c:v>17.97</c:v>
                </c:pt>
                <c:pt idx="32">
                  <c:v>16.2</c:v>
                </c:pt>
                <c:pt idx="33">
                  <c:v>14.37</c:v>
                </c:pt>
                <c:pt idx="34">
                  <c:v>12.49</c:v>
                </c:pt>
                <c:pt idx="35">
                  <c:v>10.55</c:v>
                </c:pt>
                <c:pt idx="36">
                  <c:v>8.55</c:v>
                </c:pt>
                <c:pt idx="37">
                  <c:v>6.5</c:v>
                </c:pt>
                <c:pt idx="38">
                  <c:v>4.39</c:v>
                </c:pt>
                <c:pt idx="39">
                  <c:v>2.22</c:v>
                </c:pt>
                <c:pt idx="40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yatay uzaklık x (m)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yükseklik y (m)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Yörünge: tepe noktası 20 m, menzil 60 m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yörünge</c:v>
                </c:pt>
              </c:strCache>
            </c:strRef>
          </c:tx>
          <c:spPr>
            <a:solidFill>
              <a:srgbClr val="2A5FD6"/>
            </a:solidFill>
            <a:ln w="3810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1.5</c:v>
                </c:pt>
                <c:pt idx="2">
                  <c:v>3</c:v>
                </c:pt>
                <c:pt idx="3">
                  <c:v>4.5</c:v>
                </c:pt>
                <c:pt idx="4">
                  <c:v>6</c:v>
                </c:pt>
                <c:pt idx="5">
                  <c:v>7.5</c:v>
                </c:pt>
                <c:pt idx="6">
                  <c:v>9</c:v>
                </c:pt>
                <c:pt idx="7">
                  <c:v>10.5</c:v>
                </c:pt>
                <c:pt idx="8">
                  <c:v>12</c:v>
                </c:pt>
                <c:pt idx="9">
                  <c:v>13.5</c:v>
                </c:pt>
                <c:pt idx="10">
                  <c:v>15</c:v>
                </c:pt>
                <c:pt idx="11">
                  <c:v>16.5</c:v>
                </c:pt>
                <c:pt idx="12">
                  <c:v>18</c:v>
                </c:pt>
                <c:pt idx="13">
                  <c:v>19.5</c:v>
                </c:pt>
                <c:pt idx="14">
                  <c:v>21</c:v>
                </c:pt>
                <c:pt idx="15">
                  <c:v>22.5</c:v>
                </c:pt>
                <c:pt idx="16">
                  <c:v>24</c:v>
                </c:pt>
                <c:pt idx="17">
                  <c:v>25.5</c:v>
                </c:pt>
                <c:pt idx="18">
                  <c:v>27</c:v>
                </c:pt>
                <c:pt idx="19">
                  <c:v>28.5</c:v>
                </c:pt>
                <c:pt idx="20">
                  <c:v>30</c:v>
                </c:pt>
                <c:pt idx="21">
                  <c:v>31.5</c:v>
                </c:pt>
                <c:pt idx="22">
                  <c:v>33</c:v>
                </c:pt>
                <c:pt idx="23">
                  <c:v>34.5</c:v>
                </c:pt>
                <c:pt idx="24">
                  <c:v>36</c:v>
                </c:pt>
                <c:pt idx="25">
                  <c:v>37.5</c:v>
                </c:pt>
                <c:pt idx="26">
                  <c:v>39</c:v>
                </c:pt>
                <c:pt idx="27">
                  <c:v>40.5</c:v>
                </c:pt>
                <c:pt idx="28">
                  <c:v>42</c:v>
                </c:pt>
                <c:pt idx="29">
                  <c:v>43.5</c:v>
                </c:pt>
                <c:pt idx="30">
                  <c:v>45</c:v>
                </c:pt>
                <c:pt idx="31">
                  <c:v>46.5</c:v>
                </c:pt>
                <c:pt idx="32">
                  <c:v>48</c:v>
                </c:pt>
                <c:pt idx="33">
                  <c:v>49.5</c:v>
                </c:pt>
                <c:pt idx="34">
                  <c:v>51</c:v>
                </c:pt>
                <c:pt idx="35">
                  <c:v>52.5</c:v>
                </c:pt>
                <c:pt idx="36">
                  <c:v>54</c:v>
                </c:pt>
                <c:pt idx="37">
                  <c:v>55.5</c:v>
                </c:pt>
                <c:pt idx="38">
                  <c:v>57</c:v>
                </c:pt>
                <c:pt idx="39">
                  <c:v>58.5</c:v>
                </c:pt>
                <c:pt idx="40">
                  <c:v>60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1.95</c:v>
                </c:pt>
                <c:pt idx="2">
                  <c:v>3.8</c:v>
                </c:pt>
                <c:pt idx="3">
                  <c:v>5.55</c:v>
                </c:pt>
                <c:pt idx="4">
                  <c:v>7.2</c:v>
                </c:pt>
                <c:pt idx="5">
                  <c:v>8.75</c:v>
                </c:pt>
                <c:pt idx="6">
                  <c:v>10.2</c:v>
                </c:pt>
                <c:pt idx="7">
                  <c:v>11.55</c:v>
                </c:pt>
                <c:pt idx="8">
                  <c:v>12.8</c:v>
                </c:pt>
                <c:pt idx="9">
                  <c:v>13.95</c:v>
                </c:pt>
                <c:pt idx="10">
                  <c:v>15</c:v>
                </c:pt>
                <c:pt idx="11">
                  <c:v>15.95</c:v>
                </c:pt>
                <c:pt idx="12">
                  <c:v>16.8</c:v>
                </c:pt>
                <c:pt idx="13">
                  <c:v>17.55</c:v>
                </c:pt>
                <c:pt idx="14">
                  <c:v>18.2</c:v>
                </c:pt>
                <c:pt idx="15">
                  <c:v>18.75</c:v>
                </c:pt>
                <c:pt idx="16">
                  <c:v>19.2</c:v>
                </c:pt>
                <c:pt idx="17">
                  <c:v>19.55</c:v>
                </c:pt>
                <c:pt idx="18">
                  <c:v>19.8</c:v>
                </c:pt>
                <c:pt idx="19">
                  <c:v>19.95</c:v>
                </c:pt>
                <c:pt idx="20">
                  <c:v>20</c:v>
                </c:pt>
                <c:pt idx="21">
                  <c:v>19.95</c:v>
                </c:pt>
                <c:pt idx="22">
                  <c:v>19.8</c:v>
                </c:pt>
                <c:pt idx="23">
                  <c:v>19.55</c:v>
                </c:pt>
                <c:pt idx="24">
                  <c:v>19.2</c:v>
                </c:pt>
                <c:pt idx="25">
                  <c:v>18.75</c:v>
                </c:pt>
                <c:pt idx="26">
                  <c:v>18.2</c:v>
                </c:pt>
                <c:pt idx="27">
                  <c:v>17.55</c:v>
                </c:pt>
                <c:pt idx="28">
                  <c:v>16.8</c:v>
                </c:pt>
                <c:pt idx="29">
                  <c:v>15.95</c:v>
                </c:pt>
                <c:pt idx="30">
                  <c:v>15</c:v>
                </c:pt>
                <c:pt idx="31">
                  <c:v>13.95</c:v>
                </c:pt>
                <c:pt idx="32">
                  <c:v>12.8</c:v>
                </c:pt>
                <c:pt idx="33">
                  <c:v>11.55</c:v>
                </c:pt>
                <c:pt idx="34">
                  <c:v>10.2</c:v>
                </c:pt>
                <c:pt idx="35">
                  <c:v>8.75</c:v>
                </c:pt>
                <c:pt idx="36">
                  <c:v>7.2</c:v>
                </c:pt>
                <c:pt idx="37">
                  <c:v>5.55</c:v>
                </c:pt>
                <c:pt idx="38">
                  <c:v>3.8</c:v>
                </c:pt>
                <c:pt idx="39">
                  <c:v>1.95</c:v>
                </c:pt>
                <c:pt idx="40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yatay uzaklık x (m)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yükseklik y (m)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Aynı süratle atılan beş cismin yörüngeleri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15°</c:v>
                </c:pt>
              </c:strCache>
            </c:strRef>
          </c:tx>
          <c:spPr>
            <a:solidFill>
              <a:srgbClr val="2A5FD6"/>
            </a:solidFill>
            <a:ln w="3175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Sheet1!$B$2:$B$54</c:f>
              <c:numCache>
                <c:formatCode>General</c:formatCode>
                <c:ptCount val="53"/>
                <c:pt idx="0">
                  <c:v>0</c:v>
                </c:pt>
                <c:pt idx="1">
                  <c:v>0.32</c:v>
                </c:pt>
                <c:pt idx="2">
                  <c:v>0.62</c:v>
                </c:pt>
                <c:pt idx="3">
                  <c:v>0.88</c:v>
                </c:pt>
                <c:pt idx="4">
                  <c:v>1.13</c:v>
                </c:pt>
                <c:pt idx="5">
                  <c:v>1.34</c:v>
                </c:pt>
                <c:pt idx="6">
                  <c:v>1.53</c:v>
                </c:pt>
                <c:pt idx="7">
                  <c:v>1.69</c:v>
                </c:pt>
                <c:pt idx="8">
                  <c:v>1.82</c:v>
                </c:pt>
                <c:pt idx="9">
                  <c:v>1.93</c:v>
                </c:pt>
                <c:pt idx="10">
                  <c:v>2.01</c:v>
                </c:pt>
                <c:pt idx="11">
                  <c:v>2.06</c:v>
                </c:pt>
                <c:pt idx="12">
                  <c:v>2.09</c:v>
                </c:pt>
                <c:pt idx="13">
                  <c:v>2.09</c:v>
                </c:pt>
                <c:pt idx="14">
                  <c:v>2.06</c:v>
                </c:pt>
                <c:pt idx="15">
                  <c:v>2.01</c:v>
                </c:pt>
                <c:pt idx="16">
                  <c:v>1.93</c:v>
                </c:pt>
                <c:pt idx="17">
                  <c:v>1.82</c:v>
                </c:pt>
                <c:pt idx="18">
                  <c:v>1.69</c:v>
                </c:pt>
                <c:pt idx="19">
                  <c:v>1.53</c:v>
                </c:pt>
                <c:pt idx="20">
                  <c:v>1.34</c:v>
                </c:pt>
                <c:pt idx="21">
                  <c:v>1.13</c:v>
                </c:pt>
                <c:pt idx="22">
                  <c:v>0.88</c:v>
                </c:pt>
                <c:pt idx="23">
                  <c:v>0.62</c:v>
                </c:pt>
                <c:pt idx="24">
                  <c:v>0.32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30°</c:v>
                </c:pt>
              </c:strCache>
            </c:strRef>
          </c:tx>
          <c:spPr>
            <a:solidFill>
              <a:srgbClr val="3C8C21"/>
            </a:solidFill>
            <a:ln w="31750" cap="flat">
              <a:solidFill>
                <a:srgbClr val="3C8C21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3C8C21"/>
              </a:solidFill>
              <a:ln w="9525" cap="flat">
                <a:solidFill>
                  <a:srgbClr val="3C8C21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Sheet1!$C$2:$C$54</c:f>
              <c:numCache>
                <c:formatCode>General</c:formatCode>
                <c:ptCount val="53"/>
                <c:pt idx="0">
                  <c:v>0</c:v>
                </c:pt>
                <c:pt idx="1">
                  <c:v>0.71</c:v>
                </c:pt>
                <c:pt idx="2">
                  <c:v>1.38</c:v>
                </c:pt>
                <c:pt idx="3">
                  <c:v>2.02</c:v>
                </c:pt>
                <c:pt idx="4">
                  <c:v>2.62</c:v>
                </c:pt>
                <c:pt idx="5">
                  <c:v>3.19</c:v>
                </c:pt>
                <c:pt idx="6">
                  <c:v>3.73</c:v>
                </c:pt>
                <c:pt idx="7">
                  <c:v>4.24</c:v>
                </c:pt>
                <c:pt idx="8">
                  <c:v>4.71</c:v>
                </c:pt>
                <c:pt idx="9">
                  <c:v>5.15</c:v>
                </c:pt>
                <c:pt idx="10">
                  <c:v>5.55</c:v>
                </c:pt>
                <c:pt idx="11">
                  <c:v>5.92</c:v>
                </c:pt>
                <c:pt idx="12">
                  <c:v>6.26</c:v>
                </c:pt>
                <c:pt idx="13">
                  <c:v>6.57</c:v>
                </c:pt>
                <c:pt idx="14">
                  <c:v>6.84</c:v>
                </c:pt>
                <c:pt idx="15">
                  <c:v>7.08</c:v>
                </c:pt>
                <c:pt idx="16">
                  <c:v>7.28</c:v>
                </c:pt>
                <c:pt idx="17">
                  <c:v>7.45</c:v>
                </c:pt>
                <c:pt idx="18">
                  <c:v>7.59</c:v>
                </c:pt>
                <c:pt idx="19">
                  <c:v>7.7</c:v>
                </c:pt>
                <c:pt idx="20">
                  <c:v>7.77</c:v>
                </c:pt>
                <c:pt idx="21">
                  <c:v>7.81</c:v>
                </c:pt>
                <c:pt idx="22">
                  <c:v>7.81</c:v>
                </c:pt>
                <c:pt idx="23">
                  <c:v>7.78</c:v>
                </c:pt>
                <c:pt idx="24">
                  <c:v>7.72</c:v>
                </c:pt>
                <c:pt idx="25">
                  <c:v>7.63</c:v>
                </c:pt>
                <c:pt idx="26">
                  <c:v>7.5</c:v>
                </c:pt>
                <c:pt idx="27">
                  <c:v>7.34</c:v>
                </c:pt>
                <c:pt idx="28">
                  <c:v>7.14</c:v>
                </c:pt>
                <c:pt idx="29">
                  <c:v>6.91</c:v>
                </c:pt>
                <c:pt idx="30">
                  <c:v>6.65</c:v>
                </c:pt>
                <c:pt idx="31">
                  <c:v>6.36</c:v>
                </c:pt>
                <c:pt idx="32">
                  <c:v>6.03</c:v>
                </c:pt>
                <c:pt idx="33">
                  <c:v>5.67</c:v>
                </c:pt>
                <c:pt idx="34">
                  <c:v>5.27</c:v>
                </c:pt>
                <c:pt idx="35">
                  <c:v>4.84</c:v>
                </c:pt>
                <c:pt idx="36">
                  <c:v>4.38</c:v>
                </c:pt>
                <c:pt idx="37">
                  <c:v>3.89</c:v>
                </c:pt>
                <c:pt idx="38">
                  <c:v>3.36</c:v>
                </c:pt>
                <c:pt idx="39">
                  <c:v>2.8</c:v>
                </c:pt>
                <c:pt idx="40">
                  <c:v>2.2</c:v>
                </c:pt>
                <c:pt idx="41">
                  <c:v>1.57</c:v>
                </c:pt>
                <c:pt idx="42">
                  <c:v>0.91</c:v>
                </c:pt>
                <c:pt idx="43">
                  <c:v>0.22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45°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Sheet1!$D$2:$D$54</c:f>
              <c:numCache>
                <c:formatCode>General</c:formatCode>
                <c:ptCount val="53"/>
                <c:pt idx="0">
                  <c:v>0</c:v>
                </c:pt>
                <c:pt idx="1">
                  <c:v>1.22</c:v>
                </c:pt>
                <c:pt idx="2">
                  <c:v>2.4</c:v>
                </c:pt>
                <c:pt idx="3">
                  <c:v>3.52</c:v>
                </c:pt>
                <c:pt idx="4">
                  <c:v>4.6</c:v>
                </c:pt>
                <c:pt idx="5">
                  <c:v>5.62</c:v>
                </c:pt>
                <c:pt idx="6">
                  <c:v>6.6</c:v>
                </c:pt>
                <c:pt idx="7">
                  <c:v>7.52</c:v>
                </c:pt>
                <c:pt idx="8">
                  <c:v>8.4</c:v>
                </c:pt>
                <c:pt idx="9">
                  <c:v>9.22</c:v>
                </c:pt>
                <c:pt idx="10">
                  <c:v>10</c:v>
                </c:pt>
                <c:pt idx="11">
                  <c:v>10.72</c:v>
                </c:pt>
                <c:pt idx="12">
                  <c:v>11.4</c:v>
                </c:pt>
                <c:pt idx="13">
                  <c:v>12.02</c:v>
                </c:pt>
                <c:pt idx="14">
                  <c:v>12.6</c:v>
                </c:pt>
                <c:pt idx="15">
                  <c:v>13.12</c:v>
                </c:pt>
                <c:pt idx="16">
                  <c:v>13.6</c:v>
                </c:pt>
                <c:pt idx="17">
                  <c:v>14.02</c:v>
                </c:pt>
                <c:pt idx="18">
                  <c:v>14.4</c:v>
                </c:pt>
                <c:pt idx="19">
                  <c:v>14.72</c:v>
                </c:pt>
                <c:pt idx="20">
                  <c:v>15</c:v>
                </c:pt>
                <c:pt idx="21">
                  <c:v>15.22</c:v>
                </c:pt>
                <c:pt idx="22">
                  <c:v>15.4</c:v>
                </c:pt>
                <c:pt idx="23">
                  <c:v>15.52</c:v>
                </c:pt>
                <c:pt idx="24">
                  <c:v>15.6</c:v>
                </c:pt>
                <c:pt idx="25">
                  <c:v>15.63</c:v>
                </c:pt>
                <c:pt idx="26">
                  <c:v>15.6</c:v>
                </c:pt>
                <c:pt idx="27">
                  <c:v>15.52</c:v>
                </c:pt>
                <c:pt idx="28">
                  <c:v>15.4</c:v>
                </c:pt>
                <c:pt idx="29">
                  <c:v>15.22</c:v>
                </c:pt>
                <c:pt idx="30">
                  <c:v>15</c:v>
                </c:pt>
                <c:pt idx="31">
                  <c:v>14.72</c:v>
                </c:pt>
                <c:pt idx="32">
                  <c:v>14.4</c:v>
                </c:pt>
                <c:pt idx="33">
                  <c:v>14.02</c:v>
                </c:pt>
                <c:pt idx="34">
                  <c:v>13.6</c:v>
                </c:pt>
                <c:pt idx="35">
                  <c:v>13.13</c:v>
                </c:pt>
                <c:pt idx="36">
                  <c:v>12.6</c:v>
                </c:pt>
                <c:pt idx="37">
                  <c:v>12.02</c:v>
                </c:pt>
                <c:pt idx="38">
                  <c:v>11.4</c:v>
                </c:pt>
                <c:pt idx="39">
                  <c:v>10.73</c:v>
                </c:pt>
                <c:pt idx="40">
                  <c:v>10</c:v>
                </c:pt>
                <c:pt idx="41">
                  <c:v>9.23</c:v>
                </c:pt>
                <c:pt idx="42">
                  <c:v>8.4</c:v>
                </c:pt>
                <c:pt idx="43">
                  <c:v>7.52</c:v>
                </c:pt>
                <c:pt idx="44">
                  <c:v>6.6</c:v>
                </c:pt>
                <c:pt idx="45">
                  <c:v>5.63</c:v>
                </c:pt>
                <c:pt idx="46">
                  <c:v>4.6</c:v>
                </c:pt>
                <c:pt idx="47">
                  <c:v>3.53</c:v>
                </c:pt>
                <c:pt idx="48">
                  <c:v>2.4</c:v>
                </c:pt>
                <c:pt idx="49">
                  <c:v>1.23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60°</c:v>
                </c:pt>
              </c:strCache>
            </c:strRef>
          </c:tx>
          <c:spPr>
            <a:solidFill>
              <a:srgbClr val="A56209"/>
            </a:solidFill>
            <a:ln w="3175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Sheet1!$E$2:$E$54</c:f>
              <c:numCache>
                <c:formatCode>General</c:formatCode>
                <c:ptCount val="53"/>
                <c:pt idx="0">
                  <c:v>0</c:v>
                </c:pt>
                <c:pt idx="1">
                  <c:v>2.12</c:v>
                </c:pt>
                <c:pt idx="2">
                  <c:v>4.13</c:v>
                </c:pt>
                <c:pt idx="3">
                  <c:v>6.05</c:v>
                </c:pt>
                <c:pt idx="4">
                  <c:v>7.86</c:v>
                </c:pt>
                <c:pt idx="5">
                  <c:v>9.58</c:v>
                </c:pt>
                <c:pt idx="6">
                  <c:v>11.19</c:v>
                </c:pt>
                <c:pt idx="7">
                  <c:v>12.71</c:v>
                </c:pt>
                <c:pt idx="8">
                  <c:v>14.12</c:v>
                </c:pt>
                <c:pt idx="9">
                  <c:v>15.44</c:v>
                </c:pt>
                <c:pt idx="10">
                  <c:v>16.65</c:v>
                </c:pt>
                <c:pt idx="11">
                  <c:v>17.77</c:v>
                </c:pt>
                <c:pt idx="12">
                  <c:v>18.78</c:v>
                </c:pt>
                <c:pt idx="13">
                  <c:v>19.7</c:v>
                </c:pt>
                <c:pt idx="14">
                  <c:v>20.51</c:v>
                </c:pt>
                <c:pt idx="15">
                  <c:v>21.23</c:v>
                </c:pt>
                <c:pt idx="16">
                  <c:v>21.84</c:v>
                </c:pt>
                <c:pt idx="17">
                  <c:v>22.36</c:v>
                </c:pt>
                <c:pt idx="18">
                  <c:v>22.77</c:v>
                </c:pt>
                <c:pt idx="19">
                  <c:v>23.09</c:v>
                </c:pt>
                <c:pt idx="20">
                  <c:v>23.3</c:v>
                </c:pt>
                <c:pt idx="21">
                  <c:v>23.42</c:v>
                </c:pt>
                <c:pt idx="22">
                  <c:v>23.43</c:v>
                </c:pt>
                <c:pt idx="23">
                  <c:v>23.35</c:v>
                </c:pt>
                <c:pt idx="24">
                  <c:v>23.16</c:v>
                </c:pt>
                <c:pt idx="25">
                  <c:v>22.88</c:v>
                </c:pt>
                <c:pt idx="26">
                  <c:v>22.49</c:v>
                </c:pt>
                <c:pt idx="27">
                  <c:v>22.01</c:v>
                </c:pt>
                <c:pt idx="28">
                  <c:v>21.42</c:v>
                </c:pt>
                <c:pt idx="29">
                  <c:v>20.74</c:v>
                </c:pt>
                <c:pt idx="30">
                  <c:v>19.95</c:v>
                </c:pt>
                <c:pt idx="31">
                  <c:v>19.07</c:v>
                </c:pt>
                <c:pt idx="32">
                  <c:v>18.08</c:v>
                </c:pt>
                <c:pt idx="33">
                  <c:v>17</c:v>
                </c:pt>
                <c:pt idx="34">
                  <c:v>15.81</c:v>
                </c:pt>
                <c:pt idx="35">
                  <c:v>14.53</c:v>
                </c:pt>
                <c:pt idx="36">
                  <c:v>13.14</c:v>
                </c:pt>
                <c:pt idx="37">
                  <c:v>11.66</c:v>
                </c:pt>
                <c:pt idx="38">
                  <c:v>10.07</c:v>
                </c:pt>
                <c:pt idx="39">
                  <c:v>8.39</c:v>
                </c:pt>
                <c:pt idx="40">
                  <c:v>6.6</c:v>
                </c:pt>
                <c:pt idx="41">
                  <c:v>4.72</c:v>
                </c:pt>
                <c:pt idx="42">
                  <c:v>2.73</c:v>
                </c:pt>
                <c:pt idx="43">
                  <c:v>0.65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75°</c:v>
                </c:pt>
              </c:strCache>
            </c:strRef>
          </c:tx>
          <c:spPr>
            <a:solidFill>
              <a:srgbClr val="C53455"/>
            </a:solidFill>
            <a:ln w="31750" cap="flat">
              <a:solidFill>
                <a:srgbClr val="C53455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C53455"/>
              </a:solidFill>
              <a:ln w="9525" cap="flat">
                <a:solidFill>
                  <a:srgbClr val="C53455"/>
                </a:solidFill>
                <a:prstDash val="solid"/>
                <a:round/>
              </a:ln>
              <a:effectLst/>
            </c:spPr>
          </c:marker>
          <c:xVal>
            <c:numRef>
              <c:f>Sheet1!$A$2:$A$54</c:f>
              <c:numCache>
                <c:formatCode>General</c:formatCode>
                <c:ptCount val="53"/>
                <c:pt idx="0">
                  <c:v>0</c:v>
                </c:pt>
                <c:pt idx="1">
                  <c:v>1.25</c:v>
                </c:pt>
                <c:pt idx="2">
                  <c:v>2.5</c:v>
                </c:pt>
                <c:pt idx="3">
                  <c:v>3.75</c:v>
                </c:pt>
                <c:pt idx="4">
                  <c:v>5</c:v>
                </c:pt>
                <c:pt idx="5">
                  <c:v>6.25</c:v>
                </c:pt>
                <c:pt idx="6">
                  <c:v>7.5</c:v>
                </c:pt>
                <c:pt idx="7">
                  <c:v>8.75</c:v>
                </c:pt>
                <c:pt idx="8">
                  <c:v>10</c:v>
                </c:pt>
                <c:pt idx="9">
                  <c:v>11.25</c:v>
                </c:pt>
                <c:pt idx="10">
                  <c:v>12.5</c:v>
                </c:pt>
                <c:pt idx="11">
                  <c:v>13.75</c:v>
                </c:pt>
                <c:pt idx="12">
                  <c:v>15</c:v>
                </c:pt>
                <c:pt idx="13">
                  <c:v>16.25</c:v>
                </c:pt>
                <c:pt idx="14">
                  <c:v>17.5</c:v>
                </c:pt>
                <c:pt idx="15">
                  <c:v>18.75</c:v>
                </c:pt>
                <c:pt idx="16">
                  <c:v>20</c:v>
                </c:pt>
                <c:pt idx="17">
                  <c:v>21.25</c:v>
                </c:pt>
                <c:pt idx="18">
                  <c:v>22.5</c:v>
                </c:pt>
                <c:pt idx="19">
                  <c:v>23.75</c:v>
                </c:pt>
                <c:pt idx="20">
                  <c:v>25</c:v>
                </c:pt>
                <c:pt idx="21">
                  <c:v>26.25</c:v>
                </c:pt>
                <c:pt idx="22">
                  <c:v>27.5</c:v>
                </c:pt>
                <c:pt idx="23">
                  <c:v>28.75</c:v>
                </c:pt>
                <c:pt idx="24">
                  <c:v>30</c:v>
                </c:pt>
                <c:pt idx="25">
                  <c:v>31.25</c:v>
                </c:pt>
                <c:pt idx="26">
                  <c:v>32.5</c:v>
                </c:pt>
                <c:pt idx="27">
                  <c:v>33.75</c:v>
                </c:pt>
                <c:pt idx="28">
                  <c:v>35</c:v>
                </c:pt>
                <c:pt idx="29">
                  <c:v>36.25</c:v>
                </c:pt>
                <c:pt idx="30">
                  <c:v>37.5</c:v>
                </c:pt>
                <c:pt idx="31">
                  <c:v>38.75</c:v>
                </c:pt>
                <c:pt idx="32">
                  <c:v>40</c:v>
                </c:pt>
                <c:pt idx="33">
                  <c:v>41.25</c:v>
                </c:pt>
                <c:pt idx="34">
                  <c:v>42.5</c:v>
                </c:pt>
                <c:pt idx="35">
                  <c:v>43.75</c:v>
                </c:pt>
                <c:pt idx="36">
                  <c:v>45</c:v>
                </c:pt>
                <c:pt idx="37">
                  <c:v>46.25</c:v>
                </c:pt>
                <c:pt idx="38">
                  <c:v>47.5</c:v>
                </c:pt>
                <c:pt idx="39">
                  <c:v>48.75</c:v>
                </c:pt>
                <c:pt idx="40">
                  <c:v>50</c:v>
                </c:pt>
                <c:pt idx="41">
                  <c:v>51.25</c:v>
                </c:pt>
                <c:pt idx="42">
                  <c:v>52.5</c:v>
                </c:pt>
                <c:pt idx="43">
                  <c:v>53.75</c:v>
                </c:pt>
                <c:pt idx="44">
                  <c:v>55</c:v>
                </c:pt>
                <c:pt idx="45">
                  <c:v>56.25</c:v>
                </c:pt>
                <c:pt idx="46">
                  <c:v>57.5</c:v>
                </c:pt>
                <c:pt idx="47">
                  <c:v>58.75</c:v>
                </c:pt>
                <c:pt idx="48">
                  <c:v>60</c:v>
                </c:pt>
                <c:pt idx="49">
                  <c:v>61.25</c:v>
                </c:pt>
                <c:pt idx="50">
                  <c:v>62.5</c:v>
                </c:pt>
                <c:pt idx="51">
                  <c:v>63.75</c:v>
                </c:pt>
                <c:pt idx="52">
                  <c:v>65</c:v>
                </c:pt>
              </c:numCache>
            </c:numRef>
          </c:xVal>
          <c:yVal>
            <c:numRef>
              <c:f>Sheet1!$F$2:$F$54</c:f>
              <c:numCache>
                <c:formatCode>General</c:formatCode>
                <c:ptCount val="53"/>
                <c:pt idx="0">
                  <c:v>0</c:v>
                </c:pt>
                <c:pt idx="1">
                  <c:v>4.48</c:v>
                </c:pt>
                <c:pt idx="2">
                  <c:v>8.58</c:v>
                </c:pt>
                <c:pt idx="3">
                  <c:v>12.32</c:v>
                </c:pt>
                <c:pt idx="4">
                  <c:v>15.67</c:v>
                </c:pt>
                <c:pt idx="5">
                  <c:v>18.66</c:v>
                </c:pt>
                <c:pt idx="6">
                  <c:v>21.27</c:v>
                </c:pt>
                <c:pt idx="7">
                  <c:v>23.51</c:v>
                </c:pt>
                <c:pt idx="8">
                  <c:v>25.38</c:v>
                </c:pt>
                <c:pt idx="9">
                  <c:v>26.87</c:v>
                </c:pt>
                <c:pt idx="10">
                  <c:v>27.99</c:v>
                </c:pt>
                <c:pt idx="11">
                  <c:v>28.74</c:v>
                </c:pt>
                <c:pt idx="12">
                  <c:v>29.11</c:v>
                </c:pt>
                <c:pt idx="13">
                  <c:v>29.11</c:v>
                </c:pt>
                <c:pt idx="14">
                  <c:v>28.74</c:v>
                </c:pt>
                <c:pt idx="15">
                  <c:v>27.99</c:v>
                </c:pt>
                <c:pt idx="16">
                  <c:v>26.87</c:v>
                </c:pt>
                <c:pt idx="17">
                  <c:v>25.38</c:v>
                </c:pt>
                <c:pt idx="18">
                  <c:v>23.51</c:v>
                </c:pt>
                <c:pt idx="19">
                  <c:v>21.27</c:v>
                </c:pt>
                <c:pt idx="20">
                  <c:v>18.66</c:v>
                </c:pt>
                <c:pt idx="21">
                  <c:v>15.67</c:v>
                </c:pt>
                <c:pt idx="22">
                  <c:v>12.32</c:v>
                </c:pt>
                <c:pt idx="23">
                  <c:v>8.58</c:v>
                </c:pt>
                <c:pt idx="24">
                  <c:v>4.48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menzil (m)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yükseklik (m)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4C577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x – t · yatay konum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 – t · yatay konum</c:v>
                </c:pt>
              </c:strCache>
            </c:strRef>
          </c:tx>
          <c:spPr>
            <a:solidFill>
              <a:srgbClr val="2A5FD6"/>
            </a:solidFill>
            <a:ln w="3556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1.5</c:v>
                </c:pt>
                <c:pt idx="2">
                  <c:v>3</c:v>
                </c:pt>
                <c:pt idx="3">
                  <c:v>4.5</c:v>
                </c:pt>
                <c:pt idx="4">
                  <c:v>6</c:v>
                </c:pt>
                <c:pt idx="5">
                  <c:v>7.5</c:v>
                </c:pt>
                <c:pt idx="6">
                  <c:v>9</c:v>
                </c:pt>
                <c:pt idx="7">
                  <c:v>10.5</c:v>
                </c:pt>
                <c:pt idx="8">
                  <c:v>12</c:v>
                </c:pt>
                <c:pt idx="9">
                  <c:v>13.5</c:v>
                </c:pt>
                <c:pt idx="10">
                  <c:v>15</c:v>
                </c:pt>
                <c:pt idx="11">
                  <c:v>16.5</c:v>
                </c:pt>
                <c:pt idx="12">
                  <c:v>18</c:v>
                </c:pt>
                <c:pt idx="13">
                  <c:v>19.5</c:v>
                </c:pt>
                <c:pt idx="14">
                  <c:v>21</c:v>
                </c:pt>
                <c:pt idx="15">
                  <c:v>22.5</c:v>
                </c:pt>
                <c:pt idx="16">
                  <c:v>24</c:v>
                </c:pt>
                <c:pt idx="17">
                  <c:v>25.5</c:v>
                </c:pt>
                <c:pt idx="18">
                  <c:v>27</c:v>
                </c:pt>
                <c:pt idx="19">
                  <c:v>28.5</c:v>
                </c:pt>
                <c:pt idx="20">
                  <c:v>30</c:v>
                </c:pt>
                <c:pt idx="21">
                  <c:v>31.5</c:v>
                </c:pt>
                <c:pt idx="22">
                  <c:v>33</c:v>
                </c:pt>
                <c:pt idx="23">
                  <c:v>34.5</c:v>
                </c:pt>
                <c:pt idx="24">
                  <c:v>36</c:v>
                </c:pt>
                <c:pt idx="25">
                  <c:v>37.5</c:v>
                </c:pt>
                <c:pt idx="26">
                  <c:v>39</c:v>
                </c:pt>
                <c:pt idx="27">
                  <c:v>40.5</c:v>
                </c:pt>
                <c:pt idx="28">
                  <c:v>42</c:v>
                </c:pt>
                <c:pt idx="29">
                  <c:v>43.5</c:v>
                </c:pt>
                <c:pt idx="30">
                  <c:v>45</c:v>
                </c:pt>
                <c:pt idx="31">
                  <c:v>46.5</c:v>
                </c:pt>
                <c:pt idx="32">
                  <c:v>48</c:v>
                </c:pt>
                <c:pt idx="33">
                  <c:v>49.5</c:v>
                </c:pt>
                <c:pt idx="34">
                  <c:v>51</c:v>
                </c:pt>
                <c:pt idx="35">
                  <c:v>52.5</c:v>
                </c:pt>
                <c:pt idx="36">
                  <c:v>54</c:v>
                </c:pt>
                <c:pt idx="37">
                  <c:v>55.5</c:v>
                </c:pt>
                <c:pt idx="38">
                  <c:v>57</c:v>
                </c:pt>
                <c:pt idx="39">
                  <c:v>58.5</c:v>
                </c:pt>
                <c:pt idx="40">
                  <c:v>60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y – t · yükseklik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 – t · yükseklik</c:v>
                </c:pt>
              </c:strCache>
            </c:strRef>
          </c:tx>
          <c:spPr>
            <a:solidFill>
              <a:srgbClr val="6348D4"/>
            </a:solidFill>
            <a:ln w="3556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1.95</c:v>
                </c:pt>
                <c:pt idx="2">
                  <c:v>3.8</c:v>
                </c:pt>
                <c:pt idx="3">
                  <c:v>5.55</c:v>
                </c:pt>
                <c:pt idx="4">
                  <c:v>7.2</c:v>
                </c:pt>
                <c:pt idx="5">
                  <c:v>8.75</c:v>
                </c:pt>
                <c:pt idx="6">
                  <c:v>10.2</c:v>
                </c:pt>
                <c:pt idx="7">
                  <c:v>11.55</c:v>
                </c:pt>
                <c:pt idx="8">
                  <c:v>12.8</c:v>
                </c:pt>
                <c:pt idx="9">
                  <c:v>13.95</c:v>
                </c:pt>
                <c:pt idx="10">
                  <c:v>15</c:v>
                </c:pt>
                <c:pt idx="11">
                  <c:v>15.95</c:v>
                </c:pt>
                <c:pt idx="12">
                  <c:v>16.8</c:v>
                </c:pt>
                <c:pt idx="13">
                  <c:v>17.55</c:v>
                </c:pt>
                <c:pt idx="14">
                  <c:v>18.2</c:v>
                </c:pt>
                <c:pt idx="15">
                  <c:v>18.75</c:v>
                </c:pt>
                <c:pt idx="16">
                  <c:v>19.2</c:v>
                </c:pt>
                <c:pt idx="17">
                  <c:v>19.55</c:v>
                </c:pt>
                <c:pt idx="18">
                  <c:v>19.8</c:v>
                </c:pt>
                <c:pt idx="19">
                  <c:v>19.95</c:v>
                </c:pt>
                <c:pt idx="20">
                  <c:v>20</c:v>
                </c:pt>
                <c:pt idx="21">
                  <c:v>19.95</c:v>
                </c:pt>
                <c:pt idx="22">
                  <c:v>19.8</c:v>
                </c:pt>
                <c:pt idx="23">
                  <c:v>19.55</c:v>
                </c:pt>
                <c:pt idx="24">
                  <c:v>19.2</c:v>
                </c:pt>
                <c:pt idx="25">
                  <c:v>18.75</c:v>
                </c:pt>
                <c:pt idx="26">
                  <c:v>18.2</c:v>
                </c:pt>
                <c:pt idx="27">
                  <c:v>17.55</c:v>
                </c:pt>
                <c:pt idx="28">
                  <c:v>16.8</c:v>
                </c:pt>
                <c:pt idx="29">
                  <c:v>15.95</c:v>
                </c:pt>
                <c:pt idx="30">
                  <c:v>15</c:v>
                </c:pt>
                <c:pt idx="31">
                  <c:v>13.95</c:v>
                </c:pt>
                <c:pt idx="32">
                  <c:v>12.8</c:v>
                </c:pt>
                <c:pt idx="33">
                  <c:v>11.55</c:v>
                </c:pt>
                <c:pt idx="34">
                  <c:v>10.2</c:v>
                </c:pt>
                <c:pt idx="35">
                  <c:v>8.75</c:v>
                </c:pt>
                <c:pt idx="36">
                  <c:v>7.2</c:v>
                </c:pt>
                <c:pt idx="37">
                  <c:v>5.55</c:v>
                </c:pt>
                <c:pt idx="38">
                  <c:v>3.8</c:v>
                </c:pt>
                <c:pt idx="39">
                  <c:v>1.95</c:v>
                </c:pt>
                <c:pt idx="40">
                  <c:v>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vₓ – t · yatay hız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vₓ – t · yatay hız</c:v>
                </c:pt>
              </c:strCache>
            </c:strRef>
          </c:tx>
          <c:spPr>
            <a:solidFill>
              <a:srgbClr val="3C8C21"/>
            </a:solidFill>
            <a:ln w="35560" cap="flat">
              <a:solidFill>
                <a:srgbClr val="3C8C21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3C8C21"/>
              </a:solidFill>
              <a:ln w="9525" cap="flat">
                <a:solidFill>
                  <a:srgbClr val="3C8C21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15</c:v>
                </c:pt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  <c:pt idx="5">
                  <c:v>15</c:v>
                </c:pt>
                <c:pt idx="6">
                  <c:v>15</c:v>
                </c:pt>
                <c:pt idx="7">
                  <c:v>15</c:v>
                </c:pt>
                <c:pt idx="8">
                  <c:v>15</c:v>
                </c:pt>
                <c:pt idx="9">
                  <c:v>15</c:v>
                </c:pt>
                <c:pt idx="10">
                  <c:v>15</c:v>
                </c:pt>
                <c:pt idx="11">
                  <c:v>15</c:v>
                </c:pt>
                <c:pt idx="12">
                  <c:v>15</c:v>
                </c:pt>
                <c:pt idx="13">
                  <c:v>15</c:v>
                </c:pt>
                <c:pt idx="14">
                  <c:v>15</c:v>
                </c:pt>
                <c:pt idx="15">
                  <c:v>15</c:v>
                </c:pt>
                <c:pt idx="16">
                  <c:v>15</c:v>
                </c:pt>
                <c:pt idx="17">
                  <c:v>15</c:v>
                </c:pt>
                <c:pt idx="18">
                  <c:v>15</c:v>
                </c:pt>
                <c:pt idx="19">
                  <c:v>15</c:v>
                </c:pt>
                <c:pt idx="20">
                  <c:v>15</c:v>
                </c:pt>
                <c:pt idx="21">
                  <c:v>15</c:v>
                </c:pt>
                <c:pt idx="22">
                  <c:v>15</c:v>
                </c:pt>
                <c:pt idx="23">
                  <c:v>15</c:v>
                </c:pt>
                <c:pt idx="24">
                  <c:v>15</c:v>
                </c:pt>
                <c:pt idx="25">
                  <c:v>15</c:v>
                </c:pt>
                <c:pt idx="26">
                  <c:v>15</c:v>
                </c:pt>
                <c:pt idx="27">
                  <c:v>15</c:v>
                </c:pt>
                <c:pt idx="28">
                  <c:v>15</c:v>
                </c:pt>
                <c:pt idx="29">
                  <c:v>15</c:v>
                </c:pt>
                <c:pt idx="30">
                  <c:v>15</c:v>
                </c:pt>
                <c:pt idx="31">
                  <c:v>15</c:v>
                </c:pt>
                <c:pt idx="32">
                  <c:v>15</c:v>
                </c:pt>
                <c:pt idx="33">
                  <c:v>15</c:v>
                </c:pt>
                <c:pt idx="34">
                  <c:v>15</c:v>
                </c:pt>
                <c:pt idx="35">
                  <c:v>15</c:v>
                </c:pt>
                <c:pt idx="36">
                  <c:v>15</c:v>
                </c:pt>
                <c:pt idx="37">
                  <c:v>15</c:v>
                </c:pt>
                <c:pt idx="38">
                  <c:v>15</c:v>
                </c:pt>
                <c:pt idx="39">
                  <c:v>15</c:v>
                </c:pt>
                <c:pt idx="40">
                  <c:v>15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m/s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vᵧ – t · düşey hız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vᵧ – t · düşey hız</c:v>
                </c:pt>
              </c:strCache>
            </c:strRef>
          </c:tx>
          <c:spPr>
            <a:solidFill>
              <a:srgbClr val="A56209"/>
            </a:solidFill>
            <a:ln w="35560" cap="flat">
              <a:solidFill>
                <a:srgbClr val="A56209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56209"/>
              </a:solidFill>
              <a:ln w="9525" cap="flat">
                <a:solidFill>
                  <a:srgbClr val="A56209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0.1</c:v>
                </c:pt>
                <c:pt idx="2">
                  <c:v>0.2</c:v>
                </c:pt>
                <c:pt idx="3">
                  <c:v>0.3</c:v>
                </c:pt>
                <c:pt idx="4">
                  <c:v>0.4</c:v>
                </c:pt>
                <c:pt idx="5">
                  <c:v>0.5</c:v>
                </c:pt>
                <c:pt idx="6">
                  <c:v>0.6</c:v>
                </c:pt>
                <c:pt idx="7">
                  <c:v>0.7</c:v>
                </c:pt>
                <c:pt idx="8">
                  <c:v>0.8</c:v>
                </c:pt>
                <c:pt idx="9">
                  <c:v>0.9</c:v>
                </c:pt>
                <c:pt idx="10">
                  <c:v>1</c:v>
                </c:pt>
                <c:pt idx="11">
                  <c:v>1.1</c:v>
                </c:pt>
                <c:pt idx="12">
                  <c:v>1.2</c:v>
                </c:pt>
                <c:pt idx="13">
                  <c:v>1.3</c:v>
                </c:pt>
                <c:pt idx="14">
                  <c:v>1.4</c:v>
                </c:pt>
                <c:pt idx="15">
                  <c:v>1.5</c:v>
                </c:pt>
                <c:pt idx="16">
                  <c:v>1.6</c:v>
                </c:pt>
                <c:pt idx="17">
                  <c:v>1.7</c:v>
                </c:pt>
                <c:pt idx="18">
                  <c:v>1.8</c:v>
                </c:pt>
                <c:pt idx="19">
                  <c:v>1.9</c:v>
                </c:pt>
                <c:pt idx="20">
                  <c:v>2</c:v>
                </c:pt>
                <c:pt idx="21">
                  <c:v>2.1</c:v>
                </c:pt>
                <c:pt idx="22">
                  <c:v>2.2</c:v>
                </c:pt>
                <c:pt idx="23">
                  <c:v>2.3</c:v>
                </c:pt>
                <c:pt idx="24">
                  <c:v>2.4</c:v>
                </c:pt>
                <c:pt idx="25">
                  <c:v>2.5</c:v>
                </c:pt>
                <c:pt idx="26">
                  <c:v>2.6</c:v>
                </c:pt>
                <c:pt idx="27">
                  <c:v>2.7</c:v>
                </c:pt>
                <c:pt idx="28">
                  <c:v>2.8</c:v>
                </c:pt>
                <c:pt idx="29">
                  <c:v>2.9</c:v>
                </c:pt>
                <c:pt idx="30">
                  <c:v>3</c:v>
                </c:pt>
                <c:pt idx="31">
                  <c:v>3.1</c:v>
                </c:pt>
                <c:pt idx="32">
                  <c:v>3.2</c:v>
                </c:pt>
                <c:pt idx="33">
                  <c:v>3.3</c:v>
                </c:pt>
                <c:pt idx="34">
                  <c:v>3.4</c:v>
                </c:pt>
                <c:pt idx="35">
                  <c:v>3.5</c:v>
                </c:pt>
                <c:pt idx="36">
                  <c:v>3.6</c:v>
                </c:pt>
                <c:pt idx="37">
                  <c:v>3.7</c:v>
                </c:pt>
                <c:pt idx="38">
                  <c:v>3.8</c:v>
                </c:pt>
                <c:pt idx="39">
                  <c:v>3.9</c:v>
                </c:pt>
                <c:pt idx="40">
                  <c:v>4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17</c:v>
                </c:pt>
                <c:pt idx="4">
                  <c:v>16</c:v>
                </c:pt>
                <c:pt idx="5">
                  <c:v>15</c:v>
                </c:pt>
                <c:pt idx="6">
                  <c:v>14</c:v>
                </c:pt>
                <c:pt idx="7">
                  <c:v>13</c:v>
                </c:pt>
                <c:pt idx="8">
                  <c:v>12</c:v>
                </c:pt>
                <c:pt idx="9">
                  <c:v>11</c:v>
                </c:pt>
                <c:pt idx="10">
                  <c:v>10</c:v>
                </c:pt>
                <c:pt idx="11">
                  <c:v>9</c:v>
                </c:pt>
                <c:pt idx="12">
                  <c:v>8</c:v>
                </c:pt>
                <c:pt idx="13">
                  <c:v>7</c:v>
                </c:pt>
                <c:pt idx="14">
                  <c:v>6</c:v>
                </c:pt>
                <c:pt idx="15">
                  <c:v>5</c:v>
                </c:pt>
                <c:pt idx="16">
                  <c:v>4</c:v>
                </c:pt>
                <c:pt idx="17">
                  <c:v>3</c:v>
                </c:pt>
                <c:pt idx="18">
                  <c:v>2</c:v>
                </c:pt>
                <c:pt idx="19">
                  <c:v>1</c:v>
                </c:pt>
                <c:pt idx="20">
                  <c:v>0</c:v>
                </c:pt>
                <c:pt idx="21">
                  <c:v>-1</c:v>
                </c:pt>
                <c:pt idx="22">
                  <c:v>-2</c:v>
                </c:pt>
                <c:pt idx="23">
                  <c:v>-3</c:v>
                </c:pt>
                <c:pt idx="24">
                  <c:v>-4</c:v>
                </c:pt>
                <c:pt idx="25">
                  <c:v>-5</c:v>
                </c:pt>
                <c:pt idx="26">
                  <c:v>-6</c:v>
                </c:pt>
                <c:pt idx="27">
                  <c:v>-7</c:v>
                </c:pt>
                <c:pt idx="28">
                  <c:v>-8</c:v>
                </c:pt>
                <c:pt idx="29">
                  <c:v>-9</c:v>
                </c:pt>
                <c:pt idx="30">
                  <c:v>-10</c:v>
                </c:pt>
                <c:pt idx="31">
                  <c:v>-11</c:v>
                </c:pt>
                <c:pt idx="32">
                  <c:v>-12</c:v>
                </c:pt>
                <c:pt idx="33">
                  <c:v>-13</c:v>
                </c:pt>
                <c:pt idx="34">
                  <c:v>-14</c:v>
                </c:pt>
                <c:pt idx="35">
                  <c:v>-15</c:v>
                </c:pt>
                <c:pt idx="36">
                  <c:v>-16</c:v>
                </c:pt>
                <c:pt idx="37">
                  <c:v>-17</c:v>
                </c:pt>
                <c:pt idx="38">
                  <c:v>-18</c:v>
                </c:pt>
                <c:pt idx="39">
                  <c:v>-19</c:v>
                </c:pt>
                <c:pt idx="40">
                  <c:v>-20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t (s)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m/s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 sorusu: 'Masadan yuvarlanan bilye ile aynı anda bıraktığım bilye hangisi önce yere düşer?' Cevabı 4. slaytta vereceğiz; şimdilik tahmin aldır.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Serbest düşmeyi bilen bir sınıf için bu konu yeni bir hareket değil: bilinen iki hareketin aynı anda çalışması.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Tabloyu tahtaya da çiz: sol sütun yatay, sağ sütun düşey. Bütün problem çözümü bu iki sütunu ayrı ayrı doldurmaktan ibaret.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Mümkünse sınıfta yap: masanın kenarından bir cetvelle iki bozuk parayı aynı anda fırlat. Ses tek gelir — ikisi aynı anda yere düşer.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sık hata sinüs–kosinüs karışması. Kural: açı hangi eksenle ölçülüyorsa, o eksendeki bileşen kosinüslüdür.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Yörünge yarım parabol. Strobo fotoğrafta yatay aralıklar eşit, düşey aralıklar 1:3:5:7 oranında büyür — iki diziyi birlikte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Simetriyi vurgula: çıkış süresi = iniş süresi, iniş açısı = atış açısı, aynı yükseklikte süratler eşit. Son iki formül yalnızca atış ve iniş aynı yükseklikteyse geçerli.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Tümler açılarda menzil eşit ama uçuş süresi değil: 75° ile atılan top 15°'lik atıştan 3,7 kat uzun havada kalır. Basketbol ve top atışı örnekleri buraya çok oturuyor.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Dört grafiği birlikte oku: soldakiler konum, sağdakiler hız. vᵧ–t'nin ekseni kestiği an tepe; o ana kadarki alan çıkılan yükseklik.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Türetmeyi tahtada da yap; öğrenciler 'parabol' kelimesini ezberden söylüyor ama nereden geldiğini bilmiyor.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Klasik 3-4-5 üçgeni. Öğrenciye 'yatay hız 60 m/s olsaydı süre değişir miydi' diye sor: hayır, yalnızca menzil 240 m olurdu.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Önce bileşenleri yaz, sonra her şey tek boyutlu hâle gelir. Menzil formülünü ezberletmek yerine 'yatay hız × uçuş süresi' olarak kurdur.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altı madde, konunun sınav yüzü. Her birini bir önceki slayttaki örneklerle eşleştir.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siteyi aç: 03 numaralı bölümde beş açıyı sırayla attırıp tümler açıları canlı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4" Type="http://schemas.openxmlformats.org/officeDocument/2006/relationships/chart" Target="/ppt/charts/chart7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İki boyutta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sabit ivmeli hareket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88620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Havaya fırlatılan bir cisim iki hareketi aynı anda yapar: yatayda hiç hızlanmadan gider, düşeyde serbest düşer. İkisi birbirine karışmaz; tek ortak değişkenleri zamandır.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50749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v₀cosα · t      y = v₀sinα · t − ½g·t²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549640" y="548640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006840" y="391160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464040" y="296672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921240" y="2651760"/>
            <a:ext cx="237744" cy="237744"/>
          </a:xfrm>
          <a:prstGeom prst="ellipse">
            <a:avLst/>
          </a:prstGeom>
          <a:solidFill>
            <a:srgbClr val="B9EE63"/>
          </a:solidFill>
          <a:ln/>
        </p:spPr>
      </p:sp>
      <p:sp>
        <p:nvSpPr>
          <p:cNvPr id="10" name="Shape 8"/>
          <p:cNvSpPr/>
          <p:nvPr/>
        </p:nvSpPr>
        <p:spPr>
          <a:xfrm>
            <a:off x="10378440" y="296672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835640" y="391160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292840" y="5486400"/>
            <a:ext cx="237744" cy="237744"/>
          </a:xfrm>
          <a:prstGeom prst="ellipse">
            <a:avLst/>
          </a:prstGeom>
          <a:solidFill>
            <a:srgbClr val="B9EE63">
              <a:alpha val="65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0" y="5897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eşit zaman aralıkları · yatayda eşit, düşeyde artan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dersler.perinet.org/iki-boyutta-hareket.html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ilkeden başlayıp çözümlü örneklere kadar.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Bağımsızlık ilkesi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ve düşey hareket birbirini etkilemez.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Vektörel bağıntılar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Bileşenlere ayırma: v₀cosα ve v₀sinα.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atış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Uçuş süresi yalnızca yüksekliğe bağlıdır.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Eğik atış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noktası, uçuş süresi ve simetri.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Menzil ve açı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 en uzağa atar; tümler açılar eşitlenir.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Yörünge ve grafikler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Parabolün denklemi ve dört grafik.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02 · İki boyutta sabit ivmeli hareket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İki boyutta sabit ivmeli hareket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bir düzlemde hareket eder ve ivme vektörü büyüklükçe de yöncede de değişmez.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20640" cy="1920240"/>
          </a:xfrm>
          <a:prstGeom prst="roundRect">
            <a:avLst>
              <a:gd name="adj" fmla="val 6667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eksen (x)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60120" y="23774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aₓ = 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3774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yoktur → düzgün doğrusal hareket.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 baştan sona sabittir.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Eşit zamanlarda eşit yollar alınır.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25135" cy="1920240"/>
          </a:xfrm>
          <a:prstGeom prst="roundRect">
            <a:avLst>
              <a:gd name="adj" fmla="val 6667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465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Düşey eksen (y)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46520" y="2377440"/>
            <a:ext cx="1371600" cy="457200"/>
          </a:xfrm>
          <a:prstGeom prst="roundRect">
            <a:avLst>
              <a:gd name="adj" fmla="val 20000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aᵧ = −g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001000" y="23774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ivmeli hareket → serbest düşme</a:t>
            </a:r>
            <a:endParaRPr lang="en-US" sz="13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da düşey atışın aynısı.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Eşit zamanlarda 1 : 3 : 5 oranında yollar alınır.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931920"/>
            <a:ext cx="10911535" cy="1920240"/>
          </a:xfrm>
          <a:prstGeom prst="roundRect">
            <a:avLst>
              <a:gd name="adj" fmla="val 666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6012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bir hareket öğrenmiyoruz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960120" y="45262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Bildiğimiz iki hareketi aynı anda, aynı saatle çalıştırıyoruz. Bu yüzden iki boyutlu bir soru, iki ayrı tek boyutlu soruya bölünür; sonuçlar zaman üzerinden birleştirilir.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15200" y="4315968"/>
            <a:ext cx="146304" cy="146304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63524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Atılan top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15200" y="4736592"/>
            <a:ext cx="146304" cy="146304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635240" y="462686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Fışkıran su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315200" y="5157216"/>
            <a:ext cx="146304" cy="146304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35240" y="5047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Masadan yuvarlanan bilye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54681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Hepsinde ivme aynı: g, aşağı yönde.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02 · İki boyutta sabit ivmeli hareket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Bağımsızlık ilkesi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 bırakılıyor, diğeri aynı anda yatay fırlatılıyor. Hangisi önce yere iner?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49224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240280"/>
            <a:ext cx="365760" cy="3246120"/>
          </a:xfrm>
          <a:prstGeom prst="rect">
            <a:avLst/>
          </a:prstGeom>
          <a:solidFill>
            <a:srgbClr val="DCE3F2"/>
          </a:solidFill>
          <a:ln w="12700">
            <a:solidFill>
              <a:srgbClr val="C6D0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5486400"/>
            <a:ext cx="5852160" cy="0"/>
          </a:xfrm>
          <a:prstGeom prst="line">
            <a:avLst/>
          </a:prstGeom>
          <a:noFill/>
          <a:ln w="25400">
            <a:solidFill>
              <a:srgbClr val="3C8C2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25296" y="2240280"/>
            <a:ext cx="201168" cy="201168"/>
          </a:xfrm>
          <a:prstGeom prst="ellipse">
            <a:avLst/>
          </a:prstGeom>
          <a:solidFill>
            <a:srgbClr val="2A5FD6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463040" y="2240280"/>
            <a:ext cx="201168" cy="201168"/>
          </a:xfrm>
          <a:prstGeom prst="ellipse">
            <a:avLst/>
          </a:prstGeom>
          <a:solidFill>
            <a:srgbClr val="A56209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417320" y="2529459"/>
            <a:ext cx="1165860" cy="0"/>
          </a:xfrm>
          <a:prstGeom prst="line">
            <a:avLst/>
          </a:prstGeom>
          <a:noFill/>
          <a:ln w="15875">
            <a:solidFill>
              <a:srgbClr val="6348D4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1225296" y="2428875"/>
            <a:ext cx="201168" cy="201168"/>
          </a:xfrm>
          <a:prstGeom prst="ellipse">
            <a:avLst/>
          </a:prstGeom>
          <a:solidFill>
            <a:srgbClr val="2A5FD6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482596" y="2428875"/>
            <a:ext cx="201168" cy="201168"/>
          </a:xfrm>
          <a:prstGeom prst="ellipse">
            <a:avLst/>
          </a:prstGeom>
          <a:solidFill>
            <a:srgbClr val="A56209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17320" y="3095244"/>
            <a:ext cx="2423160" cy="0"/>
          </a:xfrm>
          <a:prstGeom prst="line">
            <a:avLst/>
          </a:prstGeom>
          <a:noFill/>
          <a:ln w="15875">
            <a:solidFill>
              <a:srgbClr val="6348D4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225296" y="2994660"/>
            <a:ext cx="201168" cy="201168"/>
          </a:xfrm>
          <a:prstGeom prst="ellipse">
            <a:avLst/>
          </a:prstGeom>
          <a:solidFill>
            <a:srgbClr val="2A5FD6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739896" y="2994660"/>
            <a:ext cx="201168" cy="201168"/>
          </a:xfrm>
          <a:prstGeom prst="ellipse">
            <a:avLst/>
          </a:prstGeom>
          <a:solidFill>
            <a:srgbClr val="A56209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417320" y="4038219"/>
            <a:ext cx="3680460" cy="0"/>
          </a:xfrm>
          <a:prstGeom prst="line">
            <a:avLst/>
          </a:prstGeom>
          <a:noFill/>
          <a:ln w="15875">
            <a:solidFill>
              <a:srgbClr val="6348D4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1225296" y="3937635"/>
            <a:ext cx="201168" cy="201168"/>
          </a:xfrm>
          <a:prstGeom prst="ellipse">
            <a:avLst/>
          </a:prstGeom>
          <a:solidFill>
            <a:srgbClr val="2A5FD6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4997196" y="3937635"/>
            <a:ext cx="201168" cy="201168"/>
          </a:xfrm>
          <a:prstGeom prst="ellipse">
            <a:avLst/>
          </a:prstGeom>
          <a:solidFill>
            <a:srgbClr val="A56209">
              <a:alpha val="4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17320" y="5358384"/>
            <a:ext cx="4937760" cy="0"/>
          </a:xfrm>
          <a:prstGeom prst="line">
            <a:avLst/>
          </a:prstGeom>
          <a:noFill/>
          <a:ln w="15875">
            <a:solidFill>
              <a:srgbClr val="6348D4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1225296" y="5257800"/>
            <a:ext cx="201168" cy="20116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254496" y="5257800"/>
            <a:ext cx="201168" cy="20116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6012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bırakılan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1874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atılan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5046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kesikli çizgiler her an yatay → iki cisim aynı yükseklikte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498080" y="1783080"/>
            <a:ext cx="4053535" cy="1920240"/>
          </a:xfrm>
          <a:prstGeom prst="roundRect">
            <a:avLst>
              <a:gd name="adj" fmla="val 6667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818120" y="19933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İkisi de aynı anda iner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7818120" y="24231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hız düşmeyi ne hızlandırır ne yavaşlatır. Düşey hareketi yalnızca g yönetir: t = √(2h / g).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498080" y="3931920"/>
            <a:ext cx="4053535" cy="1920240"/>
          </a:xfrm>
          <a:prstGeom prst="roundRect">
            <a:avLst>
              <a:gd name="adj" fmla="val 666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818120" y="41330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böyle?</a:t>
            </a:r>
            <a:endParaRPr lang="en-US" sz="1550" dirty="0"/>
          </a:p>
        </p:txBody>
      </p:sp>
      <p:sp>
        <p:nvSpPr>
          <p:cNvPr id="31" name="Text 29"/>
          <p:cNvSpPr txBox="1"/>
          <p:nvPr/>
        </p:nvSpPr>
        <p:spPr>
          <a:xfrm>
            <a:off x="7818120" y="4553712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(ağırlık) düşeydir, dolayısıyla ivme de düşeydir. Yatayda kuvvet olmadığı için o doğrultuda hız değişemez. Bir bileşene etki eden kuvvet, diğer bileşeni değiştiremez.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02 · İki boyutta sabit ivmeli hareket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Bileşenlere ayırma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ivmeli hareketin vektörel denklemleri, her eksende ayrı ayrı yazılır.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0292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508760" y="5257800"/>
            <a:ext cx="2971800" cy="0"/>
          </a:xfrm>
          <a:prstGeom prst="line">
            <a:avLst/>
          </a:prstGeom>
          <a:noFill/>
          <a:ln w="38100">
            <a:solidFill>
              <a:srgbClr val="3C8C2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V="1">
            <a:off x="4251960" y="3383280"/>
            <a:ext cx="0" cy="1874520"/>
          </a:xfrm>
          <a:prstGeom prst="line">
            <a:avLst/>
          </a:prstGeom>
          <a:noFill/>
          <a:ln w="38100">
            <a:solidFill>
              <a:srgbClr val="A5620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1508760" y="3383280"/>
            <a:ext cx="2743200" cy="1874520"/>
          </a:xfrm>
          <a:prstGeom prst="line">
            <a:avLst/>
          </a:prstGeom>
          <a:noFill/>
          <a:ln w="44450">
            <a:solidFill>
              <a:srgbClr val="2A5FD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508760" y="3383280"/>
            <a:ext cx="2743200" cy="0"/>
          </a:xfrm>
          <a:prstGeom prst="line">
            <a:avLst/>
          </a:prstGeom>
          <a:noFill/>
          <a:ln w="12700">
            <a:solidFill>
              <a:srgbClr val="78829F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2468880" y="38862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349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v₀·cosα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41148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v₀·sinα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84248" y="4855464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19659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 daima yatayla ölçülür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60120" y="2377440"/>
            <a:ext cx="4389120" cy="502920"/>
          </a:xfrm>
          <a:prstGeom prst="roundRect">
            <a:avLst>
              <a:gd name="adj" fmla="val 18182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237744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√(vₓ² + vᵧ²)   ·   tanθ = vᵧ / vₓ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182880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18288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(x)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18288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Düşey (y)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35040" y="2487168"/>
            <a:ext cx="5516575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263640" y="248716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İvme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248716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aₓ = 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418320" y="248716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aᵧ = −g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35040" y="3145536"/>
            <a:ext cx="5516575" cy="566928"/>
          </a:xfrm>
          <a:prstGeom prst="roundRect">
            <a:avLst>
              <a:gd name="adj" fmla="val 1290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3145536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Hız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314553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vₓ = v₀·cosα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418320" y="31455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vᵧ = v₀·sinα − g·t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35040" y="3803904"/>
            <a:ext cx="5516575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63640" y="3803904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Konum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380390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v₀·cosα·t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418320" y="38039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y₀ + v₀·sinα·t − ½g·t²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035040" y="4526280"/>
            <a:ext cx="5516575" cy="1325880"/>
          </a:xfrm>
          <a:prstGeom prst="roundRect">
            <a:avLst>
              <a:gd name="adj" fmla="val 9655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355080" y="4526280"/>
            <a:ext cx="487649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Bileşenler skaler toplanmaz. </a:t>
            </a:r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vₓ = 30 m/s ve vᵧ = 40 m/s ise sürat 70 değil, 50 m/s'dir. Dik üçgen kur.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02 · İki boyutta sabit ivmeli hareket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Yatay atış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hız yatay olduğu için v₀ᵧ = 0; düşey hareket tam bir serbest düşmedir.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21792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178040" y="1783080"/>
            <a:ext cx="2834640" cy="603504"/>
          </a:xfrm>
          <a:prstGeom prst="roundRect">
            <a:avLst>
              <a:gd name="adj" fmla="val 15152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78040" y="178308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√(2h / g)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0104120" y="178308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uçuş süresi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178040" y="2624328"/>
            <a:ext cx="2834640" cy="603504"/>
          </a:xfrm>
          <a:prstGeom prst="roundRect">
            <a:avLst>
              <a:gd name="adj" fmla="val 15152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6243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 · √(2h / g)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0104120" y="262432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menzil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178040" y="3465576"/>
            <a:ext cx="2834640" cy="603504"/>
          </a:xfrm>
          <a:prstGeom prst="roundRect">
            <a:avLst>
              <a:gd name="adj" fmla="val 15152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78040" y="346557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√(v₀² + 2gh)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104120" y="3465576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çarpma sürati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178040" y="4343400"/>
            <a:ext cx="4373575" cy="1508760"/>
          </a:xfrm>
          <a:prstGeom prst="roundRect">
            <a:avLst>
              <a:gd name="adj" fmla="val 8485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498080" y="4526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 atış hızından bağımsızdır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7498080" y="49377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Topu ister hafifçe it, ister topla fırlat: aynı masadan aynı sürede iner. Değişen tek şey ne kadar uzağa düştüğüdür.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02 · İki boyutta sabit ivmeli hareket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Eğik atış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 = 25 m/s, α = 53°, g = 10 m/s² · vₓ = 15 m/s, v₀ᵧ = 20 m/s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21792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178040" y="1783080"/>
            <a:ext cx="306324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78040" y="1783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t(tepe) = v₀·sinα / 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332720" y="17830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178040" y="2532888"/>
            <a:ext cx="306324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53288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h(maks) = v₀²sin²α / (2g)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0332720" y="2532888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178040" y="3282696"/>
            <a:ext cx="306324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78040" y="328269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t(uçuş) = 2·v₀·sinα / g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10332720" y="3282696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178040" y="4032504"/>
            <a:ext cx="306324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78040" y="403250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v₀²·sin2α / g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0" y="4032504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178040" y="4846320"/>
            <a:ext cx="4373575" cy="1005840"/>
          </a:xfrm>
          <a:prstGeom prst="roundRect">
            <a:avLst>
              <a:gd name="adj" fmla="val 12727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98080" y="48463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noktada hız sıfır değil: </a:t>
            </a:r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vᵧ sıfırlanır, cisim vₓ = 15 m/s ile yatay ilerler.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02 · İki boyutta sabit ivmeli hareket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Menzil ve açı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sürat (25 m/s), beş farklı açı. Tümler açılar aynı noktaya düşer.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3736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909560" y="1783080"/>
            <a:ext cx="3642055" cy="868680"/>
          </a:xfrm>
          <a:prstGeom prst="roundRect">
            <a:avLst>
              <a:gd name="adj" fmla="val 1473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183880" y="19110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178308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62,5 m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83880" y="2240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uzun menzil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909560" y="2807208"/>
            <a:ext cx="3642055" cy="868680"/>
          </a:xfrm>
          <a:prstGeom prst="roundRect">
            <a:avLst>
              <a:gd name="adj" fmla="val 1473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183880" y="293522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30° ve 60°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0" y="2807208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54,1 m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83880" y="32644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tümler açılar eşit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909560" y="3831336"/>
            <a:ext cx="3642055" cy="868680"/>
          </a:xfrm>
          <a:prstGeom prst="roundRect">
            <a:avLst>
              <a:gd name="adj" fmla="val 14737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183880" y="39593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15° ve 75°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418320" y="3831336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31,2 m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183880" y="42885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tümler açılar eşit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09560" y="4892040"/>
            <a:ext cx="3642055" cy="502920"/>
          </a:xfrm>
          <a:prstGeom prst="roundRect">
            <a:avLst>
              <a:gd name="adj" fmla="val 18182"/>
            </a:avLst>
          </a:prstGeom>
          <a:solidFill>
            <a:srgbClr val="FBE9EE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09560" y="4892040"/>
            <a:ext cx="36420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v₀²·sin2α / g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909560" y="5486400"/>
            <a:ext cx="364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sin2α en büyük değerini 2α = 90° için alır → α = 45°.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02 · İki boyutta sabit ivmeli hareket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Dört grafik, tek hareket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eğik atışın (v₀ = 25 m/s, α = 53°) zamana bağlı grafikleri.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37360"/>
          <a:ext cx="53492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31520" y="35387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Doğru: eğimi vₓ, sabit.</a:t>
            </a:r>
            <a:endParaRPr lang="en-US" sz="115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199632" y="1737360"/>
          <a:ext cx="53492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291072" y="35387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Parabol: eğimi anlık vᵧ.</a:t>
            </a:r>
            <a:endParaRPr lang="en-US" sz="115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640080" y="3931920"/>
          <a:ext cx="53492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731520" y="573328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doğru: aₓ = 0.</a:t>
            </a:r>
            <a:endParaRPr lang="en-US" sz="1150" dirty="0"/>
          </a:p>
        </p:txBody>
      </p:sp>
      <p:graphicFrame>
        <p:nvGraphicFramePr>
          <p:cNvPr id="12" name="Chart 3" descr=""/>
          <p:cNvGraphicFramePr/>
          <p:nvPr/>
        </p:nvGraphicFramePr>
        <p:xfrm>
          <a:off x="6199632" y="3931920"/>
          <a:ext cx="53492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6291072" y="573328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Eğimi −g; sıfır kesişimi tepe noktası.</a:t>
            </a:r>
            <a:endParaRPr lang="en-US" sz="1150" dirty="0"/>
          </a:p>
        </p:txBody>
      </p:sp>
      <p:sp>
        <p:nvSpPr>
          <p:cNvPr id="14" name="Text 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02 · İki boyutta sabit ivmeli hareket</a:t>
            </a:r>
            <a:endParaRPr lang="en-US" sz="1050" dirty="0"/>
          </a:p>
        </p:txBody>
      </p:sp>
      <p:sp>
        <p:nvSpPr>
          <p:cNvPr id="15" name="Text 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Yörünge neden parabol?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ve y denklemlerinden zamanı yok edelim.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669280" cy="713232"/>
          </a:xfrm>
          <a:prstGeom prst="roundRect">
            <a:avLst>
              <a:gd name="adj" fmla="val 12821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v₀·cosα · 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178308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yataydaki hareket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834640"/>
            <a:ext cx="5669280" cy="713232"/>
          </a:xfrm>
          <a:prstGeom prst="roundRect">
            <a:avLst>
              <a:gd name="adj" fmla="val 12821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x / (v₀·cosα)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83464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zamanı x cinsinden yaz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5669280" cy="713232"/>
          </a:xfrm>
          <a:prstGeom prst="roundRect">
            <a:avLst>
              <a:gd name="adj" fmla="val 12821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886200"/>
            <a:ext cx="5669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x·tanα − g·x² / (2·v₀²·cos²α)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88620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denkleminde yerine koy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7863840" cy="868680"/>
          </a:xfrm>
          <a:prstGeom prst="roundRect">
            <a:avLst>
              <a:gd name="adj" fmla="val 14737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60120" y="498348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 y = ax − bx² biçiminde. </a:t>
            </a:r>
            <a:pPr indent="0" marL="0"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eksende zamanla doğrusal, diğerinde zamanın karesiyle değişen hareket → parabol.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732520" y="1783080"/>
            <a:ext cx="2819095" cy="4069080"/>
          </a:xfrm>
          <a:prstGeom prst="roundRect">
            <a:avLst>
              <a:gd name="adj" fmla="val 4541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00684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 okuma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242316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– t doğru, eğimi vₓ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– t parabol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vₓ – t zamana paralel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vᵧ – t eğimi −g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vᵧ = 0 anı tepe noktası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vᵧ – t altındaki alan düşey yer değiştirme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02 · İki boyutta sabit ivmeli hareket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yatay atış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 yüksekliğindeki bir kuleden yatay doğrultuda 30 m/s süratle atılan cisim için: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uçuş süresini,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menzili,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yere çarpma süratini bulunuz.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s · 120 m · 50 m/s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18389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1838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Düşey hareket serbest düşme:  80 = ½·10·t²  →  t² = 16  →  t = 4 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321564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61645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6164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1564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Yatayda sabit hız:  x = 30 · 4 = 120 m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4648200"/>
            <a:ext cx="6476695" cy="1203960"/>
          </a:xfrm>
          <a:prstGeom prst="roundRect">
            <a:avLst>
              <a:gd name="adj" fmla="val 10633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504901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50490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648200"/>
            <a:ext cx="5333695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vᵧ = g·t = 40 m/s, vₓ = 30 m/s  →  v = √(30² + 40²) = 50 m/s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Yerle yaptığı açı: tanθ = 40/30  →  θ ≈ 53°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02 · İki boyutta sabit ivmeli hareket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eğik atış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Yerden 50 m/s süratle, yatayla 53° açı yapacak şekilde atılan cisim için: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tepe noktasına çıkma süresini,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maksimum yüksekliği,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menzili bulunuz.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(sin53° = 0,8 · cos53° = 0,6)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s · 80 m · 240 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Bileşenler:  v₀ₓ = 50·0,6 = 30 m/s,  v₀ᵧ = 50·0,8 = 40 m/s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Tepede vᵧ = 0:  0 = 40 − 10·t  →  t = 4 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v₀ᵧ² / (2g) = 1600 / 20 = 80 m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Uçuş süresi 2·4 = 8 s  →  R = 30 · 8 = 240 m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Kontrol: R = v₀²·sin2α/g = 2500·0,96/10 = 240 m ✓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02 · İki boyutta sabit ivmeli hareket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Tepe noktada hız sıfırdır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Sıfırlanan yalnızca vᵧ'dir; vₓ = v₀cosα devam eder.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hız düşme süresini etkiler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Etkilemez. Süre yalnızca düşey harekete bağlıdır.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yörüngeye teğettir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Teğet olan hızdır; ivme her noktada düşeydir ve g'dir.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v₀²sin2α/g her zaman geçerli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atış ve iniş aynı yükseklikteyse.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vₓ + vᵧ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Doğrusu v = √(vₓ² + vᵧ²); vektörler skaler toplanmaz.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 her koşulda en uzağa atar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Yükseklikten atışta optimum açı 45°'nin altındadır.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02 · İki boyutta sabit ivmeli hareket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hareket, tek saat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4983480" y="2066544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Yatayda sabit hız, düşeyde g ivmesi; ortak olan yalnızca zaman.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Bileşenlere ayır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2999232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v₀ₓ = v₀cosα, v₀ᵧ = v₀sinα. Sonrası iki tek boyutlu problem.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Yörünge paraboldür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983480" y="393192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x·tanα − g·x²/(2v₀²cos²α)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 en uzun menzil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4983480" y="4864608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Tümler açılar aynı menzili verir, ama uçuş süreleri farklıdır.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Atış laboratuvarı, menzil–açı karşılaştırması ve hedef vurma oyunu: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dersler.perinet.org/iki-boyutta-hareket.html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İki boyutta sabit ivmeli hareket</dc:title>
  <dc:subject>Fizik · Kuvvet ve Hareket</dc:subject>
  <dc:creator>Dersler</dc:creator>
  <cp:lastModifiedBy>Dersler</cp:lastModifiedBy>
  <cp:revision>1</cp:revision>
  <dcterms:created xsi:type="dcterms:W3CDTF">2026-09-18T16:33:20Z</dcterms:created>
  <dcterms:modified xsi:type="dcterms:W3CDTF">2026-09-18T16:33:20Z</dcterms:modified>
</cp:coreProperties>
</file>