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Beyaz ışığın içinde bir gökkuşağı saklı olabilir mi? Newton, 1666'da karanlık odasına giren güneş ışığını bir prizmadan geçirdi ve duvarda bir gökkuşağı gördü. O güne kadar herkes rengin camdan geldiğini sanıyordu; Newton ikinci bir prizmayla renkleri yeniden birleştirip beyaz ışığı geri elde etti ve rengin ışığın kendisinde olduğunu kanıtladı. Bu anlatım dört basamakta ilerliyor: önce gökkuşağını ve bir cam prizmayı gözleyip Newton'un deneyini sezgiyle kuracağız, sonra prizmanın ışığı ne kadar büktüğünü hesaplayan bağıntıları çıkaracağız, ardından tam yansımalı prizmalara ve gökkuşağının fiziğine geçeceğiz. En sonda kolaydan zora sıralanmış örneklerle hepsini birlikte kullanacağız.
Kapak görseli: Işığı açan cam. Beyaz ışık demeti prizmaya girerken ve çıkarken iki kez kırılır, tabana doğru sapar ve renklerine ayrılarak karta bir tayf düşürür. Kırmızı en az saparak şeridin üstünde, mor en çok saparak altında kalır. Renkler camdan gelmez; beyaz ışığın içinde zaten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Beyaz ışığın içinde bir gökkuşağı saklı olabilir mi? Newton, 1666'da karanlık odasına giren güneş ışığını bir prizmadan geçirdi ve duvarda bir gökkuşağı gördü. O güne kadar herkes rengin camdan geldiğini sanıyordu; Newton ikinci bir prizmayla renkleri yeniden birleştirip beyaz ışığı geri elde etti ve rengin ışığın kendisinde olduğunu kanıtladı. Bu anlatım dört basamakta ilerliyor: önce gökkuşağını ve bir cam prizmayı gözleyip Newton'un deneyini sezgiyle kuracağız, sonra prizmanın ışığı ne kadar büktüğünü hesaplayan bağıntıları çıkaracağız, ardından tam yansımalı prizmalara ve gökkuşağının fiziğine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gökkuşağına ve bir cam prizmaya bak, ışığın neden büküldüğünü ve renklerin nereden geldiğini gör. Bu basamakta hesap yok denecek kadar az.
   01 Önce gözlemle: yağmurdan sonra gökyüzündeki renkler nereden gelir?
   02 Prizma nedir?
   03 Beyaz ışık: Newton'un iki prizması
2. Orta — Bağıntılar: prizmanın ışığı ne kadar saptırdığını adım adım hesapla, en küçük sapmayı ve renklerin açılmasını sayılarla gör.
   04 Sapma açısı: iki kırılmanın toplamı
   05 Sayılarla hisset: sapma, gelme açısına nasıl bağlı?
   06 En küçük sapma ve indis ölçümü
   07 Dispersiyon: her rengin kendi indisi
3. İleri — Derinleşme: ışık prizmadan çıkamayınca, prizma başka bir ortama girince ve prizma bir yağmur damlasına dönüşünce ne olur?
   08 Tam yansımalı prizmalar ve çevre ortam
   09 Gökkuşağı: her damla küçük bir prizma
   10 Prizmalar gerçek dünyada
4. Pekiştir —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gökkuşağına ve bir cam prizmaya bak, ışığın neden büküldüğünü ve renklerin nereden geldiğini gör. Bu basamakta hesap yok denecek kadar az.
01 Önce gözlemle: yağmurdan sonra gökyüzündeki renkler nereden gelir?
02 Prizma nedir?
03 Beyaz ışık: Newton'un iki prizması
Görsel: Yağmurdan sonra. Ana yayda kırmızı dışta, mor içte; üstteki soluk ikinci yayda renkler ters sırada. İki yayın arasındaki gökyüzü, ana yayın içinden biraz daha koyu görünür. Güneş görünmüyor, çünkü gözlemcinin arkasında: gölgeler gökkuşağına doğru uzanıyor. Her yağmur damlası güneş ışığını küçük bir prizma gibi renklerine ayırır; nasıl olduğunu İleri basamakta göreceğiz.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yağmurdan sonra gökyüzündeki renkler nereden gelir?
Kısaca: Gökkuşağının renkleri hep aynı sırada ve hep güneşin karşısında görünür. Aynı renk şeridi, güneş ışığı eğik yüzeyli bir cam ya da sudan geçtiğinde de ortaya çıkar.
Yağmur yeni dinmiş, güneş alçakta ve arkanda. Önündeki karanlık bulutların üstünde renkli bir yay beliriyor. Bu sahneye dikkatle bakınca birkaç düzen fark edersin. Renkler hiç karışık sıralanmaz; her gökkuşağında aynı sırayla dizilir. Gökkuşağı hep güneşin karşı tarafında görünür; güneşe dönersen onu asla göremezsin. Bazen ana yayın üstünde ikinci, daha soluk bir yay çıkar.
Görsel: Yağmurdan sonra. Ana yayda kırmızı dışta, mor içte; üstteki soluk ikinci yayda renkler ters sırada. İki yayın arasındaki gökyüzü, ana yayın içinden biraz daha koyu görünür. Güneş görünmüyor, çünkü gözlemcinin arkasında: gölgeler gökkuşağına doğru uzanıyor. Her yağmur damlası güneş ışığını küçük bir prizma gibi renklerine ayırır; nasıl olduğunu İleri basamakta göreceğiz.
Aynı renk şeridini evde de yakalayabilirsin:
• Bir bardak su: güneşli bir pencerenin önüne konan su dolu bardak, masaya küçük renkli bir şerit düşürür.
• Kesik cam kenarı: pahlı bir aynanın ya da cam masanın kenarından geçen ışık duvarda renklere ayrılır.
• Avize kristali: cam bir kristal, güneş ışığını odaya renkli lekeler hâlinde saçar.
Hepsinde ortak olan şey, ışığın eğik yüzeyli saydam bir cisimden geçmesidir. Böyle bir cisme prizma denir; bu anlatım onun fiziğidir.
Düşün: Gökkuşağını görmek için neden güneşe sırtını dönmen gerekir?
Cevap: Gökkuşağının ışığı, damlalara girip içlerinde yansıdıktan sonra kabaca geldiği yöne doğru geri dönen güneş ışığıdır. Bu ışığın gözüne ulaşması için damlaların önünde, güneşin arkanda olması gerekir. Güneşe dönük bakarsan damlalardan geri dönen ışık sırtına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Gökkuşağını görmek için neden güneşe sırtını dönmen gerekir?
Sınıfa sorun, birkaç tahmin alın; sonra cevap slaytına geçin.
Cevap: Gökkuşağının ışığı, damlalara girip içlerinde yansıdıktan sonra kabaca geldiği yöne doğru geri dönen güneş ışığıdır. Bu ışığın gözüne ulaşması için damlaların önünde, güneşin arkanda olması gerekir. Güneşe dönük bakarsan damlalardan geri dönen ışık sırtına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Gökkuşağının ışığı, damlalara girip içlerinde yansıdıktan sonra kabaca geldiği yöne doğru geri dönen güneş ışığıdır. Bu ışığın gözüne ulaşması için damlaların önünde, güneşin arkanda olması gerekir. Güneşe dönük bakarsan damlalardan geri dönen ışık sırtına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 nedir?
Kısaca: Prizma, iki yüzü birbirine paralel olmayan saydam bir cisimdir. İçinden geçen ışın iki kez kırılır ve bu iki kırılma toplanarak ışını tabana doğru saptırır.
İki yüzü birbirine paralel olmayan saydam cisme prizma denir. Paralel kenarlı levhada ışık doğrultusunu korurken, prizmada saparak çıkar.
• Tepe açısı (A): ışığın girdiği ve çıktığı yüzeyler arasındaki açı.
• Taban: tepe açısının karşısındaki yüzey.
• Işık her zaman tabana doğru sapar.
Neden tabana doğru? Işık camda havadakinden yavaş gider. Geniş bir ışık demetinin tabana yakın kenarı daha kalın camdan geçer, bu yüzden daha çok gecikir; tepeye yakın kenarı ise ince camdan geçip öne kaçar. Bir yürüyüş kolunun bir ucu çamurlu tarlaya girip yavaşlarsa bütün kol o yana döner. Işık demeti de yavaşlayan tarafa, yani kalın tabana doğru döner.
Saydam cisim | Yüzeyler | Işık ne yapar?
Paralel kenarlı levha | paralel | yana kayar, doğrultusu değişmez
Prizma | eğik (A açısıyla) | tabana doğru sapar
Görsel: Prizma iki eğik yüzeyi olan bir cam bloktur. Işık birinci yüzeyde içeri girerken normale yaklaşır, ikinci yüzeyden çıkarken normalden uzaklaşır — ama iki yüzey paralel olmadığı için bu iki kırılma birbirini götürmez, toplanır. Sonuç: ışın daima tabana doğru sapar. Gelen ve çıkan ışın arasındaki açıya sapma açısı (δ)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Beyaz ışık: Newton'un iki prizması
Kısaca: Beyaz ışık bütün renklerin karışımıdır. Prizma renkleri üretmez, her rengi biraz farklı saptırarak ayırır; buna dispersiyon, oluşan renk şeridine tayf denir.
Newton'dan önce yaygın görüş, beyaz ışığın saf olduğu ve renklerin cam tarafından “üretildiği” yönündeydi. Newton bu fikri sınamak için karanlık bir odada panjurdaki küçük bir delikten giren güneş ışığıyla adım adım deneyler yaptı:
• Ayırma: birinci prizma ışığı duvarda uzun bir renk şeridine açtı.
• Tek renk: şeritten yalnızca bir rengi bir delikten geçirip ikinci bir prizmaya gönderdi; ışık yine büküldü ama rengi değişmedi.
• Birleştirme: ters çevrilmiş ikinci bir prizmayla bütün renkleri üst üste getirince yeniden beyaz ışık elde etti.
Beyaz ışık bütün renklerin karışımıdır; prizmada her renk farklı saptığı için ayrışır. Bu olaya dispersiyon (dağılma), oluşan renk şeridine tayf (spektrum) denir. Her renk camda biraz farklı hızla ilerler: mor en yavaş gider ve en çok kırılır, kırmızı en hızlı gider ve en az kırılır.
Dikkat: Prizma renkleri üretmez, yalnızca zaten var olan renkleri ayırır. İkinci bir prizmayla tayf yeniden birleştirilirse beyaz ışık elde edilir — Newton bunu 1666'da göstermiştir.
Görsel: Camın kırılma indisi her renk için biraz farklıdır: mor ışık için en büyük, kırmızı için en küçüktür. Bu yüzden beyaz ışık prizmadan geçerken renkler farklı açılarda sapar ve tayf hâlinde açılır. Buna dispersiyon denir. Renkler camın içinde ortaya çıkmaz — beyaz ışığın içinde zaten vardır, prizma yalnızca onları ayırır.
Düşün: Prizmadan çıkan kırmızı ışığı ikinci bir prizmadan geçirirsen yeni renkler çıkar mı?
Cevap: Hayır. Kırmızı ışık ikinci prizmada yine kırılır ve sapar, ama kırmızı kalır; içinde ayrılacak başka renk yoktur. Newton'un kilit gözlemi buydu: renk camın ışığa yaptığı bir değişiklik olsaydı, ikinci prizma kırmızıyı da başka renklere dönüştürürdü.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Prizmadan çıkan kırmızı ışığı ikinci bir prizmadan geçirirsen yeni renkler çıkar mı?
Sınıfa sorun, birkaç tahmin alın; sonra cevap slaytına geçin.
Cevap: Hayır. Kırmızı ışık ikinci prizmada yine kırılır ve sapar, ama kırmızı kalır; içinde ayrılacak başka renk yoktur. Newton'un kilit gözlemi buydu: renk camın ışığa yaptığı bir değişiklik olsaydı, ikinci prizma kırmızıyı da başka renklere dönüştürürdü.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Kırmızı ışık ikinci prizmada yine kırılır ve sapar, ama kırmızı kalır; içinde ayrılacak başka renk yoktur. Newton'un kilit gözlemi buydu: renk camın ışığa yaptığı bir değişiklik olsaydı, ikinci prizma kırmızıyı da başka renklere dönüştürürdü.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prizmanın ışığı ne kadar saptırdığını adım adım hesapla, en küçük sapmayı ve renklerin açılmasını sayılarla gör.
04 Sapma açısı: iki kırılmanın toplamı
05 Sayılarla hisset: sapma, gelme açısına nasıl bağlı?
06 En küçük sapma ve indis ölçümü
07 Dispersiyon: her rengin kendi indisi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Sapma açısı: iki kırılmanın toplamı
Kısaca: Işın prizmada iki kez kırılır ve iki dönüş aynı yöne toplanır. Geometriden r₁ + r₂ = A, toplam sapma için δ = i₁ + i₂ − A bulunur.
Işık prizmaya girerken ve çıkarken iki kez kırılır. Gelen ışının doğrultusu ile çıkan ışının doğrultusu arasındaki açıya sapma açısı (δ) denir. Her iki yüzeyde de Snell yasası geçerlidir (prizmanın indisi n, dışarısı hava):
sin i₁ = n · sin r₁   n · sin r₂ = sin i₂   r₁ + r₂ = A   δ = i₁ + i₂ − A
• i₁: birinci yüzeye geliş açısı, r₁: içerideki kırılma açısı.
• r₂: ikinci yüzeye geliş açısı, i₂: çıkış açısı.
• Tepe açısı ve indis büyüdükçe sapma artar.
Bağıntılar nereden geliyor?
• Birinci dönüş: birinci yüzeyde ışın normale yaklaşır ve doğrultusu i₁ − r₁ kadar döner.
• İkinci dönüş: ikinci yüzeyde normalden uzaklaşır ve yine aynı yöne, i₂ − r₂ kadar döner.
• Geometri: iki yüzeyin normalleri birbiriyle 180° − A açısı yapar; içerideki ışın ve iki normalin oluşturduğu üçgende r₁ + r₂ + (180° − A) = 180°, yani r₁ + r₂ = A.
• Toplam: δ = (i₁ − r₁) + (i₂ − r₂) = i₁ + i₂ − A.
Sayfanın 01 numaralı bölümündeki başlangıç ayarı (A = 60°, i₁ = 45°, n = 1,50) için: r₁ ≈ 28,1°, r₂ ≈ 31,9°, i₂ ≈ 52,4° ve δ ≈ 37,4° çıkar.
Işık her zaman çıkamaz. r₂ sınır açıdan büyükse ışık ikinci yüzeyden çıkamaz, içeride tam yansımaya uğrar. Tam yansımalı prizmalar bunu bilerek kullanır.
Görsel: Dört açı vardır: ışının birinci yüzeye geliş açısı i₁, içerideki kırılma açısı r₁, ikinci yüzeye varış açısı r₂ ve dışarı çıkış açısı i₂. Geometriden r₁ + r₂ = A çıkar; sapma ise δ = i₁ + i₂ − A'dır. Bu iki bağıntı, prizma sorularının neredeyse tamamını çözer.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Sapma açısı: iki kırılmanın toplamı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sapma, gelme açısına nasıl bağlı?
Kısaca: 60°'lik, 1,50 indisli prizmada sapma önce azalır, gelme açısı 48,6° iken en küçük değerine (37,2°) iner, sonra yeniden artar. Gelme açısı yaklaşık 28°'nin altındaysa ışık ikinci yüzeyden çıkamaz.
Tepe açısı 60°, indisi 1,50 olan bir cam prizmayı alalım ve gelme açısını değiştirelim. Her satır iki kez Snell yasası ve bir kez r₁ + r₂ = A ile hesaplandı:
Gelme i₁ | İçeride r₂ | Çıkış i₂ | Sapma δ
20° | 46,8° | çıkamaz | —
30° | 40,5° | 77,1° | 47,1°
40° | 34,6° | 58,5° | 38,5°
48,6° | 30,0° | 48,6° | 37,2°
77,1° | 19,5° | 30,0° | 47,1°
Tablodan dört düzen okunuyor:
• Önce azalır, sonra artar: sapma 47,1°'den 37,2°'ye iner, sonra yeniden yükselir.
• En küçük değer simetride: i₁ = i₂ = 48,6° olduğunda sapma en küçüktür, 37,2°.
• Işık yolu tersinirdir: 30° ile giren ışın 77,1° ile çıkar; 77,1° ile giren 30° ile çıkar. Sapma ikisinde de 47,1°'dir.
• Küçük gelme açısında çıkış yok: 20°'de r₂ = 46,8° sınır açıyı (41,8°) aşar, ışık içeride tam yansır.
Bir düzen daha gözden kaçmasın: en küçük değerin çevresinde sapma çok yavaş değişir. Gelme açısı 40°'den 48,6°'ye çıkınca sapma yalnızca 1,3° değişiyor. Sayfanın 01 numaralı bölümünde gelme açısını kaydırıp bu “dip” noktasını kendin bulabilirsin.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küçük sapma ve indis ölçümü
Kısaca: Sapma, ışın prizmadan simetrik geçtiğinde en küçüktür: r₁ = r₂ = A/2 ve i₁ = i₂. Bu durumda n = sin((A + δmin)/2) / sin(A/2) olur; indis ölçmenin klasik yolu budur.
Gelme açısı artırıldıkça sapma açısı önce azalır, bir en küçük değere iner, sonra tekrar artar. En küçük sapmada ışın prizmadan simetrik geçer:
i₁ = i₂ ve r₁ = r₂ = A/2   i = (A + δ(min)) / 2   n = sin i / sin(A/2)
İndis bağıntısı, simetri koşulundan dört adımda çıkar:
• Simetri: r₁ = r₂ ve r₁ + r₂ = A olduğundan r = A/2.
• Eşit açılar: i₁ = i₂ = i olduğundan δ(min) = 2i − A.
• Gelme açısını çek: i = (A + δ(min))/2.
• Snell yasası: sin i = n·sin r, buradan n = sin((A + δ(min))/2) / sin(A/2).
Bu bağıntı, bir prizmanın kırılma indisini ölçmenin klasik yöntemidir: en küçük sapma açısı ölçülür, formülden n bulunur. Yöntemin gücü, önceki bölümde gördüğün yayvan dipten gelir: en küçük sapmanın çevresinde gelme açısındaki küçük bir hata sapmayı neredeyse hiç değiştirmez, bu yüzden δ(min) çok duyarlı ölçülebilir.
Görsel: Geliş açısını büyüttükçe sapma önce azalır, bir en küçük değere iner, sonra tekrar artar. O en küçük noktada ışın prizmadan simetrik geçer: giriş açısı çıkış açısına eşittir ve içerideki ışın tabana paraleldir. Bu özel durum, bir maddenin kırılma indisini çok duyarlı biçimde ölçmeye yarar — refraktometrelerin çalışma ilkesi budur.
Düşün: En küçük sapmada ışın, eşkenar bir prizmanın içinde neden tabana paralel gider?
Cevap: Çünkü ışın iki yan yüzeye aynı açıyla (r₁ = r₂) çarpar. Eşkenar ya da ikizkenar bir prizmada iki yan yüzeyle aynı açıyı yapan tek doğrultu tabana paralel olandır. Işık yolu tepe noktasından geçen simetri eksenine göre ayna görüntüsü gibi iki eş yarıya ayrılır.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En küçük sapmada ışın, eşkenar bir prizmanın içinde neden tabana paralel gider?
Sınıfa sorun, birkaç tahmin alın; sonra cevap slaytına geçin.
Cevap: Çünkü ışın iki yan yüzeye aynı açıyla (r₁ = r₂) çarpar. Eşkenar ya da ikizkenar bir prizmada iki yan yüzeyle aynı açıyı yapan tek doğrultu tabana paralel olandır. Işık yolu tepe noktasından geçen simetri eksenine göre ayna görüntüsü gibi iki eş yarıya ayrılır.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ışın iki yan yüzeye aynı açıyla (r₁ = r₂) çarpar. Eşkenar ya da ikizkenar bir prizmada iki yan yüzeyle aynı açıyı yapan tek doğrultu tabana paralel olandır. Işık yolu tepe noktasından geçen simetri eksenine göre ayna görüntüsü gibi iki eş yarıya ayrılır.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Dispersiyon: her rengin kendi indisi
Kısaca: Camın indisi mordan kırmızıya doğru biraz azalır; bu yüzden mor en çok, kırmızı en az sapar. 60°'lik prizmada fark yaklaşık 2°, ince prizmada Δδ ≈ (n(mor) − n(kırmızı))·A kadardır.
Bir ortamın kırılma indisi, ışığın dalga boyuna bağlıdır. Kısa dalga boylu mor ışık için indis büyük, uzun dalga boylu kırmızı için küçüktür:
n(mor) &gt; … &gt; n(kırmızı)
Renk | Dalga boyu | Camda n | Sapma (A = 60°, i₁ = 50°)
Kırmızı | ≈ 700 nm | 1,513 | 38,3° · en az
Sarı | ≈ 580 nm | 1,520 | 38,9° · orta
Mavi | ≈ 470 nm | 1,531 | 39,9° · çok
Mor | ≈ 400 nm | 1,538 | 40,5° · en çok
Kırmızıyla morun indisleri arasındaki fark yalnızca %1,7 kadar; ama bu küçük fark iki renk arasında yaklaşık 2,2°'lik bir açı açıyor. Prizmadan 1 m uzaktaki bir perdede bu, yaklaşık 4 cm genişliğinde bir tayf demektir. Sayfanın 02 numaralı bölümünde gelme açısını ve tepe açısını değiştirerek tayfın nasıl açılıp kapandığını izleyebilirsin.
İnce prizmada kısa yol
Tepe açısı birkaç derece olan ince prizmada, ışık yüzeye neredeyse dik geldiğinde bütün açılar küçüktür ve sin x ≈ x alınabilir. O zaman i₁ ≈ n·r₁, i₂ ≈ n·r₂ ve δ = n·(r₁ + r₂) − A olur:
δ ≈ (n − 1) · A   Δδ ≈ (n(mor)−n(kırmızı))·A
10°'lik ince bir cam prizma kırmızıyı yaklaşık 5,13°, moru 5,38° saptırır; renkler arasındaki açı yalnızca 0,25°'dir.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ışık prizmadan çıkamayınca, prizma başka bir ortama girince ve prizma bir yağmur damlasına dönüşünce ne olur?
08 Tam yansımalı prizmalar ve çevre ortam
09 Gökkuşağı: her damla küçük bir prizma
10 Prizmalar gerçek dünyada
Görsel: Pencerede bir kristal. Çok yüzlü kristalin her yüz çifti küçük bir prizma gibi davranır: güneş ışığını kırar, saptırır ve renklerine ayırır. Duvara ve tavana düşen her renkli leke ayrı bir küçük tayftır; lekeler farklı yüz çiftlerinden geldiği için odaya dağılır.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yansımalı prizmalar ve çevre ortam
Kısaca: 45°'lik cam prizmada ışık iç yüzeye sınır açıdan büyük açıyla çarpar ve kayıpsız yansır: bir yansımayla 90°, ikisiyle 180° döner. Bütün bağıntılarda n yerine prizmanın çevresine göre indisi geçer.
Cam için sınır açı ≈ 41,8°'dir. 45° – 45° – 90° biçimindeki bir prizmada ışık hipotenüse 45° ile çarpar; bu açı sınır açıdan büyük olduğu için tamamı yansır.
• Tek yansıma: ışığı 90° döndürür (periskop).
• İki yansıma: ışığı 180° geri gönderir (dürbün, reflektör).
• Aynaya göre üstünlüğü: kayıp neredeyse yoktur, kaplama zamanla bozulmaz, ikincil görüntü oluşmaz.
Görsel: 45°'lik prizmada ışık iç yüzeye sınır açının üstünde çarpar ve tam yansır. Bir yansımayla 90°, iki yansımayla 180° döner. Neden ayna yerine prizma? Çünkü tam yansımada hiç ışık kaybı yoktur ve zamanla kararacak bir gümüş kaplama gerekmez. Dürbünlerde, periskoplarda ve bisiklet reflektörlerinde bu yüzden prizma kullanılır.
Bu düzen camın indisine bağlıdır. İndis 1,3 olsaydı sınır açı 50,3° olurdu; 45° ile çarpan ışık yansımak yerine dışarı çıkardı. Daha ince bir nokta da çevre ortamdır: bütün bağıntılarda n yerine prizmanın çevresine göre indisi, n(prizma)/n(ortam) geçer. Cam prizma suya batırılınca (n = 1,33) bu oran 1,13'e iner; 60°'lik prizmanın en küçük sapması 37,2°'den yaklaşık 8,7°'ye düşer ve 45°'lik prizmada tam yansıma kaybolur.
Temel basamakta “ışık her zaman tabana doğru sapar” dedik; bu, prizma çevresinden yoğun olduğu sürece doğrudur. Suyun içine konmuş, içi hava dolu ince duvarlı bir prizma ışığı tepeye doğru saptırır.
Düşün: Tam yansımalı bir prizmanın hipotenüsüne parmağını bastırıp prizmanın içinden bakarsan ne görürsün?
Cevap: Parmak izinin çizgilerini koyu, aralarını parlak görürsün. Derinin cama değdiği çıkıntılarda ışık hava yerine deriye geçer, tam yansıma bozulur; aradaki hava dolu oluklarda ise tam yansıma sürer. Optik parmak izi okuyucuları bu ilkeyle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Tam yansımalı bir prizmanın hipotenüsüne parmağını bastırıp prizmanın içinden bakarsan ne görürsün?
Sınıfa sorun, birkaç tahmin alın; sonra cevap slaytına geçin.
Cevap: Parmak izinin çizgilerini koyu, aralarını parlak görürsün. Derinin cama değdiği çıkıntılarda ışık hava yerine deriye geçer, tam yansıma bozulur; aradaki hava dolu oluklarda ise tam yansıma sürer. Optik parmak izi okuyucuları bu ilkeyle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Parmak izinin çizgilerini koyu, aralarını parlak görürsün. Derinin cama değdiği çıkıntılarda ışık hava yerine deriye geçer, tam yansıma bozulur; aradaki hava dolu oluklarda ise tam yansıma sürer. Optik parmak izi okuyucuları bu ilkeyle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Gökkuşağı: her damla küçük bir prizma
Kısaca: Güneş ışığı damlada kırılır, içeride yansır ve yeniden kırılır; ışınlar en küçük sapma olan 138° civarında yığılır. Bu yüzden gökkuşağı güneşin karşısında 42°'lik bir koni üzerinde, kırmızı dışta görünür.
Yağmur damlası küçük bir prizma gibi davranır. Damlaya giren ışık:
• Damlaya girerken kırılır (ve renklerine ayrılmaya başlar).
• Damlanın arka yüzeyinden yansır.
• Çıkarken ikinci kez kırılır.
Toplam sapma en az 138° olur; yani ışık geldiği yönle 42°'lik açı yaparak geri döner. Bu açıda ışınlar yığıldığı için gökkuşağı, güneşin tam karşısında 42°'lik bir koni üzerinde görünür. Buradaki fikir prizmadaki en küçük sapmanın aynısıdır: damlaya farklı yüksekliklerden giren ışınlar farklı sapar, ama en küçük sapmanın çevresinde sapma çok yavaş değiştiği için pek çok ışın aynı doğrultuda toplanır ve orası parlak görünür.
• Kırmızı dışta (42°), mor içte (40°) kalır.
• İkinci gökkuşağı (daha soluk) iki iç yansımadan doğar; renkleri terstir ve ≈ 51°'de görünür.
• Gökkuşağını görmek için güneş arkanızda, yağmur karşınızda olmalıdır.
• Güneş yüksekse görünmez: güneş ufkun 42°'den yukarısındaysa yayın tamamı ufkun altında kalır.
Görsel: Bir yağmur damlasında ışık üç işlemden geçer: girerken kırılır, arka yüzeyden içeriden yansır, çıkarken yeniden kırılır. Her renk biraz farklı açıyla çıkar ve en yoğun çıkış kırmızı için 42°, mor için 40° civarındadır. Bu yüzden gökkuşağı hep aynı açıda görünür ve kırmızı hep dışta kalır — gökkuşağının yeri yağmurun değil, senin nerede durduğunun sonucudur.
Düşün: Gökkuşağının ucuna yürüyerek neden hiçbir zaman ulaşamazsın?
Cevap: Çünkü gökkuşağı belli bir yerde duran bir cisim değil, bir doğrultular kümesidir: gözüne güneşin tam karşısındaki noktadan 42° açıyla gelen ışınlar. Sen yürüdükçe o ışığı gönderen damlalar da değişir ve yay seninle birlikte yer değiştirir. Yanındaki arkadaşın bile başka damlaların ışığını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Gökkuşağının ucuna yürüyerek neden hiçbir zaman ulaşamazsın?
Sınıfa sorun, birkaç tahmin alın; sonra cevap slaytına geçin.
Cevap: Çünkü gökkuşağı belli bir yerde duran bir cisim değil, bir doğrultular kümesidir: gözüne güneşin tam karşısındaki noktadan 42° açıyla gelen ışınlar. Sen yürüdükçe o ışığı gönderen damlalar da değişir ve yay seninle birlikte yer değiştirir. Yanındaki arkadaşın bile başka damlaların ışığını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gökkuşağı belli bir yerde duran bir cisim değil, bir doğrultular kümesidir: gözüne güneşin tam karşısındaki noktadan 42° açıyla gelen ışınlar. Sen yürüdükçe o ışığı gönderen damlalar da değişir ve yay seninle birlikte yer değiştirir. Yanındaki arkadaşın bile başka damlaların ışığını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Prizmalar gerçek dünyada
Kısaca: Prizmalar ışığı renklerine ayırarak maddelerin bileşimini okumaya, ışığı kayıpsız döndürerek dürbünlerde, reflektörlerde ve ölçüm aygıtlarında ışık yolunu yönetmeye yarar.
Prizmanın iki yeteneği, yani ışığı renklerine ayırmak ve ışığı kayıpsız döndürmek, laboratuvardan uzaya kadar pek çok aygıtın temelidir. Bazen de yalnızca bir odayı süsler.
Görsel: Pencerede bir kristal. Çok yüzlü kristalin her yüz çifti küçük bir prizma gibi davranır: güneş ışığını kırar, saptırır ve renklerine ayırır. Duvara ve tavana düşen her renkli leke ayrı bir küçük tayftır; lekeler farklı yüz çiftlerinden geldiği için odaya dağılır.
• Spektroskop: yıldızların ve maddelerin ışığını tayfa ayırıp bileşimini belirler. Helyum, Dünya'da bulunmadan önce 1868'de Güneş'in tayfında fark edildi.
• Dürbün ve periskop: tam yansımalı prizmalarla ışık yolunu katlar; dürbün kısa kalır ama görüntü düz görünür.
• Fotoğraf makinesi vizörü: pentaprizma görüntüyü düzeltir.
• Reflektör: araç ve bisiklet reflektörleri ışığı geldiği yöne döndürür. Ay'a bırakılan köşe küpü prizmalar, Ay'ın uzaklığını lazerle santimetre duyarlılığında ölçtürür.
• Optik ölçüm: refraktometrelerle sıvıların indisi ölçülür; meyve suyundaki şeker oranı böyle denetlenir.
• Parmak izi okuyucu: tam yansımanın parmağın değdiği yerlerde bozulmasıyla izin görüntüsünü çıkarır.
Köşe küpü, birbirine dik üç yüzü olan bir prizmadır; geniş bir açı aralığında, ışık nereden gelirse gelsin üç iç yansımadan sonra geldiği doğrultuya geri döner. Bu yüzden bisiklet reflektörü, arkadan gelen aracın far ışığını farın hemen yanındaki sürücünün gözüne geri yollar.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Sapma açısı (kolay)
Aşağıdaki çözümlerde aksi söylenmedikçe prizmanın çevresi havadır (n = 1).
Tepe açısı 60° olan prizmaya 45° ile giren ışın, ikinci yüzeyden 52° ile çıkıyor. Sapma açısı kaçtır?
1. δ = i₁ + i₂ − A
2. δ = 45 + 52 − 60
3. δ =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Tam yansımalı prizma (kolay)
Aşağıdaki çözümlerde aksi söylenmedikçe prizmanın çevresi havadır (n = 1).
45° – 45° – 90° prizmada ışık hipotenüse 45° ile çarpıyor. Prizmanın indisi 1,5 ise ışık ne yapar?
1. Sınır açı: sin θ = 1/1,5 = 0,667 → θ = 41,8°
2. Geliş açısı 45° &gt; 41,8° olduğu için tam yansıma olur.
3. Işığın tamamı yansır; hiç kayıp olmaz.
4. İndis 1,3 olsaydı sınır açı 50,3° olurdu ve 45° &lt; 50,3° olduğundan ışık prizmadan çıkardı.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En küçük sapmadan indis (orta)
Aşağıdaki çözümlerde aksi söylenmedikçe prizmanın çevresi havadır (n = 1).
Tepe açısı 60° olan bir prizmada en küçük sapma açısı 30° ölçülüyor. Prizmanın kırılma indisi nedir? (sin45° = 0,707 · sin30° = 0,5)
1. n = sin((A + δ)/2) / sin(A/2)
2. n = sin((60 + 30)/2) / sin30° = sin45° / sin30°
3. n = 0,707 / 0,5 = 1,41
4. Bu, yaklaşık √2 değeridir.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Prizma içindeki açılar (orta)
Aşağıdaki çözümlerde aksi söylenmedikçe prizmanın çevresi havadır (n = 1).
Tepe açısı 60°, indisi 1,5 olan prizmaya 30° ile giren ışın için r₁, r₂ ve çıkabilme durumunu inceleyiniz. (sin30° = 0,5)
1. sin r₁ = sin30°/1,5 = 0,333 → r₁ ≈ 19,5°
2. r₂ = A − r₁ = 60 − 19,5 = 40,5°
3. Sınır açı: sin θ = 1/1,5 = 0,667 → θ ≈ 41,8°
4. r₂ &lt; θ olduğu için ışın çıkabilir (ama sınıra çok yakındır).
5. Çıkış: sin i₂ = 1,5 · sin40,5° ≈ 0,975 → i₂ ≈ 77°; sapma δ ≈ 30 + 77 − 60 = 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İnce prizmada renk ayrılması (orta)
Aşağıdaki çözümlerde aksi söylenmedikçe prizmanın çevresi havadır (n = 1).
Tepe açısı 8° olan ince bir cam prizmada kırmızı için n = 1,513, mor için n = 1,538'dir. Işık prizmaya neredeyse dik geliyor. (a) Her rengin sapmasını, (b) iki renk arasındaki açıyı, (c) 2 m uzaktaki perdede tayfın genişliğini bulunuz.
1. İnce prizma: δ ≈ (n − 1)·A
2. (a) Kırmızı: 0,513 · 8° ≈ 4,10°; mor: 0,538 · 8° ≈ 4,30°
3. (b) Δδ ≈ 0,025 · 8° = 0,20°
4. (c) Genişlik ≈ 2 m · tan0,20° ≈ 2 m · 0,0035 ≈ 7 mm
60°'lik prizmada aynı iki renk arasındaki açı 2,2° kadardı; ince prizma renkleri çok daha az 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Işığın çıkabileceği en küçük gelme açısı (zor)
Aşağıdaki çözümlerde aksi söylenmedikçe prizmanın çevresi havadır (n = 1).
Tepe açısı 60°, indisi 1,50 olan bir prizmada ışığın ikinci yüzeyden çıkabilmesi için birinci yüzeye en az hangi açıyla gelmesi gerekir? (sin18,2° ≈ 0,312)
1. Sınır açı: sin θ = 1/1,50 ≈ 0,667 → θ ≈ 41,8°
2. Çıkabilmesi için r₂ ≤ 41,8° olmalı → r₁ = A − r₂ ≥ 60° − 41,8° = 18,2°
3. sin i₁ = n·sin r₁ = 1,50 · 0,312 ≈ 0,468
4. i₁ ≈ 27,9°; bundan küçük açıyla gelen ışın ikinci yüzeyde tam yansır.
5. Tam sınırda i₂ = 90° olur: ışın yüzeyi yalayarak çıkar, δ ≈ 27,9 + 90 − 60 ≈ 57,9°.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Suya batırılan prizma (zor)
Aşağıdaki çözümlerde aksi söylenmedikçe prizmanın çevresi havadır (n = 1).
İndisi 1,50 olan 45° – 45° – 90° bir prizma tamamen suya (n = 1,33) batırılıyor. Hipotenüse içeriden 45° ile çarpan ışık ne yapar? Çıkıyorsa suya hangi açıyla geçer? (sin45° = 0,707)
1. Havada: θ(sınır) = 41,8° &lt; 45° → tam yansıma olurdu (Örnek 2).
2. Suda sınır açı: sin θ = 1,33/1,50 ≈ 0,887 → θ ≈ 62,5°
3. 45° &lt; 62,5° → tam yansıma olmaz, ışık hipotenüsten suya geçer.
4. 1,50 · sin45° = 1,33 · sin x → sin x ≈ 1,061/1,33 ≈ 0,797 → x ≈ 52,9°
5. Suyun içinde bu prizma ayna gibi çalışmaz; ışığın büyük kısmı suya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Prizmanın renk ürettiğini sanmak. Prizma renkleri ayırır, üretmez.
• Kırmızının en çok saptığını düşünmek. En çok sapan mordur; indisi en büyüktür.
• δ = i₁ + i₂ + A yazmak. Doğrusu δ = i₁ + i₂ − A'dır.
• Işığın tepeye doğru saptığını sanmak. Sapma her zaman tabana doğrudur (prizma çevresinden yoğun olduğu sürece).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Işığın her durumda prizmadan çıkacağını varsaymak. r₂ sınır açıyı aşarsa ışık içeride tam yansır.
• Paralel kenarlı levhayla prizmayı karıştırmak. Levhada doğrultu korunur, prizmada değişir.
• Sapmanın gelme açısıyla hep arttığını sanmak. Sapma önce azalır, en küçük değerden sonra artar; aynı sapma iki farklı gelme açısıyla elde edilebilir.
• Gökkuşağını belli bir yerde duran bir cisim sanmak. Gökkuşağı, güneşin tam karşısındaki noktadan 42° açıyla gelen ışınların kümesidir; sen yürüdükçe o da yer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Sapma δ = i₁ + i₂ − A · Mor en çok sapar · 45° prizma tam yansıtır · Gökkuşağı 42°
r₁ + r₂ = A — prizma içi açılar
δ = i₁ + i₂ − A — sapma açısı
n(mor) &gt; n(kırmızı) — dağılma (dispersiyon)
sin θ(sınır) = 1/n — tam yansımalı prizma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prizmala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07</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Prizmalar</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Prizma, ışığı iki kez kırarak saptırır. Her renk için kırılma indisi biraz farklı olduğundan beyaz ışık bileşenlerine ayrılır — gökkuşağının, elmasın parıltısının ve spektroskopun arkasındaki olay budur.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Beyaz ışığın içinde bir gökkuşağı saklı olabilir mi?</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Newton, 1666'da karanlık odasına giren güneş ışığını bir prizmadan geçirdi ve duvarda bir gökkuşağı gördü.</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 güne kadar herkes rengin camdan geldiğini sanıyordu; Newton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ikinci bir prizmayla renkleri yeniden birleştirip</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beyaz ışığı geri elde etti ve rengin ışığın kendisinde olduğunu kanıtladı.</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gökkuşağına ve bir cam prizmaya bak, ışığın neden büküldüğünü ve renklerin nereden geldiğini gör.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100" b="1" dirty="0">
                <a:solidFill>
                  <a:srgbClr val="0E1426"/>
                </a:solidFill>
                <a:latin typeface="Calibri" pitchFamily="34" charset="0"/>
                <a:ea typeface="Calibri" pitchFamily="34" charset="-122"/>
                <a:cs typeface="Calibri" pitchFamily="34" charset="-120"/>
              </a:rPr>
              <a:t>Önce gözlemle: yağmurdan sonra gökyüzündeki renkler nereden gelir?</a:t>
            </a:r>
            <a:endParaRPr lang="en-US" sz="11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Prizma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Beyaz ışık: Newton'un iki prizması</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Bağıntılar: prizmanın ışığı ne kadar saptırdığını adım adım hesapla, en küçük sapmayı ve renklerin açılmasını sayılarla gör.</a:t>
            </a:r>
            <a:endParaRPr lang="en-US" sz="100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Sapma açısı: iki kırılmanın toplamı</a:t>
            </a:r>
            <a:endParaRPr lang="en-US" sz="1250" dirty="0"/>
          </a:p>
        </p:txBody>
      </p:sp>
      <p:sp>
        <p:nvSpPr>
          <p:cNvPr id="28" name="Text 26"/>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sapma, gelme açısına nasıl bağlı?</a:t>
            </a:r>
            <a:endParaRPr lang="en-US" sz="1150" dirty="0"/>
          </a:p>
        </p:txBody>
      </p:sp>
      <p:sp>
        <p:nvSpPr>
          <p:cNvPr id="30" name="Text 28"/>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En küçük sapma ve indis ölçümü</a:t>
            </a:r>
            <a:endParaRPr lang="en-US" sz="1250" dirty="0"/>
          </a:p>
        </p:txBody>
      </p:sp>
      <p:sp>
        <p:nvSpPr>
          <p:cNvPr id="32" name="Text 30"/>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Dispersiyon: her rengin kendi indisi</a:t>
            </a:r>
            <a:endParaRPr lang="en-US" sz="12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Derinleşme: ışık prizmadan çıkamayınca, prizma başka bir ortama girince ve prizma bir yağmur damlasına dönüşünce ne olur?</a:t>
            </a:r>
            <a:endParaRPr lang="en-US" sz="10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Tam yansımalı prizmalar ve çevre ortam</a:t>
            </a:r>
            <a:endParaRPr lang="en-US" sz="125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Gökkuşağı: her damla küçük bir prizma</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Prizmalar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450" dirty="0">
                <a:solidFill>
                  <a:srgbClr val="C3CEE8"/>
                </a:solidFill>
                <a:latin typeface="Calibri" pitchFamily="34" charset="0"/>
                <a:ea typeface="Calibri" pitchFamily="34" charset="-122"/>
                <a:cs typeface="Calibri" pitchFamily="34" charset="-120"/>
              </a:rPr>
              <a:t>Önce sezgi: gökkuşağına ve bir cam prizmaya bak, ışığın neden büküldüğünü ve renklerin nereden geldiğini gör. Bu basamakta hesap yok denecek kadar az.</a:t>
            </a:r>
            <a:endParaRPr lang="en-US" sz="145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yağmurdan sonra gökyüzündeki renkler nereden gelir?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Prizma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Beyaz ışık: Newton'un iki prizması</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prizmala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Yağmurdan sonra.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Ana yayda kırmızı dışta, mor içte; üstteki soluk ikinci yayda renkler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ters sırada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İki yayın arasındaki gökyüzü, ana yayın içinden biraz daha koyu görünür. Güneş görünmüyor, çünkü gözlemcinin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arkasında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gölgeler gökkuşağına doğru uzanıyor. Her yağmur damlası güneş ışığını küçük bir prizma gibi renklerine ayırır; nasıl olduğunu İleri basamakta göreceğiz.</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100" b="1" spc="-50" kern="0" dirty="0">
                <a:solidFill>
                  <a:srgbClr val="0E1426"/>
                </a:solidFill>
                <a:latin typeface="Cambria" pitchFamily="34" charset="0"/>
                <a:ea typeface="Cambria" pitchFamily="34" charset="-122"/>
                <a:cs typeface="Cambria" pitchFamily="34" charset="-120"/>
              </a:rPr>
              <a:t>Önce gözlemle: yağmurdan sonra gökyüzündeki renkler nereden gelir?</a:t>
            </a:r>
            <a:endParaRPr lang="en-US" sz="21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Gökkuşağının renkleri hep aynı sırada ve hep güneşin karşısında görünür. Aynı renk şeridi, güneş ışığı eğik yüzeyli bir cam ya da sudan geçtiğinde de ortaya çıkar.</a:t>
            </a:r>
            <a:endParaRPr lang="en-US" sz="1900" dirty="0"/>
          </a:p>
        </p:txBody>
      </p:sp>
      <p:sp>
        <p:nvSpPr>
          <p:cNvPr id="9" name="Text 7"/>
          <p:cNvSpPr txBox="1"/>
          <p:nvPr/>
        </p:nvSpPr>
        <p:spPr>
          <a:xfrm>
            <a:off x="640080" y="2294534"/>
            <a:ext cx="10911535" cy="3619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Aynı renk şeridini evde de yakalayabilirsin:</a:t>
            </a:r>
            <a:endParaRPr lang="en-US" sz="1700" dirty="0"/>
          </a:p>
        </p:txBody>
      </p:sp>
      <p:sp>
        <p:nvSpPr>
          <p:cNvPr id="10" name="Text 8"/>
          <p:cNvSpPr txBox="1"/>
          <p:nvPr/>
        </p:nvSpPr>
        <p:spPr>
          <a:xfrm>
            <a:off x="640080" y="2766212"/>
            <a:ext cx="10911535" cy="168173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Bir bardak su:</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güneşli bir pencerenin önüne konan su dolu bardak, masaya küçük renkli bir şerit düşürür.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Kesik cam kenarı:</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pahlı bir aynanın ya da cam masanın kenarından geçen ışık duvarda renklere ayrılır.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Avize kristali:</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cam bir kristal, güneş ışığını odaya renkli lekeler hâlinde saçar.</a:t>
            </a:r>
            <a:endParaRPr lang="en-US" sz="1700" dirty="0"/>
          </a:p>
        </p:txBody>
      </p:sp>
      <p:sp>
        <p:nvSpPr>
          <p:cNvPr id="11" name="Text 9"/>
          <p:cNvSpPr txBox="1"/>
          <p:nvPr/>
        </p:nvSpPr>
        <p:spPr>
          <a:xfrm>
            <a:off x="640080" y="4557674"/>
            <a:ext cx="10911535" cy="7239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Hepsinde ortak olan şey, ışığın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eğik yüzeyli saydam bir cisimden</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geçmesidir.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Böyle bir cisme prizma denir; bu anlatım onun fiziğidir.</a:t>
            </a:r>
            <a:endParaRPr lang="en-US" sz="1700" dirty="0"/>
          </a:p>
        </p:txBody>
      </p:sp>
      <p:sp>
        <p:nvSpPr>
          <p:cNvPr id="12" name="Shape 10"/>
          <p:cNvSpPr/>
          <p:nvPr/>
        </p:nvSpPr>
        <p:spPr>
          <a:xfrm>
            <a:off x="640080" y="6382512"/>
            <a:ext cx="128016" cy="128016"/>
          </a:xfrm>
          <a:prstGeom prst="roundRect">
            <a:avLst>
              <a:gd name="adj" fmla="val 28571"/>
            </a:avLst>
          </a:prstGeom>
          <a:solidFill>
            <a:srgbClr val="A9E648"/>
          </a:solidFill>
          <a:ln/>
        </p:spPr>
      </p:sp>
      <p:sp>
        <p:nvSpPr>
          <p:cNvPr id="13"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4"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Gökkuşağını görmek için neden güneşe sırtını dönmen gerekir?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yağmurdan sonra gökyüzündeki renkler nereden gelir?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Gökkuşağını görmek için neden güneşe sırtını dönmen gerekir?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Gökkuşağının ışığı, damlalara girip içlerinde yansıdıktan sonra kabaca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geldiği yöne doğru</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geri dönen güneş ışığıdır. Bu ışığın gözüne ulaşması için damlaların önünde, güneşin arkanda olması gerekir. Güneşe dönük bakarsan damlalardan geri dönen ışık sırtına gider.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Prizma, iki yüzü birbirine paralel olmayan saydam bir cisimdir. İçinden geçen ışın iki kez kırılır ve bu iki kırılma toplanarak ışını tabana doğru saptırır.</a:t>
            </a:r>
            <a:endParaRPr lang="en-US" sz="1900" dirty="0"/>
          </a:p>
        </p:txBody>
      </p:sp>
      <p:sp>
        <p:nvSpPr>
          <p:cNvPr id="9" name="Text 7"/>
          <p:cNvSpPr txBox="1"/>
          <p:nvPr/>
        </p:nvSpPr>
        <p:spPr>
          <a:xfrm>
            <a:off x="640080" y="2294534"/>
            <a:ext cx="5486400" cy="131368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Tepe açısı (A):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ışığın girdiği ve çıktığı yüzeyler arasındaki açı.</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Taban: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tepe açısının karşısındaki yüzey.</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Işık her zaman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tabana doğru</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sapar.</a:t>
            </a:r>
            <a:endParaRPr lang="en-US" sz="1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3717950"/>
          <a:ext cx="5486400" cy="914400"/>
        </p:xfrm>
        <a:graphic>
          <a:graphicData uri="http://schemas.openxmlformats.org/drawingml/2006/table">
            <a:tbl>
              <a:tblPr/>
              <a:tblGrid>
                <a:gridCol w="1669774"/>
                <a:gridCol w="1351722"/>
                <a:gridCol w="246490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Saydam cisim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Yüzeyler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Işık ne yapar?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Paralel kenarlı levha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paralel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yana kayar, doğrultusu değişmez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Prizma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eğik (A açısıyla)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tabana doğru sapar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1" name="Shape 8"/>
          <p:cNvSpPr/>
          <p:nvPr/>
        </p:nvSpPr>
        <p:spPr>
          <a:xfrm>
            <a:off x="6419088" y="2294534"/>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5/sek/prizmalar-01.png">    </p:cNvPr>
          <p:cNvPicPr>
            <a:picLocks noChangeAspect="1"/>
          </p:cNvPicPr>
          <p:nvPr/>
        </p:nvPicPr>
        <p:blipFill>
          <a:blip r:embed="rId1"/>
          <a:stretch>
            <a:fillRect/>
          </a:stretch>
        </p:blipFill>
        <p:spPr>
          <a:xfrm>
            <a:off x="6601968" y="2477414"/>
            <a:ext cx="4766767" cy="2025876"/>
          </a:xfrm>
          <a:prstGeom prst="rect">
            <a:avLst/>
          </a:prstGeom>
        </p:spPr>
      </p:pic>
      <p:sp>
        <p:nvSpPr>
          <p:cNvPr id="13" name="Shape 9"/>
          <p:cNvSpPr/>
          <p:nvPr/>
        </p:nvSpPr>
        <p:spPr>
          <a:xfrm>
            <a:off x="6601968" y="4594730"/>
            <a:ext cx="4766767" cy="0"/>
          </a:xfrm>
          <a:prstGeom prst="line">
            <a:avLst/>
          </a:prstGeom>
          <a:noFill/>
          <a:ln w="9525">
            <a:solidFill>
              <a:srgbClr val="E1E5EE"/>
            </a:solidFill>
            <a:prstDash val="dash"/>
          </a:ln>
        </p:spPr>
      </p:sp>
      <p:sp>
        <p:nvSpPr>
          <p:cNvPr id="14" name="Text 10"/>
          <p:cNvSpPr txBox="1"/>
          <p:nvPr/>
        </p:nvSpPr>
        <p:spPr>
          <a:xfrm>
            <a:off x="6601968" y="464959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Prizma iki eğik yüzeyi olan bir cam bloktur. Işık birinci yüzeyde içeri girerken normale yaklaşır, ikinci yüzeyden çıkarken normalden uzaklaşır — ama iki yüzey paralel olmadığı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bu iki kırılma birbirini götürmez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toplanır. Sonuç: ışın daima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tabana doğru</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sapar. Gelen ve çıkan ışın arasındaki açıya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sapma açısı (δ)</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denir.</a:t>
            </a:r>
            <a:endParaRPr lang="en-US" sz="1050" dirty="0"/>
          </a:p>
        </p:txBody>
      </p:sp>
      <p:sp>
        <p:nvSpPr>
          <p:cNvPr id="15" name="Shape 11"/>
          <p:cNvSpPr/>
          <p:nvPr/>
        </p:nvSpPr>
        <p:spPr>
          <a:xfrm>
            <a:off x="640080" y="6382512"/>
            <a:ext cx="128016" cy="128016"/>
          </a:xfrm>
          <a:prstGeom prst="roundRect">
            <a:avLst>
              <a:gd name="adj" fmla="val 28571"/>
            </a:avLst>
          </a:prstGeom>
          <a:solidFill>
            <a:srgbClr val="A9E648"/>
          </a:solidFill>
          <a:ln/>
        </p:spPr>
      </p:sp>
      <p:sp>
        <p:nvSpPr>
          <p:cNvPr id="16"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7"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Beyaz ışık: Newton'un iki prizması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Beyaz ışık bütün renklerin karışımıdır. Prizma renkleri üretmez, her rengi biraz farklı saptırarak ayırır; buna dispersiyon, oluşan renk şeridine tayf denir.</a:t>
            </a:r>
            <a:endParaRPr lang="en-US" sz="1900" dirty="0"/>
          </a:p>
        </p:txBody>
      </p:sp>
      <p:sp>
        <p:nvSpPr>
          <p:cNvPr id="9" name="Text 7"/>
          <p:cNvSpPr txBox="1"/>
          <p:nvPr/>
        </p:nvSpPr>
        <p:spPr>
          <a:xfrm>
            <a:off x="640080" y="2294534"/>
            <a:ext cx="6309360" cy="1664208"/>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Ayırma: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birinci prizma ışığı duvarda uzun bir renk şeridine açtı.</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Tek renk: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şeritten yalnızca bir rengi bir delikten geçirip ikinci bir prizmaya gönderdi; ışık yine büküldü ama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rengi değişmedi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Birleştirme: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ters çevrilmiş ikinci bir prizmayla bütün renkleri üst üste getirince yeniden beyaz ışık elde etti.</a:t>
            </a:r>
            <a:endParaRPr lang="en-US" sz="1400" dirty="0"/>
          </a:p>
        </p:txBody>
      </p:sp>
      <p:sp>
        <p:nvSpPr>
          <p:cNvPr id="10" name="Shape 8"/>
          <p:cNvSpPr/>
          <p:nvPr/>
        </p:nvSpPr>
        <p:spPr>
          <a:xfrm>
            <a:off x="640080" y="4068470"/>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214774"/>
            <a:ext cx="45720" cy="793242"/>
          </a:xfrm>
          <a:prstGeom prst="rect">
            <a:avLst/>
          </a:prstGeom>
          <a:solidFill>
            <a:srgbClr val="3C8C21"/>
          </a:solidFill>
          <a:ln/>
        </p:spPr>
      </p:sp>
      <p:sp>
        <p:nvSpPr>
          <p:cNvPr id="12" name="Text 10"/>
          <p:cNvSpPr txBox="1"/>
          <p:nvPr/>
        </p:nvSpPr>
        <p:spPr>
          <a:xfrm>
            <a:off x="914400" y="4178198"/>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Dikkat:</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Prizma renkleri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üretmez</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yalnızca zaten var olan renkleri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ayırır</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İkinci bir prizmayla tayf yeniden birleştirilirse beyaz ışık elde edilir — Newton bunu 1666'da göstermiştir.</a:t>
            </a:r>
            <a:endParaRPr lang="en-US" sz="1300" dirty="0"/>
          </a:p>
        </p:txBody>
      </p:sp>
      <p:sp>
        <p:nvSpPr>
          <p:cNvPr id="13" name="Shape 11"/>
          <p:cNvSpPr/>
          <p:nvPr/>
        </p:nvSpPr>
        <p:spPr>
          <a:xfrm>
            <a:off x="7242048" y="2294534"/>
            <a:ext cx="4309567" cy="3351206"/>
          </a:xfrm>
          <a:prstGeom prst="roundRect">
            <a:avLst>
              <a:gd name="adj" fmla="val 436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prizmalar-02.png">    </p:cNvPr>
          <p:cNvPicPr>
            <a:picLocks noChangeAspect="1"/>
          </p:cNvPicPr>
          <p:nvPr/>
        </p:nvPicPr>
        <p:blipFill>
          <a:blip r:embed="rId1"/>
          <a:stretch>
            <a:fillRect/>
          </a:stretch>
        </p:blipFill>
        <p:spPr>
          <a:xfrm>
            <a:off x="7424928" y="2477414"/>
            <a:ext cx="3943807" cy="1708944"/>
          </a:xfrm>
          <a:prstGeom prst="rect">
            <a:avLst/>
          </a:prstGeom>
        </p:spPr>
      </p:pic>
      <p:sp>
        <p:nvSpPr>
          <p:cNvPr id="15" name="Shape 12"/>
          <p:cNvSpPr/>
          <p:nvPr/>
        </p:nvSpPr>
        <p:spPr>
          <a:xfrm>
            <a:off x="7424928" y="4277798"/>
            <a:ext cx="3943807" cy="0"/>
          </a:xfrm>
          <a:prstGeom prst="line">
            <a:avLst/>
          </a:prstGeom>
          <a:noFill/>
          <a:ln w="9525">
            <a:solidFill>
              <a:srgbClr val="E1E5EE"/>
            </a:solidFill>
            <a:prstDash val="dash"/>
          </a:ln>
        </p:spPr>
      </p:sp>
      <p:sp>
        <p:nvSpPr>
          <p:cNvPr id="16" name="Text 13"/>
          <p:cNvSpPr txBox="1"/>
          <p:nvPr/>
        </p:nvSpPr>
        <p:spPr>
          <a:xfrm>
            <a:off x="7424928" y="4332662"/>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Camın kırılma indisi her renk için biraz farklıdır: mor ışık için en büyük, kırmızı için en küçüktür. Bu yüzden beyaz ışık prizmadan geçerken renkler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farklı açılarda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sapar ve tayf hâlinde açılır. Buna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dispersiyon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denir. Renkler camın içinde ortaya çıkmaz — beyaz ışığın içinde zaten vardır, prizma yalnızca onları ayırır.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Prizmadan çıkan kırmızı ışığı ikinci bir prizmadan geçirirsen yeni renkler çıkar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Beyaz ışık: Newton'un iki prizması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Prizmadan çıkan kırmızı ışığı ikinci bir prizmadan geçirirsen yeni renkler çıkar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Hayır. Kırmızı ışık ikinci prizmada yine kırılır ve sapar, ama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kırmızı kalır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içinde ayrılacak başka renk yoktur. Newton'un kilit gözlemi buydu: renk camın ışığa yaptığı bir değişiklik olsaydı, ikinci prizma kırmızıyı da başka renklere dönüştürürdü.</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prizmanın ışığı ne kadar saptırdığını adım adım hesapla, en küçük sapmayı ve renklerin açılmasını sayılarla gör.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Sapma açısı: iki kırılmanın toplamı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Sayılarla hisset: sapma, gelme açısına nasıl bağlı?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En küçük sapma ve indis ölçümü</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Dispersiyon: her rengin kendi indisi</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r₁ + r₂ = A</a:t>
            </a:r>
            <a:endParaRPr lang="en-US" sz="1500" dirty="0"/>
          </a:p>
        </p:txBody>
      </p:sp>
      <p:sp>
        <p:nvSpPr>
          <p:cNvPr id="13" name="Text 11"/>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prizma içi açılar</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δ = i₁ + i₂ − A</a:t>
            </a:r>
            <a:endParaRPr lang="en-US" sz="1500" dirty="0"/>
          </a:p>
        </p:txBody>
      </p:sp>
      <p:sp>
        <p:nvSpPr>
          <p:cNvPr id="16" name="Text 14"/>
          <p:cNvSpPr txBox="1"/>
          <p:nvPr/>
        </p:nvSpPr>
        <p:spPr>
          <a:xfrm>
            <a:off x="8549640" y="235000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sapma açısı</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253288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n(mor) &gt; n(kırmızı)</a:t>
            </a:r>
            <a:endParaRPr lang="en-US" sz="1500" dirty="0"/>
          </a:p>
        </p:txBody>
      </p:sp>
      <p:sp>
        <p:nvSpPr>
          <p:cNvPr id="19" name="Text 17"/>
          <p:cNvSpPr txBox="1"/>
          <p:nvPr/>
        </p:nvSpPr>
        <p:spPr>
          <a:xfrm>
            <a:off x="9025128" y="3218688"/>
            <a:ext cx="234360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dağılma (dispersiyon)</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241401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sin θ(sınır) = 1/n</a:t>
            </a:r>
            <a:endParaRPr lang="en-US" sz="1500" dirty="0"/>
          </a:p>
        </p:txBody>
      </p:sp>
      <p:sp>
        <p:nvSpPr>
          <p:cNvPr id="22" name="Text 20"/>
          <p:cNvSpPr txBox="1"/>
          <p:nvPr/>
        </p:nvSpPr>
        <p:spPr>
          <a:xfrm>
            <a:off x="8906256" y="4087368"/>
            <a:ext cx="246247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yansımalı prizma</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Sapma açısı: iki kırılmanın toplamı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Işın prizmada iki kez kırılır ve iki dönüş aynı yöne toplanır. Geometriden r₁ + r₂ = A, toplam sapma için δ = i₁ + i₂ − A bulunur.</a:t>
            </a:r>
            <a:endParaRPr lang="en-US" sz="1900" dirty="0"/>
          </a:p>
        </p:txBody>
      </p:sp>
      <p:sp>
        <p:nvSpPr>
          <p:cNvPr id="9" name="Shape 7"/>
          <p:cNvSpPr/>
          <p:nvPr/>
        </p:nvSpPr>
        <p:spPr>
          <a:xfrm>
            <a:off x="640080" y="2294534"/>
            <a:ext cx="2333549"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sin i₁ = n · sin r₁</a:t>
            </a:r>
            <a:endParaRPr lang="en-US" sz="1300" dirty="0"/>
          </a:p>
        </p:txBody>
      </p:sp>
      <p:sp>
        <p:nvSpPr>
          <p:cNvPr id="11" name="Shape 9"/>
          <p:cNvSpPr/>
          <p:nvPr/>
        </p:nvSpPr>
        <p:spPr>
          <a:xfrm>
            <a:off x="3083357" y="2294534"/>
            <a:ext cx="2333549"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083357" y="2294534"/>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sin r₂ = sin i₂</a:t>
            </a:r>
            <a:endParaRPr lang="en-US" sz="1300" dirty="0"/>
          </a:p>
        </p:txBody>
      </p:sp>
      <p:sp>
        <p:nvSpPr>
          <p:cNvPr id="13" name="Shape 11"/>
          <p:cNvSpPr/>
          <p:nvPr/>
        </p:nvSpPr>
        <p:spPr>
          <a:xfrm>
            <a:off x="5526634" y="2294534"/>
            <a:ext cx="1543507"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5526634" y="2294534"/>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r₁ + r₂ = A</a:t>
            </a:r>
            <a:endParaRPr lang="en-US" sz="1300" dirty="0"/>
          </a:p>
        </p:txBody>
      </p:sp>
      <p:sp>
        <p:nvSpPr>
          <p:cNvPr id="15" name="Shape 13"/>
          <p:cNvSpPr/>
          <p:nvPr/>
        </p:nvSpPr>
        <p:spPr>
          <a:xfrm>
            <a:off x="640080" y="2861462"/>
            <a:ext cx="1938528"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640080" y="2861462"/>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 = i₁ + i₂ − A</a:t>
            </a:r>
            <a:endParaRPr lang="en-US" sz="1300" dirty="0"/>
          </a:p>
        </p:txBody>
      </p:sp>
      <p:sp>
        <p:nvSpPr>
          <p:cNvPr id="17" name="Text 15"/>
          <p:cNvSpPr txBox="1"/>
          <p:nvPr/>
        </p:nvSpPr>
        <p:spPr>
          <a:xfrm>
            <a:off x="640080" y="3483254"/>
            <a:ext cx="6675120"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i₁:</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birinci yüzeye geliş açısı,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r₁:</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içerideki kırılma açısı.</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r₂:</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ikinci yüzeye geliş açısı,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i₂:</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çıkış açısı.</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Tepe açısı ve indis büyüdükçe sapma artar.</a:t>
            </a:r>
            <a:endParaRPr lang="en-US" sz="1300" dirty="0"/>
          </a:p>
        </p:txBody>
      </p:sp>
      <p:sp>
        <p:nvSpPr>
          <p:cNvPr id="18" name="Shape 16"/>
          <p:cNvSpPr/>
          <p:nvPr/>
        </p:nvSpPr>
        <p:spPr>
          <a:xfrm>
            <a:off x="7607808" y="2294534"/>
            <a:ext cx="3943807" cy="3192714"/>
          </a:xfrm>
          <a:prstGeom prst="roundRect">
            <a:avLst>
              <a:gd name="adj" fmla="val 458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9" name="Image 0" descr="/tmp/claude-1000/-opt-dersler/8a8328c3-841c-44fa-b76f-82572d338d3d/scratchpad/d5/sek/prizmalar-03.png">    </p:cNvPr>
          <p:cNvPicPr>
            <a:picLocks noChangeAspect="1"/>
          </p:cNvPicPr>
          <p:nvPr/>
        </p:nvPicPr>
        <p:blipFill>
          <a:blip r:embed="rId1"/>
          <a:stretch>
            <a:fillRect/>
          </a:stretch>
        </p:blipFill>
        <p:spPr>
          <a:xfrm>
            <a:off x="7790688" y="2477414"/>
            <a:ext cx="3578047" cy="1550451"/>
          </a:xfrm>
          <a:prstGeom prst="rect">
            <a:avLst/>
          </a:prstGeom>
        </p:spPr>
      </p:pic>
      <p:sp>
        <p:nvSpPr>
          <p:cNvPr id="20" name="Shape 17"/>
          <p:cNvSpPr/>
          <p:nvPr/>
        </p:nvSpPr>
        <p:spPr>
          <a:xfrm>
            <a:off x="7790688" y="4119306"/>
            <a:ext cx="3578047" cy="0"/>
          </a:xfrm>
          <a:prstGeom prst="line">
            <a:avLst/>
          </a:prstGeom>
          <a:noFill/>
          <a:ln w="9525">
            <a:solidFill>
              <a:srgbClr val="E1E5EE"/>
            </a:solidFill>
            <a:prstDash val="dash"/>
          </a:ln>
        </p:spPr>
      </p:sp>
      <p:sp>
        <p:nvSpPr>
          <p:cNvPr id="21" name="Text 18"/>
          <p:cNvSpPr txBox="1"/>
          <p:nvPr/>
        </p:nvSpPr>
        <p:spPr>
          <a:xfrm>
            <a:off x="7790688" y="4174170"/>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Dört açı vardır: ışının birinci yüzeye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geliş</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açısı i₁, içerideki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kırılma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açısı r₁, ikinci yüzeye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varış</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açısı r₂ ve dışarı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çıkış</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açısı i₂. Geometriden r₁ + r₂ = A çıkar; sapma ise δ = i₁ + i₂ − A'dır. Bu iki bağıntı, prizma sorularının neredeyse tamamını çözer.</a:t>
            </a:r>
            <a:endParaRPr lang="en-US" sz="1050" dirty="0"/>
          </a:p>
        </p:txBody>
      </p:sp>
      <p:sp>
        <p:nvSpPr>
          <p:cNvPr id="22" name="Shape 19"/>
          <p:cNvSpPr/>
          <p:nvPr/>
        </p:nvSpPr>
        <p:spPr>
          <a:xfrm>
            <a:off x="640080" y="6382512"/>
            <a:ext cx="128016" cy="128016"/>
          </a:xfrm>
          <a:prstGeom prst="roundRect">
            <a:avLst>
              <a:gd name="adj" fmla="val 28571"/>
            </a:avLst>
          </a:prstGeom>
          <a:solidFill>
            <a:srgbClr val="A9E648"/>
          </a:solidFill>
          <a:ln/>
        </p:spPr>
      </p:sp>
      <p:sp>
        <p:nvSpPr>
          <p:cNvPr id="23"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4"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Sapma açısı: iki kırılmanın toplamı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517904"/>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Bağıntılar nereden geliyor?</a:t>
            </a:r>
            <a:endParaRPr lang="en-US" sz="1350" dirty="0"/>
          </a:p>
        </p:txBody>
      </p:sp>
      <p:sp>
        <p:nvSpPr>
          <p:cNvPr id="7" name="Text 5"/>
          <p:cNvSpPr txBox="1"/>
          <p:nvPr/>
        </p:nvSpPr>
        <p:spPr>
          <a:xfrm>
            <a:off x="640080" y="1828800"/>
            <a:ext cx="10911535" cy="139522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Birinci dönüş:</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birinci yüzeyde ışın normale yaklaşır ve doğrultusu i₁ − r₁ kadar döner.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İkinci dönüş:</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ikinci yüzeyde normalden uzaklaşır ve yine aynı yöne, i₂ − r₂ kadar döner.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Geometri: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iki yüzeyin normalleri birbiriyle 180° − A açısı yapar; içerideki ışın ve iki normalin oluşturduğu üçgende r₁ + r₂ + (180° − A) = 180°, yani r₁ + r₂ = A.</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Toplam:</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δ = (i₁ − r₁) + (i₂ − r₂) = i₁ + i₂ − A.</a:t>
            </a:r>
            <a:endParaRPr lang="en-US" sz="1300" dirty="0"/>
          </a:p>
        </p:txBody>
      </p:sp>
      <p:sp>
        <p:nvSpPr>
          <p:cNvPr id="8" name="Shape 6"/>
          <p:cNvSpPr/>
          <p:nvPr/>
        </p:nvSpPr>
        <p:spPr>
          <a:xfrm>
            <a:off x="640080" y="3333750"/>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658368" y="3480054"/>
            <a:ext cx="45720" cy="530352"/>
          </a:xfrm>
          <a:prstGeom prst="rect">
            <a:avLst/>
          </a:prstGeom>
          <a:solidFill>
            <a:srgbClr val="A56209"/>
          </a:solidFill>
          <a:ln/>
        </p:spPr>
      </p:sp>
      <p:sp>
        <p:nvSpPr>
          <p:cNvPr id="10" name="Text 8"/>
          <p:cNvSpPr txBox="1"/>
          <p:nvPr/>
        </p:nvSpPr>
        <p:spPr>
          <a:xfrm>
            <a:off x="914400" y="3443478"/>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Işık her zaman çıkamaz.</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r₂ sınır açıdan büyükse ışık ikinci yüzeyden çıkamaz, içeride tam yansımaya uğrar. Tam yansımalı prizmalar bunu bilerek kullanır.</a:t>
            </a:r>
            <a:endParaRPr lang="en-US" sz="12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sapma, gelme açısına nasıl bağlı?</a:t>
            </a:r>
            <a:endParaRPr lang="en-US" sz="27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60°'lik, 1,50 indisli prizmada sapma önce azalır, gelme açısı 48,6° iken en küçük değerine (37,2°) iner, sonra yeniden artar. Gelme açısı yaklaşık 28°'nin altındaysa ışık ikinci yüzeyden çıkamaz.</a:t>
            </a:r>
            <a:endParaRPr lang="en-US" sz="1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2645221"/>
                <a:gridCol w="3306526"/>
                <a:gridCol w="2645221"/>
                <a:gridCol w="2314568"/>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Gelme i₁</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İçeride r₂</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Çıkış i₂</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Sapma δ</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46,8°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çıkamaz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77,1°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47,1°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34,6°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58,5°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38,5°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48,6°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48,6°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37,2°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77,1°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47,1°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640080" y="4751222"/>
            <a:ext cx="10911535" cy="11673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Önce azalır, sonra artar: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sapma 47,1°'den 37,2°'ye iner, sonra yeniden yükselir.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En küçük değer simetride: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i₁ = i₂ = 48,6° olduğunda sapma en küçüktür, 37,2°.</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Işık yolu tersinirdir: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30° ile giren ışın 77,1° ile çıkar; 77,1° ile giren 30° ile çıkar. Sapma ikisinde de 47,1°'dir.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Küçük gelme açısında çıkış yok: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20°'de r₂ = 46,8° sınır açıyı (41,8°) aşar, ışık içeride tam yansır.</a:t>
            </a:r>
            <a:endParaRPr lang="en-US" sz="13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En küçük sapma ve indis ölçümü</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Sapma, ışın prizmadan simetrik geçtiğinde en küçüktür: r₁ = r₂ = A/2 ve i₁ = i₂. Bu durumda n = sin((A + δmin)/2) / sin(A/2) olur; indis ölçmenin klasik yolu budur.</a:t>
            </a:r>
            <a:endParaRPr lang="en-US" sz="1900" dirty="0"/>
          </a:p>
        </p:txBody>
      </p:sp>
      <p:sp>
        <p:nvSpPr>
          <p:cNvPr id="9" name="Shape 7"/>
          <p:cNvSpPr/>
          <p:nvPr/>
        </p:nvSpPr>
        <p:spPr>
          <a:xfrm>
            <a:off x="640080" y="2294534"/>
            <a:ext cx="2827325"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i₁ = i₂ ve r₁ = r₂ = A/2</a:t>
            </a:r>
            <a:endParaRPr lang="en-US" sz="1300" dirty="0"/>
          </a:p>
        </p:txBody>
      </p:sp>
      <p:sp>
        <p:nvSpPr>
          <p:cNvPr id="11" name="Shape 9"/>
          <p:cNvSpPr/>
          <p:nvPr/>
        </p:nvSpPr>
        <p:spPr>
          <a:xfrm>
            <a:off x="3577133" y="2294534"/>
            <a:ext cx="2432304"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577133" y="2294534"/>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 = (A + δ(min)) / 2</a:t>
            </a:r>
            <a:endParaRPr lang="en-US" sz="1300" dirty="0"/>
          </a:p>
        </p:txBody>
      </p:sp>
      <p:sp>
        <p:nvSpPr>
          <p:cNvPr id="13" name="Shape 11"/>
          <p:cNvSpPr/>
          <p:nvPr/>
        </p:nvSpPr>
        <p:spPr>
          <a:xfrm>
            <a:off x="640080" y="2861462"/>
            <a:ext cx="2432304"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2861462"/>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sin i / sin(A/2)</a:t>
            </a:r>
            <a:endParaRPr lang="en-US" sz="1300" dirty="0"/>
          </a:p>
        </p:txBody>
      </p:sp>
      <p:sp>
        <p:nvSpPr>
          <p:cNvPr id="15" name="Text 13"/>
          <p:cNvSpPr txBox="1"/>
          <p:nvPr/>
        </p:nvSpPr>
        <p:spPr>
          <a:xfrm>
            <a:off x="640080" y="3483254"/>
            <a:ext cx="5486400" cy="221894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Simetri: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r₁ = r₂ ve r₁ + r₂ = A olduğundan r = A/2.</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Eşit açılar: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i₁ = i₂ = i olduğundan δ(min) = 2i − A.</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Gelme açısını çek: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 = (A + δ(min))/2.</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Snell yasası: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sin i = n·sin r, buradan n = sin((A + δ(min))/2) / sin(A/2).</a:t>
            </a:r>
            <a:endParaRPr lang="en-US" sz="1600" dirty="0"/>
          </a:p>
        </p:txBody>
      </p:sp>
      <p:sp>
        <p:nvSpPr>
          <p:cNvPr id="16" name="Shape 14"/>
          <p:cNvSpPr/>
          <p:nvPr/>
        </p:nvSpPr>
        <p:spPr>
          <a:xfrm>
            <a:off x="6419088" y="2294534"/>
            <a:ext cx="5132527" cy="3389513"/>
          </a:xfrm>
          <a:prstGeom prst="roundRect">
            <a:avLst>
              <a:gd name="adj" fmla="val 431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5/sek/prizmalar-04.png">    </p:cNvPr>
          <p:cNvPicPr>
            <a:picLocks noChangeAspect="1"/>
          </p:cNvPicPr>
          <p:nvPr/>
        </p:nvPicPr>
        <p:blipFill>
          <a:blip r:embed="rId1"/>
          <a:stretch>
            <a:fillRect/>
          </a:stretch>
        </p:blipFill>
        <p:spPr>
          <a:xfrm>
            <a:off x="6601968" y="2477414"/>
            <a:ext cx="4766767" cy="1926473"/>
          </a:xfrm>
          <a:prstGeom prst="rect">
            <a:avLst/>
          </a:prstGeom>
        </p:spPr>
      </p:pic>
      <p:sp>
        <p:nvSpPr>
          <p:cNvPr id="18" name="Shape 15"/>
          <p:cNvSpPr/>
          <p:nvPr/>
        </p:nvSpPr>
        <p:spPr>
          <a:xfrm>
            <a:off x="6601968" y="4495327"/>
            <a:ext cx="4766767" cy="0"/>
          </a:xfrm>
          <a:prstGeom prst="line">
            <a:avLst/>
          </a:prstGeom>
          <a:noFill/>
          <a:ln w="9525">
            <a:solidFill>
              <a:srgbClr val="E1E5EE"/>
            </a:solidFill>
            <a:prstDash val="dash"/>
          </a:ln>
        </p:spPr>
      </p:sp>
      <p:sp>
        <p:nvSpPr>
          <p:cNvPr id="19" name="Text 16"/>
          <p:cNvSpPr txBox="1"/>
          <p:nvPr/>
        </p:nvSpPr>
        <p:spPr>
          <a:xfrm>
            <a:off x="6601968" y="4550191"/>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Geliş açısını büyüttükçe sapma önce azalır, bir en küçük değere iner, sonra tekrar artar. O en küçük noktada ışın prizmadan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simetrik geçer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giriş açısı çıkış açısına eşittir ve içerideki ışın tabana paraleldir. Bu özel durum, bir maddenin kırılma indisini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çok duyarlı biçimde ölçmeye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yarar — refraktometrelerin çalışma ilkesi budur.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En küçük sapmada ışın, eşkenar bir prizmanın içinde neden tabana paralel gider?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En küçük sapma ve indis ölçümü</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En küçük sapmada ışın, eşkenar bir prizmanın içinde neden tabana paralel gider?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ışın iki yan yüzeye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aynı açıyla</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(r₁ = r₂) çarpar. Eşkenar ya da ikizkenar bir prizmada iki yan yüzeyle aynı açıyı yapan tek doğrultu tabana paralel olandır. Işık yolu tepe noktasından geçen simetri eksenine göre ayna görüntüsü gibi iki eş yarıya ayrılır.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Dispersiyon: her rengin kendi indisi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Camın indisi mordan kırmızıya doğru biraz azalır; bu yüzden mor en çok, kırmızı en az sapar. 60°'lik prizmada fark yaklaşık 2°, ince prizmada Δδ ≈ (n(mor) − n(kırmızı))·A kadardır.</a:t>
            </a:r>
            <a:endParaRPr lang="en-US" sz="1850" dirty="0"/>
          </a:p>
        </p:txBody>
      </p:sp>
      <p:sp>
        <p:nvSpPr>
          <p:cNvPr id="9" name="Shape 7"/>
          <p:cNvSpPr/>
          <p:nvPr/>
        </p:nvSpPr>
        <p:spPr>
          <a:xfrm>
            <a:off x="640080" y="2593238"/>
            <a:ext cx="2728570"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n(mor) &gt; … &gt; n(kırmızı)</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3215030"/>
          <a:ext cx="10911535" cy="914400"/>
        </p:xfrm>
        <a:graphic>
          <a:graphicData uri="http://schemas.openxmlformats.org/drawingml/2006/table">
            <a:tbl>
              <a:tblPr/>
              <a:tblGrid>
                <a:gridCol w="1558791"/>
                <a:gridCol w="2226844"/>
                <a:gridCol w="1558791"/>
                <a:gridCol w="556711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Renk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Dalga boyu</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Camda 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Sapma (A = 60°, i₁ = 50°)</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Kırmızı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700 nm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1,513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38,3° · en az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Sarı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580 nm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1,520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38,9° · orta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Mavi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470 nm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1,531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39,9° · çok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400 nm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1,538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40,5° · en çok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2" name="Text 9"/>
          <p:cNvSpPr txBox="1"/>
          <p:nvPr/>
        </p:nvSpPr>
        <p:spPr>
          <a:xfrm>
            <a:off x="640080" y="5071262"/>
            <a:ext cx="10911535" cy="274320"/>
          </a:xfrm>
          <a:prstGeom prst="rect">
            <a:avLst/>
          </a:prstGeom>
          <a:noFill/>
          <a:ln/>
        </p:spPr>
        <p:txBody>
          <a:bodyPr wrap="square" lIns="0" tIns="0" rIns="0" bIns="0" rtlCol="0" anchor="ctr"/>
          <a:lstStyle/>
          <a:p>
            <a:pPr indent="0" marL="0">
              <a:buNone/>
            </a:pPr>
            <a:r>
              <a:rPr lang="en-US" sz="1450" b="1" dirty="0">
                <a:solidFill>
                  <a:srgbClr val="2957D4"/>
                </a:solidFill>
                <a:latin typeface="Calibri" pitchFamily="34" charset="0"/>
                <a:ea typeface="Calibri" pitchFamily="34" charset="-122"/>
                <a:cs typeface="Calibri" pitchFamily="34" charset="-120"/>
              </a:rPr>
              <a:t>İnce prizmada kısa yol</a:t>
            </a:r>
            <a:endParaRPr lang="en-US" sz="1450" dirty="0"/>
          </a:p>
        </p:txBody>
      </p:sp>
      <p:sp>
        <p:nvSpPr>
          <p:cNvPr id="13" name="Shape 10"/>
          <p:cNvSpPr/>
          <p:nvPr/>
        </p:nvSpPr>
        <p:spPr>
          <a:xfrm>
            <a:off x="640080" y="5382158"/>
            <a:ext cx="1938528" cy="457200"/>
          </a:xfrm>
          <a:prstGeom prst="roundRect">
            <a:avLst>
              <a:gd name="adj" fmla="val 24000"/>
            </a:avLst>
          </a:prstGeom>
          <a:solidFill>
            <a:srgbClr val="EEF2FC"/>
          </a:solidFill>
          <a:ln w="9525">
            <a:solidFill>
              <a:srgbClr val="CBD7F4"/>
            </a:solidFill>
            <a:prstDash val="solid"/>
          </a:ln>
        </p:spPr>
      </p:sp>
      <p:sp>
        <p:nvSpPr>
          <p:cNvPr id="14" name="Text 11"/>
          <p:cNvSpPr txBox="1"/>
          <p:nvPr/>
        </p:nvSpPr>
        <p:spPr>
          <a:xfrm>
            <a:off x="640080" y="5382158"/>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 ≈ (n − 1) · A</a:t>
            </a:r>
            <a:endParaRPr lang="en-US" sz="1300" dirty="0"/>
          </a:p>
        </p:txBody>
      </p:sp>
      <p:sp>
        <p:nvSpPr>
          <p:cNvPr id="15" name="Shape 12"/>
          <p:cNvSpPr/>
          <p:nvPr/>
        </p:nvSpPr>
        <p:spPr>
          <a:xfrm>
            <a:off x="2688336" y="5382158"/>
            <a:ext cx="3024835" cy="457200"/>
          </a:xfrm>
          <a:prstGeom prst="roundRect">
            <a:avLst>
              <a:gd name="adj" fmla="val 24000"/>
            </a:avLst>
          </a:prstGeom>
          <a:solidFill>
            <a:srgbClr val="EEF2FC"/>
          </a:solidFill>
          <a:ln w="9525">
            <a:solidFill>
              <a:srgbClr val="CBD7F4"/>
            </a:solidFill>
            <a:prstDash val="solid"/>
          </a:ln>
        </p:spPr>
      </p:sp>
      <p:sp>
        <p:nvSpPr>
          <p:cNvPr id="16" name="Text 13"/>
          <p:cNvSpPr txBox="1"/>
          <p:nvPr/>
        </p:nvSpPr>
        <p:spPr>
          <a:xfrm>
            <a:off x="2688336" y="5382158"/>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Δδ ≈ (n(mor)−n(kırmızı))·A</a:t>
            </a:r>
            <a:endParaRPr lang="en-US" sz="130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ışık prizmadan çıkamayınca, prizma başka bir ortama girince ve prizma bir yağmur damlasına dönüşünce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Tam yansımalı prizmalar ve çevre ortam</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Gökkuşağı: her damla küçük bir prizma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Prizmalar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prizmala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Pencerede bir kristal.</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Çok yüzlü kristalin her yüz çifti küçük bir prizma gibi davranır: güneş ışığını kırar, saptırır ve renklerine ayırır. Duvara ve tavana düşen her renkli leke ayrı bir küçük tayftır; lekeler farklı yüz çiftlerinden geldiği için odaya dağılır.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yansımalı prizmalar ve çevre ortam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45°'lik cam prizmada ışık iç yüzeye sınır açıdan büyük açıyla çarpar ve kayıpsız yansır: bir yansımayla 90°, ikisiyle 180° döner. Bütün bağıntılarda n yerine prizmanın çevresine göre indisi geçer.</a:t>
            </a:r>
            <a:endParaRPr lang="en-US" sz="1850" dirty="0"/>
          </a:p>
        </p:txBody>
      </p:sp>
      <p:sp>
        <p:nvSpPr>
          <p:cNvPr id="9" name="Text 7"/>
          <p:cNvSpPr txBox="1"/>
          <p:nvPr/>
        </p:nvSpPr>
        <p:spPr>
          <a:xfrm>
            <a:off x="640080" y="259323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Cam için sınır açı ≈ 41,8°'dir.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45° – 45° – 90° biçimindeki bir prizmada ışık hipotenüse 45° ile çarpar; bu açı sınır açıdan büyük olduğu için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tamamı yansır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0" name="Text 8"/>
          <p:cNvSpPr txBox="1"/>
          <p:nvPr/>
        </p:nvSpPr>
        <p:spPr>
          <a:xfrm>
            <a:off x="640080" y="3952646"/>
            <a:ext cx="5486400" cy="159410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Tek 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ışığı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90°</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döndürür (periskop).</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İki 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ışığı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180°</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geri gönderir (dürbün, reflektör).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Aynaya göre üstünlüğü: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kayıp neredeyse yoktur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kaplama zamanla bozulmaz, ikincil görüntü oluşmaz.</a:t>
            </a:r>
            <a:endParaRPr lang="en-US" sz="1600" dirty="0"/>
          </a:p>
        </p:txBody>
      </p:sp>
      <p:sp>
        <p:nvSpPr>
          <p:cNvPr id="11" name="Shape 9"/>
          <p:cNvSpPr/>
          <p:nvPr/>
        </p:nvSpPr>
        <p:spPr>
          <a:xfrm>
            <a:off x="6419088" y="2593238"/>
            <a:ext cx="5132527" cy="3409422"/>
          </a:xfrm>
          <a:prstGeom prst="roundRect">
            <a:avLst>
              <a:gd name="adj" fmla="val 42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5/sek/prizmalar-05.png">    </p:cNvPr>
          <p:cNvPicPr>
            <a:picLocks noChangeAspect="1"/>
          </p:cNvPicPr>
          <p:nvPr/>
        </p:nvPicPr>
        <p:blipFill>
          <a:blip r:embed="rId1"/>
          <a:stretch>
            <a:fillRect/>
          </a:stretch>
        </p:blipFill>
        <p:spPr>
          <a:xfrm>
            <a:off x="6601968" y="2776118"/>
            <a:ext cx="4766767" cy="1946382"/>
          </a:xfrm>
          <a:prstGeom prst="rect">
            <a:avLst/>
          </a:prstGeom>
        </p:spPr>
      </p:pic>
      <p:sp>
        <p:nvSpPr>
          <p:cNvPr id="13" name="Shape 10"/>
          <p:cNvSpPr/>
          <p:nvPr/>
        </p:nvSpPr>
        <p:spPr>
          <a:xfrm>
            <a:off x="6601968" y="4813941"/>
            <a:ext cx="4766767" cy="0"/>
          </a:xfrm>
          <a:prstGeom prst="line">
            <a:avLst/>
          </a:prstGeom>
          <a:noFill/>
          <a:ln w="9525">
            <a:solidFill>
              <a:srgbClr val="E1E5EE"/>
            </a:solidFill>
            <a:prstDash val="dash"/>
          </a:ln>
        </p:spPr>
      </p:sp>
      <p:sp>
        <p:nvSpPr>
          <p:cNvPr id="14" name="Text 11"/>
          <p:cNvSpPr txBox="1"/>
          <p:nvPr/>
        </p:nvSpPr>
        <p:spPr>
          <a:xfrm>
            <a:off x="6601968" y="4868805"/>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45°'lik prizmada ışık iç yüzeye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sınır açının üstünde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çarpar ve tam yansır. Bir yansımayla 90°, iki yansımayla 180° döner. Neden ayna yerine prizma? Çünkü tam yansımada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hiç ışık kaybı yoktur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zamanla kararacak bir gümüş kaplama gerekmez. Dürbünlerde, periskoplarda ve bisiklet reflektörlerinde bu yüzden prizma kullanılır.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Tam yansımalı bir prizmanın hipotenüsüne parmağını bastırıp prizmanın içinden bakarsan ne görürsün?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Tam yansımalı prizmalar ve çevre ortam</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Tam yansımalı bir prizmanın hipotenüsüne parmağını bastırıp prizmanın içinden bakarsan ne görürsün?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Parmak izinin çizgilerini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koyu</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aralarını parlak görürsün. Derinin cama değdiği çıkıntılarda ışık hava yerine deriye geçer, tam yansıma bozulur; aradaki hava dolu oluklarda ise tam yansıma sürer. Optik parmak izi okuyucuları bu ilkeyle çalışır.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Gökkuşağı: her damla küçük bir prizma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Güneş ışığı damlada kırılır, içeride yansır ve yeniden kırılır; ışınlar en küçük sapma olan 138° civarında yığılır. Bu yüzden gökkuşağı güneşin karşısında 42°'lik bir koni üzerinde, kırmızı dışta görünür.</a:t>
            </a:r>
            <a:endParaRPr lang="en-US" sz="1850" dirty="0"/>
          </a:p>
        </p:txBody>
      </p:sp>
      <p:sp>
        <p:nvSpPr>
          <p:cNvPr id="9" name="Text 7"/>
          <p:cNvSpPr txBox="1"/>
          <p:nvPr/>
        </p:nvSpPr>
        <p:spPr>
          <a:xfrm>
            <a:off x="640080" y="2593238"/>
            <a:ext cx="6309360" cy="92811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Damlaya girerken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kırılır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(ve renklerine ayrılmaya başlar).</a:t>
            </a:r>
            <a:endParaRPr lang="en-US" sz="1400" dirty="0"/>
          </a:p>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Damlanın arka yüzeyinden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yansır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Çıkarken ikinci kez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kırılır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640080" y="3631082"/>
            <a:ext cx="6309360" cy="19735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Kırmızı dışta (42°), mor içte (40°) kalır.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İkinci gökkuşağı (daha soluk) iki iç yansımadan doğar; renkleri terstir ve ≈ 51°'de görünür.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Gökkuşağını görmek için güneş arkanızda, yağmur karşınızda olmalıdır.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Güneş yüksekse görünmez:</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güneş ufkun 42°'den yukarısındaysa yayın tamamı ufkun altında kalır.</a:t>
            </a:r>
            <a:endParaRPr lang="en-US" sz="1400" dirty="0"/>
          </a:p>
        </p:txBody>
      </p:sp>
      <p:sp>
        <p:nvSpPr>
          <p:cNvPr id="11" name="Shape 9"/>
          <p:cNvSpPr/>
          <p:nvPr/>
        </p:nvSpPr>
        <p:spPr>
          <a:xfrm>
            <a:off x="7242048" y="2593238"/>
            <a:ext cx="430956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5/sek/prizmalar-06.png">    </p:cNvPr>
          <p:cNvPicPr>
            <a:picLocks noChangeAspect="1"/>
          </p:cNvPicPr>
          <p:nvPr/>
        </p:nvPicPr>
        <p:blipFill>
          <a:blip r:embed="rId1"/>
          <a:stretch>
            <a:fillRect/>
          </a:stretch>
        </p:blipFill>
        <p:spPr>
          <a:xfrm>
            <a:off x="7477061" y="2776118"/>
            <a:ext cx="3839541" cy="1711757"/>
          </a:xfrm>
          <a:prstGeom prst="rect">
            <a:avLst/>
          </a:prstGeom>
        </p:spPr>
      </p:pic>
      <p:sp>
        <p:nvSpPr>
          <p:cNvPr id="13" name="Shape 10"/>
          <p:cNvSpPr/>
          <p:nvPr/>
        </p:nvSpPr>
        <p:spPr>
          <a:xfrm>
            <a:off x="7424928" y="4579315"/>
            <a:ext cx="3943807" cy="0"/>
          </a:xfrm>
          <a:prstGeom prst="line">
            <a:avLst/>
          </a:prstGeom>
          <a:noFill/>
          <a:ln w="9525">
            <a:solidFill>
              <a:srgbClr val="E1E5EE"/>
            </a:solidFill>
            <a:prstDash val="dash"/>
          </a:ln>
        </p:spPr>
      </p:sp>
      <p:sp>
        <p:nvSpPr>
          <p:cNvPr id="14" name="Text 11"/>
          <p:cNvSpPr txBox="1"/>
          <p:nvPr/>
        </p:nvSpPr>
        <p:spPr>
          <a:xfrm>
            <a:off x="7424928" y="4634179"/>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Bir yağmur damlasında ışık üç işlemden geçer: girerken kırılır, arka yüzeyden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içeriden yansır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çıkarken yeniden kırılır. Her renk biraz farklı açıyla çıkar ve en yoğun çıkış kırmızı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42°</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mor için 40° civarındadır. Bu yüzden gökkuşağı hep aynı açıda görünür ve kırmızı hep dışta kalır — gökkuşağının yeri yağmurun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senin nerede durduğunun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sonucudur.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Gökkuşağının ucuna yürüyerek neden hiçbir zaman ulaşamazsın?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Gökkuşağı: her damla küçük bir prizma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Gökkuşağının ucuna yürüyerek neden hiçbir zaman ulaşamazsın?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gökkuşağı belli bir yerde duran bir cisim değil, bir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doğrultular kümesidir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gözüne güneşin tam karşısındaki noktadan 42° açıyla gelen ışınlar. Sen yürüdükçe o ışığı gönderen damlalar da değişir ve yay seninle birlikte yer değiştirir. Yanındaki arkadaşın bile başka damlaların ışığını görür.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Prizmalar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Prizmalar ışığı renklerine ayırarak maddelerin bileşimini okumaya, ışığı kayıpsız döndürerek dürbünlerde, reflektörlerde ve ölçüm aygıtlarında ışık yolunu yönetmeye yarar.</a:t>
            </a:r>
            <a:endParaRPr lang="en-US" sz="1850" dirty="0"/>
          </a:p>
        </p:txBody>
      </p:sp>
      <p:sp>
        <p:nvSpPr>
          <p:cNvPr id="9" name="Text 7"/>
          <p:cNvSpPr txBox="1"/>
          <p:nvPr/>
        </p:nvSpPr>
        <p:spPr>
          <a:xfrm>
            <a:off x="640080" y="2593238"/>
            <a:ext cx="10911535" cy="275005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Spektroskop:</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yıldızların ve maddelerin ışığını tayfa ayırıp bileşimini belirler. Helyum, Dünya'da bulunmadan önce 1868'de Güneş'in tayfında fark edildi.</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Dürbün ve periskop:</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tam yansımalı prizmalarla ışık yolunu katlar; dürbün kısa kalır ama görüntü düz görünür.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Fotoğraf makinesi vizörü:</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pentaprizma görüntüyü düzeltir.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Reflektör: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araç ve bisiklet reflektörleri ışığı geldiği yöne döndürür. Ay'a bırakılan köşe küpü prizmalar, Ay'ın uzaklığını lazerle santimetre duyarlılığında ölçtürür.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Optik ölçüm:</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refraktometrelerle sıvıların indisi ölçülür; meyve suyundaki şeker oranı böyle denetlenir.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Parmak izi okuyucu:</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tam yansımanın parmağın değdiği yerlerde bozulmasıyla izin görüntüsünü çıkarır.</a:t>
            </a:r>
            <a:endParaRPr lang="en-US" sz="15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Sapma açısı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Tam yansımalı prizma</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En küçük sapmadan indis</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Prizma içindeki açılar</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İnce prizmada renk ayrılması</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Işığın çıkabileceği en küçük gelme açısı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Suya batırılan prizma</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Sapma açısı  ·  Aşağıdaki çözümlerde aksi söylenmedikçe prizmanın çevresi havadır (n = 1).</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Tepe açısı 60° olan prizmaya 45° ile giren ışın, ikinci yüzeyden 52° ile çıkıyor. Sapma açısı kaçtır?</a:t>
            </a:r>
            <a:endParaRPr lang="en-US" sz="1600" dirty="0"/>
          </a:p>
        </p:txBody>
      </p:sp>
      <p:sp>
        <p:nvSpPr>
          <p:cNvPr id="11" name="Shape 9"/>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139696"/>
            <a:ext cx="384048" cy="384048"/>
          </a:xfrm>
          <a:prstGeom prst="roundRect">
            <a:avLst>
              <a:gd name="adj" fmla="val 26000"/>
            </a:avLst>
          </a:prstGeom>
          <a:solidFill>
            <a:srgbClr val="A56209"/>
          </a:solidFill>
          <a:ln/>
        </p:spPr>
      </p:sp>
      <p:sp>
        <p:nvSpPr>
          <p:cNvPr id="13" name="Text 11"/>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i₁ + i₂ − A</a:t>
            </a:r>
            <a:endParaRPr lang="en-US" sz="1600" dirty="0"/>
          </a:p>
        </p:txBody>
      </p:sp>
      <p:sp>
        <p:nvSpPr>
          <p:cNvPr id="15" name="Shape 13"/>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694176"/>
            <a:ext cx="384048" cy="384048"/>
          </a:xfrm>
          <a:prstGeom prst="roundRect">
            <a:avLst>
              <a:gd name="adj" fmla="val 26000"/>
            </a:avLst>
          </a:prstGeom>
          <a:solidFill>
            <a:srgbClr val="A56209"/>
          </a:solidFill>
          <a:ln/>
        </p:spPr>
      </p:sp>
      <p:sp>
        <p:nvSpPr>
          <p:cNvPr id="17" name="Text 15"/>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45 + 52 − 60</a:t>
            </a:r>
            <a:endParaRPr lang="en-US" sz="1600" dirty="0"/>
          </a:p>
        </p:txBody>
      </p:sp>
      <p:sp>
        <p:nvSpPr>
          <p:cNvPr id="19" name="Shape 17"/>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248656"/>
            <a:ext cx="384048" cy="384048"/>
          </a:xfrm>
          <a:prstGeom prst="roundRect">
            <a:avLst>
              <a:gd name="adj" fmla="val 26000"/>
            </a:avLst>
          </a:prstGeom>
          <a:solidFill>
            <a:srgbClr val="A56209"/>
          </a:solidFill>
          <a:ln/>
        </p:spPr>
      </p:sp>
      <p:sp>
        <p:nvSpPr>
          <p:cNvPr id="21" name="Text 19"/>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37°</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Tam yansımalı prizma  ·  Aşağıdaki çözümlerde aksi söylenmedikçe prizmanın çevresi havadır (n = 1).</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45° – 45° – 90° prizmada ışık hipotenüse 45° ile çarpıyor. Prizmanın indisi 1,5 ise ışık ne yapar?</a:t>
            </a:r>
            <a:endParaRPr lang="en-US" sz="1600" dirty="0"/>
          </a:p>
        </p:txBody>
      </p:sp>
      <p:sp>
        <p:nvSpPr>
          <p:cNvPr id="11" name="Shape 9"/>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48778"/>
            <a:ext cx="384048" cy="384048"/>
          </a:xfrm>
          <a:prstGeom prst="roundRect">
            <a:avLst>
              <a:gd name="adj" fmla="val 26000"/>
            </a:avLst>
          </a:prstGeom>
          <a:solidFill>
            <a:srgbClr val="A56209"/>
          </a:solidFill>
          <a:ln/>
        </p:spPr>
      </p:sp>
      <p:sp>
        <p:nvSpPr>
          <p:cNvPr id="13" name="Text 11"/>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Sınır açı: sin θ = 1/1,5 = 0,667 → θ = 41,8°</a:t>
            </a:r>
            <a:endParaRPr lang="en-US" sz="1600" dirty="0"/>
          </a:p>
        </p:txBody>
      </p:sp>
      <p:sp>
        <p:nvSpPr>
          <p:cNvPr id="15" name="Shape 13"/>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14638"/>
            <a:ext cx="384048" cy="384048"/>
          </a:xfrm>
          <a:prstGeom prst="roundRect">
            <a:avLst>
              <a:gd name="adj" fmla="val 26000"/>
            </a:avLst>
          </a:prstGeom>
          <a:solidFill>
            <a:srgbClr val="A56209"/>
          </a:solidFill>
          <a:ln/>
        </p:spPr>
      </p:sp>
      <p:sp>
        <p:nvSpPr>
          <p:cNvPr id="17" name="Text 15"/>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Geliş açısı 45° &gt; 41,8° olduğu için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tam yansıma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olur.</a:t>
            </a:r>
            <a:endParaRPr lang="en-US" sz="1600" dirty="0"/>
          </a:p>
        </p:txBody>
      </p:sp>
      <p:sp>
        <p:nvSpPr>
          <p:cNvPr id="19" name="Shape 17"/>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80498"/>
            <a:ext cx="384048" cy="384048"/>
          </a:xfrm>
          <a:prstGeom prst="roundRect">
            <a:avLst>
              <a:gd name="adj" fmla="val 26000"/>
            </a:avLst>
          </a:prstGeom>
          <a:solidFill>
            <a:srgbClr val="A56209"/>
          </a:solidFill>
          <a:ln/>
        </p:spPr>
      </p:sp>
      <p:sp>
        <p:nvSpPr>
          <p:cNvPr id="21" name="Text 19"/>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Işığın tamamı yansır; hiç kayıp olmaz.</a:t>
            </a:r>
            <a:endParaRPr lang="en-US" sz="1600" dirty="0"/>
          </a:p>
        </p:txBody>
      </p:sp>
      <p:sp>
        <p:nvSpPr>
          <p:cNvPr id="23" name="Shape 21"/>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46358"/>
            <a:ext cx="384048" cy="384048"/>
          </a:xfrm>
          <a:prstGeom prst="roundRect">
            <a:avLst>
              <a:gd name="adj" fmla="val 26000"/>
            </a:avLst>
          </a:prstGeom>
          <a:solidFill>
            <a:srgbClr val="A56209"/>
          </a:solidFill>
          <a:ln/>
        </p:spPr>
      </p:sp>
      <p:sp>
        <p:nvSpPr>
          <p:cNvPr id="25" name="Text 23"/>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İndis 1,3 olsaydı sınır açı 50,3° olurdu ve 45° &lt; 50,3° olduğundan ışık prizmadan çıkardı.</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sapmadan indis  ·  Aşağıdaki çözümlerde aksi söylenmedikçe prizmanın çevresi havadır (n = 1).</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Tepe açısı 60° olan bir prizmada en küçük sapma açısı 30° ölçülüyor. Prizmanın kırılma indisi nedir? (sin45° = 0,707 · sin30° = 0,5)</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sin((A + δ)/2) / sin(A/2)</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sin((60 + 30)/2) / sin30° = sin45° / sin30°</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0,707 / 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1,41</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Bu, yaklaşık √2 değeridir.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Prizma içindeki açılar  ·  Aşağıdaki çözümlerde aksi söylenmedikçe prizmanın çevresi havadır (n = 1).</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Tepe açısı 60°, indisi 1,5 olan prizmaya 30° ile giren ışın için r₁, r₂ ve çıkabilme durumunu inceleyiniz. (sin30° = 0,5)</a:t>
            </a:r>
            <a:endParaRPr lang="en-US" sz="1600" dirty="0"/>
          </a:p>
        </p:txBody>
      </p:sp>
      <p:sp>
        <p:nvSpPr>
          <p:cNvPr id="11" name="Shape 9"/>
          <p:cNvSpPr/>
          <p:nvPr/>
        </p:nvSpPr>
        <p:spPr>
          <a:xfrm>
            <a:off x="5212080" y="1627632"/>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766841"/>
            <a:ext cx="384048" cy="384048"/>
          </a:xfrm>
          <a:prstGeom prst="roundRect">
            <a:avLst>
              <a:gd name="adj" fmla="val 26000"/>
            </a:avLst>
          </a:prstGeom>
          <a:solidFill>
            <a:srgbClr val="A56209"/>
          </a:solidFill>
          <a:ln/>
        </p:spPr>
      </p:sp>
      <p:sp>
        <p:nvSpPr>
          <p:cNvPr id="13" name="Text 11"/>
          <p:cNvSpPr txBox="1"/>
          <p:nvPr/>
        </p:nvSpPr>
        <p:spPr>
          <a:xfrm>
            <a:off x="5449824" y="176684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r₁ = sin30°/1,5 = 0,333 → r₁ ≈ 19,5°</a:t>
            </a:r>
            <a:endParaRPr lang="en-US" sz="1600" dirty="0"/>
          </a:p>
        </p:txBody>
      </p:sp>
      <p:sp>
        <p:nvSpPr>
          <p:cNvPr id="15" name="Shape 13"/>
          <p:cNvSpPr/>
          <p:nvPr/>
        </p:nvSpPr>
        <p:spPr>
          <a:xfrm>
            <a:off x="5212080" y="2436402"/>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575610"/>
            <a:ext cx="384048" cy="384048"/>
          </a:xfrm>
          <a:prstGeom prst="roundRect">
            <a:avLst>
              <a:gd name="adj" fmla="val 26000"/>
            </a:avLst>
          </a:prstGeom>
          <a:solidFill>
            <a:srgbClr val="A56209"/>
          </a:solidFill>
          <a:ln/>
        </p:spPr>
      </p:sp>
      <p:sp>
        <p:nvSpPr>
          <p:cNvPr id="17" name="Text 15"/>
          <p:cNvSpPr txBox="1"/>
          <p:nvPr/>
        </p:nvSpPr>
        <p:spPr>
          <a:xfrm>
            <a:off x="5449824" y="257561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491266"/>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r₂ = A − r₁ = 60 − 19,5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40,5°</a:t>
            </a:r>
            <a:endParaRPr lang="en-US" sz="1600" dirty="0"/>
          </a:p>
        </p:txBody>
      </p:sp>
      <p:sp>
        <p:nvSpPr>
          <p:cNvPr id="19" name="Shape 17"/>
          <p:cNvSpPr/>
          <p:nvPr/>
        </p:nvSpPr>
        <p:spPr>
          <a:xfrm>
            <a:off x="5212080" y="3245171"/>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384380"/>
            <a:ext cx="384048" cy="384048"/>
          </a:xfrm>
          <a:prstGeom prst="roundRect">
            <a:avLst>
              <a:gd name="adj" fmla="val 26000"/>
            </a:avLst>
          </a:prstGeom>
          <a:solidFill>
            <a:srgbClr val="A56209"/>
          </a:solidFill>
          <a:ln/>
        </p:spPr>
      </p:sp>
      <p:sp>
        <p:nvSpPr>
          <p:cNvPr id="21" name="Text 19"/>
          <p:cNvSpPr txBox="1"/>
          <p:nvPr/>
        </p:nvSpPr>
        <p:spPr>
          <a:xfrm>
            <a:off x="5449824" y="338438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300035"/>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Sınır açı: sin θ = 1/1,5 = 0,667 → θ ≈ 41,8°</a:t>
            </a:r>
            <a:endParaRPr lang="en-US" sz="1600" dirty="0"/>
          </a:p>
        </p:txBody>
      </p:sp>
      <p:sp>
        <p:nvSpPr>
          <p:cNvPr id="23" name="Shape 21"/>
          <p:cNvSpPr/>
          <p:nvPr/>
        </p:nvSpPr>
        <p:spPr>
          <a:xfrm>
            <a:off x="5212080" y="4053941"/>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348048"/>
            <a:ext cx="384048" cy="384048"/>
          </a:xfrm>
          <a:prstGeom prst="roundRect">
            <a:avLst>
              <a:gd name="adj" fmla="val 26000"/>
            </a:avLst>
          </a:prstGeom>
          <a:solidFill>
            <a:srgbClr val="A56209"/>
          </a:solidFill>
          <a:ln/>
        </p:spPr>
      </p:sp>
      <p:sp>
        <p:nvSpPr>
          <p:cNvPr id="25" name="Text 23"/>
          <p:cNvSpPr txBox="1"/>
          <p:nvPr/>
        </p:nvSpPr>
        <p:spPr>
          <a:xfrm>
            <a:off x="5449824" y="434804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108805"/>
            <a:ext cx="5379415" cy="86253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r₂ &lt; θ olduğu için ışın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çıkabilir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(ama sınıra çok yakındır).</a:t>
            </a:r>
            <a:endParaRPr lang="en-US" sz="1600" dirty="0"/>
          </a:p>
        </p:txBody>
      </p:sp>
      <p:sp>
        <p:nvSpPr>
          <p:cNvPr id="27" name="Shape 25"/>
          <p:cNvSpPr/>
          <p:nvPr/>
        </p:nvSpPr>
        <p:spPr>
          <a:xfrm>
            <a:off x="5212080" y="5172506"/>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466613"/>
            <a:ext cx="384048" cy="384048"/>
          </a:xfrm>
          <a:prstGeom prst="roundRect">
            <a:avLst>
              <a:gd name="adj" fmla="val 26000"/>
            </a:avLst>
          </a:prstGeom>
          <a:solidFill>
            <a:srgbClr val="A56209"/>
          </a:solidFill>
          <a:ln/>
        </p:spPr>
      </p:sp>
      <p:sp>
        <p:nvSpPr>
          <p:cNvPr id="29" name="Text 27"/>
          <p:cNvSpPr txBox="1"/>
          <p:nvPr/>
        </p:nvSpPr>
        <p:spPr>
          <a:xfrm>
            <a:off x="5449824" y="546661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27370"/>
            <a:ext cx="5379415" cy="86253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Çıkış: sin i₂ = 1,5 · sin40,5° ≈ 0,975 → i₂ ≈ 77°; sapma δ ≈ 30 + 77 − 60 = 47°.</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İnce prizmada renk ayrılması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Tepe açısı 8° olan ince bir cam prizmada kırmızı için n = 1,513, mor için n = 1,538'dir. Işık prizmaya neredeyse dik geliyor. (a) Her rengin sapmasını, (b) iki renk arasındaki açıyı, (c) 2 m uzaktaki perdede tayfın genişliğini bulunuz.</a:t>
            </a:r>
            <a:endParaRPr lang="en-US" sz="1600" dirty="0"/>
          </a:p>
        </p:txBody>
      </p:sp>
      <p:sp>
        <p:nvSpPr>
          <p:cNvPr id="11" name="Text 9"/>
          <p:cNvSpPr txBox="1"/>
          <p:nvPr/>
        </p:nvSpPr>
        <p:spPr>
          <a:xfrm>
            <a:off x="932688" y="4459224"/>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715256"/>
            <a:ext cx="3712464" cy="643738"/>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60°'lik prizmada aynı iki renk arasındaki açı 2,2° kadardı; ince prizma renkleri çok daha az açar.</a:t>
            </a:r>
            <a:endParaRPr lang="en-US" sz="1150" dirty="0"/>
          </a:p>
        </p:txBody>
      </p:sp>
      <p:sp>
        <p:nvSpPr>
          <p:cNvPr id="13" name="Shape 11"/>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48778"/>
            <a:ext cx="384048" cy="384048"/>
          </a:xfrm>
          <a:prstGeom prst="roundRect">
            <a:avLst>
              <a:gd name="adj" fmla="val 26000"/>
            </a:avLst>
          </a:prstGeom>
          <a:solidFill>
            <a:srgbClr val="A56209"/>
          </a:solidFill>
          <a:ln/>
        </p:spPr>
      </p:sp>
      <p:sp>
        <p:nvSpPr>
          <p:cNvPr id="15" name="Text 13"/>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İnce prizma: δ ≈ (n − 1)·A</a:t>
            </a:r>
            <a:endParaRPr lang="en-US" sz="1600" dirty="0"/>
          </a:p>
        </p:txBody>
      </p:sp>
      <p:sp>
        <p:nvSpPr>
          <p:cNvPr id="17" name="Shape 15"/>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014638"/>
            <a:ext cx="384048" cy="384048"/>
          </a:xfrm>
          <a:prstGeom prst="roundRect">
            <a:avLst>
              <a:gd name="adj" fmla="val 26000"/>
            </a:avLst>
          </a:prstGeom>
          <a:solidFill>
            <a:srgbClr val="A56209"/>
          </a:solidFill>
          <a:ln/>
        </p:spPr>
      </p:sp>
      <p:sp>
        <p:nvSpPr>
          <p:cNvPr id="19" name="Text 17"/>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Kırmızı: 0,513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4,10°</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mor: 0,538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4,30°</a:t>
            </a:r>
            <a:endParaRPr lang="en-US" sz="1600" dirty="0"/>
          </a:p>
        </p:txBody>
      </p:sp>
      <p:sp>
        <p:nvSpPr>
          <p:cNvPr id="21" name="Shape 19"/>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180498"/>
            <a:ext cx="384048" cy="384048"/>
          </a:xfrm>
          <a:prstGeom prst="roundRect">
            <a:avLst>
              <a:gd name="adj" fmla="val 26000"/>
            </a:avLst>
          </a:prstGeom>
          <a:solidFill>
            <a:srgbClr val="A56209"/>
          </a:solidFill>
          <a:ln/>
        </p:spPr>
      </p:sp>
      <p:sp>
        <p:nvSpPr>
          <p:cNvPr id="23" name="Text 21"/>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Δδ ≈ 0,025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0,20°</a:t>
            </a:r>
            <a:endParaRPr lang="en-US" sz="1600" dirty="0"/>
          </a:p>
        </p:txBody>
      </p:sp>
      <p:sp>
        <p:nvSpPr>
          <p:cNvPr id="25" name="Shape 23"/>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346358"/>
            <a:ext cx="384048" cy="384048"/>
          </a:xfrm>
          <a:prstGeom prst="roundRect">
            <a:avLst>
              <a:gd name="adj" fmla="val 26000"/>
            </a:avLst>
          </a:prstGeom>
          <a:solidFill>
            <a:srgbClr val="A56209"/>
          </a:solidFill>
          <a:ln/>
        </p:spPr>
      </p:sp>
      <p:sp>
        <p:nvSpPr>
          <p:cNvPr id="27" name="Text 25"/>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Genişlik ≈ 2 m · tan0,20° ≈ 2 m · 0,0035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 mm</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Işığın çıkabileceği en küçük gelme açısı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Tepe açısı 60°, indisi 1,50 olan bir prizmada ışığın ikinci yüzeyden çıkabilmesi için birinci yüzeye en az hangi açıyla gelmesi gerekir? (sin18,2° ≈ 0,312)</a:t>
            </a:r>
            <a:endParaRPr lang="en-US" sz="1600" dirty="0"/>
          </a:p>
        </p:txBody>
      </p:sp>
      <p:sp>
        <p:nvSpPr>
          <p:cNvPr id="11" name="Shape 9"/>
          <p:cNvSpPr/>
          <p:nvPr/>
        </p:nvSpPr>
        <p:spPr>
          <a:xfrm>
            <a:off x="5212080" y="1627632"/>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742649"/>
            <a:ext cx="384048" cy="384048"/>
          </a:xfrm>
          <a:prstGeom prst="roundRect">
            <a:avLst>
              <a:gd name="adj" fmla="val 26000"/>
            </a:avLst>
          </a:prstGeom>
          <a:solidFill>
            <a:srgbClr val="A56209"/>
          </a:solidFill>
          <a:ln/>
        </p:spPr>
      </p:sp>
      <p:sp>
        <p:nvSpPr>
          <p:cNvPr id="13" name="Text 11"/>
          <p:cNvSpPr txBox="1"/>
          <p:nvPr/>
        </p:nvSpPr>
        <p:spPr>
          <a:xfrm>
            <a:off x="5449824" y="174264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Sınır açı: sin θ = 1/1,50 ≈ 0,667 → θ ≈ 41,8°</a:t>
            </a:r>
            <a:endParaRPr lang="en-US" sz="1600" dirty="0"/>
          </a:p>
        </p:txBody>
      </p:sp>
      <p:sp>
        <p:nvSpPr>
          <p:cNvPr id="15" name="Shape 13"/>
          <p:cNvSpPr/>
          <p:nvPr/>
        </p:nvSpPr>
        <p:spPr>
          <a:xfrm>
            <a:off x="5212080" y="2388018"/>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646620"/>
            <a:ext cx="384048" cy="384048"/>
          </a:xfrm>
          <a:prstGeom prst="roundRect">
            <a:avLst>
              <a:gd name="adj" fmla="val 26000"/>
            </a:avLst>
          </a:prstGeom>
          <a:solidFill>
            <a:srgbClr val="A56209"/>
          </a:solidFill>
          <a:ln/>
        </p:spPr>
      </p:sp>
      <p:sp>
        <p:nvSpPr>
          <p:cNvPr id="17" name="Text 15"/>
          <p:cNvSpPr txBox="1"/>
          <p:nvPr/>
        </p:nvSpPr>
        <p:spPr>
          <a:xfrm>
            <a:off x="5449824" y="264662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442882"/>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Çıkabilmesi için r₂ ≤ 41,8° olmalı → r₁ = A − r₂ ≥ 60° − 41,8° = 18,2°</a:t>
            </a:r>
            <a:endParaRPr lang="en-US" sz="1600" dirty="0"/>
          </a:p>
        </p:txBody>
      </p:sp>
      <p:sp>
        <p:nvSpPr>
          <p:cNvPr id="19" name="Shape 17"/>
          <p:cNvSpPr/>
          <p:nvPr/>
        </p:nvSpPr>
        <p:spPr>
          <a:xfrm>
            <a:off x="5212080" y="3435574"/>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550591"/>
            <a:ext cx="384048" cy="384048"/>
          </a:xfrm>
          <a:prstGeom prst="roundRect">
            <a:avLst>
              <a:gd name="adj" fmla="val 26000"/>
            </a:avLst>
          </a:prstGeom>
          <a:solidFill>
            <a:srgbClr val="A56209"/>
          </a:solidFill>
          <a:ln/>
        </p:spPr>
      </p:sp>
      <p:sp>
        <p:nvSpPr>
          <p:cNvPr id="21" name="Text 19"/>
          <p:cNvSpPr txBox="1"/>
          <p:nvPr/>
        </p:nvSpPr>
        <p:spPr>
          <a:xfrm>
            <a:off x="5449824" y="355059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490438"/>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i₁ = n·sin r₁ = 1,50 · 0,312 ≈ 0,468</a:t>
            </a:r>
            <a:endParaRPr lang="en-US" sz="1600" dirty="0"/>
          </a:p>
        </p:txBody>
      </p:sp>
      <p:sp>
        <p:nvSpPr>
          <p:cNvPr id="23" name="Shape 21"/>
          <p:cNvSpPr/>
          <p:nvPr/>
        </p:nvSpPr>
        <p:spPr>
          <a:xfrm>
            <a:off x="5212080" y="4195960"/>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454562"/>
            <a:ext cx="384048" cy="384048"/>
          </a:xfrm>
          <a:prstGeom prst="roundRect">
            <a:avLst>
              <a:gd name="adj" fmla="val 26000"/>
            </a:avLst>
          </a:prstGeom>
          <a:solidFill>
            <a:srgbClr val="A56209"/>
          </a:solidFill>
          <a:ln/>
        </p:spPr>
      </p:sp>
      <p:sp>
        <p:nvSpPr>
          <p:cNvPr id="25" name="Text 23"/>
          <p:cNvSpPr txBox="1"/>
          <p:nvPr/>
        </p:nvSpPr>
        <p:spPr>
          <a:xfrm>
            <a:off x="5449824" y="445456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250824"/>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i₁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27,9°</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bundan küçük açıyla gelen ışın ikinci yüzeyde tam yansır.</a:t>
            </a:r>
            <a:endParaRPr lang="en-US" sz="1600" dirty="0"/>
          </a:p>
        </p:txBody>
      </p:sp>
      <p:sp>
        <p:nvSpPr>
          <p:cNvPr id="27" name="Shape 25"/>
          <p:cNvSpPr/>
          <p:nvPr/>
        </p:nvSpPr>
        <p:spPr>
          <a:xfrm>
            <a:off x="5212080" y="5243516"/>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02118"/>
            <a:ext cx="384048" cy="384048"/>
          </a:xfrm>
          <a:prstGeom prst="roundRect">
            <a:avLst>
              <a:gd name="adj" fmla="val 26000"/>
            </a:avLst>
          </a:prstGeom>
          <a:solidFill>
            <a:srgbClr val="A56209"/>
          </a:solidFill>
          <a:ln/>
        </p:spPr>
      </p:sp>
      <p:sp>
        <p:nvSpPr>
          <p:cNvPr id="29" name="Text 27"/>
          <p:cNvSpPr txBox="1"/>
          <p:nvPr/>
        </p:nvSpPr>
        <p:spPr>
          <a:xfrm>
            <a:off x="5449824" y="550211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98380"/>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Tam sınırda i₂ = 90° olur: ışın yüzeyi yalayarak çıkar, δ ≈ 27,9 + 90 − 60 ≈ 57,9°.</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Suya batırılan prizma  ·  Aşağıdaki çözümlerde aksi söylenmedikçe prizmanın çevresi havadır (n = 1).</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İndisi 1,50 olan 45° – 45° – 90° bir prizma tamamen suya (n = 1,33) batırılıyor. Hipotenüse içeriden 45° ile çarpan ışık ne yapar? Çıkıyorsa suya hangi açıyla geçer? (sin45° = 0,707)</a:t>
            </a:r>
            <a:endParaRPr lang="en-US" sz="1600" dirty="0"/>
          </a:p>
        </p:txBody>
      </p:sp>
      <p:sp>
        <p:nvSpPr>
          <p:cNvPr id="11" name="Shape 9"/>
          <p:cNvSpPr/>
          <p:nvPr/>
        </p:nvSpPr>
        <p:spPr>
          <a:xfrm>
            <a:off x="5212080" y="162763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54889"/>
            <a:ext cx="384048" cy="384048"/>
          </a:xfrm>
          <a:prstGeom prst="roundRect">
            <a:avLst>
              <a:gd name="adj" fmla="val 26000"/>
            </a:avLst>
          </a:prstGeom>
          <a:solidFill>
            <a:srgbClr val="A56209"/>
          </a:solidFill>
          <a:ln/>
        </p:spPr>
      </p:sp>
      <p:sp>
        <p:nvSpPr>
          <p:cNvPr id="13" name="Text 11"/>
          <p:cNvSpPr txBox="1"/>
          <p:nvPr/>
        </p:nvSpPr>
        <p:spPr>
          <a:xfrm>
            <a:off x="5449824" y="18548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Havada: θ(sınır) = 41,8° &lt; 45° → tam yansıma olurdu (Örnek 2).</a:t>
            </a:r>
            <a:endParaRPr lang="en-US" sz="1500" dirty="0"/>
          </a:p>
        </p:txBody>
      </p:sp>
      <p:sp>
        <p:nvSpPr>
          <p:cNvPr id="15" name="Shape 13"/>
          <p:cNvSpPr/>
          <p:nvPr/>
        </p:nvSpPr>
        <p:spPr>
          <a:xfrm>
            <a:off x="5212080" y="2612497"/>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09311"/>
            <a:ext cx="384048" cy="384048"/>
          </a:xfrm>
          <a:prstGeom prst="roundRect">
            <a:avLst>
              <a:gd name="adj" fmla="val 26000"/>
            </a:avLst>
          </a:prstGeom>
          <a:solidFill>
            <a:srgbClr val="A56209"/>
          </a:solidFill>
          <a:ln/>
        </p:spPr>
      </p:sp>
      <p:sp>
        <p:nvSpPr>
          <p:cNvPr id="17" name="Text 15"/>
          <p:cNvSpPr txBox="1"/>
          <p:nvPr/>
        </p:nvSpPr>
        <p:spPr>
          <a:xfrm>
            <a:off x="5449824" y="270931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67361"/>
            <a:ext cx="5379415" cy="467947"/>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Suda sınır açı: sin θ = 1,33/1,50 ≈ 0,887 → θ ≈ 62,5°</a:t>
            </a:r>
            <a:endParaRPr lang="en-US" sz="1500" dirty="0"/>
          </a:p>
        </p:txBody>
      </p:sp>
      <p:sp>
        <p:nvSpPr>
          <p:cNvPr id="19" name="Shape 17"/>
          <p:cNvSpPr/>
          <p:nvPr/>
        </p:nvSpPr>
        <p:spPr>
          <a:xfrm>
            <a:off x="5212080" y="333647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563733"/>
            <a:ext cx="384048" cy="384048"/>
          </a:xfrm>
          <a:prstGeom prst="roundRect">
            <a:avLst>
              <a:gd name="adj" fmla="val 26000"/>
            </a:avLst>
          </a:prstGeom>
          <a:solidFill>
            <a:srgbClr val="A56209"/>
          </a:solidFill>
          <a:ln/>
        </p:spPr>
      </p:sp>
      <p:sp>
        <p:nvSpPr>
          <p:cNvPr id="21" name="Text 19"/>
          <p:cNvSpPr txBox="1"/>
          <p:nvPr/>
        </p:nvSpPr>
        <p:spPr>
          <a:xfrm>
            <a:off x="5449824" y="35637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39134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45° &lt; 62,5° → tam yansıma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olmaz</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ışık hipotenüsten suya geçer.</a:t>
            </a:r>
            <a:endParaRPr lang="en-US" sz="1500" dirty="0"/>
          </a:p>
        </p:txBody>
      </p:sp>
      <p:sp>
        <p:nvSpPr>
          <p:cNvPr id="23" name="Shape 21"/>
          <p:cNvSpPr/>
          <p:nvPr/>
        </p:nvSpPr>
        <p:spPr>
          <a:xfrm>
            <a:off x="5212080" y="432134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48598"/>
            <a:ext cx="384048" cy="384048"/>
          </a:xfrm>
          <a:prstGeom prst="roundRect">
            <a:avLst>
              <a:gd name="adj" fmla="val 26000"/>
            </a:avLst>
          </a:prstGeom>
          <a:solidFill>
            <a:srgbClr val="A56209"/>
          </a:solidFill>
          <a:ln/>
        </p:spPr>
      </p:sp>
      <p:sp>
        <p:nvSpPr>
          <p:cNvPr id="25" name="Text 23"/>
          <p:cNvSpPr txBox="1"/>
          <p:nvPr/>
        </p:nvSpPr>
        <p:spPr>
          <a:xfrm>
            <a:off x="5449824" y="45485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37620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1,50 · sin45° = 1,33 · sin x → sin x ≈ 1,061/1,33 ≈ 0,797 → x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52,9°</a:t>
            </a:r>
            <a:endParaRPr lang="en-US" sz="1500" dirty="0"/>
          </a:p>
        </p:txBody>
      </p:sp>
      <p:sp>
        <p:nvSpPr>
          <p:cNvPr id="27" name="Shape 25"/>
          <p:cNvSpPr/>
          <p:nvPr/>
        </p:nvSpPr>
        <p:spPr>
          <a:xfrm>
            <a:off x="5212080" y="530620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33463"/>
            <a:ext cx="384048" cy="384048"/>
          </a:xfrm>
          <a:prstGeom prst="roundRect">
            <a:avLst>
              <a:gd name="adj" fmla="val 26000"/>
            </a:avLst>
          </a:prstGeom>
          <a:solidFill>
            <a:srgbClr val="A56209"/>
          </a:solidFill>
          <a:ln/>
        </p:spPr>
      </p:sp>
      <p:sp>
        <p:nvSpPr>
          <p:cNvPr id="29" name="Text 27"/>
          <p:cNvSpPr txBox="1"/>
          <p:nvPr/>
        </p:nvSpPr>
        <p:spPr>
          <a:xfrm>
            <a:off x="5449824" y="55334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36107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Suyun içinde bu prizma ayna gibi çalışmaz; ışığın büyük kısmı suya kaçar.</a:t>
            </a:r>
            <a:endParaRPr lang="en-US" sz="15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Prizmanın renk ürettiğini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Prizma renkleri ayırır, üretmez.</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Kırmızının en çok saptığını düşünmek.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En çok sapan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mordur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indisi en büyüktür.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δ = i₁ + i₂ + A yazmak.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Doğrusu δ = i₁ + i₂ − A'dır.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Işığın tepeye doğru saptığını sanmak.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Sapma her zaman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tabana</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doğrudur (prizma çevresinden yoğun olduğu sürece).</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Işığın her durumda prizmadan çıkacağını varsaymak.</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r₂ sınır açıyı aşarsa ışık içeride tam yansır.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Paralel kenarlı levhayla prizmayı karıştırmak.</a:t>
            </a:r>
            <a:endParaRPr lang="en-US" sz="1600" dirty="0"/>
          </a:p>
        </p:txBody>
      </p:sp>
      <p:sp>
        <p:nvSpPr>
          <p:cNvPr id="18" name="Shape 16"/>
          <p:cNvSpPr/>
          <p:nvPr/>
        </p:nvSpPr>
        <p:spPr>
          <a:xfrm>
            <a:off x="6406744" y="2435352"/>
            <a:ext cx="274320" cy="274320"/>
          </a:xfrm>
          <a:prstGeom prst="roundRect">
            <a:avLst>
              <a:gd name="adj" fmla="val 26667"/>
            </a:avLst>
          </a:prstGeom>
          <a:solidFill>
            <a:srgbClr val="EAF7DC"/>
          </a:solidFill>
          <a:ln/>
        </p:spPr>
      </p:sp>
      <p:sp>
        <p:nvSpPr>
          <p:cNvPr id="19" name="Text 17"/>
          <p:cNvSpPr txBox="1"/>
          <p:nvPr/>
        </p:nvSpPr>
        <p:spPr>
          <a:xfrm>
            <a:off x="6406744"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Levhada doğrultu korunur, prizmada değişir.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Sapmanın gelme açısıyla hep arttığını sanmak.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Sapma önce azalır, en küçük değerden sonra artar; aynı sapma iki farklı gelme açısıyla elde edilebilir.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Gökkuşağını belli bir yerde duran bir cisim sanmak.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Gökkuşağı, güneşin tam karşısındaki noktadan 42° açıyla gelen ışınların kümesidir; sen yürüdükçe o da yer değiştirir.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Sapma </a:t>
            </a:r>
            <a:pPr indent="0" marL="0">
              <a:buNone/>
            </a:pPr>
            <a:r>
              <a:rPr lang="en-US" sz="1500" b="1" dirty="0">
                <a:solidFill>
                  <a:srgbClr val="FFFFFF"/>
                </a:solidFill>
                <a:latin typeface="Calibri" pitchFamily="34" charset="0"/>
                <a:ea typeface="Calibri" pitchFamily="34" charset="-122"/>
                <a:cs typeface="Calibri" pitchFamily="34" charset="-120"/>
              </a:rPr>
              <a:t>δ = i₁ + i₂ − A</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Mor </a:t>
            </a:r>
            <a:pPr indent="0" marL="0">
              <a:buNone/>
            </a:pPr>
            <a:r>
              <a:rPr lang="en-US" sz="1500" b="1" dirty="0">
                <a:solidFill>
                  <a:srgbClr val="FFFFFF"/>
                </a:solidFill>
                <a:latin typeface="Calibri" pitchFamily="34" charset="0"/>
                <a:ea typeface="Calibri" pitchFamily="34" charset="-122"/>
                <a:cs typeface="Calibri" pitchFamily="34" charset="-120"/>
              </a:rPr>
              <a:t>en çok sapar</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45° prizma </a:t>
            </a:r>
            <a:pPr indent="0" marL="0">
              <a:buNone/>
            </a:pPr>
            <a:r>
              <a:rPr lang="en-US" sz="1500" b="1" dirty="0">
                <a:solidFill>
                  <a:srgbClr val="FFFFFF"/>
                </a:solidFill>
                <a:latin typeface="Calibri" pitchFamily="34" charset="0"/>
                <a:ea typeface="Calibri" pitchFamily="34" charset="-122"/>
                <a:cs typeface="Calibri" pitchFamily="34" charset="-120"/>
              </a:rPr>
              <a:t>tam yansıtır</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Gökkuşağı </a:t>
            </a:r>
            <a:pPr indent="0" marL="0">
              <a:buNone/>
            </a:pPr>
            <a:r>
              <a:rPr lang="en-US" sz="1500" b="1" dirty="0">
                <a:solidFill>
                  <a:srgbClr val="FFFFFF"/>
                </a:solidFill>
                <a:latin typeface="Calibri" pitchFamily="34" charset="0"/>
                <a:ea typeface="Calibri" pitchFamily="34" charset="-122"/>
                <a:cs typeface="Calibri" pitchFamily="34" charset="-120"/>
              </a:rPr>
              <a:t>42°</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r₁ + r₂ = A</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prizma içi açılar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δ = i₁ + i₂ − A</a:t>
            </a:r>
            <a:endParaRPr lang="en-US" sz="1350" dirty="0"/>
          </a:p>
        </p:txBody>
      </p:sp>
      <p:sp>
        <p:nvSpPr>
          <p:cNvPr id="19" name="Text 17"/>
          <p:cNvSpPr txBox="1"/>
          <p:nvPr/>
        </p:nvSpPr>
        <p:spPr>
          <a:xfrm>
            <a:off x="8572500" y="321868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sapma açısı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27228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n(mor) &gt; n(kırmızı)</a:t>
            </a:r>
            <a:endParaRPr lang="en-US" sz="1350" dirty="0"/>
          </a:p>
        </p:txBody>
      </p:sp>
      <p:sp>
        <p:nvSpPr>
          <p:cNvPr id="22" name="Text 20"/>
          <p:cNvSpPr txBox="1"/>
          <p:nvPr/>
        </p:nvSpPr>
        <p:spPr>
          <a:xfrm>
            <a:off x="8993124" y="4041648"/>
            <a:ext cx="237561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dağılma (dispersiyon)</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16712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θ(sınır) = 1/n</a:t>
            </a:r>
            <a:endParaRPr lang="en-US" sz="1350" dirty="0"/>
          </a:p>
        </p:txBody>
      </p:sp>
      <p:sp>
        <p:nvSpPr>
          <p:cNvPr id="25" name="Text 23"/>
          <p:cNvSpPr txBox="1"/>
          <p:nvPr/>
        </p:nvSpPr>
        <p:spPr>
          <a:xfrm>
            <a:off x="8887968" y="4864608"/>
            <a:ext cx="248076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yansımalı prizma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dersler.perinet.org/prizmalar.html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08 · Mercekler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Prizmalar — Dersler</dc:title>
  <dc:subject>Fizik · Optik</dc:subject>
  <dc:creator>Dersler</dc:creator>
  <cp:lastModifiedBy>Dersler</cp:lastModifiedBy>
  <cp:revision>1</cp:revision>
  <dcterms:created xsi:type="dcterms:W3CDTF">2026-09-30T06:40:55Z</dcterms:created>
  <dcterms:modified xsi:type="dcterms:W3CDTF">2026-09-30T06:40:55Z</dcterms:modified>
</cp:coreProperties>
</file>