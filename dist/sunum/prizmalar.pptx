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Lst>
  <p:notesMasterIdLst>
    <p:notesMasterId r:id="rId1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notesMaster" Target="notesMasters/notesMaster1.xml"/><Relationship Id="rId111" Type="http://schemas.openxmlformats.org/officeDocument/2006/relationships/presProps" Target="presProps.xml"/><Relationship Id="rId112" Type="http://schemas.openxmlformats.org/officeDocument/2006/relationships/viewProps" Target="viewProps.xml"/><Relationship Id="rId113" Type="http://schemas.openxmlformats.org/officeDocument/2006/relationships/theme" Target="theme/theme1.xml"/><Relationship Id="rId1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Beyaz ışığın içinde bir gökkuşağı saklı olabilir mi? Newton, 1666'da karanlık odasına giren güneş ışığını bir prizmadan geçirdi ve duvarda bir gökkuşağı gördü. O güne kadar herkes rengin camdan geldiğini sanıyordu; Newton ikinci bir prizmayla renkleri yeniden birleştirip beyaz ışığı geri elde etti ve rengin ışığın kendisinde olduğunu kanıtladı. Bu anlatım dört basamakta ilerliyor: önce gökkuşağını ve bir cam prizmayı gözleyip Newton'un deneyini sezgiyle kuracağız, sonra prizmanın ışığı ne kadar büktüğünü hesaplayan bağıntıları çıkaracağız, ardından tam yansımalı prizmalara ve gökkuşağının fiziğine geçeceğiz. En sonda kolaydan zora sıralanmış örneklerle hepsini birlikte kullanacağız.
Kapak görseli: Işığı açan cam. Beyaz ışık demeti prizmaya girerken ve çıkarken iki kez kırılır, tabana doğru sapar ve renklerine ayrılarak karta bir tayf düşürür. Kırmızı en az saparak şeridin üstünde, mor en çok saparak altında kalır. Renkler camdan gelmez; beyaz ışığın içinde zaten vardır.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Beyaz ışığın içinde bir gökkuşağı saklı olabilir mi? Newton, 1666'da karanlık odasına giren güneş ışığını bir prizmadan geçirdi ve duvarda bir gökkuşağı gördü. O güne kadar herkes rengin camdan geldiğini sanıyordu; Newton ikinci bir prizmayla renkleri yeniden birleştirip beyaz ışığı geri elde etti ve rengin ışığın kendisinde olduğunu kanıtladı. Bu anlatım dört basamakta ilerliyor: önce gökkuşağını ve bir cam prizmayı gözleyip Newton'un deneyini sezgiyle kuracağız, sonra prizmanın ışığı ne kadar büktüğünü hesaplayan bağıntıları çıkaracağız, ardından tam yansımalı prizmalara ve gökkuşağının fiziğine geçeceğiz. En sonda kolaydan zora sıralanmış örneklerle hepsini birlikte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gökkuşağına ve bir cam prizmaya bak, ışığın neden büküldüğünü ve renklerin nereden geldiğini gör. Bu basamakta hesap yok denecek kadar az.
   01 Önce gözlemle: yağmurdan sonra gökyüzündeki renkler nereden gelir?
   02 Prizma nedir?
   03 Beyaz ışık: Newton'un iki prizması
2. Orta — Bağıntılar: prizmanın ışığı ne kadar saptırdığını adım adım hesapla, en küçük sapmayı ve renklerin açılmasını sayılarla gör.
   04 Sapma açısı: iki kırılmanın toplamı
   05 Sayılarla hisset: sapma, gelme açısına nasıl bağlı?
   06 En küçük sapma ve indis ölçümü
   07 Dispersiyon: her rengin kendi indisi
3. İleri — Derinleşme: ışık prizmadan çıkamayınca, prizma başka bir ortama girince ve prizma bir yağmur damlasına dönüşünce ne olur?
   08 Tam yansımalı prizmalar ve çevre ortam
   09 Gökkuşağı: her damla küçük bir prizma
   10 Prizmalar gerçek dünyada
4. Pekiştir — Kolaydan zora çözümlü örnekler ve sınavda puan kaybettiren klasik hatalar.
   11 Çözümlü örnekler
   12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Normal: ışığın yüzeye çarptığı noktada yüzeye dik çizilen hayalî doğru. Geliş ve kırılma açıları yüzeyden değil, bu doğrudan ölçülür.
• Kırılma: ışık havadan cama geçerken yavaşlar ve yön değiştirir. Cama girerken normale yaklaşır, camdan havaya çıkarken normalden uzaklaşır. Suya daldırılan kalemin kırık görünmesi bundandır.
• Kırılma indisi (n): bir maddenin ışığı ne kadar yavaşlattığını gösteren sayı. Hava için 1, su için 1,33, cam için yaklaşık 1,5'tir; n büyüdükçe ışık daha çok bükülür.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Sinüs ve Snell yasası: sin30° = 0,5 ve sin90° = 1 gibi değerler tablodan ya da hesap makinesinden okunur. Kırılmada n₁ · sin θ₁ = n₂ · sin θ₂ bağıntısı kullanılır.
• Sınır açı ve tam yansıma: camdan havaya çıkan ışık normalle çok büyük bir açı yaparsa (camda yaklaşık 42°'den büyük) dışarı çıkamaz, tamamı geri yansır.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gökkuşağına ve bir cam prizmaya bak, ışığın neden büküldüğünü ve renklerin nereden geldiğini gör. Bu basamakta hesap yok denecek kadar az.
01 Önce gözlemle: yağmurdan sonra gökyüzündeki renkler nereden gelir?
02 Prizma nedir?
03 Beyaz ışık: Newton'un iki prizması
Görsel: Yağmurdan sonra. Ana yayda kırmızı dışta, mor içte; üstteki soluk ikinci yayda renkler ters sırada. İki yayın arasındaki gökyüzü, ana yayın içinden biraz daha koyu görünür. Güneş görünmüyor, çünkü gözlemcinin arkasında: gölgeler gökkuşağına doğru uzanıyor. Her yağmur damlası güneş ışığını küçük bir prizma gibi renklerine ayırır; nasıl olduğunu İleri basamakta göreceğiz.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yağmurdan sonra gökyüzündeki renkler nereden gelir? — adım 1/3
• Yağmur yeni dinmiş, güneş alçakta ve arkanda.
• Önündeki karanlık bulutların üstünde renkli bir yay beliriyor.
• Bu sahneye dikkatle bakınca birkaç düzen fark edersin.
• Renkler hiç karışık sıralanmaz; her gökkuşağında aynı sırayla dizilir.
• Gökkuşağı hep güneşin karşı tarafında görünür; güneşe dönersen onu asla göremezsin.
• Bazen ana yayın üstünde ikinci, daha soluk bir yay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yağmurdan sonra gökyüzündeki renkler nereden gelir? — adım 2/3
• Aynı renk şeridini evde de yakalayabilirsin:
• Bir bardak su: güneşli bir pencerenin önüne konan su dolu bardak, masaya küçük renkli bir şerit düşürür.
• Kesik cam kenarı: pahlı bir aynanın ya da cam masanın kenarından geçen ışık duvarda renklere ayrılır.
• Avize kristali: cam bir kristal, güneş ışığını odaya renkli lekeler hâlinde saçar.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yağmurdan sonra gökyüzündeki renkler nereden gelir? — adım 3/3
• Hepsinde ortak olan şey, ışığın eğik yüzeyli saydam bir cisimden geçmesidir.
• Böyle bir cisme prizma denir; bu anlatım onun fiziğidir.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Gökkuşağının renkleri hep aynı sırada ve hep güneşin karşısında görünür. Aynı renk şeridi, güneş ışığı eğik yüzeyli bir cam ya da sudan geçtiğinde de ortaya çıkar.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Gökkuşağını görmek için neden güneşe sırtını dönmen gerekir?
Sınıfa sorun, birkaç tahmin alın; sonra cevap slaytına geçin.
Cevap: Gökkuşağının ışığı, damlalara girip içlerinde yansıdıktan sonra kabaca geldiği yöne doğru geri dönen güneş ışığıdır. Bu ışığın gözüne ulaşması için damlaların önünde, güneşin arkanda olması gerekir. Güneşe dönük bakarsan damlalardan geri dönen ışık sırtına gider.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Gökkuşağının ışığı, damlalara girip içlerinde yansıdıktan sonra kabaca geldiği yöne doğru geri dönen güneş ışığıdır. Bu ışığın gözüne ulaşması için damlaların önünde, güneşin arkanda olması gerekir. Güneşe dönük bakarsan damlalardan geri dönen ışık sırtına gider.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Prizma nedir? — adım 1/4
• İki yüzü birbirine paralel olmayan saydam cisme prizma denir.
• Paralel kenarlı levhada ışık doğrultusunu korurken, prizmada saparak çıkar.
• Tepe açısı (A): ışığın girdiği ve çıktığı yüzeyler arasındaki açı.
• Taban: tepe açısının karşısındaki yüzey.
• Işık her zaman tabana doğru sapar.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Prizma nedir? — adım 2/4
• Neden tabana doğru?
• Işık camda havadakinden yavaş gider.
• Geniş bir ışık demetinin tabana yakın kenarı daha kalın camdan geçer, bu yüzden daha çok gecikir; tepeye yakın kenarı ise ince camdan geçip öne kaçar.
• Bir yürüyüş kolunun bir ucu çamurlu tarlaya girip yavaşlarsa bütün kol o yana döner.
• Işık demeti de yavaşlayan tarafa, yani kalın tabana doğru döner.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Prizma nedir? — adım 3/4
Saydam cisim | Yüzeyler | Işık ne yapar?
Paralel kenarlı levha | paralel | yana kayar, doğrultusu değişmez
Prizma | eğik (A açısıyla) | tabana doğru sapar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Prizma nedir? — şekil
Prizma iki eğik yüzeyi olan bir cam bloktur. Işık birinci yüzeyde içeri girerken normale yaklaşır, ikinci yüzeyden çıkarken normalden uzaklaşır — ama iki yüzey paralel olmadığı için bu iki kırılma birbirini götürmez, toplanır. Sonuç: ışın daima tabana doğru sapar. Gelen ve çıkan ışın arasındaki açıya sapma açısı (δ) denir.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Prizma, iki yüzü birbirine paralel olmayan saydam bir cisimdir. İçinden geçen ışın iki kez kırılır ve bu iki kırılma toplanarak ışını tabana doğru saptırır.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Beyaz ışık: Newton'un iki prizması — adım 1/5
• Newton'dan önce yaygın görüş, beyaz ışığın saf olduğu ve renklerin cam tarafından “üretildiği” yönündeydi.
• Newton bu fikri sınamak için karanlık bir odada panjurdaki küçük bir delikten giren güneş ışığıyla adım adım deneyler yaptı: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Beyaz ışık: Newton'un iki prizması — adım 2/5
• Ayırma: birinci prizma ışığı duvarda uzun bir renk şeridine açtı.
• Tek renk: şeritten yalnızca bir rengi bir delikten geçirip ikinci bir prizmaya gönderdi; ışık yine büküldü ama rengi değişmedi.
• Birleştirme: ters çevrilmiş ikinci bir prizmayla bütün renkleri üst üste getirince yeniden beyaz ışık elde etti.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Beyaz ışık: Newton'un iki prizması — adım 3/5
• Beyaz ışık bütün renklerin karışımıdır; prizmada her renk farklı saptığı için ayrışır.
• Bu olaya dispersiyon (dağılma), oluşan renk şeridine tayf (spektrum) denir.
• Her renk camda biraz farklı hızla ilerler: mor en yavaş gider ve en çok kırılır, kırmızı en hızlı gider ve en az kırılır.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Beyaz ışık: Newton'un iki prizması — adım 4/5
Dikkat: Prizma renkleri üretmez, yalnızca zaten var olan renkleri ayırır. İkinci bir prizmayla tayf yeniden birleştirilirse beyaz ışık elde edilir — Newton bunu 1666'da göstermiştir.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Beyaz ışık: Newton'un iki prizması — şekil
Camın kırılma indisi her renk için biraz farklıdır: mor ışık için en büyük, kırmızı için en küçüktür. Bu yüzden beyaz ışık prizmadan geçerken renkler farklı açılarda sapar ve tayf hâlinde açılır. Buna dispersiyon denir. Renkler camın içinde ortaya çıkmaz — beyaz ışığın içinde zaten vardır, prizma yalnızca onları ayırır.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Beyaz ışık bütün renklerin karışımıdır. Prizma renkleri üretmez, her rengi biraz farklı saptırarak ayırır; buna dispersiyon, oluşan renk şeridine tayf denir.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Prizmadan çıkan kırmızı ışığı ikinci bir prizmadan geçirirsen yeni renkler çıkar mı?
Sınıfa sorun, birkaç tahmin alın; sonra cevap slaytına geçin.
Cevap: Hayır. Kırmızı ışık ikinci prizmada yine kırılır ve sapar, ama kırmızı kalır; içinde ayrılacak başka renk yoktur. Newton'un kilit gözlemi buydu: renk camın ışığa yaptığı bir değişiklik olsaydı, ikinci prizma kırmızıyı da başka renklere dönüştürürdü.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Kırmızı ışık ikinci prizmada yine kırılır ve sapar, ama kırmızı kalır; içinde ayrılacak başka renk yoktur. Newton'un kilit gözlemi buydu: renk camın ışığa yaptığı bir değişiklik olsaydı, ikinci prizma kırmızıyı da başka renklere dönüştürürdü.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prizmanın ışığı ne kadar saptırdığını adım adım hesapla, en küçük sapmayı ve renklerin açılmasını sayılarla gör.
04 Sapma açısı: iki kırılmanın toplamı
05 Sayılarla hisset: sapma, gelme açısına nasıl bağlı?
06 En küçük sapma ve indis ölçümü
07 Dispersiyon: her rengin kendi indisi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Sapma açısı: iki kırılmanın toplamı — adım 1/7
• Işık prizmaya girerken ve çıkarken iki kez kırılır.
• Gelen ışının doğrultusu ile çıkan ışının doğrultusu arasındaki açıya sapma açısı (δ) denir.
• Her iki yüzeyde de Snell yasası geçerlidir (prizmanın indisi n, dışarısı hava):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Sapma açısı: iki kırılmanın toplamı — adım 2/7
sin i₁ = n · sin r₁   n · sin r₂ = sin i₂   r₁ + r₂ = A   δ = i₁ + i₂ −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Sapma açısı: iki kırılmanın toplamı — adım 3/7
Formüldeki harfler ne anlama geliyor?
Sembol | Anlamı | Birimi
i₁, i₂ | ışının dışarıda, havada normalle yaptığı açılar: i₁ girerken, i₂ çıkarken | derece (°)
r₁, r₂ | ışının camın içinde normalle yaptığı açılar: r₁ birinci yüzeyde, r₂ ikinci yüzeyde | derece (°)
A | tepe açısı: ışığın girdiği ve çıktığı iki yüzey arasındaki açı | derece (°)
n | prizmanın kırılma indisi (cam için yaklaşık 1,5) | —
δ | sapma açısı: gelen ışın ile çıkan ışının doğrultuları arasındaki açı | derece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Sapma açısı: iki kırılmanın toplamı — adım 4/7
• i₁: birinci yüzeye geliş açısı, r₁: içerideki kırılma açısı.
• r₂: ikinci yüzeye geliş açısı, i₂: çıkış açısı.
• Tepe açısı ve indis büyüdükçe sapma artar.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Sapma açısı: iki kırılmanın toplamı — adım 5/7
Bağıntılar nereden geliyor?
• Birinci dönüş: birinci yüzeyde ışın normale yaklaşır ve doğrultusu i₁ − r₁ kadar döner.
• İkinci dönüş: ikinci yüzeyde normalden uzaklaşır ve yine aynı yöne, i₂ − r₂ kadar döner.
• Geometri: iki yüzeyin normalleri birbiriyle 180° − A açısı yapar; içerideki ışın ve iki normalin oluşturduğu üçgende r₁ + r₂ + (180° − A) = 180°, yani r₁ + r₂ = A.
• Toplam: δ = (i₁ − r₁) + (i₂ − r₂) = i₁ + i₂ −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Sapma açısı: iki kırılmanın toplamı — adım 6/7
• Sayfanın 01 numaralı bölümündeki başlangıç ayarı (A = 60°, i₁ = 45°, n = 1,50) için: r₁ ≈ 28,1°, r₂ ≈ 31,9°, i₂ ≈ 52,4° ve δ ≈ 37,4° çıkar.
Işık her zaman çıkamaz. r₂ sınır açıdan büyükse ışık ikinci yüzeyden çıkamaz, içeride tam yansımaya uğrar. Tam yansımalı prizmalar bunu bilerek kullanır.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Sapma açısı: iki kırılmanın toplamı — şekil
Dört açı vardır: ışının birinci yüzeye geliş açısı i₁, içerideki kırılma açısı r₁, ikinci yüzeye varış açısı r₂ ve dışarı çıkış açısı i₂. Geometriden r₁ + r₂ = A çıkar; sapma ise δ = i₁ + i₂ − A'dır. Bu iki bağıntı, prizma sorularının neredeyse tamamını çözer.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Işın prizmada iki kez kırılır ve iki dönüş aynı yöne toplanır. Geometriden r₁ + r₂ = A, toplam sapma için δ = i₁ + i₂ − A bulunur.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sapma, gelme açısına nasıl bağlı? — adım 1/5
• Tepe açısı 60°, indisi 1,50 olan bir cam prizmayı alalım ve gelme açısını değiştirelim.
• Her satır iki kez Snell yasası ve bir kez r₁ + r₂ = A ile hesaplandı: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sapma, gelme açısına nasıl bağlı? — adım 2/5
Gelme i₁ | İçeride r₂ | Çıkış i₂ | Sapma δ
20° | 46,8° | çıkamaz | —
30° | 40,5° | 77,1° | 47,1°
40° | 34,6° | 58,5° | 38,5°
48,6° | 30,0° | 48,6° | 37,2°
77,1° | 19,5° | 30,0° | 47,1°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sapma, gelme açısına nasıl bağlı? — adım 3/5
• Tablodan dört düzen okunuyor:
• Önce azalır, sonra artar: sapma 47,1°'den 37,2°'ye iner, sonra yeniden yükselir.
• En küçük değer simetride: i₁ = i₂ = 48,6° olduğunda sapma en küçüktür, 37,2°.
• Işık yolu tersinirdir: 30° ile giren ışın 77,1° ile çıkar; 77,1° ile giren 30° ile çıkar. Sapma ikisinde de 47,1°'dir.
• Küçük gelme açısında çıkış yok: 20°'de r₂ = 46,8° sınır açıyı (41,8°) aşar, ışık içeride tam yansır.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sapma, gelme açısına nasıl bağlı? — adım 4/5
• Bir düzen daha gözden kaçmasın: en küçük değerin çevresinde sapma çok yavaş değişir.
• Gelme açısı 40°'den 48,6°'ye çıkınca sapma yalnızca 1,3° değişiyor.
• Sayfanın 01 numaralı bölümünde gelme açısını kaydırıp bu “dip” noktasını kendin bulabilirsin.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sapma, gelme açısına nasıl bağlı? — şekil
Prizmayı döner tablayla çevirdiğinde ışının prizmaya gelme açısı değişir ve perdedeki kırmızı nokta kayar. Tablayı hep aynı yöne çevirsen de nokta önce bir yana kayar, sonra durup geri döner; geri döndüğü yer sapmanın en küçük olduğu yerdir. Tablodaki sayılar bu hareketi anlatır: 60°'lik, 1,50 indisli prizmada sapma 47,1°'den 37,2°'ye iner, sonra yeniden artar.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60°'lik, 1,50 indisli prizmada sapma önce azalır, gelme açısı 48,6° iken en küçük değerine (37,2°) iner, sonra yeniden artar. Gelme açısı yaklaşık 28°'nin altındaysa ışık ikinci yüzeyden çıkamaz.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küçük sapma ve indis ölçümü — adım 1/4
• Gelme açısı artırıldıkça sapma açısı önce azalır, bir en küçük değere iner, sonra tekrar artar.
• En küçük sapmada ışın prizmadan simetrik geçer:
i₁ = i₂ ve r₁ = r₂ = A/2   i = (A + δ(min)) / 2   n = sin i / sin(A/2)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küçük sapma ve indis ölçümü — adım 2/4
• İndis bağıntısı, simetri koşulundan dört adımda çıkar:
• Simetri: r₁ = r₂ ve r₁ + r₂ = A olduğundan r = A/2.
• Eşit açılar: i₁ = i₂ = i olduğundan δ(min) = 2i − A.
• Gelme açısını çek: i = (A + δ(min))/2.
• Snell yasası: sin i = n·sin r, buradan n = sin((A + δ(min))/2) / sin(A/2).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küçük sapma ve indis ölçümü — adım 3/4
• Bu bağıntı, bir prizmanın kırılma indisini ölçmenin klasik yöntemidir: en küçük sapma açısı ölçülür, formülden n bulunur.
• Yöntemin gücü, önceki bölümde gördüğün yayvan dipten gelir: en küçük sapmanın çevresinde gelme açısındaki küçük bir hata sapmayı neredeyse hiç değiştirmez, bu yüzden δ(min) çok duyarlı ölçülebilir.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küçük sapma ve indis ölçümü — şekil
Geliş açısını büyüttükçe sapma önce azalır, bir en küçük değere iner, sonra tekrar artar. O en küçük noktada ışın prizmadan simetrik geçer: giriş açısı çıkış açısına eşittir ve içerideki ışın tabana paraleldir. Bu özel durum, bir maddenin kırılma indisini çok duyarlı biçimde ölçmeye yarar — refraktometrelerin çalışma ilkesi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Sapma, ışın prizmadan simetrik geçtiğinde en küçüktür: r₁ = r₂ = A/2 ve i₁ = i₂. Bu durumda n = sin((A + δmin)/2) / sin(A/2) olur; indis ölçmenin klasik yolu budur.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En küçük sapmada ışın, eşkenar bir prizmanın içinde neden tabana paralel gider?
Sınıfa sorun, birkaç tahmin alın; sonra cevap slaytına geçin.
Cevap: Çünkü ışın iki yan yüzeye aynı açıyla (r₁ = r₂) çarpar. Eşkenar ya da ikizkenar bir prizmada iki yan yüzeyle aynı açıyı yapan tek doğrultu tabana paralel olandır. Işık yolu tepe noktasından geçen simetri eksenine göre ayna görüntüsü gibi iki eş yarıya ayrılır.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Çünkü ışın iki yan yüzeye aynı açıyla (r₁ = r₂) çarpar. Eşkenar ya da ikizkenar bir prizmada iki yan yüzeyle aynı açıyı yapan tek doğrultu tabana paralel olandır. Işık yolu tepe noktasından geçen simetri eksenine göre ayna görüntüsü gibi iki eş yarıya ayrılır.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Dispersiyon: her rengin kendi indisi — adım 1/6
• Bir ortamın kırılma indisi, ışığın dalga boyuna bağlıdır.
• Kısa dalga boylu mor ışık için indis büyük, uzun dalga boylu kırmızı için küçüktür:
n(mor) &gt; … &gt; n(kırmızı)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Dispersiyon: her rengin kendi indisi — adım 2/6
Renk | Dalga boyu | Camda n | Sapma (A = 60°, i₁ = 50°)
Kırmızı | ≈ 700 nm | 1,513 | 38,3° · en az
Sarı | ≈ 580 nm | 1,520 | 38,9° · orta
Mavi | ≈ 470 nm | 1,531 | 39,9° · çok
Mor | ≈ 400 nm | 1,538 | 40,5° · en çok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Dispersiyon: her rengin kendi indisi — adım 3/6
• Kırmızıyla morun indisleri arasındaki fark yalnızca %1,7 kadar; ama bu küçük fark iki renk arasında yaklaşık 2,2°'lik bir açı açıyor.
• Prizmadan 1 m uzaktaki bir perdede bu, yaklaşık 4 cm genişliğinde bir tayf demektir.
• Sayfanın 02 numaralı bölümünde gelme açısını ve tepe açısını değiştirerek tayfın nasıl açılıp kapandığını izleyebilirsin.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Dispersiyon: her rengin kendi indisi — adım 4/6
İnce prizmada kısa yol
• Tepe açısı birkaç derece olan ince prizmada, ışık yüzeye neredeyse dik geldiğinde bütün açılar küçüktür ve sin x ≈ x alınabilir.
• O zaman i₁ ≈ n·r₁, i₂ ≈ n·r₂ ve δ = n·(r₁ + r₂) − A olur:
δ ≈ (n − 1) · A   Δδ ≈ (n(mor)−n(kırmızı))·A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Dispersiyon: her rengin kendi indisi — adım 5/6
• 10°'lik ince bir cam prizma kırmızıyı yaklaşık 5,13°, moru 5,38° saptırır; renkler arasındaki açı yalnızca 0,25°'dir.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Dispersiyon: her rengin kendi indisi — şekil
Aynı cam, üç ayrı bükülme. Üç ışın prizmaya aynı açıyla girer ama aynı miktarda bükülmez: cam mor ışığı kırmızıdan daha çok kırar, çünkü mor için indisi daha büyüktür. Beyaz ışığın bir prizmada renk şeridine açılmasının nedeni budur; her renk kendi indisiyle kendi açısında sapar.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Camın indisi mordan kırmızıya doğru biraz azalır; bu yüzden mor en çok, kırmızı en az sapar. 60°'lik prizmada fark yaklaşık 2°, ince prizmada Δδ ≈ (n(mor) − n(kırmızı))·A kadardır.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Derinleşme: ışık prizmadan çıkamayınca, prizma başka bir ortama girince ve prizma bir yağmur damlasına dönüşünce ne olur?
08 Tam yansımalı prizmalar ve çevre ortam
09 Gökkuşağı: her damla küçük bir prizma
10 Prizmalar gerçek dünyada
Görsel: Pencerede bir kristal. Çok yüzlü kristalin her yüz çifti küçük bir prizma gibi davranır: güneş ışığını kırar, saptırır ve renklerine ayırır. Duvara ve tavana düşen her renkli leke ayrı bir küçük tayftır; lekeler farklı yüz çiftlerinden geldiği için odaya dağılır.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 yansımalı prizmalar ve çevre ortam — adım 1/4
• Cam için sınır açı ≈ 41,8°'dir.
• 45° – 45° – 90° biçimindeki bir prizmada ışık hipotenüse 45° ile çarpar; bu açı sınır açıdan büyük olduğu için tamamı yansır.
• Tek yansıma: ışığı 90° döndürür (periskop).
• İki yansıma: ışığı 180° geri gönderir (dürbün, reflektör).
• Aynaya göre üstünlüğü: kayıp neredeyse yoktur, kaplama zamanla bozulmaz, ikincil görüntü oluşmaz.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 yansımalı prizmalar ve çevre ortam — şekil
45°'lik prizmada ışık iç yüzeye sınır açının üstünde çarpar ve tam yansır. Bir yansımayla 90°, iki yansımayla 180° döner. Neden ayna yerine prizma? Çünkü tam yansımada hiç ışık kaybı yoktur ve zamanla kararacak bir gümüş kaplama gerekmez. Dürbünlerde, periskoplarda ve bisiklet reflektörlerinde bu yüzden prizma kullanılır.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 yansımalı prizmalar ve çevre ortam — adım 3/4
• Bu düzen camın indisine bağlıdır.
• İndis 1,3 olsaydı sınır açı 50,3° olurdu; 45° ile çarpan ışık yansımak yerine dışarı çıkardı.
• Daha ince bir nokta da çevre ortamdır: bütün bağıntılarda n yerine prizmanın çevresine göre indisi, n(prizma)/n(ortam) geçer.
• Cam prizma suya batırılınca (n = 1,33) bu oran 1,13'e iner; 60°'lik prizmanın en küçük sapması 37,2°'den yaklaşık 8,7°'ye düşer ve 45°'lik prizmada tam yansıma kaybolur.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 yansımalı prizmalar ve çevre ortam — adım 4/4
• Temel basamakta “ışık her zaman tabana doğru sapar” dedik; bu, prizma çevresinden yoğun olduğu sürece doğrudur.
• Suyun içine konmuş, içi hava dolu ince duvarlı bir prizma ışığı tepeye doğru saptırır.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45°'lik cam prizmada ışık iç yüzeye sınır açıdan büyük açıyla çarpar ve kayıpsız yansır: bir yansımayla 90°, ikisiyle 180° döner. Bütün bağıntılarda n yerine prizmanın çevresine göre indisi geçer.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Tam yansımalı bir prizmanın hipotenüsüne parmağını bastırıp prizmanın içinden bakarsan ne görürsün?
Sınıfa sorun, birkaç tahmin alın; sonra cevap slaytına geçin.
Cevap: Parmak izinin çizgilerini koyu, aralarını parlak görürsün. Derinin cama değdiği çıkıntılarda ışık hava yerine deriye geçer, tam yansıma bozulur; aradaki hava dolu oluklarda ise tam yansıma sürer. Optik parmak izi okuyucuları bu ilkeyle çalışır.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Parmak izinin çizgilerini koyu, aralarını parlak görürsün. Derinin cama değdiği çıkıntılarda ışık hava yerine deriye geçer, tam yansıma bozulur; aradaki hava dolu oluklarda ise tam yansıma sürer. Optik parmak izi okuyucuları bu ilkeyle çalışır.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Gökkuşağı: her damla küçük bir prizma — adım 1/4
• Yağmur damlası küçük bir prizma gibi davranır.
• Damlaya giren ışık:
• Damlaya girerken kırılır (ve renklerine ayrılmaya başlar).
• Damlanın arka yüzeyinden yansır.
• Çıkarken ikinci kez kırılır.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Gökkuşağı: her damla küçük bir prizma — adım 2/4
• Toplam sapma en az 138° olur; yani ışık geldiği yönle 42°'lik açı yaparak geri döner.
• Bu açıda ışınlar yığıldığı için gökkuşağı, güneşin tam karşısında 42°'lik bir koni üzerinde görünür.
• Buradaki fikir prizmadaki en küçük sapmanın aynısıdır: damlaya farklı yüksekliklerden giren ışınlar farklı sapar, ama en küçük sapmanın çevresinde sapma çok yavaş değiştiği için pek çok ışın aynı doğrultuda toplanır ve orası parlak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Gökkuşağı: her damla küçük bir prizma — adım 3/4
• Kırmızı dışta (42°), mor içte (40°) kalır.
• İkinci gökkuşağı (daha soluk) iki iç yansımadan doğar; renkleri terstir ve ≈ 51°'de görünür.
• Gökkuşağını görmek için güneş arkanızda, yağmur karşınızda olmalıdır.
• Güneş yüksekse görünmez: güneş ufkun 42°'den yukarısındaysa yayın tamamı ufkun altında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Gökkuşağı: her damla küçük bir prizma — şekil
Bir yağmur damlasında ışık üç işlemden geçer: girerken kırılır, arka yüzeyden içeriden yansır, çıkarken yeniden kırılır. Her renk biraz farklı açıyla çıkar ve en yoğun çıkış kırmızı için 42°, mor için 40° civarındadır. Bu yüzden gökkuşağı hep aynı açıda görünür ve kırmızı hep dışta kalır — gökkuşağının yeri yağmurun değil, senin nerede durduğunun sonucudur.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Güneş ışığı damlada kırılır, içeride yansır ve yeniden kırılır; ışınlar en küçük sapma olan 138° civarında yığılır. Bu yüzden gökkuşağı güneşin karşısında 42°'lik bir koni üzerinde, kırmızı dışta görünür.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Gökkuşağının ucuna yürüyerek neden hiçbir zaman ulaşamazsın?
Sınıfa sorun, birkaç tahmin alın; sonra cevap slaytına geçin.
Cevap: Çünkü gökkuşağı belli bir yerde duran bir cisim değil, bir doğrultular kümesidir: gözüne güneşin tam karşısındaki noktadan 42° açıyla gelen ışınlar. Sen yürüdükçe o ışığı gönderen damlalar da değişir ve yay seninle birlikte yer değiştirir. Yanındaki arkadaşın bile başka damlaların ışığını görür.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Çünkü gökkuşağı belli bir yerde duran bir cisim değil, bir doğrultular kümesidir: gözüne güneşin tam karşısındaki noktadan 42° açıyla gelen ışınlar. Sen yürüdükçe o ışığı gönderen damlalar da değişir ve yay seninle birlikte yer değiştirir. Yanındaki arkadaşın bile başka damlaların ışığını görür.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Prizmalar gerçek dünyada — adım 1/4
• Prizmanın iki yeteneği, yani ışığı renklerine ayırmak ve ışığı kayıpsız döndürmek, laboratuvardan uzaya kadar pek çok aygıtın temelidir.
• Bazen de yalnızca bir odayı süsler.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Prizmalar gerçek dünyada — adım 2/4
• Spektroskop: yıldızların ve maddelerin ışığını tayfa ayırıp bileşimini belirler. Helyum, Dünya'da bulunmadan önce 1868'de Güneş'in tayfında fark edildi.
• Dürbün ve periskop: tam yansımalı prizmalarla ışık yolunu katlar; dürbün kısa kalır ama görüntü düz görünür.
• Fotoğraf makinesi vizörü: pentaprizma görüntüyü düzeltir.
• Reflektör: araç ve bisiklet reflektörleri ışığı geldiği yöne döndürür. Ay'a bırakılan köşe küpü prizmalar, Ay'ın uzaklığını lazerle santimetre duyarlılığında ölçtürür.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Prizmalar gerçek dünyada — adım 3/4
• Optik ölçüm: refraktometrelerle sıvıların indisi ölçülür; meyve suyundaki şeker oranı böyle denetlenir.
• Parmak izi okuyucu: tam yansımanın parmağın değdiği yerlerde bozulmasıyla izin görüntüsünü çıkarır.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Prizmalar gerçek dünyada — adım 4/4
• Köşe küpü, birbirine dik üç yüzü olan bir prizmadır; geniş bir açı aralığında, ışık nereden gelirse gelsin üç iç yansımadan sonra geldiği doğrultuya geri döner.
• Bu yüzden bisiklet reflektörü, arkadan gelen aracın far ışığını farın hemen yanındaki sürücünün gözüne geri yollar.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Prizmalar ışığı renklerine ayırarak maddelerin bileşimini okumaya, ışığı kayıpsız döndürerek dürbünlerde, reflektörlerde ve ölçüm aygıtlarında ışık yolunu yönetmeye yarar.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ve sınavda puan kaybettiren klasik hatalar.
11 Çözümlü örnekler
12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Sapma açısı
Tepe açısı 60° olan prizmaya 45° ile giren ışın, ikinci yüzeyden 52° ile çıkıyor. Sapma açısı kaçtır?
Verilenler: A = 60° · i₁ = 45° · i₂ = 52°
İstenen: sapma açısı δ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Sapma açısı — çözüm
1. δ = i₁ + i₂ − A
2. δ = 45 + 52 − 60
3. δ = 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Tam yansımalı prizma
45° – 45° – 90° prizmada ışık hipotenüse 45° ile çarpıyor. Prizmanın indisi 1,5 ise ışık ne yapar?
Verilenler: 45° – 45° – 90° prizma · hipotenüse geliş açısı 45° · n = 1,5 · çevre hava (n = 1)
İstenen: ışığın hipotenüsten çıkıp çıkmadığı ya da tam yansıyıp yansımadığı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Tam yansımalı prizma — çözüm
1. Sınır açı: sin θ = 1/1,5 = 0,667 → θ = 41,8°
2. Geliş açısı 45° &gt; 41,8° olduğu için tam yansıma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Tam yansımalı prizma — çözüm
3. Işığın tamamı yansır; hiç kayıp olmaz.
4. İndis 1,3 olsaydı sınır açı 50,3° olurdu ve 45° &lt; 50,3° olduğundan ışık prizmadan çıkardı.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En küçük sapmadan indis
Tepe açısı 60° olan bir prizmada en küçük sapma açısı 30° ölçülüyor. Prizmanın kırılma indisi nedir? (sin45° = 0,707 · sin30° = 0,5)
Verilenler: A = 60° · δ(min) = 30° · sin45° = 0,707 · sin30° = 0,5
İstenen: prizmanın kırılma indisi n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En küçük sapmadan indis — çözüm
1. n = sin((A + δ)/2) / sin(A/2)
2. n = sin((60 + 30)/2) / sin30° = sin45° / sin30°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En küçük sapmadan indis — çözüm
3. n = 0,707 / 0,5 = 1,41
4. Bu, yaklaşık √2 değeridir.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Prizma içindeki açılar
Tepe açısı 60°, indisi 1,5 olan prizmaya 30° ile giren ışın için r₁, r₂ ve çıkabilme durumunu inceleyiniz. (sin30° = 0,5)
Verilenler: A = 60° · n = 1,5 · i₁ = 30° · sin30° = 0,5 · çevre hava (n = 1)
İstenen: r₁ · r₂ · ışının ikinci yüzeyden çıkıp çıkamayacağı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Prizma içindeki açılar — çözüm
1. sin r₁ = sin30°/1,5 = 0,333 → r₁ ≈ 19,5°
2. r₂ = A − r₁ = 60 − 19,5 = 40,5°
3. Sınır açı: sin θ = 1/1,5 = 0,667 → θ ≈ 41,8°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Prizma içindeki açılar — çözüm
4. r₂ &lt; θ olduğu için ışın çıkabilir (ama sınıra çok yakındır).
5. Çıkış: sin i₂ = 1,5 · sin40,5° ≈ 0,975 → i₂ ≈ 77°; sapma δ ≈ 30 + 77 − 60 = 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İnce prizmada renk ayrılması
Tepe açısı 8° olan ince bir cam prizmada kırmızı için n = 1,513, mor için n = 1,538'dir. Işık prizmaya neredeyse dik geliyor. (a) Her rengin sapmasını, (b) iki renk arasındaki açıyı, (c) 2 m uzaktaki perdede tayfın genişliğini bulunuz.
Verilenler: A = 8° (ince prizma) · n(kırmızı) = 1,513 · n(mor) = 1,538 · ışık neredeyse dik geliyor · perdenin uzaklığı 2 m
İstenen: (a) iki rengin sapma açıları δ · (b) iki renk arasındaki açı Δδ · (c) perdedeki tayfın genişliği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İnce prizmada renk ayrılması — çözüm
1. İnce prizma: δ ≈ (n − 1)·A
2. (a) Kırmızı: 0,513 · 8° ≈ 4,10°; mor: 0,538 · 8° ≈ 4,30°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İnce prizmada renk ayrılması — çözüm
3. (b) Δδ ≈ 0,025 · 8° = 0,20°
4. (c) Genişlik ≈ 2 m · tan0,20° ≈ 2 m · 0,0035 ≈ 7 mm
60°'lik prizmada aynı iki renk arasındaki açı 2,2° kadardı; ince prizma renkleri çok daha az açar.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Işığın çıkabileceği en küçük gelme açısı
Tepe açısı 60°, indisi 1,50 olan bir prizmada ışığın ikinci yüzeyden çıkabilmesi için birinci yüzeye en az hangi açıyla gelmesi gerekir? (sin18,2° ≈ 0,312)
Verilenler: A = 60° · n = 1,50 · çevre hava (n = 1) · sin18,2° ≈ 0,312
İstenen: ışığın ikinci yüzeyden çıkabilmesi için en küçük gelme açısı i₁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Işığın çıkabileceği en küçük gelme açısı — çözüm
1. Sınır açı: sin θ = 1/1,50 ≈ 0,667 → θ ≈ 41,8°
2. Çıkabilmesi için r₂ ≤ 41,8° olmalı → r₁ = A − r₂ ≥ 60° − 41,8° = 18,2°
3. sin i₁ = n·sin r₁ = 1,50 · 0,312 ≈ 0,468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Işığın çıkabileceği en küçük gelme açısı — çözüm
4. i₁ ≈ 27,9°; bundan küçük açıyla gelen ışın ikinci yüzeyde tam yansır.
5. Tam sınırda i₂ = 90° olur: ışın yüzeyi yalayarak çıkar, δ ≈ 27,9 + 90 − 60 ≈ 57,9°.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Suya batırılan prizma
İndisi 1,50 olan 45° – 45° – 90° bir prizma tamamen suya (n = 1,33) batırılıyor. Hipotenüse içeriden 45° ile çarpan ışık ne yapar? Çıkıyorsa suya hangi açıyla geçer? (sin45° = 0,707)
Verilenler: 45° – 45° – 90° prizma · n(prizma) = 1,50 · n(su) = 1,33 · hipotenüse içeriden geliş açısı 45° · sin45° = 0,707
İstenen: ışığın tam yansıyıp yansımadığı · çıkıyorsa suya geçtiği açı x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Suya batırılan prizma — çözüm
1. Havada: θ(sınır) = 41,8° &lt; 45° → tam yansıma olurdu (Örnek 2).
2. Suda sınır açı: sin θ = 1,33/1,50 ≈ 0,887 → θ ≈ 62,5°
3. 45° &lt; 62,5° → tam yansıma olmaz, ışık hipotenüsten suya geçer.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Suya batırılan prizma — çözüm
4. 1,50 · sin45° = 1,33 · sin x → sin x ≈ 1,061/1,33 ≈ 0,797 → x ≈ 52,9°
5. Suyun içinde bu prizma ayna gibi çalışmaz; ışığın büyük kısmı suya kaçar.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Tepe açısı 50° olan bir prizmaya 45° ile giren ışın, ikinci yüzeyden 34° ile çıkıyor. Sapma açısı kaç derecedir?
Öğrencilere 2–3 dakika verin; sonra cevap slaytını açın.
Cevap: Cevap: δ = i₁ + i₂ − A = 45 + 34 − 50 = 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δ = i₁ + i₂ − A = 45 + 34 − 50 = 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Tepe açısı 60° olan bir prizmada ışın birinci yüzeyde 25° ile kırılıyor (r₁ = 25°). İçerideki ışının ikinci yüzeye geliş açısı r₂ kaç derecedir?
Öğrencilere 2–3 dakika verin; sonra cevap slaytını açın.
Cevap: Cevap: r₁ + r₂ = A olduğundan r₂ = A − r₁ = 60 − 25 =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r₁ + r₂ = A olduğundan r₂ = A − r₁ = 60 − 25 =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İndisi 1,6 olan bir prizmaya ışın 53° ile giriyor. Birinci yüzeydeki kırılma açısı r₁ kaç derecedir? (sin53° = 0,8 · sin30° = 0,5)
Öğrencilere 2–3 dakika verin; sonra cevap slaytını açın.
Cevap: Cevap: sin i₁ = n · sin r₁ → 0,8 = 1,6 · sin r₁ → sin r₁ = 0,8 / 1,6 = 0,5 → r₁ = 30°. Işın cama girerken normale yaklaştı: 53°'den 30°'ye.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sin i₁ = n · sin r₁ → 0,8 = 1,6 · sin r₁ → sin r₁ = 0,8 / 1,6 = 0,5 → r₁ = 30°. Işın cama girerken normale yaklaştı: 53°'den 30°'ye.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Tepe açısı 60°, indisi 1,6 olan bir prizmada en küçük sapma açısı kaç derecedir? (sin30° = 0,5 · sin53° = 0,8)
Öğrencilere 2–3 dakika verin; sonra cevap slaytını açın.
Cevap: Cevap: En küçük sapmada ışın simetrik geçer: r₁ = r₂ = A/2 = 30°. sin i = n · sin r = 1,6 · 0,5 = 0,8 → i = 53°. δ(min) = 2i − A = 106 − 60 =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En küçük sapmada ışın simetrik geçer: r₁ = r₂ = A/2 = 30°. sin i = n · sin r = 1,6 · 0,5 = 0,8 → i = 53°. δ(min) = 2i − A = 106 − 60 =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Tepe açısı 80°, indisi √2 (≈ 1,41) olan bir prizmaya ışın 45° ile giriyor. Işık ikinci yüzeyden çıkabilir mi? (sin45° = √2/2 · sin30° = 1/2)
Öğrencilere 2–3 dakika verin; sonra cevap slaytını açın.
Cevap: Cevap: Birinci yüzey: sin r₁ = sin45° / √2 = (√2/2) / √2 = 1/2 → r₁ = 30°. İkinci yüzeye geliş: r₂ = 80 − 30 = 50°. Sınır açı: sin θ = 1/√2 = √2/2 → θ = 45°. r₂ = 50° sınır açıdan büyük olduğu için ışık çıkamaz, ikinci yüzeyde tam yansır. Tepe açısı en çok 30 + 45 = 75° olsaydı ışık çıkabilirdi.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Birinci yüzey: sin r₁ = sin45° / √2 = (√2/2) / √2 = 1/2 → r₁ = 30°. İkinci yüzeye geliş: r₂ = 80 − 30 = 50°. Sınır açı: sin θ = 1/√2 = √2/2 → θ = 45°. r₂ = 50° sınır açıdan büyük olduğu için ışık çıkamaz, ikinci yüzeyde tam yansır. Tepe açısı en çok 30 + 45 = 75° olsaydı ışık çıkabilirdi.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Prizmanın renk ürettiğini sanmak. Prizma renkleri ayırır, üretmez.
• Kırmızının en çok saptığını düşünmek. En çok sapan mordur; indisi en büyüktür.
• δ = i₁ + i₂ + A yazmak. Doğrusu δ = i₁ + i₂ − A'dır.
• Işığın tepeye doğru saptığını sanmak. Sapma her zaman tabana doğrudur (prizma çevresinden yoğun olduğu sürece).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Işığın her durumda prizmadan çıkacağını varsaymak. r₂ sınır açıyı aşarsa ışık içeride tam yansır.
• Paralel kenarlı levhayla prizmayı karıştırmak. Levhada doğrultu korunur, prizmada değişir.
• Sapmanın gelme açısıyla hep arttığını sanmak. Sapma önce azalır, en küçük değerden sonra artar; aynı sapma iki farklı gelme açısıyla elde edilebilir.
• Gökkuşağını belli bir yerde duran bir cisim sanmak. Gökkuşağı, güneşin tam karşısındaki noktadan 42° açıyla gelen ışınların kümesidir; sen yürüdükçe o da yer değiştirir.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Sapma δ = i₁ + i₂ − A · Mor en çok sapar · 45° prizma tam yansıtır · Gökkuşağı 42°
r₁ + r₂ = A — prizma içi açılar
δ = i₁ + i₂ − A — sapma açısı
n(mor) &gt; n(kırmızı) — dağılma (dispersiyon)
sin θ(sınır) = 1/n — tam yansımalı prizma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claude-1000/-opt-dersler/8a8328c3-841c-44fa-b76f-82572d338d3d/scratchpad/d10/sek/prizmalar-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fizik</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OPTİK · KONU 07</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Prizmalar</a:t>
            </a:r>
            <a:endParaRPr lang="en-US" sz="46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400" dirty="0">
                <a:solidFill>
                  <a:srgbClr val="C3CEE8"/>
                </a:solidFill>
                <a:latin typeface="Calibri" pitchFamily="34" charset="0"/>
                <a:ea typeface="Calibri" pitchFamily="34" charset="-122"/>
                <a:cs typeface="Calibri" pitchFamily="34" charset="-120"/>
              </a:rPr>
              <a:t>Prizma, ışığı iki kez kırarak saptırır. Her renk için kırılma indisi biraz farklı olduğundan beyaz ışık bileşenlerine ayrılır — gökkuşağının, elmasın parıltısının ve spektroskopun arkasındaki olay budur.</a:t>
            </a:r>
            <a:endParaRPr lang="en-US" sz="14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640080" y="6382512"/>
            <a:ext cx="128016" cy="128016"/>
          </a:xfrm>
          <a:prstGeom prst="roundRect">
            <a:avLst>
              <a:gd name="adj" fmla="val 28571"/>
            </a:avLst>
          </a:prstGeom>
          <a:solidFill>
            <a:srgbClr val="C6F36B"/>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dersler.perinet.org/prizmalar.html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Beyaz ışığın içinde bir gökkuşağı saklı olabilir mi?</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Newton, 1666'da karanlık odasına giren güneş ışığını bir prizmadan geçirdi ve duvarda bir gökkuşağı gördü.</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O güne kadar herkes rengin camdan geldiğini sanıyordu; Newton </a:t>
            </a:r>
            <a:pPr indent="0" marL="0">
              <a:lnSpc>
                <a:spcPct val="130000"/>
              </a:lnSpc>
              <a:buNone/>
            </a:pPr>
            <a:r>
              <a:rPr lang="en-US" sz="2200" b="1" dirty="0">
                <a:solidFill>
                  <a:srgbClr val="5F4BD8"/>
                </a:solidFill>
                <a:latin typeface="Cambria" pitchFamily="34" charset="0"/>
                <a:ea typeface="Cambria" pitchFamily="34" charset="-122"/>
                <a:cs typeface="Cambria" pitchFamily="34" charset="-120"/>
              </a:rPr>
              <a:t>ikinci bir prizmayla renkleri yeniden birleştirip</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beyaz ışığı geri elde etti ve rengin ışığın kendisinde olduğunu kanıtladı.</a:t>
            </a:r>
            <a:endParaRPr lang="en-US" sz="220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Önce sezgi: gökkuşağına ve bir cam prizmaya bak, ışığın neden büküldüğünü ve renklerin nereden geldiğini gör. Bu basamakta hesap yok denecek kadar az.</a:t>
            </a:r>
            <a:endParaRPr lang="en-US" sz="100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603504"/>
          </a:xfrm>
          <a:prstGeom prst="rect">
            <a:avLst/>
          </a:prstGeom>
          <a:noFill/>
          <a:ln/>
        </p:spPr>
        <p:txBody>
          <a:bodyPr wrap="square" lIns="0" tIns="0" rIns="0" bIns="0" rtlCol="0" anchor="t"/>
          <a:lstStyle/>
          <a:p>
            <a:pPr indent="0" marL="0">
              <a:lnSpc>
                <a:spcPct val="105000"/>
              </a:lnSpc>
              <a:buNone/>
            </a:pPr>
            <a:r>
              <a:rPr lang="en-US" sz="1100" b="1" dirty="0">
                <a:solidFill>
                  <a:srgbClr val="0E1426"/>
                </a:solidFill>
                <a:latin typeface="Calibri" pitchFamily="34" charset="0"/>
                <a:ea typeface="Calibri" pitchFamily="34" charset="-122"/>
                <a:cs typeface="Calibri" pitchFamily="34" charset="-120"/>
              </a:rPr>
              <a:t>Önce gözlemle: yağmurdan sonra gökyüzündeki renkler nereden gelir?</a:t>
            </a:r>
            <a:endParaRPr lang="en-US" sz="1100" dirty="0"/>
          </a:p>
        </p:txBody>
      </p:sp>
      <p:sp>
        <p:nvSpPr>
          <p:cNvPr id="15" name="Text 13"/>
          <p:cNvSpPr txBox="1"/>
          <p:nvPr/>
        </p:nvSpPr>
        <p:spPr>
          <a:xfrm>
            <a:off x="859536" y="4224528"/>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Prizma nedir?</a:t>
            </a:r>
            <a:endParaRPr lang="en-US" sz="1250" dirty="0"/>
          </a:p>
        </p:txBody>
      </p:sp>
      <p:sp>
        <p:nvSpPr>
          <p:cNvPr id="17" name="Text 15"/>
          <p:cNvSpPr txBox="1"/>
          <p:nvPr/>
        </p:nvSpPr>
        <p:spPr>
          <a:xfrm>
            <a:off x="859536" y="4882896"/>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82896"/>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Beyaz ışık: Newton'un iki prizması</a:t>
            </a:r>
            <a:endParaRPr lang="en-US" sz="1250" dirty="0"/>
          </a:p>
        </p:txBody>
      </p:sp>
      <p:sp>
        <p:nvSpPr>
          <p:cNvPr id="19" name="Shape 17"/>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3601136" y="1645920"/>
            <a:ext cx="2211248" cy="64008"/>
          </a:xfrm>
          <a:prstGeom prst="rect">
            <a:avLst/>
          </a:prstGeom>
          <a:solidFill>
            <a:srgbClr val="2957D4"/>
          </a:solidFill>
          <a:ln/>
        </p:spPr>
      </p:sp>
      <p:sp>
        <p:nvSpPr>
          <p:cNvPr id="21" name="Shape 19"/>
          <p:cNvSpPr/>
          <p:nvPr/>
        </p:nvSpPr>
        <p:spPr>
          <a:xfrm>
            <a:off x="3637712" y="1920240"/>
            <a:ext cx="420624" cy="420624"/>
          </a:xfrm>
          <a:prstGeom prst="roundRect">
            <a:avLst>
              <a:gd name="adj" fmla="val 26000"/>
            </a:avLst>
          </a:prstGeom>
          <a:solidFill>
            <a:srgbClr val="2957D4"/>
          </a:solidFill>
          <a:ln/>
        </p:spPr>
      </p:sp>
      <p:sp>
        <p:nvSpPr>
          <p:cNvPr id="22" name="Text 20"/>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3" name="Text 21"/>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4" name="Text 22"/>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Bağıntılar: prizmanın ışığı ne kadar saptırdığını adım adım hesapla, en küçük sapmayı ve renklerin açılmasını sayılarla gör.</a:t>
            </a:r>
            <a:endParaRPr lang="en-US" sz="1000" dirty="0"/>
          </a:p>
        </p:txBody>
      </p:sp>
      <p:sp>
        <p:nvSpPr>
          <p:cNvPr id="25" name="Shape 23"/>
          <p:cNvSpPr/>
          <p:nvPr/>
        </p:nvSpPr>
        <p:spPr>
          <a:xfrm>
            <a:off x="3637712" y="3429000"/>
            <a:ext cx="2138096" cy="0"/>
          </a:xfrm>
          <a:prstGeom prst="line">
            <a:avLst/>
          </a:prstGeom>
          <a:noFill/>
          <a:ln w="9525">
            <a:solidFill>
              <a:srgbClr val="E1E5EE"/>
            </a:solidFill>
            <a:prstDash val="dash"/>
          </a:ln>
        </p:spPr>
      </p:sp>
      <p:sp>
        <p:nvSpPr>
          <p:cNvPr id="26" name="Text 24"/>
          <p:cNvSpPr txBox="1"/>
          <p:nvPr/>
        </p:nvSpPr>
        <p:spPr>
          <a:xfrm>
            <a:off x="3637712" y="3566160"/>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04</a:t>
            </a:r>
            <a:endParaRPr lang="en-US" sz="1100" dirty="0"/>
          </a:p>
        </p:txBody>
      </p:sp>
      <p:sp>
        <p:nvSpPr>
          <p:cNvPr id="27" name="Text 25"/>
          <p:cNvSpPr txBox="1"/>
          <p:nvPr/>
        </p:nvSpPr>
        <p:spPr>
          <a:xfrm>
            <a:off x="4021760" y="3566160"/>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Sapma açısı: iki kırılmanın toplamı</a:t>
            </a:r>
            <a:endParaRPr lang="en-US" sz="1250" dirty="0"/>
          </a:p>
        </p:txBody>
      </p:sp>
      <p:sp>
        <p:nvSpPr>
          <p:cNvPr id="28" name="Text 26"/>
          <p:cNvSpPr txBox="1"/>
          <p:nvPr/>
        </p:nvSpPr>
        <p:spPr>
          <a:xfrm>
            <a:off x="3637712" y="4199382"/>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4199382"/>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Sayılarla hisset: sapma, gelme açısına nasıl bağlı?</a:t>
            </a:r>
            <a:endParaRPr lang="en-US" sz="1150" dirty="0"/>
          </a:p>
        </p:txBody>
      </p:sp>
      <p:sp>
        <p:nvSpPr>
          <p:cNvPr id="30" name="Text 28"/>
          <p:cNvSpPr txBox="1"/>
          <p:nvPr/>
        </p:nvSpPr>
        <p:spPr>
          <a:xfrm>
            <a:off x="3637712" y="4832604"/>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En küçük sapma ve indis ölçümü</a:t>
            </a:r>
            <a:endParaRPr lang="en-US" sz="1250" dirty="0"/>
          </a:p>
        </p:txBody>
      </p:sp>
      <p:sp>
        <p:nvSpPr>
          <p:cNvPr id="32" name="Text 30"/>
          <p:cNvSpPr txBox="1"/>
          <p:nvPr/>
        </p:nvSpPr>
        <p:spPr>
          <a:xfrm>
            <a:off x="3637712" y="5465826"/>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Dispersiyon: her rengin kendi indisi</a:t>
            </a:r>
            <a:endParaRPr lang="en-US" sz="1250" dirty="0"/>
          </a:p>
        </p:txBody>
      </p:sp>
      <p:sp>
        <p:nvSpPr>
          <p:cNvPr id="34" name="Shape 32"/>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5" name="Shape 33"/>
          <p:cNvSpPr/>
          <p:nvPr/>
        </p:nvSpPr>
        <p:spPr>
          <a:xfrm>
            <a:off x="6379312" y="1645920"/>
            <a:ext cx="2211248" cy="64008"/>
          </a:xfrm>
          <a:prstGeom prst="rect">
            <a:avLst/>
          </a:prstGeom>
          <a:solidFill>
            <a:srgbClr val="5F4BD8"/>
          </a:solidFill>
          <a:ln/>
        </p:spPr>
      </p:sp>
      <p:sp>
        <p:nvSpPr>
          <p:cNvPr id="36" name="Shape 34"/>
          <p:cNvSpPr/>
          <p:nvPr/>
        </p:nvSpPr>
        <p:spPr>
          <a:xfrm>
            <a:off x="6415888" y="1920240"/>
            <a:ext cx="420624" cy="420624"/>
          </a:xfrm>
          <a:prstGeom prst="roundRect">
            <a:avLst>
              <a:gd name="adj" fmla="val 26000"/>
            </a:avLst>
          </a:prstGeom>
          <a:solidFill>
            <a:srgbClr val="5F4BD8"/>
          </a:solidFill>
          <a:ln/>
        </p:spPr>
      </p:sp>
      <p:sp>
        <p:nvSpPr>
          <p:cNvPr id="37" name="Text 35"/>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8" name="Text 36"/>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39" name="Text 37"/>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1050" dirty="0">
                <a:solidFill>
                  <a:srgbClr val="4A5470"/>
                </a:solidFill>
                <a:latin typeface="Calibri" pitchFamily="34" charset="0"/>
                <a:ea typeface="Calibri" pitchFamily="34" charset="-122"/>
                <a:cs typeface="Calibri" pitchFamily="34" charset="-120"/>
              </a:rPr>
              <a:t>Derinleşme: ışık prizmadan çıkamayınca, prizma başka bir ortama girince ve prizma bir yağmur damlasına dönüşünce ne olur?</a:t>
            </a:r>
            <a:endParaRPr lang="en-US" sz="1050" dirty="0"/>
          </a:p>
        </p:txBody>
      </p:sp>
      <p:sp>
        <p:nvSpPr>
          <p:cNvPr id="40" name="Shape 38"/>
          <p:cNvSpPr/>
          <p:nvPr/>
        </p:nvSpPr>
        <p:spPr>
          <a:xfrm>
            <a:off x="6415888" y="3429000"/>
            <a:ext cx="2138096" cy="0"/>
          </a:xfrm>
          <a:prstGeom prst="line">
            <a:avLst/>
          </a:prstGeom>
          <a:noFill/>
          <a:ln w="9525">
            <a:solidFill>
              <a:srgbClr val="E1E5EE"/>
            </a:solidFill>
            <a:prstDash val="dash"/>
          </a:ln>
        </p:spPr>
      </p:sp>
      <p:sp>
        <p:nvSpPr>
          <p:cNvPr id="41" name="Text 39"/>
          <p:cNvSpPr txBox="1"/>
          <p:nvPr/>
        </p:nvSpPr>
        <p:spPr>
          <a:xfrm>
            <a:off x="6415888" y="3566160"/>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08</a:t>
            </a:r>
            <a:endParaRPr lang="en-US" sz="1100" dirty="0"/>
          </a:p>
        </p:txBody>
      </p:sp>
      <p:sp>
        <p:nvSpPr>
          <p:cNvPr id="42" name="Text 40"/>
          <p:cNvSpPr txBox="1"/>
          <p:nvPr/>
        </p:nvSpPr>
        <p:spPr>
          <a:xfrm>
            <a:off x="6799936"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Tam yansımalı prizmalar ve çevre ortam</a:t>
            </a:r>
            <a:endParaRPr lang="en-US" sz="1250" dirty="0"/>
          </a:p>
        </p:txBody>
      </p:sp>
      <p:sp>
        <p:nvSpPr>
          <p:cNvPr id="43" name="Text 41"/>
          <p:cNvSpPr txBox="1"/>
          <p:nvPr/>
        </p:nvSpPr>
        <p:spPr>
          <a:xfrm>
            <a:off x="6415888" y="4224528"/>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09</a:t>
            </a:r>
            <a:endParaRPr lang="en-US" sz="1100" dirty="0"/>
          </a:p>
        </p:txBody>
      </p:sp>
      <p:sp>
        <p:nvSpPr>
          <p:cNvPr id="44" name="Text 42"/>
          <p:cNvSpPr txBox="1"/>
          <p:nvPr/>
        </p:nvSpPr>
        <p:spPr>
          <a:xfrm>
            <a:off x="6799936"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Gökkuşağı: her damla küçük bir prizma</a:t>
            </a:r>
            <a:endParaRPr lang="en-US" sz="1250" dirty="0"/>
          </a:p>
        </p:txBody>
      </p:sp>
      <p:sp>
        <p:nvSpPr>
          <p:cNvPr id="45" name="Text 43"/>
          <p:cNvSpPr txBox="1"/>
          <p:nvPr/>
        </p:nvSpPr>
        <p:spPr>
          <a:xfrm>
            <a:off x="6415888" y="4882896"/>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4882896"/>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Prizmalar gerçek dünyada</a:t>
            </a:r>
            <a:endParaRPr lang="en-US" sz="1250" dirty="0"/>
          </a:p>
        </p:txBody>
      </p:sp>
      <p:sp>
        <p:nvSpPr>
          <p:cNvPr id="47" name="Shape 45"/>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48" name="Shape 46"/>
          <p:cNvSpPr/>
          <p:nvPr/>
        </p:nvSpPr>
        <p:spPr>
          <a:xfrm>
            <a:off x="9157487" y="1645920"/>
            <a:ext cx="2211248" cy="64008"/>
          </a:xfrm>
          <a:prstGeom prst="rect">
            <a:avLst/>
          </a:prstGeom>
          <a:solidFill>
            <a:srgbClr val="A56209"/>
          </a:solidFill>
          <a:ln/>
        </p:spPr>
      </p:sp>
      <p:sp>
        <p:nvSpPr>
          <p:cNvPr id="49" name="Shape 47"/>
          <p:cNvSpPr/>
          <p:nvPr/>
        </p:nvSpPr>
        <p:spPr>
          <a:xfrm>
            <a:off x="9194063" y="1920240"/>
            <a:ext cx="420624" cy="420624"/>
          </a:xfrm>
          <a:prstGeom prst="roundRect">
            <a:avLst>
              <a:gd name="adj" fmla="val 26000"/>
            </a:avLst>
          </a:prstGeom>
          <a:solidFill>
            <a:srgbClr val="A56209"/>
          </a:solidFill>
          <a:ln/>
        </p:spPr>
      </p:sp>
      <p:sp>
        <p:nvSpPr>
          <p:cNvPr id="50" name="Text 48"/>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1" name="Text 49"/>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2" name="Text 50"/>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ve sınavda puan kaybettiren klasik hatalar.</a:t>
            </a:r>
            <a:endParaRPr lang="en-US" sz="1150" dirty="0"/>
          </a:p>
        </p:txBody>
      </p:sp>
      <p:sp>
        <p:nvSpPr>
          <p:cNvPr id="53" name="Shape 51"/>
          <p:cNvSpPr/>
          <p:nvPr/>
        </p:nvSpPr>
        <p:spPr>
          <a:xfrm>
            <a:off x="9194063" y="3429000"/>
            <a:ext cx="2138096" cy="0"/>
          </a:xfrm>
          <a:prstGeom prst="line">
            <a:avLst/>
          </a:prstGeom>
          <a:noFill/>
          <a:ln w="9525">
            <a:solidFill>
              <a:srgbClr val="E1E5EE"/>
            </a:solidFill>
            <a:prstDash val="dash"/>
          </a:ln>
        </p:spPr>
      </p:sp>
      <p:sp>
        <p:nvSpPr>
          <p:cNvPr id="54" name="Text 52"/>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11</a:t>
            </a:r>
            <a:endParaRPr lang="en-US" sz="1100" dirty="0"/>
          </a:p>
        </p:txBody>
      </p:sp>
      <p:sp>
        <p:nvSpPr>
          <p:cNvPr id="55" name="Text 53"/>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56" name="Text 54"/>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12</a:t>
            </a:r>
            <a:endParaRPr lang="en-US" sz="1100" dirty="0"/>
          </a:p>
        </p:txBody>
      </p:sp>
      <p:sp>
        <p:nvSpPr>
          <p:cNvPr id="57" name="Text 55"/>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58" name="Shape 56"/>
          <p:cNvSpPr/>
          <p:nvPr/>
        </p:nvSpPr>
        <p:spPr>
          <a:xfrm>
            <a:off x="640080" y="6382512"/>
            <a:ext cx="128016" cy="128016"/>
          </a:xfrm>
          <a:prstGeom prst="roundRect">
            <a:avLst>
              <a:gd name="adj" fmla="val 28571"/>
            </a:avLst>
          </a:prstGeom>
          <a:solidFill>
            <a:srgbClr val="A9E648"/>
          </a:solidFill>
          <a:ln/>
        </p:spPr>
      </p:sp>
      <p:sp>
        <p:nvSpPr>
          <p:cNvPr id="59" name="Text 5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60" name="Text 5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1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Normal:</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ışığın yüzeye çarptığı noktada yüzeye dik çizilen hayalî doğru. Geliş ve kırılma açıları yüzeyden değil, bu doğrudan ölçülür.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Kırılma:</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ışık havadan cama geçerken yavaşlar ve yön değiştirir. Cama girerken normale yaklaşır, camdan havaya çıkarken normalden uzaklaşır. Suya daldırılan kalemin kırık görünmesi bundandır.</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Kırılma indisi (n):</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bir maddenin ışığı ne kadar yavaşlattığını gösteren sayı. Hava için 1, su için 1,33, cam için yaklaşık 1,5'tir; n büyüdükçe ışık daha çok bükülür.</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2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Sinüs ve Snell yasası:</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sin30° = 0,5 ve sin90° = 1 gibi değerler tablodan ya da hesap makinesinden okunur. Kırılmada n₁ · sin θ₁ = n₂ · sin θ₂ bağıntısı kullanılır.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Sınır açı ve tam yansıma:</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camdan havaya çıkan ışık normalle çok büyük bir açı yaparsa (camda yaklaşık 42°'den büyük) dışarı çıkamaz, tamamı geri yansır.</a:t>
            </a:r>
            <a:endParaRPr lang="en-US" sz="2000" dirty="0"/>
          </a:p>
        </p:txBody>
      </p:sp>
      <p:sp>
        <p:nvSpPr>
          <p:cNvPr id="14" name="Shape 12"/>
          <p:cNvSpPr/>
          <p:nvPr/>
        </p:nvSpPr>
        <p:spPr>
          <a:xfrm>
            <a:off x="640080" y="6382512"/>
            <a:ext cx="128016" cy="128016"/>
          </a:xfrm>
          <a:prstGeom prst="roundRect">
            <a:avLst>
              <a:gd name="adj" fmla="val 28571"/>
            </a:avLst>
          </a:prstGeom>
          <a:solidFill>
            <a:srgbClr val="A9E648"/>
          </a:solidFill>
          <a:ln/>
        </p:spPr>
      </p:sp>
      <p:sp>
        <p:nvSpPr>
          <p:cNvPr id="15" name="Text 1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6" name="Text 1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450" dirty="0">
                <a:solidFill>
                  <a:srgbClr val="C3CEE8"/>
                </a:solidFill>
                <a:latin typeface="Calibri" pitchFamily="34" charset="0"/>
                <a:ea typeface="Calibri" pitchFamily="34" charset="-122"/>
                <a:cs typeface="Calibri" pitchFamily="34" charset="-120"/>
              </a:rPr>
              <a:t>Önce sezgi: gökkuşağına ve bir cam prizmaya bak, ışığın neden büküldüğünü ve renklerin nereden geldiğini gör. Bu basamakta hesap yok denecek kadar az.</a:t>
            </a:r>
            <a:endParaRPr lang="en-US" sz="145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yağmurdan sonra gökyüzündeki renkler nereden gelir?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Prizma nedir?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Beyaz ışık: Newton'un iki prizması</a:t>
            </a:r>
            <a:endParaRPr lang="en-US" sz="1300" dirty="0"/>
          </a:p>
        </p:txBody>
      </p:sp>
      <p:sp>
        <p:nvSpPr>
          <p:cNvPr id="9" name="Shape 7"/>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0" name="Image 0" descr="/tmp/claude-1000/-opt-dersler/8a8328c3-841c-44fa-b76f-82572d338d3d/scratchpad/d10/sek/prizmalar-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1" name="Text 8"/>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Yağmurdan sonra.</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Ana yayda kırmızı dışta, mor içte; üstteki soluk ikinci yayda renkler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ters sırada</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İki yayın arasındaki gökyüzü, ana yayın içinden biraz daha koyu görünür. Güneş görünmüyor, çünkü gözlemcinin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arkasında</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gölgeler gökkuşağına doğru uzanıyor. Her yağmur damlası güneş ışığını küçük bir prizma gibi renklerine ayırır; nasıl olduğunu İleri basamakta göreceğiz.</a:t>
            </a:r>
            <a:endParaRPr lang="en-US" sz="1150" dirty="0"/>
          </a:p>
        </p:txBody>
      </p:sp>
      <p:sp>
        <p:nvSpPr>
          <p:cNvPr id="12" name="Shape 9"/>
          <p:cNvSpPr/>
          <p:nvPr/>
        </p:nvSpPr>
        <p:spPr>
          <a:xfrm>
            <a:off x="640080" y="6382512"/>
            <a:ext cx="128016" cy="128016"/>
          </a:xfrm>
          <a:prstGeom prst="roundRect">
            <a:avLst>
              <a:gd name="adj" fmla="val 28571"/>
            </a:avLst>
          </a:prstGeom>
          <a:solidFill>
            <a:srgbClr val="C6F36B"/>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dersler.perinet.org/prizmalar.html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100" b="1" spc="-50" kern="0" dirty="0">
                <a:solidFill>
                  <a:srgbClr val="0E1426"/>
                </a:solidFill>
                <a:latin typeface="Cambria" pitchFamily="34" charset="0"/>
                <a:ea typeface="Cambria" pitchFamily="34" charset="-122"/>
                <a:cs typeface="Cambria" pitchFamily="34" charset="-120"/>
              </a:rPr>
              <a:t>Önce gözlemle: yağmurdan sonra gökyüzündeki renkler nereden gelir?</a:t>
            </a:r>
            <a:endParaRPr lang="en-US" sz="2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3</a:t>
            </a:r>
            <a:endParaRPr lang="en-US" sz="950" dirty="0"/>
          </a:p>
        </p:txBody>
      </p:sp>
      <p:sp>
        <p:nvSpPr>
          <p:cNvPr id="6" name="Text 4"/>
          <p:cNvSpPr txBox="1"/>
          <p:nvPr/>
        </p:nvSpPr>
        <p:spPr>
          <a:xfrm>
            <a:off x="640080" y="1325880"/>
            <a:ext cx="10911535" cy="324764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Yağmur yeni dinmiş, güneş alçakta ve arkanda.</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Önündeki karanlık bulutların üstünde renkli bir yay beliriyor.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sahneye dikkatle bakınca birkaç düzen fark edersin.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Renkler hiç karışık sıralanmaz; her gökkuşağında aynı sırayla dizilir.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Gökkuşağı hep güneşin karşı tarafında görünür; güneşe dönersen onu asla göremezsin.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Bazen ana yayın üstünde ikinci, daha soluk bir yay çıkar.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100" b="1" spc="-50" kern="0" dirty="0">
                <a:solidFill>
                  <a:srgbClr val="0E1426"/>
                </a:solidFill>
                <a:latin typeface="Cambria" pitchFamily="34" charset="0"/>
                <a:ea typeface="Cambria" pitchFamily="34" charset="-122"/>
                <a:cs typeface="Cambria" pitchFamily="34" charset="-120"/>
              </a:rPr>
              <a:t>Önce gözlemle: yağmurdan sonra gökyüzündeki renkler nereden gelir?</a:t>
            </a:r>
            <a:endParaRPr lang="en-US" sz="2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3</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renk şeridini evde de yakalayabilirsin:</a:t>
            </a:r>
            <a:endParaRPr lang="en-US" sz="2200" dirty="0"/>
          </a:p>
        </p:txBody>
      </p:sp>
      <p:sp>
        <p:nvSpPr>
          <p:cNvPr id="7" name="Text 5"/>
          <p:cNvSpPr txBox="1"/>
          <p:nvPr/>
        </p:nvSpPr>
        <p:spPr>
          <a:xfrm>
            <a:off x="640080" y="2004060"/>
            <a:ext cx="10911535" cy="2482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Bir bardak su:</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güneşli bir pencerenin önüne konan su dolu bardak, masaya küçük renkli bir şerit düşürür.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Kesik cam kenarı: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pahlı bir aynanın ya da cam masanın kenarından geçen ışık duvarda renklere ayrılır.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Avize kristali: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cam bir kristal, güneş ışığını odaya renkli lekeler hâlinde saçar.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100" b="1" spc="-50" kern="0" dirty="0">
                <a:solidFill>
                  <a:srgbClr val="0E1426"/>
                </a:solidFill>
                <a:latin typeface="Cambria" pitchFamily="34" charset="0"/>
                <a:ea typeface="Cambria" pitchFamily="34" charset="-122"/>
                <a:cs typeface="Cambria" pitchFamily="34" charset="-120"/>
              </a:rPr>
              <a:t>Önce gözlemle: yağmurdan sonra gökyüzündeki renkler nereden gelir?</a:t>
            </a:r>
            <a:endParaRPr lang="en-US" sz="2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3</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Hepsinde ortak olan şey, ışığın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eğik yüzeyli saydam bir cisimden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geçmesidir.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Böyle bir cisme prizma denir; bu anlatım onun fiziğidir.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100" b="1" spc="-50" kern="0" dirty="0">
                <a:solidFill>
                  <a:srgbClr val="0E1426"/>
                </a:solidFill>
                <a:latin typeface="Cambria" pitchFamily="34" charset="0"/>
                <a:ea typeface="Cambria" pitchFamily="34" charset="-122"/>
                <a:cs typeface="Cambria" pitchFamily="34" charset="-120"/>
              </a:rPr>
              <a:t>Önce gözlemle: yağmurdan sonra gökyüzündeki renkler nereden gelir?</a:t>
            </a:r>
            <a:endParaRPr lang="en-US" sz="2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Gökkuşağının renkleri hep aynı sırada ve hep güneşin karşısında görünür. Aynı renk şeridi, güneş ışığı eğik yüzeyli bir cam ya da sudan geçtiğinde de ortaya çıkar.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Gökkuşağını görmek için neden güneşe sırtını dönmen gerekir?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yağmurdan sonra gökyüzündeki renkler nereden gelir?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Gökkuşağını görmek için neden güneşe sırtını dönmen gerekir?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Gökkuşağının ışığı, damlalara girip içlerinde yansıdıktan sonra kabaca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geldiği yöne doğru</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geri dönen güneş ışığıdır. Bu ışığın gözüne ulaşması için damlaların önünde, güneşin arkanda olması gerekir. Güneşe dönük bakarsan damlalardan geri dönen ışık sırtına gider.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Prizma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 yüzü birbirine paralel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olmayan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saydam cisme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prizma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Paralel kenarlı levhada ışık doğrultusunu korurken, prizmada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saparak</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çıkar.</a:t>
            </a:r>
            <a:endParaRPr lang="en-US" sz="2200" dirty="0"/>
          </a:p>
        </p:txBody>
      </p:sp>
      <p:sp>
        <p:nvSpPr>
          <p:cNvPr id="7" name="Text 5"/>
          <p:cNvSpPr txBox="1"/>
          <p:nvPr/>
        </p:nvSpPr>
        <p:spPr>
          <a:xfrm>
            <a:off x="640080" y="2866644"/>
            <a:ext cx="10911535" cy="137845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Tepe açısı (A):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ışığın girdiği ve çıktığı yüzeyler arasındaki açı.</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Taban: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tepe açısının karşısındaki yüzey.</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Işık her zaman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tabana doğru</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sapar.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Prizma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Neden tabana doğru?</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Işık camda havadakinden yavaş gider.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Geniş bir ışık demetinin tabana yakın kenarı daha kalın camdan geçer, bu yüzden daha çok gecikir; tepeye yakın kenarı ise ince camdan geçip öne kaçar.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yürüyüş kolunun bir ucu çamurlu tarlaya girip yavaşlarsa bütün kol o yana döner.</a:t>
            </a:r>
            <a:endParaRPr lang="en-US" sz="2200" dirty="0"/>
          </a:p>
        </p:txBody>
      </p:sp>
      <p:sp>
        <p:nvSpPr>
          <p:cNvPr id="7" name="Text 5"/>
          <p:cNvSpPr txBox="1"/>
          <p:nvPr/>
        </p:nvSpPr>
        <p:spPr>
          <a:xfrm>
            <a:off x="640080" y="4591812"/>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Işık demeti de yavaşlayan tarafa, yani kalın tabana doğru döner.</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Prizma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3320902"/>
                <a:gridCol w="2688349"/>
                <a:gridCol w="4902284"/>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Saydam cisim</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Yüzeyler</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Işık ne yapar?</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Paralel kenarlı levha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paralel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yana kayar, doğrultusu değişmez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Prizma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eğik (A açısıyla)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tabana doğru sapar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Prizma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1517124" y="1234440"/>
            <a:ext cx="9157447"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prizmalar-01.png">    </p:cNvPr>
          <p:cNvPicPr>
            <a:picLocks noChangeAspect="1"/>
          </p:cNvPicPr>
          <p:nvPr/>
        </p:nvPicPr>
        <p:blipFill>
          <a:blip r:embed="rId1"/>
          <a:stretch>
            <a:fillRect/>
          </a:stretch>
        </p:blipFill>
        <p:spPr>
          <a:xfrm>
            <a:off x="1745724" y="1325880"/>
            <a:ext cx="8700247"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Prizma iki eğik yüzeyi olan bir cam bloktur. Işık birinci yüzeyde içeri girerken normale yaklaşır, ikinci yüzeyden çıkarken normalden uzaklaşır — ama iki yüzey paralel olmadığı için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bu iki kırılma birbirini götürmez</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toplanır. Sonuç: ışın daima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tabana doğru</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sapar. Gelen ve çıkan ışın arasındaki açıya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sapma açısı (δ)</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denir.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Prizma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Prizma, iki yüzü birbirine paralel olmayan saydam bir cisimdir. İçinden geçen ışın iki kez kırılır ve bu iki kırılma toplanarak ışını tabana doğru saptırır.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Beyaz ışık: Newton'un iki prizması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Newton'dan önce yaygın görüş, beyaz ışığın saf olduğu ve renklerin cam tarafından “üretildiği” yönündeydi.</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Newton bu fikri sınamak için karanlık bir odada panjurdaki küçük bir delikten giren güneş ışığıyla adım adım deneyler yaptı:</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Beyaz ışık: Newton'un iki prizması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114550"/>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Ayırma: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birinci prizma ışığı duvarda uzun bir renk şeridine açtı.</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Tek renk: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şeritten yalnızca bir rengi bir delikten geçirip ikinci bir prizmaya gönderdi; ışık yine büküldü ama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rengi değişmedi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Birleştirme: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ters çevrilmiş ikinci bir prizmayla bütün renkleri üst üste getirince yeniden beyaz ışık elde etti.</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Beyaz ışık: Newton'un iki prizması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Beyaz ışık bütün renklerin karışımıdır; prizmada her renk farklı saptığı için ayrışır.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olaya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dispersiyon (dağılma)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oluşan renk şeridine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tayf (spektrum)</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 renk camda biraz farklı hızla ilerler: mor en yavaş gider ve en çok kırılır, kırmızı en hızlı gider ve en az kırılır.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Beyaz ışık: Newton'un iki prizması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640080" y="1325880"/>
            <a:ext cx="10911535" cy="1348740"/>
          </a:xfrm>
          <a:prstGeom prst="roundRect">
            <a:avLst>
              <a:gd name="adj" fmla="val 94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1019556"/>
          </a:xfrm>
          <a:prstGeom prst="rect">
            <a:avLst/>
          </a:prstGeom>
          <a:solidFill>
            <a:srgbClr val="3C8C21"/>
          </a:solidFill>
          <a:ln/>
        </p:spPr>
      </p:sp>
      <p:sp>
        <p:nvSpPr>
          <p:cNvPr id="8" name="Text 6"/>
          <p:cNvSpPr txBox="1"/>
          <p:nvPr/>
        </p:nvSpPr>
        <p:spPr>
          <a:xfrm>
            <a:off x="950976" y="1453896"/>
            <a:ext cx="10399471" cy="1092708"/>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Dikkat:</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Prizma renkleri </a:t>
            </a:r>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üretmez</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yalnızca zaten var olan renkleri </a:t>
            </a:r>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ayırır</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İkinci bir prizmayla tayf yeniden birleştirilirse beyaz ışık elde edilir — Newton bunu 1666'da göstermiştir.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Beyaz ışık: Newton'un iki prizması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1600682" y="1234440"/>
            <a:ext cx="8990332"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prizmalar-02.png">    </p:cNvPr>
          <p:cNvPicPr>
            <a:picLocks noChangeAspect="1"/>
          </p:cNvPicPr>
          <p:nvPr/>
        </p:nvPicPr>
        <p:blipFill>
          <a:blip r:embed="rId1"/>
          <a:stretch>
            <a:fillRect/>
          </a:stretch>
        </p:blipFill>
        <p:spPr>
          <a:xfrm>
            <a:off x="1829282" y="1325880"/>
            <a:ext cx="8533132"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Camın kırılma indisi her renk için biraz farklıdır: mor ışık için en büyük, kırmızı için en küçüktür. Bu yüzden beyaz ışık prizmadan geçerken renkler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farklı açılarda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sapar ve tayf hâlinde açılır. Buna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dispersiyon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denir. Renkler camın içinde ortaya çıkmaz — beyaz ışığın içinde zaten vardır, prizma yalnızca onları ayırır.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Beyaz ışık: Newton'un iki prizması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Beyaz ışık bütün renklerin karışımıdır. Prizma renkleri üretmez, her rengi biraz farklı saptırarak ayırır; buna dispersiyon, oluşan renk şeridine tayf denir.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Prizmadan çıkan kırmızı ışığı ikinci bir prizmadan geçirirsen yeni renkler çıkar mı?</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03 · Beyaz ışık: Newton'un iki prizması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Prizmadan çıkan kırmızı ışığı ikinci bir prizmadan geçirirsen yeni renkler çıkar mı?</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Hayır. Kırmızı ışık ikinci prizmada yine kırılır ve sapar, ama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kırmızı kalır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içinde ayrılacak başka renk yoktur. Newton'un kilit gözlemi buydu: renk camın ışığa yaptığı bir değişiklik olsaydı, ikinci prizma kırmızıyı da başka renklere dönüştürürdü.</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Bağıntılar: prizmanın ışığı ne kadar saptırdığını adım adım hesapla, en küçük sapmayı ve renklerin açılmasını sayılarla gör.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Sapma açısı: iki kırılmanın toplamı</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Sayılarla hisset: sapma, gelme açısına nasıl bağlı?</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En küçük sapma ve indis ölçümü</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Dispersiyon: her rengin kendi indisi</a:t>
            </a:r>
            <a:endParaRPr lang="en-US" sz="1300" dirty="0"/>
          </a:p>
        </p:txBody>
      </p:sp>
      <p:sp>
        <p:nvSpPr>
          <p:cNvPr id="10" name="Text 8"/>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1" name="Shape 9"/>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2" name="Text 10"/>
          <p:cNvSpPr txBox="1"/>
          <p:nvPr/>
        </p:nvSpPr>
        <p:spPr>
          <a:xfrm>
            <a:off x="6400800" y="148132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r₁ + r₂ = A</a:t>
            </a:r>
            <a:endParaRPr lang="en-US" sz="1500" dirty="0"/>
          </a:p>
        </p:txBody>
      </p:sp>
      <p:sp>
        <p:nvSpPr>
          <p:cNvPr id="13" name="Text 11"/>
          <p:cNvSpPr txBox="1"/>
          <p:nvPr/>
        </p:nvSpPr>
        <p:spPr>
          <a:xfrm>
            <a:off x="8138160" y="148132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prizma içi açılar</a:t>
            </a:r>
            <a:endParaRPr lang="en-US" sz="1200" dirty="0"/>
          </a:p>
        </p:txBody>
      </p:sp>
      <p:sp>
        <p:nvSpPr>
          <p:cNvPr id="14" name="Shape 12"/>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5" name="Text 13"/>
          <p:cNvSpPr txBox="1"/>
          <p:nvPr/>
        </p:nvSpPr>
        <p:spPr>
          <a:xfrm>
            <a:off x="6400800" y="2350008"/>
            <a:ext cx="205740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δ = i₁ + i₂ − A</a:t>
            </a:r>
            <a:endParaRPr lang="en-US" sz="1500" dirty="0"/>
          </a:p>
        </p:txBody>
      </p:sp>
      <p:sp>
        <p:nvSpPr>
          <p:cNvPr id="16" name="Text 14"/>
          <p:cNvSpPr txBox="1"/>
          <p:nvPr/>
        </p:nvSpPr>
        <p:spPr>
          <a:xfrm>
            <a:off x="8549640" y="2350008"/>
            <a:ext cx="281909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sapma açısı</a:t>
            </a:r>
            <a:endParaRPr lang="en-US" sz="1200" dirty="0"/>
          </a:p>
        </p:txBody>
      </p:sp>
      <p:sp>
        <p:nvSpPr>
          <p:cNvPr id="17" name="Shape 15"/>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18" name="Text 16"/>
          <p:cNvSpPr txBox="1"/>
          <p:nvPr/>
        </p:nvSpPr>
        <p:spPr>
          <a:xfrm>
            <a:off x="6400800" y="3218688"/>
            <a:ext cx="2532888"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n(mor) &gt; n(kırmızı)</a:t>
            </a:r>
            <a:endParaRPr lang="en-US" sz="1500" dirty="0"/>
          </a:p>
        </p:txBody>
      </p:sp>
      <p:sp>
        <p:nvSpPr>
          <p:cNvPr id="19" name="Text 17"/>
          <p:cNvSpPr txBox="1"/>
          <p:nvPr/>
        </p:nvSpPr>
        <p:spPr>
          <a:xfrm>
            <a:off x="9025128" y="3218688"/>
            <a:ext cx="2343607"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dağılma (dispersiyon)</a:t>
            </a:r>
            <a:endParaRPr lang="en-US" sz="1200" dirty="0"/>
          </a:p>
        </p:txBody>
      </p:sp>
      <p:sp>
        <p:nvSpPr>
          <p:cNvPr id="20" name="Shape 18"/>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1" name="Text 19"/>
          <p:cNvSpPr txBox="1"/>
          <p:nvPr/>
        </p:nvSpPr>
        <p:spPr>
          <a:xfrm>
            <a:off x="6400800" y="4087368"/>
            <a:ext cx="2414016"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sin θ(sınır) = 1/n</a:t>
            </a:r>
            <a:endParaRPr lang="en-US" sz="1500" dirty="0"/>
          </a:p>
        </p:txBody>
      </p:sp>
      <p:sp>
        <p:nvSpPr>
          <p:cNvPr id="22" name="Text 20"/>
          <p:cNvSpPr txBox="1"/>
          <p:nvPr/>
        </p:nvSpPr>
        <p:spPr>
          <a:xfrm>
            <a:off x="8906256" y="4087368"/>
            <a:ext cx="2462479"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tam yansımalı prizma</a:t>
            </a:r>
            <a:endParaRPr lang="en-US" sz="1200" dirty="0"/>
          </a:p>
        </p:txBody>
      </p:sp>
      <p:sp>
        <p:nvSpPr>
          <p:cNvPr id="23" name="Shape 21"/>
          <p:cNvSpPr/>
          <p:nvPr/>
        </p:nvSpPr>
        <p:spPr>
          <a:xfrm>
            <a:off x="640080" y="6382512"/>
            <a:ext cx="128016" cy="128016"/>
          </a:xfrm>
          <a:prstGeom prst="roundRect">
            <a:avLst>
              <a:gd name="adj" fmla="val 28571"/>
            </a:avLst>
          </a:prstGeom>
          <a:solidFill>
            <a:srgbClr val="C6F36B"/>
          </a:solidFill>
          <a:ln/>
        </p:spPr>
      </p:sp>
      <p:sp>
        <p:nvSpPr>
          <p:cNvPr id="24" name="Text 2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dersler.perinet.org/prizmalar.html</a:t>
            </a:r>
            <a:endParaRPr lang="en-US" sz="1050" dirty="0"/>
          </a:p>
        </p:txBody>
      </p:sp>
      <p:sp>
        <p:nvSpPr>
          <p:cNvPr id="25" name="Text 2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Sapma açısı: iki kırılmanın toplamı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7</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Işık prizmaya girerken ve çıkarken iki kez kırılır.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Gelen ışının doğrultusu ile çıkan ışının doğrultusu arasındaki açıya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sapma açısı (δ)</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 iki yüzeyde de Snell yasası geçerlidir (prizmanın indisi n, dışarısı hava):</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Sapma açısı: iki kırılmanın toplamı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7</a:t>
            </a:r>
            <a:endParaRPr lang="en-US" sz="950" dirty="0"/>
          </a:p>
        </p:txBody>
      </p:sp>
      <p:sp>
        <p:nvSpPr>
          <p:cNvPr id="6" name="Shape 4"/>
          <p:cNvSpPr/>
          <p:nvPr/>
        </p:nvSpPr>
        <p:spPr>
          <a:xfrm>
            <a:off x="640080" y="1325880"/>
            <a:ext cx="3189427" cy="585216"/>
          </a:xfrm>
          <a:prstGeom prst="roundRect">
            <a:avLst>
              <a:gd name="adj" fmla="val 18750"/>
            </a:avLst>
          </a:prstGeom>
          <a:solidFill>
            <a:srgbClr val="EEF2FC"/>
          </a:solidFill>
          <a:ln w="9525">
            <a:solidFill>
              <a:srgbClr val="CBD7F4"/>
            </a:solidFill>
            <a:prstDash val="solid"/>
          </a:ln>
        </p:spPr>
      </p:sp>
      <p:sp>
        <p:nvSpPr>
          <p:cNvPr id="7" name="Text 5"/>
          <p:cNvSpPr txBox="1"/>
          <p:nvPr/>
        </p:nvSpPr>
        <p:spPr>
          <a:xfrm>
            <a:off x="640080" y="1325880"/>
            <a:ext cx="3189427"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sin i₁ = n · sin r₁</a:t>
            </a:r>
            <a:endParaRPr lang="en-US" sz="1800" dirty="0"/>
          </a:p>
        </p:txBody>
      </p:sp>
      <p:sp>
        <p:nvSpPr>
          <p:cNvPr id="8" name="Shape 6"/>
          <p:cNvSpPr/>
          <p:nvPr/>
        </p:nvSpPr>
        <p:spPr>
          <a:xfrm>
            <a:off x="3975811" y="1325880"/>
            <a:ext cx="3189427" cy="585216"/>
          </a:xfrm>
          <a:prstGeom prst="roundRect">
            <a:avLst>
              <a:gd name="adj" fmla="val 18750"/>
            </a:avLst>
          </a:prstGeom>
          <a:solidFill>
            <a:srgbClr val="EEF2FC"/>
          </a:solidFill>
          <a:ln w="9525">
            <a:solidFill>
              <a:srgbClr val="CBD7F4"/>
            </a:solidFill>
            <a:prstDash val="solid"/>
          </a:ln>
        </p:spPr>
      </p:sp>
      <p:sp>
        <p:nvSpPr>
          <p:cNvPr id="9" name="Text 7"/>
          <p:cNvSpPr txBox="1"/>
          <p:nvPr/>
        </p:nvSpPr>
        <p:spPr>
          <a:xfrm>
            <a:off x="3975811" y="1325880"/>
            <a:ext cx="3189427"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n · sin r₂ = sin i₂</a:t>
            </a:r>
            <a:endParaRPr lang="en-US" sz="1800" dirty="0"/>
          </a:p>
        </p:txBody>
      </p:sp>
      <p:sp>
        <p:nvSpPr>
          <p:cNvPr id="10" name="Shape 8"/>
          <p:cNvSpPr/>
          <p:nvPr/>
        </p:nvSpPr>
        <p:spPr>
          <a:xfrm>
            <a:off x="7311542" y="1325880"/>
            <a:ext cx="2077517" cy="585216"/>
          </a:xfrm>
          <a:prstGeom prst="roundRect">
            <a:avLst>
              <a:gd name="adj" fmla="val 18750"/>
            </a:avLst>
          </a:prstGeom>
          <a:solidFill>
            <a:srgbClr val="EEF2FC"/>
          </a:solidFill>
          <a:ln w="9525">
            <a:solidFill>
              <a:srgbClr val="CBD7F4"/>
            </a:solidFill>
            <a:prstDash val="solid"/>
          </a:ln>
        </p:spPr>
      </p:sp>
      <p:sp>
        <p:nvSpPr>
          <p:cNvPr id="11" name="Text 9"/>
          <p:cNvSpPr txBox="1"/>
          <p:nvPr/>
        </p:nvSpPr>
        <p:spPr>
          <a:xfrm>
            <a:off x="7311542" y="1325880"/>
            <a:ext cx="2077517"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r₁ + r₂ = A</a:t>
            </a:r>
            <a:endParaRPr lang="en-US" sz="1800" dirty="0"/>
          </a:p>
        </p:txBody>
      </p:sp>
      <p:sp>
        <p:nvSpPr>
          <p:cNvPr id="12" name="Shape 10"/>
          <p:cNvSpPr/>
          <p:nvPr/>
        </p:nvSpPr>
        <p:spPr>
          <a:xfrm>
            <a:off x="640080" y="2039112"/>
            <a:ext cx="2633472" cy="585216"/>
          </a:xfrm>
          <a:prstGeom prst="roundRect">
            <a:avLst>
              <a:gd name="adj" fmla="val 18750"/>
            </a:avLst>
          </a:prstGeom>
          <a:solidFill>
            <a:srgbClr val="EEF2FC"/>
          </a:solidFill>
          <a:ln w="9525">
            <a:solidFill>
              <a:srgbClr val="CBD7F4"/>
            </a:solidFill>
            <a:prstDash val="solid"/>
          </a:ln>
        </p:spPr>
      </p:sp>
      <p:sp>
        <p:nvSpPr>
          <p:cNvPr id="13" name="Text 11"/>
          <p:cNvSpPr txBox="1"/>
          <p:nvPr/>
        </p:nvSpPr>
        <p:spPr>
          <a:xfrm>
            <a:off x="640080" y="2039112"/>
            <a:ext cx="263347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δ = i₁ + i₂ − A</a:t>
            </a:r>
            <a:endParaRPr lang="en-US" sz="1800" dirty="0"/>
          </a:p>
        </p:txBody>
      </p:sp>
      <p:sp>
        <p:nvSpPr>
          <p:cNvPr id="15" name="Shape 12"/>
          <p:cNvSpPr/>
          <p:nvPr/>
        </p:nvSpPr>
        <p:spPr>
          <a:xfrm>
            <a:off x="640080" y="6382512"/>
            <a:ext cx="128016" cy="128016"/>
          </a:xfrm>
          <a:prstGeom prst="roundRect">
            <a:avLst>
              <a:gd name="adj" fmla="val 28571"/>
            </a:avLst>
          </a:prstGeom>
          <a:solidFill>
            <a:srgbClr val="A9E648"/>
          </a:solidFill>
          <a:ln/>
        </p:spPr>
      </p:sp>
      <p:sp>
        <p:nvSpPr>
          <p:cNvPr id="16" name="Text 1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7" name="Text 1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Sapma açısı: iki kırılmanın toplamı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7</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Formüldeki harfler ne anlama geliyor?</a:t>
            </a:r>
            <a:endParaRPr lang="en-US" sz="2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40080" y="1892808"/>
          <a:ext cx="10911535" cy="914400"/>
        </p:xfrm>
        <a:graphic>
          <a:graphicData uri="http://schemas.openxmlformats.org/drawingml/2006/table">
            <a:tbl>
              <a:tblPr/>
              <a:tblGrid>
                <a:gridCol w="1169093"/>
                <a:gridCol w="7793954"/>
                <a:gridCol w="1948488"/>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Sembol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Anlamı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690372">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i₁, i₂</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ışının dışarıda, havada normalle yaptığı açılar: i₁ girerken, i₂ çıkarken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derece (°)</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690372">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r₁, r₂</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ışının camın içinde normalle yaptığı açılar: r₁ birinci yüzeyde, r₂ ikinci yüzeyde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derece (°)</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tepe açısı: ışığın girdiği ve çıktığı iki yüzey arasındaki açı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derece (°)</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prizmanın kırılma indisi (cam için yaklaşık 1,5)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690372">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δ</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sapma açısı: gelen ışın ile çıkan ışının doğrultuları arasındaki açı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derece (°)</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Sapma açısı: iki kırılmanın toplamı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7</a:t>
            </a:r>
            <a:endParaRPr lang="en-US" sz="950" dirty="0"/>
          </a:p>
        </p:txBody>
      </p:sp>
      <p:sp>
        <p:nvSpPr>
          <p:cNvPr id="6" name="Text 4"/>
          <p:cNvSpPr txBox="1"/>
          <p:nvPr/>
        </p:nvSpPr>
        <p:spPr>
          <a:xfrm>
            <a:off x="640080" y="1325880"/>
            <a:ext cx="10911535" cy="137845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i₁:</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birinci yüzeye geliş açısı,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r₁:</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içerideki kırılma açısı.</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r₂:</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ikinci yüzeye geliş açısı,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i₂:</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çıkış açısı.</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Tepe açısı ve indis büyüdükçe sapma artar.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Sapma açısı: iki kırılmanın toplamı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7</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Bağıntılar nereden geliyor?</a:t>
            </a:r>
            <a:endParaRPr lang="en-US" sz="2200" dirty="0"/>
          </a:p>
        </p:txBody>
      </p:sp>
      <p:sp>
        <p:nvSpPr>
          <p:cNvPr id="8" name="Text 6"/>
          <p:cNvSpPr txBox="1"/>
          <p:nvPr/>
        </p:nvSpPr>
        <p:spPr>
          <a:xfrm>
            <a:off x="640080" y="1892808"/>
            <a:ext cx="10911535" cy="3310128"/>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Birinci dönüş:</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birinci yüzeyde ışın normale yaklaşır ve doğrultusu i₁ − r₁ kadar döner.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İkinci dönüş:</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ikinci yüzeyde normalden uzaklaşır ve yine aynı yöne, i₂ − r₂ kadar döner.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Geometri: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iki yüzeyin normalleri birbiriyle 180° − A açısı yapar; içerideki ışın ve iki normalin oluşturduğu üçgende r₁ + r₂ + (180° − A) = 180°, yani r₁ + r₂ = A.</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Toplam:</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δ = (i₁ − r₁) + (i₂ − r₂) = i₁ + i₂ − A.</a:t>
            </a:r>
            <a:endParaRPr lang="en-US" sz="21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Sapma açısı: iki kırılmanın toplamı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7</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01 numaralı bölümündeki başlangıç ayarı (A = 60°, i₁ = 45°, n = 1,50) için: r₁ ≈ 28,1°, r₂ ≈ 31,9°, i₂ ≈ 52,4° ve δ ≈ 37,4° çıkar.</a:t>
            </a:r>
            <a:endParaRPr lang="en-US" sz="2200" dirty="0"/>
          </a:p>
        </p:txBody>
      </p:sp>
      <p:sp>
        <p:nvSpPr>
          <p:cNvPr id="7" name="Shape 5"/>
          <p:cNvSpPr/>
          <p:nvPr/>
        </p:nvSpPr>
        <p:spPr>
          <a:xfrm>
            <a:off x="640080" y="2389632"/>
            <a:ext cx="10911535" cy="1033272"/>
          </a:xfrm>
          <a:prstGeom prst="roundRect">
            <a:avLst>
              <a:gd name="adj" fmla="val 1238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58368" y="2554224"/>
            <a:ext cx="54864" cy="704088"/>
          </a:xfrm>
          <a:prstGeom prst="rect">
            <a:avLst/>
          </a:prstGeom>
          <a:solidFill>
            <a:srgbClr val="A56209"/>
          </a:solidFill>
          <a:ln/>
        </p:spPr>
      </p:sp>
      <p:sp>
        <p:nvSpPr>
          <p:cNvPr id="9" name="Text 7"/>
          <p:cNvSpPr txBox="1"/>
          <p:nvPr/>
        </p:nvSpPr>
        <p:spPr>
          <a:xfrm>
            <a:off x="950976" y="2517648"/>
            <a:ext cx="10399471" cy="777240"/>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Işık her zaman çıkamaz.</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r₂ sınır açıdan büyükse ışık ikinci yüzeyden çıkamaz, içeride tam yansımaya uğrar. Tam yansımalı prizmalar bunu bilerek kullanır.</a:t>
            </a:r>
            <a:endParaRPr lang="en-US" sz="1800" dirty="0"/>
          </a:p>
        </p:txBody>
      </p:sp>
      <p:sp>
        <p:nvSpPr>
          <p:cNvPr id="11" name="Shape 8"/>
          <p:cNvSpPr/>
          <p:nvPr/>
        </p:nvSpPr>
        <p:spPr>
          <a:xfrm>
            <a:off x="640080" y="6382512"/>
            <a:ext cx="128016" cy="128016"/>
          </a:xfrm>
          <a:prstGeom prst="roundRect">
            <a:avLst>
              <a:gd name="adj" fmla="val 28571"/>
            </a:avLst>
          </a:prstGeom>
          <a:solidFill>
            <a:srgbClr val="A9E648"/>
          </a:solidFill>
          <a:ln/>
        </p:spPr>
      </p:sp>
      <p:sp>
        <p:nvSpPr>
          <p:cNvPr id="12"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3"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Sapma açısı: iki kırılmanın toplamı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7 / 7</a:t>
            </a:r>
            <a:endParaRPr lang="en-US" sz="950" dirty="0"/>
          </a:p>
        </p:txBody>
      </p:sp>
      <p:sp>
        <p:nvSpPr>
          <p:cNvPr id="6" name="Shape 4"/>
          <p:cNvSpPr/>
          <p:nvPr/>
        </p:nvSpPr>
        <p:spPr>
          <a:xfrm>
            <a:off x="1600682" y="1234440"/>
            <a:ext cx="8990332"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prizmalar-03.png">    </p:cNvPr>
          <p:cNvPicPr>
            <a:picLocks noChangeAspect="1"/>
          </p:cNvPicPr>
          <p:nvPr/>
        </p:nvPicPr>
        <p:blipFill>
          <a:blip r:embed="rId1"/>
          <a:stretch>
            <a:fillRect/>
          </a:stretch>
        </p:blipFill>
        <p:spPr>
          <a:xfrm>
            <a:off x="1829282" y="1325880"/>
            <a:ext cx="8533132"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Dört açı vardır: ışının birinci yüzeye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geliş</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açısı i₁, içerideki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kırılma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açısı r₁, ikinci yüzeye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varış</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açısı r₂ ve dışarı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çıkış</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açısı i₂. Geometriden r₁ + r₂ = A çıkar; sapma ise δ = i₁ + i₂ − A'dır. Bu iki bağıntı, prizma sorularının neredeyse tamamını çözer.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Sapma açısı: iki kırılmanın toplamı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Işın prizmada iki kez kırılır ve iki dönüş aynı yöne toplanır. Geometriden r₁ + r₂ = A, toplam sapma için δ = i₁ + i₂ − A bulunur.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Sayılarla hisset: sapma, gelme açısına nasıl bağlı?</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Tepe açısı 60°, indisi 1,50 olan bir cam prizmayı alalım ve gelme açısını değiştirelim.</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 satır iki kez Snell yasası ve bir kez r₁ + r₂ = A ile hesaplandı:</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Sayılarla hisset: sapma, gelme açısına nasıl bağlı?</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2645221"/>
                <a:gridCol w="3306526"/>
                <a:gridCol w="2645221"/>
                <a:gridCol w="2314568"/>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Gelme i₁</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İçeride r₂</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Çıkış i₂</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Sapma δ</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20°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46,8°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çıkamaz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30°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40,5°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77,1°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47,1°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40°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34,6°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58,5°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38,5°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48,6°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30,0°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48,6°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37,2°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77,1°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19,5°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30,0°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47,1°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Sayılarla hisset: sapma, gelme açısına nasıl bağlı?</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Tablodan dört düzen okunuyor:</a:t>
            </a:r>
            <a:endParaRPr lang="en-US" sz="2200" dirty="0"/>
          </a:p>
        </p:txBody>
      </p:sp>
      <p:sp>
        <p:nvSpPr>
          <p:cNvPr id="7" name="Text 5"/>
          <p:cNvSpPr txBox="1"/>
          <p:nvPr/>
        </p:nvSpPr>
        <p:spPr>
          <a:xfrm>
            <a:off x="640080" y="2004060"/>
            <a:ext cx="10911535" cy="331012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Önce azalır, sonra artar: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sapma 47,1°'den 37,2°'ye iner, sonra yeniden yükselir.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En küçük değer simetride: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i₁ = i₂ = 48,6° olduğunda sapma en küçüktür, 37,2°.</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Işık yolu tersinirdir: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30° ile giren ışın 77,1° ile çıkar; 77,1° ile giren 30° ile çıkar. Sapma ikisinde de 47,1°'dir.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Küçük gelme açısında çıkış yok: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20°'de r₂ = 46,8° sınır açıyı (41,8°) aşar, ışık içeride tam yansır.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Sayılarla hisset: sapma, gelme açısına nasıl bağlı?</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düzen daha gözden kaçmasın: en küçük değerin çevresinde sapma çok yavaş değişir.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Gelme açısı 40°'den 48,6°'ye çıkınca sapma yalnızca 1,3° değişiyor.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01 numaralı bölümünde gelme açısını kaydırıp bu “dip” noktasını kendin bulabilirsin.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Sayılarla hisset: sapma, gelme açısına nasıl bağlı?</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3445231" y="1271016"/>
            <a:ext cx="5301234" cy="3570732"/>
          </a:xfrm>
          <a:prstGeom prst="roundRect">
            <a:avLst>
              <a:gd name="adj" fmla="val 358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prizmalar-ek1-genis.jpg">    </p:cNvPr>
          <p:cNvPicPr>
            <a:picLocks noChangeAspect="1"/>
          </p:cNvPicPr>
          <p:nvPr/>
        </p:nvPicPr>
        <p:blipFill>
          <a:blip r:embed="rId1"/>
          <a:stretch>
            <a:fillRect/>
          </a:stretch>
        </p:blipFill>
        <p:spPr>
          <a:xfrm>
            <a:off x="3500095" y="1325880"/>
            <a:ext cx="5191506" cy="3461004"/>
          </a:xfrm>
          <a:prstGeom prst="rect">
            <a:avLst/>
          </a:prstGeom>
        </p:spPr>
      </p:pic>
      <p:sp>
        <p:nvSpPr>
          <p:cNvPr id="8" name="Text 5"/>
          <p:cNvSpPr txBox="1"/>
          <p:nvPr/>
        </p:nvSpPr>
        <p:spPr>
          <a:xfrm>
            <a:off x="1249528" y="5024628"/>
            <a:ext cx="9692640" cy="1120140"/>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Prizmayı döner tablayla çevirdiğinde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ışının prizmaya gelme açısı değişir ve perdedeki kırmızı nokta kayar. Tablayı hep aynı yöne çevirsen de nokta önce bir yana kayar, sonra durup geri döner; geri döndüğü yer sapmanın en küçük olduğu yerdir. Tablodaki sayılar bu hareketi anlatır: 60°'lik, 1,50 indisli prizmada sapma 47,1°'den 37,2°'ye iner, sonra yeniden artar.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Sayılarla hisset: sapma, gelme açısına nasıl bağlı?</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60°'lik, 1,50 indisli prizmada sapma önce azalır, gelme açısı 48,6° iken en küçük değerine (37,2°) iner, sonra yeniden artar. Gelme açısı yaklaşık 28°'nin altındaysa ışık ikinci yüzeyden çıkamaz.</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 küçük sapma ve indis ölçümü</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Gelme açısı artırıldıkça sapma açısı önce azalır, bir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en küçük değere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iner, sonra tekrar artar.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En küçük sapmada ışın prizmadan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simetrik</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geçer:</a:t>
            </a:r>
            <a:endParaRPr lang="en-US" sz="2200" dirty="0"/>
          </a:p>
        </p:txBody>
      </p:sp>
      <p:sp>
        <p:nvSpPr>
          <p:cNvPr id="7" name="Shape 5"/>
          <p:cNvSpPr/>
          <p:nvPr/>
        </p:nvSpPr>
        <p:spPr>
          <a:xfrm>
            <a:off x="640080" y="2866644"/>
            <a:ext cx="3884371"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866644"/>
            <a:ext cx="3884371"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i₁ = i₂ ve r₁ = r₂ = A/2</a:t>
            </a:r>
            <a:endParaRPr lang="en-US" sz="1800" dirty="0"/>
          </a:p>
        </p:txBody>
      </p:sp>
      <p:sp>
        <p:nvSpPr>
          <p:cNvPr id="9" name="Shape 7"/>
          <p:cNvSpPr/>
          <p:nvPr/>
        </p:nvSpPr>
        <p:spPr>
          <a:xfrm>
            <a:off x="4670755" y="2866644"/>
            <a:ext cx="3328416"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4670755" y="2866644"/>
            <a:ext cx="3328416"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i = (A + δ(min)) / 2</a:t>
            </a:r>
            <a:endParaRPr lang="en-US" sz="1800" dirty="0"/>
          </a:p>
        </p:txBody>
      </p:sp>
      <p:sp>
        <p:nvSpPr>
          <p:cNvPr id="11" name="Shape 9"/>
          <p:cNvSpPr/>
          <p:nvPr/>
        </p:nvSpPr>
        <p:spPr>
          <a:xfrm>
            <a:off x="8145475" y="2866644"/>
            <a:ext cx="3328416"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8145475" y="2866644"/>
            <a:ext cx="3328416"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n = sin i / sin(A/2)</a:t>
            </a:r>
            <a:endParaRPr lang="en-US" sz="18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41</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 küçük sapma ve indis ölçümü</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İndis bağıntısı, simetri koşulundan dört adımda çıkar:</a:t>
            </a:r>
            <a:endParaRPr lang="en-US" sz="2200" dirty="0"/>
          </a:p>
        </p:txBody>
      </p:sp>
      <p:sp>
        <p:nvSpPr>
          <p:cNvPr id="7" name="Text 5"/>
          <p:cNvSpPr txBox="1"/>
          <p:nvPr/>
        </p:nvSpPr>
        <p:spPr>
          <a:xfrm>
            <a:off x="640080" y="2004060"/>
            <a:ext cx="10911535" cy="1837944"/>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Simetri: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r₁ = r₂ ve r₁ + r₂ = A olduğundan r = A/2.</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Eşit açılar: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i₁ = i₂ = i olduğundan δ(min) = 2i − A.</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Gelme açısını çek: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 = (A + δ(min))/2.</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Snell yasası: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sin i = n·sin r, buradan n = sin((A + δ(min))/2) / sin(A/2).</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42</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 küçük sapma ve indis ölçümü</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211074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bağıntı, bir prizmanın kırılma indisini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ölçmenin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klasik yöntemidir: en küçük sapma açısı ölçülür, formülden n bulunur.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Yöntemin gücü, önceki bölümde gördüğün yayvan dipten gelir: en küçük sapmanın çevresinde gelme açısındaki küçük bir hata sapmayı neredeyse hiç değiştirmez, bu yüzden δ(min) çok duyarlı ölçülebilir.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43</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 küçük sapma ve indis ölçümü</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1585381" y="1234440"/>
            <a:ext cx="9020933"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prizmalar-04.png">    </p:cNvPr>
          <p:cNvPicPr>
            <a:picLocks noChangeAspect="1"/>
          </p:cNvPicPr>
          <p:nvPr/>
        </p:nvPicPr>
        <p:blipFill>
          <a:blip r:embed="rId1"/>
          <a:stretch>
            <a:fillRect/>
          </a:stretch>
        </p:blipFill>
        <p:spPr>
          <a:xfrm>
            <a:off x="1813981" y="1325880"/>
            <a:ext cx="8563733"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Geliş açısını büyüttükçe sapma önce azalır, bir en küçük değere iner, sonra tekrar artar. O en küçük noktada ışın prizmadan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simetrik geçer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giriş açısı çıkış açısına eşittir ve içerideki ışın tabana paraleldir. Bu özel durum, bir maddenin kırılma indisini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çok duyarlı biçimde ölçmeye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yarar — refraktometrelerin çalışma ilkesi budur.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44</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 küçük sapma ve indis ölçümü</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Sapma, ışın prizmadan simetrik geçtiğinde en küçüktür: r₁ = r₂ = A/2 ve i₁ = i₂. Bu durumda n = sin((A + δmin)/2) / sin(A/2) olur; indis ölçmenin klasik yolu budur.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45</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En küçük sapmada ışın, eşkenar bir prizmanın içinde neden tabana paralel gider?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06 · En küçük sapma ve indis ölçümü</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46</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En küçük sapmada ışın, eşkenar bir prizmanın içinde neden tabana paralel gider?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Çünkü ışın iki yan yüzeye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aynı açıyla</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(r₁ = r₂) çarpar. Eşkenar ya da ikizkenar bir prizmada iki yan yüzeyle aynı açıyı yapan tek doğrultu tabana paralel olandır. Işık yolu tepe noktasından geçen simetri eksenine göre ayna görüntüsü gibi iki eş yarıya ayrılır.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47</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Dispersiyon: her rengin kendi indisi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ortamın kırılma indisi, ışığın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dalga boyuna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bağlıdır.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Kısa dalga boylu mor ışık için indis büyük, uzun dalga boylu kırmızı için küçüktür:</a:t>
            </a:r>
            <a:endParaRPr lang="en-US" sz="2200" dirty="0"/>
          </a:p>
        </p:txBody>
      </p:sp>
      <p:sp>
        <p:nvSpPr>
          <p:cNvPr id="7" name="Shape 5"/>
          <p:cNvSpPr/>
          <p:nvPr/>
        </p:nvSpPr>
        <p:spPr>
          <a:xfrm>
            <a:off x="640080" y="2866644"/>
            <a:ext cx="3745382"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866644"/>
            <a:ext cx="374538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n(mor) &gt; … &gt; n(kırmızı)</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48</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Dispersiyon: her rengin kendi indisi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1558791"/>
                <a:gridCol w="2226844"/>
                <a:gridCol w="1558791"/>
                <a:gridCol w="5567110"/>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Renk</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Dalga boyu</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Camda n</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Sapma (A = 60°, i₁ = 50°)</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Kırmızı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700 nm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1,513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38,3° · en az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Sarı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580 nm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1,520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38,9° · orta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Mavi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470 nm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1,531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39,9° · çok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Mor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400 nm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1,538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40,5° · en çok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49</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Dispersiyon: her rengin kendi indisi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Kırmızıyla morun indisleri arasındaki fark yalnızca %1,7 kadar; ama bu küçük fark iki renk arasında yaklaşık 2,2°'lik bir açı açıyor.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Prizmadan 1 m uzaktaki bir perdede bu, yaklaşık 4 cm genişliğinde bir tayf demektir.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02 numaralı bölümünde gelme açısını ve tepe açısını değiştirerek tayfın nasıl açılıp kapandığını izleyebilirsin.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50</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Dispersiyon: her rengin kendi indisi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İnce prizmada kısa yol</a:t>
            </a:r>
            <a:endParaRPr lang="en-US" sz="2200" dirty="0"/>
          </a:p>
        </p:txBody>
      </p:sp>
      <p:sp>
        <p:nvSpPr>
          <p:cNvPr id="8" name="Text 6"/>
          <p:cNvSpPr txBox="1"/>
          <p:nvPr/>
        </p:nvSpPr>
        <p:spPr>
          <a:xfrm>
            <a:off x="640080" y="1892808"/>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Tepe açısı birkaç derece olan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ince prizmada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ışık yüzeye neredeyse dik geldiğinde bütün açılar küçüktür ve sin x ≈ x alınabilir.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 zaman i₁ ≈ n·r₁, i₂ ≈ n·r₂ ve δ = n·(r₁ + r₂) − A olur:</a:t>
            </a:r>
            <a:endParaRPr lang="en-US" sz="2200" dirty="0"/>
          </a:p>
        </p:txBody>
      </p:sp>
      <p:sp>
        <p:nvSpPr>
          <p:cNvPr id="9" name="Shape 7"/>
          <p:cNvSpPr/>
          <p:nvPr/>
        </p:nvSpPr>
        <p:spPr>
          <a:xfrm>
            <a:off x="640080" y="3433572"/>
            <a:ext cx="2633472"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640080" y="3433572"/>
            <a:ext cx="263347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δ ≈ (n − 1) · A</a:t>
            </a:r>
            <a:endParaRPr lang="en-US" sz="1800" dirty="0"/>
          </a:p>
        </p:txBody>
      </p:sp>
      <p:sp>
        <p:nvSpPr>
          <p:cNvPr id="11" name="Shape 9"/>
          <p:cNvSpPr/>
          <p:nvPr/>
        </p:nvSpPr>
        <p:spPr>
          <a:xfrm>
            <a:off x="3419856" y="3433572"/>
            <a:ext cx="4162349"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3419856" y="3433572"/>
            <a:ext cx="4162349"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Δδ ≈ (n(mor)−n(kırmızı))·A</a:t>
            </a:r>
            <a:endParaRPr lang="en-US" sz="18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51</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Dispersiyon: her rengin kendi indisi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10°'lik ince bir cam prizma kırmızıyı yaklaşık 5,13°, moru 5,38° saptırır; renkler arasındaki açı yalnızca 0,25°'dir.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52</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Dispersiyon: her rengin kendi indisi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3267780" y="1271016"/>
            <a:ext cx="5656136" cy="3807333"/>
          </a:xfrm>
          <a:prstGeom prst="roundRect">
            <a:avLst>
              <a:gd name="adj" fmla="val 336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prizmalar-ek2-genis.jpg">    </p:cNvPr>
          <p:cNvPicPr>
            <a:picLocks noChangeAspect="1"/>
          </p:cNvPicPr>
          <p:nvPr/>
        </p:nvPicPr>
        <p:blipFill>
          <a:blip r:embed="rId1"/>
          <a:stretch>
            <a:fillRect/>
          </a:stretch>
        </p:blipFill>
        <p:spPr>
          <a:xfrm>
            <a:off x="3322644" y="1325880"/>
            <a:ext cx="5546408" cy="3697605"/>
          </a:xfrm>
          <a:prstGeom prst="rect">
            <a:avLst/>
          </a:prstGeom>
        </p:spPr>
      </p:pic>
      <p:sp>
        <p:nvSpPr>
          <p:cNvPr id="8" name="Text 5"/>
          <p:cNvSpPr txBox="1"/>
          <p:nvPr/>
        </p:nvSpPr>
        <p:spPr>
          <a:xfrm>
            <a:off x="1249528" y="5261229"/>
            <a:ext cx="9692640" cy="883539"/>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Aynı cam, üç ayrı bükülme.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Üç ışın prizmaya aynı açıyla girer ama aynı miktarda bükülmez: cam mor ışığı kırmızıdan daha çok kırar, çünkü mor için indisi daha büyüktür. Beyaz ışığın bir prizmada renk şeridine açılmasının nedeni budur; her renk kendi indisiyle kendi açısında sapar.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53</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Dispersiyon: her rengin kendi indisi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Camın indisi mordan kırmızıya doğru biraz azalır; bu yüzden mor en çok, kırmızı en az sapar. 60°'lik prizmada fark yaklaşık 2°, ince prizmada Δδ ≈ (n(mor) − n(kırmızı))·A kadardır.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54</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Derinleşme: ışık prizmadan çıkamayınca, prizma başka bir ortama girince ve prizma bir yağmur damlasına dönüşünce ne olur?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Tam yansımalı prizmalar ve çevre ortam</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Gökkuşağı: her damla küçük bir prizma</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Prizmalar gerçek dünyada</a:t>
            </a:r>
            <a:endParaRPr lang="en-US" sz="1300" dirty="0"/>
          </a:p>
        </p:txBody>
      </p:sp>
      <p:sp>
        <p:nvSpPr>
          <p:cNvPr id="9" name="Shape 7"/>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0" name="Image 0" descr="/tmp/claude-1000/-opt-dersler/8a8328c3-841c-44fa-b76f-82572d338d3d/scratchpad/d10/sek/prizmalar-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1" name="Text 8"/>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Pencerede bir kristal.</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Çok yüzlü kristalin her yüz çifti küçük bir prizma gibi davranır: güneş ışığını kırar, saptırır ve renklerine ayırır. Duvara ve tavana düşen her renkli leke ayrı bir küçük tayftır; lekeler farklı yüz çiftlerinden geldiği için odaya dağılır.</a:t>
            </a:r>
            <a:endParaRPr lang="en-US" sz="1150" dirty="0"/>
          </a:p>
        </p:txBody>
      </p:sp>
      <p:sp>
        <p:nvSpPr>
          <p:cNvPr id="12" name="Shape 9"/>
          <p:cNvSpPr/>
          <p:nvPr/>
        </p:nvSpPr>
        <p:spPr>
          <a:xfrm>
            <a:off x="640080" y="6382512"/>
            <a:ext cx="128016" cy="128016"/>
          </a:xfrm>
          <a:prstGeom prst="roundRect">
            <a:avLst>
              <a:gd name="adj" fmla="val 28571"/>
            </a:avLst>
          </a:prstGeom>
          <a:solidFill>
            <a:srgbClr val="C6F36B"/>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dersler.perinet.org/prizmalar.html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55</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Tam yansımalı prizmalar ve çevre ortam</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Cam için sınır açı ≈ 41,8°'dir.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45° – 45° – 90° biçimindeki bir prizmada ışık hipotenüse 45° ile çarpar; bu açı sınır açıdan büyük olduğu için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tamamı yansır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p:txBody>
      </p:sp>
      <p:sp>
        <p:nvSpPr>
          <p:cNvPr id="7" name="Text 5"/>
          <p:cNvSpPr txBox="1"/>
          <p:nvPr/>
        </p:nvSpPr>
        <p:spPr>
          <a:xfrm>
            <a:off x="640080" y="2866644"/>
            <a:ext cx="10911535" cy="17465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Tek yansıma: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ışığı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90°</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döndürür (periskop).</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İki yansıma: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ışığı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180°</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geri gönderir (dürbün, reflektör).</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Aynaya göre üstünlüğü: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kayıp neredeyse yoktur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kaplama zamanla bozulmaz, ikincil görüntü oluşmaz.</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56</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Tam yansımalı prizmalar ve çevre ortam</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Shape 4"/>
          <p:cNvSpPr/>
          <p:nvPr/>
        </p:nvSpPr>
        <p:spPr>
          <a:xfrm>
            <a:off x="1339457" y="1234440"/>
            <a:ext cx="9512781"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prizmalar-05.png">    </p:cNvPr>
          <p:cNvPicPr>
            <a:picLocks noChangeAspect="1"/>
          </p:cNvPicPr>
          <p:nvPr/>
        </p:nvPicPr>
        <p:blipFill>
          <a:blip r:embed="rId1"/>
          <a:stretch>
            <a:fillRect/>
          </a:stretch>
        </p:blipFill>
        <p:spPr>
          <a:xfrm>
            <a:off x="1568057" y="1325880"/>
            <a:ext cx="9055581"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45°'lik prizmada ışık iç yüzeye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sınır açının üstünde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çarpar ve tam yansır. Bir yansımayla 90°, iki yansımayla 180° döner. Neden ayna yerine prizma? Çünkü tam yansımada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hiç ışık kaybı yoktur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ve zamanla kararacak bir gümüş kaplama gerekmez. Dürbünlerde, periskoplarda ve bisiklet reflektörlerinde bu yüzden prizma kullanılır.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57</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Tam yansımalı prizmalar ve çevre ortam</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düzen camın indisine bağlıdır.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İndis 1,3 olsaydı sınır açı 50,3° olurdu; 45° ile çarpan ışık yansımak yerine dışarı çıkardı.</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Daha ince bir nokta da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çevre ortamdır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bütün bağıntılarda n yerine prizmanın çevresine göre indisi, n(prizma)/n(ortam) geçer.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Cam prizma suya batırılınca (n = 1,33) bu oran 1,13'e iner; 60°'lik prizmanın en küçük sapması 37,2°'den yaklaşık 8,7°'ye düşer ve 45°'lik prizmada tam yansıma kaybolur.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58</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Tam yansımalı prizmalar ve çevre ortam</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Temel basamakta “ışık her zaman tabana doğru sapar” dedik; bu, prizma çevresinden yoğun olduğu sürece doğrudur.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Suyun içine konmuş, içi hava dolu ince duvarlı bir prizma ışığı tepeye doğru saptırır.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59</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Tam yansımalı prizmalar ve çevre ortam</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45°'lik cam prizmada ışık iç yüzeye sınır açıdan büyük açıyla çarpar ve kayıpsız yansır: bir yansımayla 90°, ikisiyle 180° döner. Bütün bağıntılarda n yerine prizmanın çevresine göre indisi geçer.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60</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Tam yansımalı bir prizmanın hipotenüsüne parmağını bastırıp prizmanın içinden bakarsan ne görürsün?</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08 · Tam yansımalı prizmalar ve çevre ortam</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61</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Tam yansımalı bir prizmanın hipotenüsüne parmağını bastırıp prizmanın içinden bakarsan ne görürsün?</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Parmak izinin çizgilerini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koyu</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aralarını parlak görürsün. Derinin cama değdiği çıkıntılarda ışık hava yerine deriye geçer, tam yansıma bozulur; aradaki hava dolu oluklarda ise tam yansıma sürer. Optik parmak izi okuyucuları bu ilkeyle çalışır.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62</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Gökkuşağı: her damla küçük bir prizma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9540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Yağmur damlası küçük bir prizma gibi davranır.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Damlaya giren ışık:</a:t>
            </a:r>
            <a:endParaRPr lang="en-US" sz="2200" dirty="0"/>
          </a:p>
        </p:txBody>
      </p:sp>
      <p:sp>
        <p:nvSpPr>
          <p:cNvPr id="7" name="Text 5"/>
          <p:cNvSpPr txBox="1"/>
          <p:nvPr/>
        </p:nvSpPr>
        <p:spPr>
          <a:xfrm>
            <a:off x="640080" y="2481072"/>
            <a:ext cx="10911535" cy="1378458"/>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dirty="0">
                <a:solidFill>
                  <a:srgbClr val="0E1426"/>
                </a:solidFill>
                <a:latin typeface="Calibri" pitchFamily="34" charset="0"/>
                <a:ea typeface="Calibri" pitchFamily="34" charset="-122"/>
                <a:cs typeface="Calibri" pitchFamily="34" charset="-120"/>
              </a:rPr>
              <a:t>Damlaya girerken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kırılır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(ve renklerine ayrılmaya başlar).</a:t>
            </a:r>
            <a:endParaRPr lang="en-US" sz="2100" dirty="0"/>
          </a:p>
          <a:p>
            <a:pPr marL="228600" indent="-228600">
              <a:lnSpc>
                <a:spcPct val="115000"/>
              </a:lnSpc>
              <a:spcAft>
                <a:spcPts val="800"/>
              </a:spcAft>
              <a:buSzPct val="100000"/>
              <a:buFont typeface="+mj-lt"/>
              <a:buAutoNum type="arabicPeriod" startAt="1"/>
            </a:pPr>
            <a:r>
              <a:rPr lang="en-US" sz="2100" dirty="0">
                <a:solidFill>
                  <a:srgbClr val="0E1426"/>
                </a:solidFill>
                <a:latin typeface="Calibri" pitchFamily="34" charset="0"/>
                <a:ea typeface="Calibri" pitchFamily="34" charset="-122"/>
                <a:cs typeface="Calibri" pitchFamily="34" charset="-120"/>
              </a:rPr>
              <a:t>Damlanın arka yüzeyinden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yansır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a:p>
            <a:pPr marL="228600" indent="-228600">
              <a:lnSpc>
                <a:spcPct val="115000"/>
              </a:lnSpc>
              <a:spcAft>
                <a:spcPts val="800"/>
              </a:spcAft>
              <a:buSzPct val="100000"/>
              <a:buFont typeface="+mj-lt"/>
              <a:buAutoNum type="arabicPeriod" startAt="1"/>
            </a:pPr>
            <a:r>
              <a:rPr lang="en-US" sz="2100" dirty="0">
                <a:solidFill>
                  <a:srgbClr val="0E1426"/>
                </a:solidFill>
                <a:latin typeface="Calibri" pitchFamily="34" charset="0"/>
                <a:ea typeface="Calibri" pitchFamily="34" charset="-122"/>
                <a:cs typeface="Calibri" pitchFamily="34" charset="-120"/>
              </a:rPr>
              <a:t>Çıkarken ikinci kez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kırılır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63</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Gökkuşağı: her damla küçük bir prizma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33588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Toplam sapma en az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138°</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olur; yani ışık geldiği yönle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42°</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'lik açı yaparak geri döner.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açıda ışınlar yığıldığı için gökkuşağı, güneşin tam karşısında 42°'lik bir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koni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üzerinde görünür.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Buradaki fikir prizmadaki en küçük sapmanın aynısıdır: damlaya farklı yüksekliklerden giren ışınlar farklı sapar, ama en küçük sapmanın çevresinde sapma çok yavaş değiştiği için pek çok ışın aynı doğrultuda toplanır ve orası parlak görünür.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64</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Gökkuşağı: her damla küçük bir prizma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25740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Kırmızı dışta (42°), mor içte (40°) kalır.</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İkinci gökkuşağı (daha soluk) iki iç yansımadan doğar; renkleri terstir ve ≈ 51°'de görünür.</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Gökkuşağını görmek için güneş arkanızda, yağmur karşınızda olmalıdır.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Güneş yüksekse görünmez: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güneş ufkun 42°'den yukarısındaysa yayın tamamı ufkun altında kalır.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65</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Gökkuşağı: her damla küçük bir prizma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1985661" y="1234440"/>
            <a:ext cx="8220374"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prizmalar-06.png">    </p:cNvPr>
          <p:cNvPicPr>
            <a:picLocks noChangeAspect="1"/>
          </p:cNvPicPr>
          <p:nvPr/>
        </p:nvPicPr>
        <p:blipFill>
          <a:blip r:embed="rId1"/>
          <a:stretch>
            <a:fillRect/>
          </a:stretch>
        </p:blipFill>
        <p:spPr>
          <a:xfrm>
            <a:off x="2214261" y="1325880"/>
            <a:ext cx="7763174"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Bir yağmur damlasında ışık üç işlemden geçer: girerken kırılır, arka yüzeyden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içeriden yansır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çıkarken yeniden kırılır. Her renk biraz farklı açıyla çıkar ve en yoğun çıkış kırmızı için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42°</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mor için 40° civarındadır. Bu yüzden gökkuşağı hep aynı açıda görünür ve kırmızı hep dışta kalır — gökkuşağının yeri yağmurun değil,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senin nerede durduğunun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sonucudur.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66</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Gökkuşağı: her damla küçük bir prizma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Güneş ışığı damlada kırılır, içeride yansır ve yeniden kırılır; ışınlar en küçük sapma olan 138° civarında yığılır. Bu yüzden gökkuşağı güneşin karşısında 42°'lik bir koni üzerinde, kırmızı dışta görünür.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67</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Gökkuşağının ucuna yürüyerek neden hiçbir zaman ulaşamazsın?</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09 · Gökkuşağı: her damla küçük bir prizma</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68</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Gökkuşağının ucuna yürüyerek neden hiçbir zaman ulaşamazsın?</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Çünkü gökkuşağı belli bir yerde duran bir cisim değil, bir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doğrultular kümesidir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gözüne güneşin tam karşısındaki noktadan 42° açıyla gelen ışınlar. Sen yürüdükçe o ışığı gönderen damlalar da değişir ve yay seninle birlikte yer değiştirir. Yanındaki arkadaşın bile başka damlaların ışığını görür.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69</a:t>
            </a:r>
            <a:endParaRPr lang="en-US" sz="10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Prizmalar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Prizmanın iki yeteneği, yani ışığı renklerine ayırmak ve ışığı kayıpsız döndürmek, laboratuvardan uzaya kadar pek çok aygıtın temelidir.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Bazen de yalnızca bir odayı süsler.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70</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Prizmalar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331012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Spektroskop:</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yıldızların ve maddelerin ışığını tayfa ayırıp bileşimini belirler. Helyum, Dünya'da bulunmadan önce 1868'de Güneş'in tayfında fark edildi.</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Dürbün ve periskop:</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tam yansımalı prizmalarla ışık yolunu katlar; dürbün kısa kalır ama görüntü düz görünür.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Fotoğraf makinesi vizörü:</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pentaprizma görüntüyü düzeltir.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Reflektör: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araç ve bisiklet reflektörleri ışığı geldiği yöne döndürür. Ay'a bırakılan köşe küpü prizmalar, Ay'ın uzaklığını lazerle santimetre duyarlılığında ölçtürür.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71</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Prizmalar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16550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Optik ölçüm:</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refraktometrelerle sıvıların indisi ölçülür; meyve suyundaki şeker oranı böyle denetlenir.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Parmak izi okuyucu:</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tam yansımanın parmağın değdiği yerlerde bozulmasıyla izin görüntüsünü çıkarır.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72</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Prizmalar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Text 4"/>
          <p:cNvSpPr txBox="1"/>
          <p:nvPr/>
        </p:nvSpPr>
        <p:spPr>
          <a:xfrm>
            <a:off x="640080" y="1325880"/>
            <a:ext cx="10911535" cy="211074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Köşe küpü, birbirine dik üç yüzü olan bir prizmadır; geniş bir açı aralığında, ışık nereden gelirse gelsin üç iç yansımadan sonra geldiği doğrultuya geri döner.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yüzden bisiklet reflektörü, arkadan gelen aracın far ışığını farın hemen yanındaki sürücünün gözüne geri yollar.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73</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Prizmalar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Prizmalar ışığı renklerine ayırarak maddelerin bileşimini okumaya, ışığı kayıpsız döndürerek dürbünlerde, reflektörlerde ve ölçüm aygıtlarında ışık yolunu yönetmeye yarar.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74</a:t>
            </a:r>
            <a:endParaRPr 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ve sınavda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7 ÇÖZÜMLÜ ÖRNEK</a:t>
            </a:r>
            <a:endParaRPr lang="en-US" sz="1050" dirty="0"/>
          </a:p>
        </p:txBody>
      </p:sp>
      <p:sp>
        <p:nvSpPr>
          <p:cNvPr id="9" name="Shape 7"/>
          <p:cNvSpPr/>
          <p:nvPr/>
        </p:nvSpPr>
        <p:spPr>
          <a:xfrm>
            <a:off x="6172200" y="1481328"/>
            <a:ext cx="5379415" cy="512064"/>
          </a:xfrm>
          <a:prstGeom prst="roundRect">
            <a:avLst>
              <a:gd name="adj" fmla="val 17857"/>
            </a:avLst>
          </a:prstGeom>
          <a:solidFill>
            <a:srgbClr val="1C2542"/>
          </a:solidFill>
          <a:ln w="9525">
            <a:solidFill>
              <a:srgbClr val="2C3860"/>
            </a:solidFill>
            <a:prstDash val="solid"/>
          </a:ln>
        </p:spPr>
      </p:sp>
      <p:sp>
        <p:nvSpPr>
          <p:cNvPr id="10" name="Text 8"/>
          <p:cNvSpPr txBox="1"/>
          <p:nvPr/>
        </p:nvSpPr>
        <p:spPr>
          <a:xfrm>
            <a:off x="6400800" y="148132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Sapma açısı</a:t>
            </a:r>
            <a:endParaRPr lang="en-US" sz="1300" dirty="0"/>
          </a:p>
        </p:txBody>
      </p:sp>
      <p:sp>
        <p:nvSpPr>
          <p:cNvPr id="11" name="Text 9"/>
          <p:cNvSpPr txBox="1"/>
          <p:nvPr/>
        </p:nvSpPr>
        <p:spPr>
          <a:xfrm>
            <a:off x="10362895" y="1481328"/>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84832"/>
            <a:ext cx="5379415" cy="512064"/>
          </a:xfrm>
          <a:prstGeom prst="roundRect">
            <a:avLst>
              <a:gd name="adj" fmla="val 17857"/>
            </a:avLst>
          </a:prstGeom>
          <a:solidFill>
            <a:srgbClr val="1C2542"/>
          </a:solidFill>
          <a:ln w="9525">
            <a:solidFill>
              <a:srgbClr val="2C3860"/>
            </a:solidFill>
            <a:prstDash val="solid"/>
          </a:ln>
        </p:spPr>
      </p:sp>
      <p:sp>
        <p:nvSpPr>
          <p:cNvPr id="13" name="Text 11"/>
          <p:cNvSpPr txBox="1"/>
          <p:nvPr/>
        </p:nvSpPr>
        <p:spPr>
          <a:xfrm>
            <a:off x="6400800" y="208483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Tam yansımalı prizma</a:t>
            </a:r>
            <a:endParaRPr lang="en-US" sz="1300" dirty="0"/>
          </a:p>
        </p:txBody>
      </p:sp>
      <p:sp>
        <p:nvSpPr>
          <p:cNvPr id="14" name="Text 12"/>
          <p:cNvSpPr txBox="1"/>
          <p:nvPr/>
        </p:nvSpPr>
        <p:spPr>
          <a:xfrm>
            <a:off x="10362895" y="2084832"/>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88336"/>
            <a:ext cx="5379415" cy="512064"/>
          </a:xfrm>
          <a:prstGeom prst="roundRect">
            <a:avLst>
              <a:gd name="adj" fmla="val 17857"/>
            </a:avLst>
          </a:prstGeom>
          <a:solidFill>
            <a:srgbClr val="1C2542"/>
          </a:solidFill>
          <a:ln w="9525">
            <a:solidFill>
              <a:srgbClr val="2C3860"/>
            </a:solidFill>
            <a:prstDash val="solid"/>
          </a:ln>
        </p:spPr>
      </p:sp>
      <p:sp>
        <p:nvSpPr>
          <p:cNvPr id="16" name="Text 14"/>
          <p:cNvSpPr txBox="1"/>
          <p:nvPr/>
        </p:nvSpPr>
        <p:spPr>
          <a:xfrm>
            <a:off x="6400800" y="2688336"/>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En küçük sapmadan indis</a:t>
            </a:r>
            <a:endParaRPr lang="en-US" sz="1300" dirty="0"/>
          </a:p>
        </p:txBody>
      </p:sp>
      <p:sp>
        <p:nvSpPr>
          <p:cNvPr id="17" name="Text 15"/>
          <p:cNvSpPr txBox="1"/>
          <p:nvPr/>
        </p:nvSpPr>
        <p:spPr>
          <a:xfrm>
            <a:off x="10362895" y="2688336"/>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18" name="Shape 16"/>
          <p:cNvSpPr/>
          <p:nvPr/>
        </p:nvSpPr>
        <p:spPr>
          <a:xfrm>
            <a:off x="6172200" y="3291840"/>
            <a:ext cx="5379415" cy="512064"/>
          </a:xfrm>
          <a:prstGeom prst="roundRect">
            <a:avLst>
              <a:gd name="adj" fmla="val 17857"/>
            </a:avLst>
          </a:prstGeom>
          <a:solidFill>
            <a:srgbClr val="1C2542"/>
          </a:solidFill>
          <a:ln w="9525">
            <a:solidFill>
              <a:srgbClr val="2C3860"/>
            </a:solidFill>
            <a:prstDash val="solid"/>
          </a:ln>
        </p:spPr>
      </p:sp>
      <p:sp>
        <p:nvSpPr>
          <p:cNvPr id="19" name="Text 17"/>
          <p:cNvSpPr txBox="1"/>
          <p:nvPr/>
        </p:nvSpPr>
        <p:spPr>
          <a:xfrm>
            <a:off x="6400800" y="3291840"/>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Prizma içindeki açılar</a:t>
            </a:r>
            <a:endParaRPr lang="en-US" sz="1300" dirty="0"/>
          </a:p>
        </p:txBody>
      </p:sp>
      <p:sp>
        <p:nvSpPr>
          <p:cNvPr id="20" name="Text 18"/>
          <p:cNvSpPr txBox="1"/>
          <p:nvPr/>
        </p:nvSpPr>
        <p:spPr>
          <a:xfrm>
            <a:off x="10362895" y="3291840"/>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895344"/>
            <a:ext cx="5379415" cy="512064"/>
          </a:xfrm>
          <a:prstGeom prst="roundRect">
            <a:avLst>
              <a:gd name="adj" fmla="val 17857"/>
            </a:avLst>
          </a:prstGeom>
          <a:solidFill>
            <a:srgbClr val="1C2542"/>
          </a:solidFill>
          <a:ln w="9525">
            <a:solidFill>
              <a:srgbClr val="2C3860"/>
            </a:solidFill>
            <a:prstDash val="solid"/>
          </a:ln>
        </p:spPr>
      </p:sp>
      <p:sp>
        <p:nvSpPr>
          <p:cNvPr id="22" name="Text 20"/>
          <p:cNvSpPr txBox="1"/>
          <p:nvPr/>
        </p:nvSpPr>
        <p:spPr>
          <a:xfrm>
            <a:off x="6400800" y="3895344"/>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İnce prizmada renk ayrılması</a:t>
            </a:r>
            <a:endParaRPr lang="en-US" sz="1300" dirty="0"/>
          </a:p>
        </p:txBody>
      </p:sp>
      <p:sp>
        <p:nvSpPr>
          <p:cNvPr id="23" name="Text 21"/>
          <p:cNvSpPr txBox="1"/>
          <p:nvPr/>
        </p:nvSpPr>
        <p:spPr>
          <a:xfrm>
            <a:off x="10362895" y="3895344"/>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4" name="Shape 22"/>
          <p:cNvSpPr/>
          <p:nvPr/>
        </p:nvSpPr>
        <p:spPr>
          <a:xfrm>
            <a:off x="6172200" y="4498848"/>
            <a:ext cx="5379415" cy="512064"/>
          </a:xfrm>
          <a:prstGeom prst="roundRect">
            <a:avLst>
              <a:gd name="adj" fmla="val 17857"/>
            </a:avLst>
          </a:prstGeom>
          <a:solidFill>
            <a:srgbClr val="1C2542"/>
          </a:solidFill>
          <a:ln w="9525">
            <a:solidFill>
              <a:srgbClr val="2C3860"/>
            </a:solidFill>
            <a:prstDash val="solid"/>
          </a:ln>
        </p:spPr>
      </p:sp>
      <p:sp>
        <p:nvSpPr>
          <p:cNvPr id="25" name="Text 23"/>
          <p:cNvSpPr txBox="1"/>
          <p:nvPr/>
        </p:nvSpPr>
        <p:spPr>
          <a:xfrm>
            <a:off x="6400800" y="449884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Işığın çıkabileceği en küçük gelme açısı</a:t>
            </a:r>
            <a:endParaRPr lang="en-US" sz="1300" dirty="0"/>
          </a:p>
        </p:txBody>
      </p:sp>
      <p:sp>
        <p:nvSpPr>
          <p:cNvPr id="26" name="Text 24"/>
          <p:cNvSpPr txBox="1"/>
          <p:nvPr/>
        </p:nvSpPr>
        <p:spPr>
          <a:xfrm>
            <a:off x="10362895" y="4498848"/>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172200" y="5102352"/>
            <a:ext cx="5379415" cy="512064"/>
          </a:xfrm>
          <a:prstGeom prst="roundRect">
            <a:avLst>
              <a:gd name="adj" fmla="val 17857"/>
            </a:avLst>
          </a:prstGeom>
          <a:solidFill>
            <a:srgbClr val="1C2542"/>
          </a:solidFill>
          <a:ln w="9525">
            <a:solidFill>
              <a:srgbClr val="2C3860"/>
            </a:solidFill>
            <a:prstDash val="solid"/>
          </a:ln>
        </p:spPr>
      </p:sp>
      <p:sp>
        <p:nvSpPr>
          <p:cNvPr id="28" name="Text 26"/>
          <p:cNvSpPr txBox="1"/>
          <p:nvPr/>
        </p:nvSpPr>
        <p:spPr>
          <a:xfrm>
            <a:off x="6400800" y="510235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   Suya batırılan prizma</a:t>
            </a:r>
            <a:endParaRPr lang="en-US" sz="1300" dirty="0"/>
          </a:p>
        </p:txBody>
      </p:sp>
      <p:sp>
        <p:nvSpPr>
          <p:cNvPr id="29" name="Text 27"/>
          <p:cNvSpPr txBox="1"/>
          <p:nvPr/>
        </p:nvSpPr>
        <p:spPr>
          <a:xfrm>
            <a:off x="10362895" y="5102352"/>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0" name="Shape 28"/>
          <p:cNvSpPr/>
          <p:nvPr/>
        </p:nvSpPr>
        <p:spPr>
          <a:xfrm>
            <a:off x="640080" y="6382512"/>
            <a:ext cx="128016" cy="128016"/>
          </a:xfrm>
          <a:prstGeom prst="roundRect">
            <a:avLst>
              <a:gd name="adj" fmla="val 28571"/>
            </a:avLst>
          </a:prstGeom>
          <a:solidFill>
            <a:srgbClr val="C6F36B"/>
          </a:solidFill>
          <a:ln/>
        </p:spPr>
      </p:sp>
      <p:sp>
        <p:nvSpPr>
          <p:cNvPr id="31" name="Text 2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dersler.perinet.org/prizmalar.html</a:t>
            </a:r>
            <a:endParaRPr lang="en-US" sz="1050" dirty="0"/>
          </a:p>
        </p:txBody>
      </p:sp>
      <p:sp>
        <p:nvSpPr>
          <p:cNvPr id="32" name="Text 3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75</a:t>
            </a:r>
            <a:endParaRPr lang="en-US" sz="10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Sapma açısı</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Tepe açısı 60° olan prizmaya 45° ile giren ışın, ikinci yüzeyden 52° ile çıkıyor. Sapma açısı kaçtır?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 60°</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i₁ = 45°</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i₂ = 52°</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sapma açısı δ</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76</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Sapma açısı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 = i₁ + i₂ − A</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 = 45 + 52 − 60</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37°</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77</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Tam yansımalı prizma</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45° – 45° – 90° prizmada ışık hipotenüse 45° ile çarpıyor. Prizmanın indisi 1,5 ise ışık ne yapar?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45° – 45° – 90° prizma</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hipotenüse geliş açısı 45°</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 = 1,5</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çevre hava (n = 1)</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ışığın hipotenüsten çıkıp çıkmadığı ya da tam yansıyıp yansımadığı</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78</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Tam yansımalı prizma</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Sınır açı: sin θ = 1/1,5 = 0,667 → θ = 41,8°</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Geliş açısı 45° &gt; 41,8° olduğu için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tam yansıma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olur.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79</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Tam yansımalı prizma</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Işığın tamamı yansır; hiç kayıp olmaz.</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İndis 1,3 olsaydı sınır açı 50,3° olurdu ve 45° &lt; 50,3° olduğundan ışık prizmadan çıkardı.</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80</a:t>
            </a:r>
            <a:endParaRPr 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En küçük sapmadan indis</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Tepe açısı 60° olan bir prizmada en küçük sapma açısı 30° ölçülüyor. Prizmanın kırılma indisi nedir? (sin45° = 0,707 · sin30° = 0,5)</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 60°</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δ(min) = 30°</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sin45° = 0,707</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sin30° = 0,5</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prizmanın kırılma indisi n</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81</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En küçük sapmadan indis</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n = sin((A + δ)/2) / sin(A/2)</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n = sin((60 + 30)/2) / sin30° = sin45° / sin30°</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82</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En küçük sapmadan indis</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n = 0,707 / 0,5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1,41</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Bu, yaklaşık √2 değeridir.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83</a:t>
            </a:r>
            <a:endParaRPr lang="en-US" sz="10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Prizma içindeki açılar</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Tepe açısı 60°, indisi 1,5 olan prizmaya 30° ile giren ışın için r₁, r₂ ve çıkabilme durumunu inceleyiniz. (sin30° = 0,5)</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 60°</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 = 1,5</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i₁ = 30°</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sin30° = 0,5</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çevre hava (n = 1)</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r₁</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r₂</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ışının ikinci yüzeyden çıkıp çıkamayacağı</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84</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Prizma içindeki açılar</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sin r₁ = sin30°/1,5 = 0,333 → r₁ ≈ 19,5°</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r₂ = A − r₁ = 60 − 19,5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40,5°</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Sınır açı: sin θ = 1/1,5 = 0,667 → θ ≈ 41,8°</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85</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Prizma içindeki açılar</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r₂ &lt; θ olduğu için ışın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çıkabilir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(ama sınıra çok yakındır).</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Çıkış: sin i₂ = 1,5 · sin40,5° ≈ 0,975 → i₂ ≈ 77°; sapma δ ≈ 30 + 77 − 60 = 47°.</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86</a:t>
            </a:r>
            <a:endParaRPr lang="en-US" sz="10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İnce prizmada renk ayrılması</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Tepe açısı 8° olan ince bir cam prizmada kırmızı için n = 1,513, mor için n = 1,538'dir. Işık prizmaya neredeyse dik geliyor. (a) Her rengin sapmasını, (b) iki renk arasındaki açıyı, (c) 2 m uzaktaki perdede tayfın genişliğini bulunuz.</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A = 8° (ince prizma)</a:t>
            </a:r>
            <a:endParaRPr lang="en-US" sz="1450" dirty="0"/>
          </a:p>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n(kırmızı) = 1,513</a:t>
            </a:r>
            <a:endParaRPr lang="en-US" sz="1450" dirty="0"/>
          </a:p>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n(mor) = 1,538</a:t>
            </a:r>
            <a:endParaRPr lang="en-US" sz="1450" dirty="0"/>
          </a:p>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ışık neredeyse dik geliyor</a:t>
            </a:r>
            <a:endParaRPr lang="en-US" sz="1450" dirty="0"/>
          </a:p>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perdenin uzaklığı 2 m</a:t>
            </a:r>
            <a:endParaRPr lang="en-US" sz="1450" dirty="0"/>
          </a:p>
        </p:txBody>
      </p:sp>
      <p:sp>
        <p:nvSpPr>
          <p:cNvPr id="15" name="Shape 13"/>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136136"/>
            <a:ext cx="54864" cy="1844040"/>
          </a:xfrm>
          <a:prstGeom prst="rect">
            <a:avLst/>
          </a:prstGeom>
          <a:solidFill>
            <a:srgbClr val="5F4BD8"/>
          </a:solidFill>
          <a:ln/>
        </p:spPr>
      </p:sp>
      <p:sp>
        <p:nvSpPr>
          <p:cNvPr id="17" name="Text 15"/>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iki rengin sapma açıları δ</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iki renk arasındaki açı Δδ</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perdedeki tayfın genişliği</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87</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İnce prizmada renk ayrılması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İnce prizma: δ ≈ (n − 1)·A</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Kırmızı: 0,513 · 8°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4,10°</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mor: 0,538 · 8°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4,30°</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88</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İnce prizmada renk ayrılması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Δδ ≈ 0,025 · 8°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0,20°</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Genişlik ≈ 2 m · tan0,20° ≈ 2 m · 0,0035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7 mm</a:t>
            </a:r>
            <a:endParaRPr lang="en-US" sz="2000" dirty="0"/>
          </a:p>
        </p:txBody>
      </p:sp>
      <p:sp>
        <p:nvSpPr>
          <p:cNvPr id="16" name="Shape 14"/>
          <p:cNvSpPr/>
          <p:nvPr/>
        </p:nvSpPr>
        <p:spPr>
          <a:xfrm>
            <a:off x="640080" y="5431536"/>
            <a:ext cx="10911535" cy="713232"/>
          </a:xfrm>
          <a:prstGeom prst="roundRect">
            <a:avLst>
              <a:gd name="adj" fmla="val 2051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Text 15"/>
          <p:cNvSpPr txBox="1"/>
          <p:nvPr/>
        </p:nvSpPr>
        <p:spPr>
          <a:xfrm>
            <a:off x="960120" y="5559552"/>
            <a:ext cx="1828800" cy="219456"/>
          </a:xfrm>
          <a:prstGeom prst="rect">
            <a:avLst/>
          </a:prstGeom>
          <a:noFill/>
          <a:ln/>
        </p:spPr>
        <p:txBody>
          <a:bodyPr wrap="square" lIns="0" tIns="0" rIns="0" bIns="0" rtlCol="0" anchor="ctr"/>
          <a:lstStyle/>
          <a:p>
            <a:pPr indent="0" marL="0">
              <a:buNone/>
            </a:pPr>
            <a:r>
              <a:rPr lang="en-US" sz="1000" b="1" spc="200" kern="0" dirty="0">
                <a:solidFill>
                  <a:srgbClr val="7B849E"/>
                </a:solidFill>
                <a:latin typeface="Calibri" pitchFamily="34" charset="0"/>
                <a:ea typeface="Calibri" pitchFamily="34" charset="-122"/>
                <a:cs typeface="Calibri" pitchFamily="34" charset="-120"/>
              </a:rPr>
              <a:t>NOT</a:t>
            </a:r>
            <a:endParaRPr lang="en-US" sz="1000" dirty="0"/>
          </a:p>
        </p:txBody>
      </p:sp>
      <p:sp>
        <p:nvSpPr>
          <p:cNvPr id="18" name="Text 16"/>
          <p:cNvSpPr txBox="1"/>
          <p:nvPr/>
        </p:nvSpPr>
        <p:spPr>
          <a:xfrm>
            <a:off x="960120" y="5797296"/>
            <a:ext cx="10271455" cy="256032"/>
          </a:xfrm>
          <a:prstGeom prst="rect">
            <a:avLst/>
          </a:prstGeom>
          <a:noFill/>
          <a:ln/>
        </p:spPr>
        <p:txBody>
          <a:bodyPr wrap="square" lIns="0" tIns="0" rIns="0" bIns="0" rtlCol="0" anchor="t"/>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60°'lik prizmada aynı iki renk arasındaki açı 2,2° kadardı; ince prizma renkleri çok daha az açar.</a:t>
            </a:r>
            <a:endParaRPr lang="en-US" sz="15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89</a:t>
            </a:r>
            <a:endParaRPr lang="en-US" sz="10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Işığın çıkabileceği en küçük gelme açısı</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Tepe açısı 60°, indisi 1,50 olan bir prizmada ışığın ikinci yüzeyden çıkabilmesi için birinci yüzeye en az hangi açıyla gelmesi gerekir? (sin18,2° ≈ 0,312)</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 60°</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 = 1,50</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çevre hava (n = 1)</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sin18,2° ≈ 0,312</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ışığın ikinci yüzeyden çıkabilmesi için en küçük gelme açısı i₁</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90</a:t>
            </a:r>
            <a:endParaRPr lang="en-US" sz="10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Işığın çıkabileceği en küçük gelme açısı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Sınır açı: sin θ = 1/1,50 ≈ 0,667 → θ ≈ 41,8°</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Çıkabilmesi için r₂ ≤ 41,8° olmalı → r₁ = A − r₂ ≥ 60° − 41,8° = 18,2°</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sin i₁ = n·sin r₁ = 1,50 · 0,312 ≈ 0,468</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91</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Işığın çıkabileceği en küçük gelme açısı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i₁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27,9°</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bundan küçük açıyla gelen ışın ikinci yüzeyde tam yansır.</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Tam sınırda i₂ = 90° olur: ışın yüzeyi yalayarak çıkar, δ ≈ 27,9 + 90 − 60 ≈ 57,9°.</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92</a:t>
            </a:r>
            <a:endParaRPr lang="en-US" sz="10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Suya batırılan prizma</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İndisi 1,50 olan 45° – 45° – 90° bir prizma tamamen suya (n = 1,33) batırılıyor. Hipotenüse içeriden 45° ile çarpan ışık ne yapar? Çıkıyorsa suya hangi açıyla geçer? (sin45° = 0,707)</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45° – 45° – 90° prizma</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n(prizma) = 1,50</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n(su) = 1,33</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hipotenüse içeriden geliş açısı 45°</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sin45° = 0,707</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ışığın tam yansıyıp yansımadığı</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çıkıyorsa suya geçtiği açı x</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93</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Suya batırılan prizma</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Havada: θ(sınır) = 41,8° &lt; 45° → tam yansıma olurdu (Örnek 2).</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Suda sınır açı: sin θ = 1,33/1,50 ≈ 0,887 → θ ≈ 62,5°</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45° &lt; 62,5° → tam yansıma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olmaz</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ışık hipotenüsten suya geçer.</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94</a:t>
            </a:r>
            <a:endParaRPr lang="en-US" sz="10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Suya batırılan prizma</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1,50 · sin45° = 1,33 · sin x → sin x ≈ 1,061/1,33 ≈ 0,797 → x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52,9°</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Suyun içinde bu prizma ayna gibi çalışmaz; ışığın büyük kısmı suya kaçar.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95</a:t>
            </a:r>
            <a:endParaRPr lang="en-US" sz="10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1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Tepe açısı 50° olan bir prizmaya 45° ile giren ışın, ikinci yüzeyden 34° ile çıkıyor. Sapma açısı kaç derecedir?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(Prizmanın çevresi havadır, n = 1; gereken sinüs değerleri sorunun içinde verilmiştir.)</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96</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Tepe açısı 50° olan bir prizmaya 45° ile giren ışın, ikinci yüzeyden 34° ile çıkıyor. Sapma açısı kaç derecedir?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δ = i₁ + i₂ − A = 45 + 34 − 50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29°</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97</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2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Tepe açısı 60° olan bir prizmada ışın birinci yüzeyde 25° ile kırılıyor (r₁ = 25°). İçerideki ışının ikinci yüzeye geliş açısı r₂ kaç derecedir?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(Prizmanın çevresi havadır, n = 1; gereken sinüs değerleri sorunun içinde verilmiştir.)</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98</a:t>
            </a:r>
            <a:endParaRPr lang="en-US" sz="10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Tepe açısı 60° olan bir prizmada ışın birinci yüzeyde 25° ile kırılıyor (r₁ = 25°). İçerideki ışının ikinci yüzeye geliş açısı r₂ kaç derecedir?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r₁ + r₂ = A olduğundan r₂ = A − r₁ = 60 − 25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35°</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99</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3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İndisi 1,6 olan bir prizmaya ışın 53° ile giriyor. Birinci yüzeydeki kırılma açısı r₁ kaç derecedir? (sin53° = 0,8 · sin30° = 0,5)</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(Prizmanın çevresi havadır, n = 1; gereken sinüs değerleri sorunun içinde verilmiştir.)</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100</a:t>
            </a:r>
            <a:endParaRPr lang="en-US" sz="10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İndisi 1,6 olan bir prizmaya ışın 53° ile giriyor. Birinci yüzeydeki kırılma açısı r₁ kaç derecedir? (sin53° = 0,8 · sin30° = 0,5)</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sin i₁ = n · sin r₁ → 0,8 = 1,6 · sin r₁ → sin r₁ = 0,8 / 1,6 = 0,5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r₁ = 30°</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Işın cama girerken normale yaklaştı: 53°'den 30°'ye.</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101</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4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Tepe açısı 60°, indisi 1,6 olan bir prizmada en küçük sapma açısı kaç derecedir? (sin30° = 0,5 · sin53° = 0,8)</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(Prizmanın çevresi havadır, n = 1; gereken sinüs değerleri sorunun içinde verilmiştir.)</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102</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Tepe açısı 60°, indisi 1,6 olan bir prizmada en küçük sapma açısı kaç derecedir? (sin30° = 0,5 · sin53° = 0,8)</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En küçük sapmada ışın simetrik geçer: r₁ = r₂ = A/2 = 30°. sin i = n · sin r = 1,6 · 0,5 = 0,8 → i = 53°. δ(min) = 2i − A = 106 − 60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46°</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103</a:t>
            </a:r>
            <a:endParaRPr lang="en-US" sz="10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5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FBE9EE"/>
          </a:solidFill>
          <a:ln w="9525">
            <a:solidFill>
              <a:srgbClr val="C53455"/>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Tepe açısı 80°, indisi √2 (≈ 1,41) olan bir prizmaya ışın 45° ile giriyor. Işık ikinci yüzeyden çıkabilir mi? (sin45° = √2/2 · sin30° = 1/2)</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(Prizmanın çevresi havadır, n = 1; gereken sinüs değerleri sorunun içinde verilmiştir.)</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104</a:t>
            </a:r>
            <a:endParaRPr lang="en-US" sz="10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Tepe açısı 80°, indisi √2 (≈ 1,41) olan bir prizmaya ışın 45° ile giriyor. Işık ikinci yüzeyden çıkabilir mi? (sin45° = √2/2 · sin30° = 1/2)</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Birinci yüzey: sin r₁ = sin45° / √2 = (√2/2) / √2 = 1/2 → r₁ = 30°. İkinci yüzeye geliş: r₂ = 80 − 30 = 50°. Sınır açı: sin θ = 1/√2 = √2/2 → θ = 45°. r₂ = 50° sınır açıdan büyük olduğu için ışık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çıkamaz, ikinci yüzeyde tam yansır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Tepe açısı en çok 30 + 45 = 75° olsaydı ışık çıkabilirdi.</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105</a:t>
            </a:r>
            <a:endParaRPr 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Prizmanın renk ürettiğini sanmak.</a:t>
            </a:r>
            <a:endParaRPr lang="en-US" sz="1900" dirty="0"/>
          </a:p>
        </p:txBody>
      </p:sp>
      <p:sp>
        <p:nvSpPr>
          <p:cNvPr id="11" name="Shape 9"/>
          <p:cNvSpPr/>
          <p:nvPr/>
        </p:nvSpPr>
        <p:spPr>
          <a:xfrm>
            <a:off x="841248" y="2271522"/>
            <a:ext cx="310896" cy="310896"/>
          </a:xfrm>
          <a:prstGeom prst="roundRect">
            <a:avLst>
              <a:gd name="adj" fmla="val 26471"/>
            </a:avLst>
          </a:prstGeom>
          <a:solidFill>
            <a:srgbClr val="EAF7DC"/>
          </a:solidFill>
          <a:ln/>
        </p:spPr>
      </p:sp>
      <p:sp>
        <p:nvSpPr>
          <p:cNvPr id="12" name="Text 10"/>
          <p:cNvSpPr txBox="1"/>
          <p:nvPr/>
        </p:nvSpPr>
        <p:spPr>
          <a:xfrm>
            <a:off x="841248" y="227152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253234"/>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Prizma renkleri ayırır, üretmez.</a:t>
            </a:r>
            <a:endParaRPr lang="en-US" sz="17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Kırmızının en çok saptığını düşünmek.</a:t>
            </a:r>
            <a:endParaRPr lang="en-US" sz="1900" dirty="0"/>
          </a:p>
        </p:txBody>
      </p:sp>
      <p:sp>
        <p:nvSpPr>
          <p:cNvPr id="18" name="Shape 16"/>
          <p:cNvSpPr/>
          <p:nvPr/>
        </p:nvSpPr>
        <p:spPr>
          <a:xfrm>
            <a:off x="6406744" y="2604516"/>
            <a:ext cx="310896" cy="310896"/>
          </a:xfrm>
          <a:prstGeom prst="roundRect">
            <a:avLst>
              <a:gd name="adj" fmla="val 26471"/>
            </a:avLst>
          </a:prstGeom>
          <a:solidFill>
            <a:srgbClr val="EAF7DC"/>
          </a:solidFill>
          <a:ln/>
        </p:spPr>
      </p:sp>
      <p:sp>
        <p:nvSpPr>
          <p:cNvPr id="19" name="Text 17"/>
          <p:cNvSpPr txBox="1"/>
          <p:nvPr/>
        </p:nvSpPr>
        <p:spPr>
          <a:xfrm>
            <a:off x="6406744" y="260451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586228"/>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En çok sapan </a:t>
            </a:r>
            <a:pPr indent="0" marL="0">
              <a:lnSpc>
                <a:spcPct val="108000"/>
              </a:lnSpc>
              <a:buNone/>
            </a:pPr>
            <a:r>
              <a:rPr lang="en-US" sz="1700" i="1" dirty="0">
                <a:solidFill>
                  <a:srgbClr val="4A5470"/>
                </a:solidFill>
                <a:latin typeface="Calibri" pitchFamily="34" charset="0"/>
                <a:ea typeface="Calibri" pitchFamily="34" charset="-122"/>
                <a:cs typeface="Calibri" pitchFamily="34" charset="-120"/>
              </a:rPr>
              <a:t>mordur</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indisi en büyüktür.</a:t>
            </a:r>
            <a:endParaRPr lang="en-US" sz="17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δ = i₁ + i₂ + A yazmak.</a:t>
            </a:r>
            <a:endParaRPr lang="en-US" sz="1900" dirty="0"/>
          </a:p>
        </p:txBody>
      </p:sp>
      <p:sp>
        <p:nvSpPr>
          <p:cNvPr id="25" name="Shape 23"/>
          <p:cNvSpPr/>
          <p:nvPr/>
        </p:nvSpPr>
        <p:spPr>
          <a:xfrm>
            <a:off x="841248" y="4612386"/>
            <a:ext cx="310896" cy="310896"/>
          </a:xfrm>
          <a:prstGeom prst="roundRect">
            <a:avLst>
              <a:gd name="adj" fmla="val 26471"/>
            </a:avLst>
          </a:prstGeom>
          <a:solidFill>
            <a:srgbClr val="EAF7DC"/>
          </a:solidFill>
          <a:ln/>
        </p:spPr>
      </p:sp>
      <p:sp>
        <p:nvSpPr>
          <p:cNvPr id="26" name="Text 24"/>
          <p:cNvSpPr txBox="1"/>
          <p:nvPr/>
        </p:nvSpPr>
        <p:spPr>
          <a:xfrm>
            <a:off x="841248" y="461238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594098"/>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Doğrusu δ = i₁ + i₂ − A'dır.</a:t>
            </a:r>
            <a:endParaRPr lang="en-US" sz="17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Işığın tepeye doğru saptığını sanmak.</a:t>
            </a:r>
            <a:endParaRPr lang="en-US" sz="1900" dirty="0"/>
          </a:p>
        </p:txBody>
      </p:sp>
      <p:sp>
        <p:nvSpPr>
          <p:cNvPr id="32" name="Shape 30"/>
          <p:cNvSpPr/>
          <p:nvPr/>
        </p:nvSpPr>
        <p:spPr>
          <a:xfrm>
            <a:off x="6406744" y="4945380"/>
            <a:ext cx="310896" cy="310896"/>
          </a:xfrm>
          <a:prstGeom prst="roundRect">
            <a:avLst>
              <a:gd name="adj" fmla="val 26471"/>
            </a:avLst>
          </a:prstGeom>
          <a:solidFill>
            <a:srgbClr val="EAF7DC"/>
          </a:solidFill>
          <a:ln/>
        </p:spPr>
      </p:sp>
      <p:sp>
        <p:nvSpPr>
          <p:cNvPr id="33" name="Text 31"/>
          <p:cNvSpPr txBox="1"/>
          <p:nvPr/>
        </p:nvSpPr>
        <p:spPr>
          <a:xfrm>
            <a:off x="6406744"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Sapma her zaman </a:t>
            </a:r>
            <a:pPr indent="0" marL="0">
              <a:lnSpc>
                <a:spcPct val="108000"/>
              </a:lnSpc>
              <a:buNone/>
            </a:pPr>
            <a:r>
              <a:rPr lang="en-US" sz="1700" i="1" dirty="0">
                <a:solidFill>
                  <a:srgbClr val="4A5470"/>
                </a:solidFill>
                <a:latin typeface="Calibri" pitchFamily="34" charset="0"/>
                <a:ea typeface="Calibri" pitchFamily="34" charset="-122"/>
                <a:cs typeface="Calibri" pitchFamily="34" charset="-120"/>
              </a:rPr>
              <a:t>tabana</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doğrudur (prizma çevresinden yoğun olduğu sürece).</a:t>
            </a:r>
            <a:endParaRPr lang="en-US" sz="17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106</a:t>
            </a:r>
            <a:endParaRPr lang="en-US" sz="10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Işığın her durumda prizmadan çıkacağını varsaymak.</a:t>
            </a:r>
            <a:endParaRPr lang="en-US" sz="1900" dirty="0"/>
          </a:p>
        </p:txBody>
      </p:sp>
      <p:sp>
        <p:nvSpPr>
          <p:cNvPr id="11" name="Shape 9"/>
          <p:cNvSpPr/>
          <p:nvPr/>
        </p:nvSpPr>
        <p:spPr>
          <a:xfrm>
            <a:off x="841248" y="2604516"/>
            <a:ext cx="310896" cy="310896"/>
          </a:xfrm>
          <a:prstGeom prst="roundRect">
            <a:avLst>
              <a:gd name="adj" fmla="val 26471"/>
            </a:avLst>
          </a:prstGeom>
          <a:solidFill>
            <a:srgbClr val="EAF7DC"/>
          </a:solidFill>
          <a:ln/>
        </p:spPr>
      </p:sp>
      <p:sp>
        <p:nvSpPr>
          <p:cNvPr id="12" name="Text 10"/>
          <p:cNvSpPr txBox="1"/>
          <p:nvPr/>
        </p:nvSpPr>
        <p:spPr>
          <a:xfrm>
            <a:off x="841248" y="260451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586228"/>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r₂ sınır açıyı aşarsa ışık içeride tam yansır.</a:t>
            </a:r>
            <a:endParaRPr lang="en-US" sz="17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Paralel kenarlı levhayla prizmayı karıştırmak.</a:t>
            </a:r>
            <a:endParaRPr lang="en-US" sz="1900" dirty="0"/>
          </a:p>
        </p:txBody>
      </p:sp>
      <p:sp>
        <p:nvSpPr>
          <p:cNvPr id="18" name="Shape 16"/>
          <p:cNvSpPr/>
          <p:nvPr/>
        </p:nvSpPr>
        <p:spPr>
          <a:xfrm>
            <a:off x="6406744" y="2604516"/>
            <a:ext cx="310896" cy="310896"/>
          </a:xfrm>
          <a:prstGeom prst="roundRect">
            <a:avLst>
              <a:gd name="adj" fmla="val 26471"/>
            </a:avLst>
          </a:prstGeom>
          <a:solidFill>
            <a:srgbClr val="EAF7DC"/>
          </a:solidFill>
          <a:ln/>
        </p:spPr>
      </p:sp>
      <p:sp>
        <p:nvSpPr>
          <p:cNvPr id="19" name="Text 17"/>
          <p:cNvSpPr txBox="1"/>
          <p:nvPr/>
        </p:nvSpPr>
        <p:spPr>
          <a:xfrm>
            <a:off x="6406744" y="260451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586228"/>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Levhada doğrultu korunur, prizmada değişir.</a:t>
            </a:r>
            <a:endParaRPr lang="en-US" sz="17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Sapmanın gelme açısıyla hep arttığını sanmak.</a:t>
            </a:r>
            <a:endParaRPr lang="en-US" sz="1900" dirty="0"/>
          </a:p>
        </p:txBody>
      </p:sp>
      <p:sp>
        <p:nvSpPr>
          <p:cNvPr id="25" name="Shape 23"/>
          <p:cNvSpPr/>
          <p:nvPr/>
        </p:nvSpPr>
        <p:spPr>
          <a:xfrm>
            <a:off x="841248" y="4945380"/>
            <a:ext cx="310896" cy="310896"/>
          </a:xfrm>
          <a:prstGeom prst="roundRect">
            <a:avLst>
              <a:gd name="adj" fmla="val 26471"/>
            </a:avLst>
          </a:prstGeom>
          <a:solidFill>
            <a:srgbClr val="EAF7DC"/>
          </a:solidFill>
          <a:ln/>
        </p:spPr>
      </p:sp>
      <p:sp>
        <p:nvSpPr>
          <p:cNvPr id="26" name="Text 24"/>
          <p:cNvSpPr txBox="1"/>
          <p:nvPr/>
        </p:nvSpPr>
        <p:spPr>
          <a:xfrm>
            <a:off x="841248"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Sapma önce azalır, en küçük değerden sonra artar; aynı sapma iki farklı gelme açısıyla elde edilebilir.</a:t>
            </a:r>
            <a:endParaRPr lang="en-US" sz="17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Gökkuşağını belli bir yerde duran bir cisim sanmak.</a:t>
            </a:r>
            <a:endParaRPr lang="en-US" sz="1900" dirty="0"/>
          </a:p>
        </p:txBody>
      </p:sp>
      <p:sp>
        <p:nvSpPr>
          <p:cNvPr id="32" name="Shape 30"/>
          <p:cNvSpPr/>
          <p:nvPr/>
        </p:nvSpPr>
        <p:spPr>
          <a:xfrm>
            <a:off x="6406744" y="4945380"/>
            <a:ext cx="310896" cy="310896"/>
          </a:xfrm>
          <a:prstGeom prst="roundRect">
            <a:avLst>
              <a:gd name="adj" fmla="val 26471"/>
            </a:avLst>
          </a:prstGeom>
          <a:solidFill>
            <a:srgbClr val="EAF7DC"/>
          </a:solidFill>
          <a:ln/>
        </p:spPr>
      </p:sp>
      <p:sp>
        <p:nvSpPr>
          <p:cNvPr id="33" name="Text 31"/>
          <p:cNvSpPr txBox="1"/>
          <p:nvPr/>
        </p:nvSpPr>
        <p:spPr>
          <a:xfrm>
            <a:off x="6406744"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Gökkuşağı, güneşin tam karşısındaki noktadan 42° açıyla gelen ışınların kümesidir; sen yürüdükçe o da yer değiştirir.</a:t>
            </a:r>
            <a:endParaRPr lang="en-US" sz="17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dersler.perinet.org/prizmalar.html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107</a:t>
            </a:r>
            <a:endParaRPr lang="en-US" sz="10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Sapma </a:t>
            </a:r>
            <a:pPr indent="0" marL="0">
              <a:buNone/>
            </a:pPr>
            <a:r>
              <a:rPr lang="en-US" sz="1500" b="1" dirty="0">
                <a:solidFill>
                  <a:srgbClr val="FFFFFF"/>
                </a:solidFill>
                <a:latin typeface="Calibri" pitchFamily="34" charset="0"/>
                <a:ea typeface="Calibri" pitchFamily="34" charset="-122"/>
                <a:cs typeface="Calibri" pitchFamily="34" charset="-120"/>
              </a:rPr>
              <a:t>δ = i₁ + i₂ − A</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Mor </a:t>
            </a:r>
            <a:pPr indent="0" marL="0">
              <a:buNone/>
            </a:pPr>
            <a:r>
              <a:rPr lang="en-US" sz="1500" b="1" dirty="0">
                <a:solidFill>
                  <a:srgbClr val="FFFFFF"/>
                </a:solidFill>
                <a:latin typeface="Calibri" pitchFamily="34" charset="0"/>
                <a:ea typeface="Calibri" pitchFamily="34" charset="-122"/>
                <a:cs typeface="Calibri" pitchFamily="34" charset="-120"/>
              </a:rPr>
              <a:t>en çok sapar</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45° prizma </a:t>
            </a:r>
            <a:pPr indent="0" marL="0">
              <a:buNone/>
            </a:pPr>
            <a:r>
              <a:rPr lang="en-US" sz="1500" b="1" dirty="0">
                <a:solidFill>
                  <a:srgbClr val="FFFFFF"/>
                </a:solidFill>
                <a:latin typeface="Calibri" pitchFamily="34" charset="0"/>
                <a:ea typeface="Calibri" pitchFamily="34" charset="-122"/>
                <a:cs typeface="Calibri" pitchFamily="34" charset="-120"/>
              </a:rPr>
              <a:t>tam yansıtır</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Gökkuşağı </a:t>
            </a:r>
            <a:pPr indent="0" marL="0">
              <a:buNone/>
            </a:pPr>
            <a:r>
              <a:rPr lang="en-US" sz="1500" b="1" dirty="0">
                <a:solidFill>
                  <a:srgbClr val="FFFFFF"/>
                </a:solidFill>
                <a:latin typeface="Calibri" pitchFamily="34" charset="0"/>
                <a:ea typeface="Calibri" pitchFamily="34" charset="-122"/>
                <a:cs typeface="Calibri" pitchFamily="34" charset="-120"/>
              </a:rPr>
              <a:t>42°</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r₁ + r₂ = A</a:t>
            </a:r>
            <a:endParaRPr lang="en-US" sz="1350" dirty="0"/>
          </a:p>
        </p:txBody>
      </p:sp>
      <p:sp>
        <p:nvSpPr>
          <p:cNvPr id="16" name="Text 14"/>
          <p:cNvSpPr txBox="1"/>
          <p:nvPr/>
        </p:nvSpPr>
        <p:spPr>
          <a:xfrm>
            <a:off x="8183880" y="239572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prizma içi açılar</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185166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δ = i₁ + i₂ − A</a:t>
            </a:r>
            <a:endParaRPr lang="en-US" sz="1350" dirty="0"/>
          </a:p>
        </p:txBody>
      </p:sp>
      <p:sp>
        <p:nvSpPr>
          <p:cNvPr id="19" name="Text 17"/>
          <p:cNvSpPr txBox="1"/>
          <p:nvPr/>
        </p:nvSpPr>
        <p:spPr>
          <a:xfrm>
            <a:off x="8572500" y="3218688"/>
            <a:ext cx="279623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sapma açısı</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2272284"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n(mor) &gt; n(kırmızı)</a:t>
            </a:r>
            <a:endParaRPr lang="en-US" sz="1350" dirty="0"/>
          </a:p>
        </p:txBody>
      </p:sp>
      <p:sp>
        <p:nvSpPr>
          <p:cNvPr id="22" name="Text 20"/>
          <p:cNvSpPr txBox="1"/>
          <p:nvPr/>
        </p:nvSpPr>
        <p:spPr>
          <a:xfrm>
            <a:off x="8993124" y="4041648"/>
            <a:ext cx="2375611"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dağılma (dispersiyon)</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2167128"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sin θ(sınır) = 1/n</a:t>
            </a:r>
            <a:endParaRPr lang="en-US" sz="1350" dirty="0"/>
          </a:p>
        </p:txBody>
      </p:sp>
      <p:sp>
        <p:nvSpPr>
          <p:cNvPr id="25" name="Text 23"/>
          <p:cNvSpPr txBox="1"/>
          <p:nvPr/>
        </p:nvSpPr>
        <p:spPr>
          <a:xfrm>
            <a:off x="8887968" y="4864608"/>
            <a:ext cx="2480767"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tam yansımalı prizma</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dersler.perinet.org/prizmalar.html</a:t>
            </a:r>
            <a:endParaRPr lang="en-US" sz="1300" dirty="0"/>
          </a:p>
        </p:txBody>
      </p:sp>
      <p:sp>
        <p:nvSpPr>
          <p:cNvPr id="28" name="Text 26"/>
          <p:cNvSpPr txBox="1"/>
          <p:nvPr/>
        </p:nvSpPr>
        <p:spPr>
          <a:xfrm>
            <a:off x="5852160" y="1078992"/>
            <a:ext cx="5699455" cy="457200"/>
          </a:xfrm>
          <a:prstGeom prst="rect">
            <a:avLst/>
          </a:prstGeom>
          <a:noFill/>
          <a:ln/>
        </p:spPr>
        <p:txBody>
          <a:bodyPr wrap="square" lIns="0" tIns="0" rIns="0" bIns="0" rtlCol="0" anchor="ctr"/>
          <a:lstStyle/>
          <a:p>
            <a:pPr algn="r" indent="0" marL="0">
              <a:buNone/>
            </a:pPr>
            <a:r>
              <a:rPr lang="en-US" sz="1000" b="1" spc="200" kern="0" dirty="0">
                <a:solidFill>
                  <a:srgbClr val="8D97B5"/>
                </a:solidFill>
                <a:latin typeface="Calibri" pitchFamily="34" charset="0"/>
                <a:ea typeface="Calibri" pitchFamily="34" charset="-122"/>
                <a:cs typeface="Calibri" pitchFamily="34" charset="-120"/>
              </a:rPr>
              <a:t>SIRADAKİ KONU  </a:t>
            </a:r>
            <a:pPr algn="r" indent="0" marL="0">
              <a:buNone/>
            </a:pPr>
            <a:r>
              <a:rPr lang="en-US" sz="1300" b="1" dirty="0">
                <a:solidFill>
                  <a:srgbClr val="FFFFFF"/>
                </a:solidFill>
                <a:latin typeface="Calibri" pitchFamily="34" charset="0"/>
                <a:ea typeface="Calibri" pitchFamily="34" charset="-122"/>
                <a:cs typeface="Calibri" pitchFamily="34" charset="-120"/>
              </a:rPr>
              <a:t>08 · Mercekler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108</Slides>
  <Notes>108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108</vt:i4>
      </vt:variant>
    </vt:vector>
  </HeadingPairs>
  <TitlesOfParts>
    <vt:vector size="11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Prizmalar — Dersler</dc:title>
  <dc:subject>Fizik · Optik</dc:subject>
  <dc:creator>Dersler</dc:creator>
  <cp:lastModifiedBy>Dersler</cp:lastModifiedBy>
  <cp:revision>1</cp:revision>
  <dcterms:created xsi:type="dcterms:W3CDTF">2026-09-30T08:43:31Z</dcterms:created>
  <dcterms:modified xsi:type="dcterms:W3CDTF">2026-09-30T08:43:31Z</dcterms:modified>
</cp:coreProperties>
</file>