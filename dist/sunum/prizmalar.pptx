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1666'da karanlık odasına giren güneş ışığını bir prizmadan geçirdi ve duvarda bir gökkuşağı gördü. O güne kadar herkes rengin camdan geldiğini sanıyordu; Newton ikinci bir prizmayla renkleri yeniden birleştirip beyaz ışığı geri elde etti ve rengin ışığın kendisinde olduğunu kanıtladı. Bu konuda hem o deneyi hem de prizmanın ışığı nasıl büktüğünü hesaplamayı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Newton, 1666'da karanlık odasına giren güneş ışığını bir prizmadan geçirdi ve duvarda bir gökkuşağı gördü. O güne kadar herkes rengin camdan geldiğini sanıyordu; Newton ikinci bir prizmayla renkleri yeniden birleştirip beyaz ışığı geri elde etti ve rengin ışığın kendisinde olduğunu kanıtladı. Bu konuda hem o deneyi hem de prizmanın ışığı nasıl büktüğünü hesaplamayı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Prizma nedir?
2. Sapma açısı
3. En küçük sapma
4. Dispersiyon: renklere ayrılma
5. Tam yansımalı prizma
6. Gökkuşağı
7. Kullanım alanları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 nedir?
İki yüzü birbirine paralel olmayan saydam cisme prizma denir. Paralel kenarlı levhada ışık doğrultusunu korurken, prizmada saparak çıkar.
• Tepe açısı (A): ışığın girdiği ve çıktığı yüzeyler arasındaki açı.
• Taban: tepe açısının karşısındaki yüzey.
• Işık her zaman tabana doğru sapar.
Çizim: Prizma iki eğik yüzeyi olan bir cam bloktur. Işık birinci yüzeyde içeri girerken normale yaklaşır, ikinci yüzeyden çıkarken normalden uzaklaşır — ama iki yüzey paralel olmadığı için bu iki kırılma birbirini götürmez, toplanır. Sonuç: ışın daima tabana doğru sapar. Gelen ve çıkan ışın arasındaki açıya sapma açısı (δ)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Işık prizmaya girerken ve çıkarken iki kez kırılır. Gelen ışının doğrultusu ile çıkan ışının doğrultusu arasındaki açıya sapma açısı (δ) denir.
r₁ + r₂ = A   δ = i₁ + i₂ − A
• i₁: birinci yüzeye geliş açısı, r₁: içerideki kırılma açısı.
• r₂: ikinci yüzeye geliş açısı, i₂: çıkış açısı.
• Tepe açısı ve indis büyüdükçe sapma artar.
Işık her zaman çıkamaz. r₂ sınır açıdan büyükse ışık ikinci yüzeyden çıkamaz, içeride tam yansımaya uğrar. Tam yansımalı prizmalar bunu bilerek kullanır.
Çizim: Dört açı vardır: ışının birinci yüzeye geliş açısı i₁, içerideki kırılma açısı r₁, ikinci yüzeye varış açısı r₂ ve dışarı çıkış açısı i₂. Geometriden r₁ + r₂ = A çıkar; sapma ise δ = i₁ + i₂ − A'dır. Bu iki bağıntı, prizma sorularının neredeyse tamamını çözer.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küçük sapma
Gelme açısı artırıldıkça sapma açısı önce azalır, bir en küçük değere iner, sonra tekrar artar. En küçük sapmada ışın prizmadan simetrik geçer:
i₁ = i₂ ve r₁ = r₂ = A/2   n = sin((A + δ(min))/2) / sin(A/2)
Bu bağıntı, bir prizmanın kırılma indisini ölçmenin klasik yöntemidir: en küçük sapma açısı ölçülür, formülden n bulunur.
Çizim: Geliş açısını büyüttükçe sapma önce azalır, bir en küçük değere iner, sonra tekrar artar. O en küçük noktada ışın prizmadan simetrik geçer: giriş açısı çıkış açısına eşittir ve içerideki ışın tabana paraleldir. Bu özel durum, bir maddenin kırılma indisini çok duyarlı biçimde ölçmeye yarar — refraktometrelerin çalışma ilkesi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Dispersiyon: renklere ayrılma
Bir ortamın kırılma indisi, ışığın dalga boyuna bağlıdır. Kısa dalga boylu mor ışık için indis büyük, uzun dalga boylu kırmızı için küçüktür:
n(mor) &gt; n(mavi) &gt; ... &gt; n(kırmızı)
Renk | Dalga boyu | Camda n | Sapma
Kırmızı | ≈ 700 nm | 1,513 | en az
Sarı | ≈ 580 nm | 1,520 | orta
Mavi | ≈ 470 nm | 1,531 | çok
Mor | ≈ 400 nm | 1,538 | en çok
Beyaz ışık bütün renklerin karışımıdır; prizmada her renk farklı saptığı için ayrışır. Bu olaya dispersiyon (dağılma), oluşan renk şeridine tayf (spektrum) denir.
Dikkat: Prizma renkleri üretmez, yalnızca zaten var olan renkleri ayırır. İkinci bir prizmayla tayf yeniden birleştirilirse beyaz ışık elde edilir — Newton bunu 1666'da göstermiştir.
Çizim: Camın kırılma indisi her renk için biraz farklıdır: mor ışık için en büyük, kırmızı için en küçüktür. Bu yüzden beyaz ışık prizmadan geçerken renkler farklı açılarda sapar ve tayf hâlinde açılır. Buna dispersiyon denir. Renkler camın içinde ortaya çıkmaz — beyaz ışığın içinde zaten vardır, prizma yalnızca onları ayırır.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yansımalı prizma
Cam için sınır açı ≈ 41,8°'dir. 45° – 45° – 90° biçimindeki bir prizmada ışık hipotenüse 45° ile çarpar; bu açı sınır açıdan büyük olduğu için tamamı yansır.
• Tek yansıma: ışığı 90° döndürür (periskop).
• İki yansıma: ışığı 180° geri gönderir (dürbün, reflektör).
• Aynaya göre üstünlüğü: kayıp neredeyse yoktur, kaplama zamanla bozulmaz, ikincil görüntü oluşmaz.
Çizim: 45°'lik prizmada ışık iç yüzeye sınır açının üstünde çarpar ve tam yansır. Bir yansımayla 90°, iki yansımayla 180° döner. Neden ayna yerine prizma? Çünkü tam yansımada hiç ışık kaybı yoktur ve zamanla kararacak bir gümüş kaplama gerekmez. Dürbünlerde, periskoplarda ve bisiklet reflektörlerinde bu yüzden prizma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Gökkuşağı
Yağmur damlası küçük bir prizma gibi davranır. Damlaya giren ışık:
• Damlaya girerken kırılır (ve renklerine ayrılmaya başlar).
• Damlanın arka yüzeyinden yansır.
• Çıkarken ikinci kez kırılır.
Toplam sapma en az 138° olur; yani ışık geldiği yönle 42°'lik açı yaparak geri döner. Bu açıda ışınlar yığıldığı için gökkuşağı, güneşin tam karşısında 42°'lik bir koni üzerinde görünür.
• Kırmızı dışta (42°), mor içte (40°) kalır.
• İkinci gökkuşağı (daha soluk) iki iç yansımadan doğar; renkleri terstir ve ≈ 51°'de görünür.
• Gökkuşağını görmek için güneş arkanızda, yağmur karşınızda olmalıdır.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Kullanım alanları
• Spektroskop: yıldızların ve maddelerin ışığını tayfa ayırıp bileşimini belirler.
• Dürbün ve periskop: tam yansımalı prizmalarla ışık yolunu katlar.
• Fotoğraf makinesi vizörü: pentaprizma görüntüyü düzeltir.
• Reflektör: araç ve bisiklet reflektörleri ışığı geldiği yöne döndürür.
• Optik ölçüm: refraktometrelerle sıvıların indisi ölçülür.
Çizim: Bir yağmur damlasında ışık üç işlemden geçer: girerken kırılır, arka yüzeyden içeriden yansır, çıkarken yeniden kırılır. Her renk biraz farklı açıyla çıkar ve en yoğun çıkış kırmızı için 42°, mor için 40° civarındadır. Bu yüzden gökkuşağı hep aynı açıda görünür ve kırmızı hep dışta kalır — gökkuşağının yeri yağmurun değil, senin nerede durduğunun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Sapma açısı
Tepe açısı 60° olan prizmaya 45° ile giren ışın, ikinci yüzeyden 52° ile çıkıyor. Sapma açısı kaçtır?
1. δ = i₁ + i₂ − A
2. δ = 45 + 52 − 60
3. δ =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En küçük sapmadan indis
Tepe açısı 60° olan bir prizmada en küçük sapma açısı 30° ölçülüyor. Prizmanın kırılma indisi nedir? (sin45° = 0,707 · sin30° = 0,5)
1. n = sin((A + δ)/2) / sin(A/2)
2. n = sin((60 + 30)/2) / sin30° = sin45° / sin30°
3. n = 0,707 / 0,5 = 1,41
4. Bu, yaklaşık √2 değeridir.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Prizma içindeki açılar
Tepe açısı 60°, indisi 1,5 olan prizmaya 30° ile giren ışın için r₁, r₂ ve çıkabilme durumunu inceleyiniz. (sin30° = 0,5)
1. sin r₁ = sin30°/1,5 = 0,333 → r₁ ≈ 19,5°
2. r₂ = A − r₁ = 60 − 19,5 = 40,5°
3. Sınır açı: sin θ = 1/1,5 = 0,667 → θ ≈ 41,8°
4. r₂ &lt; θ olduğu için ışın çıkabilir (ama sınıra çok yakındır).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Tam yansımalı prizma
45° – 45° – 90° prizmada ışık hipotenüse 45° ile çarpıyor. Prizmanın indisi 1,5 ise ışık ne yapar?
1. Sınır açı: sin θ = 1/1,5 = 0,667 → θ = 41,8°
2. Geliş açısı 45° &gt; 41,8° olduğu için tam yansıma olur.
3. Işığın tamamı yansır; hiç kayıp olmaz.
4. İndis 1,3 olsaydı sınır açı 50,3° olurdu ve 45° &lt; 50,3° olduğundan ışık prizmadan çıkardı.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Prizmanın renk ürettiğini sanmak. Prizma renkleri ayırır, üretmez.
• Kırmızının en çok saptığını düşünmek. En çok sapan mordur; indisi en büyüktür.
• δ = i₁ + i₂ + A yazmak. Doğrusu δ = i₁ + i₂ − A'dır.
• Işığın tepeye doğru saptığını sanmak. Sapma her zaman tabana doğrudur.
• Işığın her durumda prizmadan çıkacağını varsaymak. r₂ sınır açıyı aşarsa ışık içeride tam yansır.
• Paralel kenarlı levhayla prizmayı karıştırmak. Levhada doğrultu korunur, prizmada değişir.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Sapma δ = i₁ + i₂ − A · Mor en çok sapar · 45° prizma tam yansıtır · Gökkuşağı 42°
r₁ + r₂ = A — prizma içi açılar
δ = i₁ + i₂ − A — sapma açısı
n(mor) &gt; n(kırmızı) — dağılma (dispersiyon)
sin θ(sınır) = 1/n — tam yansımalı prizma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07</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Prizmalar</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Prizma, ışığı iki kez kırarak saptırır. Her renk için kırılma indisi biraz farklı olduğundan beyaz ışık bileşenlerine ayrılır — gökkuşağının, elmasın parıltısının ve spektroskopun arkasındaki olay budur.</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r₁ + r₂ = A   ·   δ = i₁ + i₂ − A   ·   n(mor) &gt; n(kırmızı)</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Newton, 1666'da karanlık odasına giren güneş ışığını bir prizmadan geçirdi ve duvarda bir gökkuşağı gördü. O güne kadar herkes rengin camdan geldiğini sanıyordu; Newton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ikinci bir prizmayla renkleri yeniden birleştirip</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beyaz ışığı geri elde etti ve rengin ışığın kendisinde olduğunu kanıtladı. Bu konuda hem o deneyi hem de prizmanın ışığı nasıl büktüğünü hesaplamayı göreceğiz.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Prizma nedir?</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İki yüzü birbirine paralel olmayan saydam cisme prizma denir.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Sapma açısı</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Işık prizmaya girerken ve çıkarken iki kez kırılır.</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En küçük sapma</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Gelme açısı artırıldıkça sapma açısı önce azalır, bir en küçük değere iner, sonra tekrar…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Dispersiyon: renklere ayrılma</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ortamın kırılma indisi, ışığın dalga boyuna bağlıdır.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Tam yansımalı prizma</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Cam için sınır açı ≈ 41,8°'dir. 45° – 45° – 90° biçimindeki bir prizmada ışık hipotenüse…</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Gökkuşağı</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Yağmur damlası küçük bir prizma gibi davranır.</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Kullanım alanları</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Spektroskop: yıldızların ve maddelerin ışığını tayfa ayırıp bileşimini belirler.</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6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 nedir?</a:t>
            </a:r>
            <a:endParaRPr lang="en-US" sz="3200" dirty="0"/>
          </a:p>
        </p:txBody>
      </p:sp>
      <p:sp>
        <p:nvSpPr>
          <p:cNvPr id="5" name="Text 3"/>
          <p:cNvSpPr txBox="1"/>
          <p:nvPr/>
        </p:nvSpPr>
        <p:spPr>
          <a:xfrm>
            <a:off x="640080" y="14813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İki yüzü birbirine paralel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olmayan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saydam cisme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prizma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denir.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Paralel kenarlı levhada ışık doğrultusunu korurken, prizmada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saparak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çıkar.</a:t>
            </a:r>
            <a:endParaRPr lang="en-US" sz="1600" dirty="0"/>
          </a:p>
        </p:txBody>
      </p:sp>
      <p:sp>
        <p:nvSpPr>
          <p:cNvPr id="6" name="Text 4"/>
          <p:cNvSpPr txBox="1"/>
          <p:nvPr/>
        </p:nvSpPr>
        <p:spPr>
          <a:xfrm>
            <a:off x="640080" y="2840736"/>
            <a:ext cx="5486400" cy="131368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Tepe açısı (A):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ışığın girdiği ve çıktığı yüzeyler arasındaki açı.</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Taban: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tepe açısının karşısındaki yüzey.</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Işık her zaman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tabana doğru</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sapar.</a:t>
            </a:r>
            <a:endParaRPr lang="en-US" sz="1600" dirty="0"/>
          </a:p>
        </p:txBody>
      </p:sp>
      <p:sp>
        <p:nvSpPr>
          <p:cNvPr id="7" name="Shape 5"/>
          <p:cNvSpPr/>
          <p:nvPr/>
        </p:nvSpPr>
        <p:spPr>
          <a:xfrm>
            <a:off x="6419088" y="148132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prizmalar-01.png">    </p:cNvPr>
          <p:cNvPicPr>
            <a:picLocks noChangeAspect="1"/>
          </p:cNvPicPr>
          <p:nvPr/>
        </p:nvPicPr>
        <p:blipFill>
          <a:blip r:embed="rId1"/>
          <a:stretch>
            <a:fillRect/>
          </a:stretch>
        </p:blipFill>
        <p:spPr>
          <a:xfrm>
            <a:off x="6601968" y="1664208"/>
            <a:ext cx="4766767" cy="2025876"/>
          </a:xfrm>
          <a:prstGeom prst="rect">
            <a:avLst/>
          </a:prstGeom>
        </p:spPr>
      </p:pic>
      <p:sp>
        <p:nvSpPr>
          <p:cNvPr id="9" name="Shape 6"/>
          <p:cNvSpPr/>
          <p:nvPr/>
        </p:nvSpPr>
        <p:spPr>
          <a:xfrm>
            <a:off x="6601968" y="3781524"/>
            <a:ext cx="4766767" cy="0"/>
          </a:xfrm>
          <a:prstGeom prst="line">
            <a:avLst/>
          </a:prstGeom>
          <a:noFill/>
          <a:ln w="9525">
            <a:solidFill>
              <a:srgbClr val="E1E5EE"/>
            </a:solidFill>
            <a:prstDash val="dash"/>
          </a:ln>
        </p:spPr>
      </p:sp>
      <p:sp>
        <p:nvSpPr>
          <p:cNvPr id="10" name="Text 7"/>
          <p:cNvSpPr txBox="1"/>
          <p:nvPr/>
        </p:nvSpPr>
        <p:spPr>
          <a:xfrm>
            <a:off x="6601968" y="383638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Prizma iki eğik yüzeyi olan bir cam bloktur. Işık birinci yüzeyde içeri girerken normale yaklaşır, ikinci yüzeyden çıkarken normalden uzaklaşır — ama iki yüzey paralel olmadığı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bu iki kırılma birbirini götürmez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toplanır. Sonuç: ışın daima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tabana doğru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sapar. Gelen ve çıkan ışın arasındaki açıya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sapma açısı (δ)</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denir.</a:t>
            </a:r>
            <a:endParaRPr lang="en-US" sz="105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a:t>
            </a:r>
            <a:endParaRPr lang="en-US" sz="3200" dirty="0"/>
          </a:p>
        </p:txBody>
      </p:sp>
      <p:sp>
        <p:nvSpPr>
          <p:cNvPr id="5" name="Text 3"/>
          <p:cNvSpPr txBox="1"/>
          <p:nvPr/>
        </p:nvSpPr>
        <p:spPr>
          <a:xfrm>
            <a:off x="640080" y="1481328"/>
            <a:ext cx="5852160" cy="91668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Işık prizmaya girerken ve çıkarken iki kez kırılır.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Gelen ışının doğrultusu ile çıkan ışının doğrultusu arasındaki açıya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sapma açısı (δ)</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denir.</a:t>
            </a:r>
            <a:endParaRPr lang="en-US" sz="1500" dirty="0"/>
          </a:p>
        </p:txBody>
      </p:sp>
      <p:sp>
        <p:nvSpPr>
          <p:cNvPr id="6" name="Shape 4"/>
          <p:cNvSpPr/>
          <p:nvPr/>
        </p:nvSpPr>
        <p:spPr>
          <a:xfrm>
            <a:off x="640080" y="2507742"/>
            <a:ext cx="154350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507742"/>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r₁ + r₂ = A</a:t>
            </a:r>
            <a:endParaRPr lang="en-US" sz="1300" dirty="0"/>
          </a:p>
        </p:txBody>
      </p:sp>
      <p:sp>
        <p:nvSpPr>
          <p:cNvPr id="8" name="Shape 6"/>
          <p:cNvSpPr/>
          <p:nvPr/>
        </p:nvSpPr>
        <p:spPr>
          <a:xfrm>
            <a:off x="2293315" y="2507742"/>
            <a:ext cx="193852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293315" y="2507742"/>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 = i₁ + i₂ − A</a:t>
            </a:r>
            <a:endParaRPr lang="en-US" sz="1300" dirty="0"/>
          </a:p>
        </p:txBody>
      </p:sp>
      <p:sp>
        <p:nvSpPr>
          <p:cNvPr id="10" name="Text 8"/>
          <p:cNvSpPr txBox="1"/>
          <p:nvPr/>
        </p:nvSpPr>
        <p:spPr>
          <a:xfrm>
            <a:off x="640080" y="3129534"/>
            <a:ext cx="5852160" cy="12435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i₁:</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birinci yüzeye geliş açısı,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r₁:</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içerideki kırılma açısı.</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r₂:</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ikinci yüzeye geliş açısı,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i₂:</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çıkış açısı.</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Tepe açısı ve indis büyüdükçe sapma artar.</a:t>
            </a:r>
            <a:endParaRPr lang="en-US" sz="1500" dirty="0"/>
          </a:p>
        </p:txBody>
      </p:sp>
      <p:sp>
        <p:nvSpPr>
          <p:cNvPr id="11" name="Shape 9"/>
          <p:cNvSpPr/>
          <p:nvPr/>
        </p:nvSpPr>
        <p:spPr>
          <a:xfrm>
            <a:off x="640080" y="4482846"/>
            <a:ext cx="5852160" cy="1138428"/>
          </a:xfrm>
          <a:prstGeom prst="roundRect">
            <a:avLst>
              <a:gd name="adj" fmla="val 96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629150"/>
            <a:ext cx="45720" cy="845820"/>
          </a:xfrm>
          <a:prstGeom prst="rect">
            <a:avLst/>
          </a:prstGeom>
          <a:solidFill>
            <a:srgbClr val="A56209"/>
          </a:solidFill>
          <a:ln/>
        </p:spPr>
      </p:sp>
      <p:sp>
        <p:nvSpPr>
          <p:cNvPr id="13" name="Text 11"/>
          <p:cNvSpPr txBox="1"/>
          <p:nvPr/>
        </p:nvSpPr>
        <p:spPr>
          <a:xfrm>
            <a:off x="914400" y="4592574"/>
            <a:ext cx="5394960" cy="918972"/>
          </a:xfrm>
          <a:prstGeom prst="rect">
            <a:avLst/>
          </a:prstGeom>
          <a:noFill/>
          <a:ln/>
        </p:spPr>
        <p:txBody>
          <a:bodyPr wrap="square" lIns="0" tIns="0" rIns="0" bIns="0" rtlCol="0" anchor="ctr"/>
          <a:lstStyle/>
          <a:p>
            <a:pPr indent="0" marL="0">
              <a:lnSpc>
                <a:spcPct val="112000"/>
              </a:lnSpc>
              <a:buNone/>
            </a:pPr>
            <a:r>
              <a:rPr lang="en-US" sz="1400" b="1" dirty="0">
                <a:solidFill>
                  <a:srgbClr val="0E1426"/>
                </a:solidFill>
                <a:latin typeface="Calibri" pitchFamily="34" charset="0"/>
                <a:ea typeface="Calibri" pitchFamily="34" charset="-122"/>
                <a:cs typeface="Calibri" pitchFamily="34" charset="-120"/>
              </a:rPr>
              <a:t>Işık her zaman çıkamaz.</a:t>
            </a:r>
            <a:pPr indent="0" marL="0">
              <a:lnSpc>
                <a:spcPct val="112000"/>
              </a:lnSpc>
              <a:buNone/>
            </a:pPr>
            <a:r>
              <a:rPr lang="en-US" sz="1400" dirty="0">
                <a:solidFill>
                  <a:srgbClr val="4A5470"/>
                </a:solidFill>
                <a:latin typeface="Calibri" pitchFamily="34" charset="0"/>
                <a:ea typeface="Calibri" pitchFamily="34" charset="-122"/>
                <a:cs typeface="Calibri" pitchFamily="34" charset="-120"/>
              </a:rPr>
              <a:t> r₂ sınır açıdan büyükse ışık ikinci yüzeyden çıkamaz, içeride tam yansımaya uğrar. Tam yansımalı prizmalar bunu bilerek kullanır.</a:t>
            </a:r>
            <a:endParaRPr lang="en-US" sz="1400" dirty="0"/>
          </a:p>
        </p:txBody>
      </p:sp>
      <p:sp>
        <p:nvSpPr>
          <p:cNvPr id="14" name="Shape 12"/>
          <p:cNvSpPr/>
          <p:nvPr/>
        </p:nvSpPr>
        <p:spPr>
          <a:xfrm>
            <a:off x="6784848" y="1481328"/>
            <a:ext cx="4766767" cy="3370099"/>
          </a:xfrm>
          <a:prstGeom prst="roundRect">
            <a:avLst>
              <a:gd name="adj" fmla="val 43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5" name="Image 0" descr="/tmp/claude-1000/-opt-dersler/a4dee546-de71-4ec2-8add-be39dd273d29/scratchpad/sekiller/prizmalar-02.png">    </p:cNvPr>
          <p:cNvPicPr>
            <a:picLocks noChangeAspect="1"/>
          </p:cNvPicPr>
          <p:nvPr/>
        </p:nvPicPr>
        <p:blipFill>
          <a:blip r:embed="rId1"/>
          <a:stretch>
            <a:fillRect/>
          </a:stretch>
        </p:blipFill>
        <p:spPr>
          <a:xfrm>
            <a:off x="6967728" y="1664208"/>
            <a:ext cx="4401007" cy="1907059"/>
          </a:xfrm>
          <a:prstGeom prst="rect">
            <a:avLst/>
          </a:prstGeom>
        </p:spPr>
      </p:pic>
      <p:sp>
        <p:nvSpPr>
          <p:cNvPr id="16" name="Shape 13"/>
          <p:cNvSpPr/>
          <p:nvPr/>
        </p:nvSpPr>
        <p:spPr>
          <a:xfrm>
            <a:off x="6967728" y="3662707"/>
            <a:ext cx="4401007" cy="0"/>
          </a:xfrm>
          <a:prstGeom prst="line">
            <a:avLst/>
          </a:prstGeom>
          <a:noFill/>
          <a:ln w="9525">
            <a:solidFill>
              <a:srgbClr val="E1E5EE"/>
            </a:solidFill>
            <a:prstDash val="dash"/>
          </a:ln>
        </p:spPr>
      </p:sp>
      <p:sp>
        <p:nvSpPr>
          <p:cNvPr id="17" name="Text 14"/>
          <p:cNvSpPr txBox="1"/>
          <p:nvPr/>
        </p:nvSpPr>
        <p:spPr>
          <a:xfrm>
            <a:off x="6967728" y="3717571"/>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Dört açı vardır: ışının birinci yüzeye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geliş</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i₁, içerideki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kırılma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r₁, ikinci yüzeye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varış</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r₂ ve dışarı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çıkış</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i₂. Geometriden r₁ + r₂ = A çıkar; sapma ise δ = i₁ + i₂ − A'dır. Bu iki bağıntı, prizma sorularının neredeyse tamamını çözer.</a:t>
            </a:r>
            <a:endParaRPr lang="en-US" sz="1050" dirty="0"/>
          </a:p>
        </p:txBody>
      </p:sp>
      <p:sp>
        <p:nvSpPr>
          <p:cNvPr id="18" name="Shape 15"/>
          <p:cNvSpPr/>
          <p:nvPr/>
        </p:nvSpPr>
        <p:spPr>
          <a:xfrm>
            <a:off x="640080" y="6382512"/>
            <a:ext cx="128016" cy="128016"/>
          </a:xfrm>
          <a:prstGeom prst="roundRect">
            <a:avLst>
              <a:gd name="adj" fmla="val 28571"/>
            </a:avLst>
          </a:prstGeom>
          <a:solidFill>
            <a:srgbClr val="A9E648"/>
          </a:solidFill>
          <a:ln/>
        </p:spPr>
      </p:sp>
      <p:sp>
        <p:nvSpPr>
          <p:cNvPr id="19"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0"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En küçük sapma</a:t>
            </a:r>
            <a:endParaRPr lang="en-US" sz="3200" dirty="0"/>
          </a:p>
        </p:txBody>
      </p:sp>
      <p:sp>
        <p:nvSpPr>
          <p:cNvPr id="5" name="Text 3"/>
          <p:cNvSpPr txBox="1"/>
          <p:nvPr/>
        </p:nvSpPr>
        <p:spPr>
          <a:xfrm>
            <a:off x="640080" y="1481328"/>
            <a:ext cx="5486400" cy="96926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Gelme açısı artırıldıkça sapma açısı önce azalır, bir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en küçük değere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iner, sonra tekrar artar.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En küçük sapmada ışın prizmadan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simetrik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geçer:</a:t>
            </a:r>
            <a:endParaRPr lang="en-US" sz="1600" dirty="0"/>
          </a:p>
        </p:txBody>
      </p:sp>
      <p:sp>
        <p:nvSpPr>
          <p:cNvPr id="6" name="Shape 4"/>
          <p:cNvSpPr/>
          <p:nvPr/>
        </p:nvSpPr>
        <p:spPr>
          <a:xfrm>
            <a:off x="640080" y="2560320"/>
            <a:ext cx="2827325"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560320"/>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i₁ = i₂ ve r₁ = r₂ = A/2</a:t>
            </a:r>
            <a:endParaRPr lang="en-US" sz="1300" dirty="0"/>
          </a:p>
        </p:txBody>
      </p:sp>
      <p:sp>
        <p:nvSpPr>
          <p:cNvPr id="8" name="Shape 6"/>
          <p:cNvSpPr/>
          <p:nvPr/>
        </p:nvSpPr>
        <p:spPr>
          <a:xfrm>
            <a:off x="640080" y="3127248"/>
            <a:ext cx="3814877"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640080" y="3127248"/>
            <a:ext cx="381487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sin((A + δ(min))/2) / sin(A/2)</a:t>
            </a:r>
            <a:endParaRPr lang="en-US" sz="1300" dirty="0"/>
          </a:p>
        </p:txBody>
      </p:sp>
      <p:sp>
        <p:nvSpPr>
          <p:cNvPr id="10" name="Text 8"/>
          <p:cNvSpPr txBox="1"/>
          <p:nvPr/>
        </p:nvSpPr>
        <p:spPr>
          <a:xfrm>
            <a:off x="640080" y="3749040"/>
            <a:ext cx="5486400" cy="841248"/>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Bu bağıntı, bir prizmanın kırılma indisini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ölçmenin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klasik yöntemidir: en küçük sapma açısı ölçülür, formülden n bulunur.</a:t>
            </a:r>
            <a:endParaRPr lang="en-US" sz="1600" dirty="0"/>
          </a:p>
        </p:txBody>
      </p:sp>
      <p:sp>
        <p:nvSpPr>
          <p:cNvPr id="11" name="Shape 9"/>
          <p:cNvSpPr/>
          <p:nvPr/>
        </p:nvSpPr>
        <p:spPr>
          <a:xfrm>
            <a:off x="6419088" y="1481328"/>
            <a:ext cx="5132527" cy="3389513"/>
          </a:xfrm>
          <a:prstGeom prst="roundRect">
            <a:avLst>
              <a:gd name="adj" fmla="val 431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prizmalar-03.png">    </p:cNvPr>
          <p:cNvPicPr>
            <a:picLocks noChangeAspect="1"/>
          </p:cNvPicPr>
          <p:nvPr/>
        </p:nvPicPr>
        <p:blipFill>
          <a:blip r:embed="rId1"/>
          <a:stretch>
            <a:fillRect/>
          </a:stretch>
        </p:blipFill>
        <p:spPr>
          <a:xfrm>
            <a:off x="6601968" y="1664208"/>
            <a:ext cx="4766767" cy="1926473"/>
          </a:xfrm>
          <a:prstGeom prst="rect">
            <a:avLst/>
          </a:prstGeom>
        </p:spPr>
      </p:pic>
      <p:sp>
        <p:nvSpPr>
          <p:cNvPr id="13" name="Shape 10"/>
          <p:cNvSpPr/>
          <p:nvPr/>
        </p:nvSpPr>
        <p:spPr>
          <a:xfrm>
            <a:off x="6601968" y="3682121"/>
            <a:ext cx="4766767" cy="0"/>
          </a:xfrm>
          <a:prstGeom prst="line">
            <a:avLst/>
          </a:prstGeom>
          <a:noFill/>
          <a:ln w="9525">
            <a:solidFill>
              <a:srgbClr val="E1E5EE"/>
            </a:solidFill>
            <a:prstDash val="dash"/>
          </a:ln>
        </p:spPr>
      </p:sp>
      <p:sp>
        <p:nvSpPr>
          <p:cNvPr id="14" name="Text 11"/>
          <p:cNvSpPr txBox="1"/>
          <p:nvPr/>
        </p:nvSpPr>
        <p:spPr>
          <a:xfrm>
            <a:off x="6601968" y="3736985"/>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Geliş açısını büyüttükçe sapma önce azalır, bir en küçük değere iner, sonra tekrar artar. O en küçük noktada ışın prizmadan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simetrik geçer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giriş açısı çıkış açısına eşittir ve içerideki ışın tabana paraleldir. Bu özel durum, bir maddenin kırılma indisini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çok duyarlı biçimde ölçmeye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yarar — refraktometrelerin çalışma ilkesi budur.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renklere ayrılma</a:t>
            </a:r>
            <a:endParaRPr lang="en-US" sz="3200" dirty="0"/>
          </a:p>
        </p:txBody>
      </p:sp>
      <p:sp>
        <p:nvSpPr>
          <p:cNvPr id="5" name="Text 3"/>
          <p:cNvSpPr txBox="1"/>
          <p:nvPr/>
        </p:nvSpPr>
        <p:spPr>
          <a:xfrm>
            <a:off x="640080" y="1481328"/>
            <a:ext cx="7223760" cy="54864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Bir ortamın kırılma indisi, ışığın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dalga boyuna</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bağlıdır.</a:t>
            </a:r>
            <a:endParaRPr lang="en-US" sz="1200" dirty="0"/>
          </a:p>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Kısa dalga boylu mor ışık için indis büyük, uzun dalga boylu kırmızı için küçüktür:</a:t>
            </a:r>
            <a:endParaRPr lang="en-US" sz="1200" dirty="0"/>
          </a:p>
        </p:txBody>
      </p:sp>
      <p:sp>
        <p:nvSpPr>
          <p:cNvPr id="6" name="Shape 4"/>
          <p:cNvSpPr/>
          <p:nvPr/>
        </p:nvSpPr>
        <p:spPr>
          <a:xfrm>
            <a:off x="640080" y="2139696"/>
            <a:ext cx="3913632"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139696"/>
            <a:ext cx="391363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n(mor) &gt; n(mavi) &gt; ... &gt; n(kırmızı)</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761488"/>
          <a:ext cx="7223760" cy="914400"/>
        </p:xfrm>
        <a:graphic>
          <a:graphicData uri="http://schemas.openxmlformats.org/drawingml/2006/table">
            <a:tbl>
              <a:tblPr/>
              <a:tblGrid>
                <a:gridCol w="1685544"/>
                <a:gridCol w="2407920"/>
                <a:gridCol w="1685544"/>
                <a:gridCol w="144475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Renk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Dalga boyu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Camda 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Sapma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Kırmızı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700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1,513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en az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Sarı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580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orta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Mavi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470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1,531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çok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400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1,538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en çok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9" name="Text 6"/>
          <p:cNvSpPr txBox="1"/>
          <p:nvPr/>
        </p:nvSpPr>
        <p:spPr>
          <a:xfrm>
            <a:off x="640080" y="4581144"/>
            <a:ext cx="7223760" cy="54864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Beyaz ışık bütün renklerin karışımıdır; prizmada her renk farklı saptığı için ayrışır.</a:t>
            </a:r>
            <a:endParaRPr lang="en-US" sz="1200" dirty="0"/>
          </a:p>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Bu olaya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dispersiyon (dağılma)</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oluşan renk şeridine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tayf (spektrum)</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denir.</a:t>
            </a:r>
            <a:endParaRPr lang="en-US" sz="1200" dirty="0"/>
          </a:p>
        </p:txBody>
      </p:sp>
      <p:sp>
        <p:nvSpPr>
          <p:cNvPr id="10" name="Shape 7"/>
          <p:cNvSpPr/>
          <p:nvPr/>
        </p:nvSpPr>
        <p:spPr>
          <a:xfrm>
            <a:off x="640080" y="5239512"/>
            <a:ext cx="7223760" cy="787908"/>
          </a:xfrm>
          <a:prstGeom prst="roundRect">
            <a:avLst>
              <a:gd name="adj" fmla="val 1392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5385816"/>
            <a:ext cx="45720" cy="495300"/>
          </a:xfrm>
          <a:prstGeom prst="rect">
            <a:avLst/>
          </a:prstGeom>
          <a:solidFill>
            <a:srgbClr val="3C8C21"/>
          </a:solidFill>
          <a:ln/>
        </p:spPr>
      </p:sp>
      <p:sp>
        <p:nvSpPr>
          <p:cNvPr id="12" name="Text 9"/>
          <p:cNvSpPr txBox="1"/>
          <p:nvPr/>
        </p:nvSpPr>
        <p:spPr>
          <a:xfrm>
            <a:off x="914400" y="5349240"/>
            <a:ext cx="6766560" cy="568452"/>
          </a:xfrm>
          <a:prstGeom prst="rect">
            <a:avLst/>
          </a:prstGeom>
          <a:noFill/>
          <a:ln/>
        </p:spPr>
        <p:txBody>
          <a:bodyPr wrap="square" lIns="0" tIns="0" rIns="0" bIns="0" rtlCol="0" anchor="ctr"/>
          <a:lstStyle/>
          <a:p>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Dikkat:</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Prizma renkleri </a:t>
            </a:r>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üretmez</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yalnızca zaten var olan renkleri </a:t>
            </a:r>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ayırır</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İkinci bir prizmayla tayf yeniden birleştirilirse beyaz ışık elde edilir — Newton bunu 1666'da göstermiştir.</a:t>
            </a:r>
            <a:endParaRPr lang="en-US" sz="1100" dirty="0"/>
          </a:p>
        </p:txBody>
      </p:sp>
      <p:sp>
        <p:nvSpPr>
          <p:cNvPr id="13" name="Shape 10"/>
          <p:cNvSpPr/>
          <p:nvPr/>
        </p:nvSpPr>
        <p:spPr>
          <a:xfrm>
            <a:off x="8156448" y="1481328"/>
            <a:ext cx="3395167" cy="3313420"/>
          </a:xfrm>
          <a:prstGeom prst="roundRect">
            <a:avLst>
              <a:gd name="adj" fmla="val 44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prizmalar-04.png">    </p:cNvPr>
          <p:cNvPicPr>
            <a:picLocks noChangeAspect="1"/>
          </p:cNvPicPr>
          <p:nvPr/>
        </p:nvPicPr>
        <p:blipFill>
          <a:blip r:embed="rId1"/>
          <a:stretch>
            <a:fillRect/>
          </a:stretch>
        </p:blipFill>
        <p:spPr>
          <a:xfrm>
            <a:off x="8339328" y="1664208"/>
            <a:ext cx="3029407" cy="1312713"/>
          </a:xfrm>
          <a:prstGeom prst="rect">
            <a:avLst/>
          </a:prstGeom>
        </p:spPr>
      </p:pic>
      <p:sp>
        <p:nvSpPr>
          <p:cNvPr id="15" name="Shape 11"/>
          <p:cNvSpPr/>
          <p:nvPr/>
        </p:nvSpPr>
        <p:spPr>
          <a:xfrm>
            <a:off x="8339328" y="3068361"/>
            <a:ext cx="3029407" cy="0"/>
          </a:xfrm>
          <a:prstGeom prst="line">
            <a:avLst/>
          </a:prstGeom>
          <a:noFill/>
          <a:ln w="9525">
            <a:solidFill>
              <a:srgbClr val="E1E5EE"/>
            </a:solidFill>
            <a:prstDash val="dash"/>
          </a:ln>
        </p:spPr>
      </p:sp>
      <p:sp>
        <p:nvSpPr>
          <p:cNvPr id="16" name="Text 12"/>
          <p:cNvSpPr txBox="1"/>
          <p:nvPr/>
        </p:nvSpPr>
        <p:spPr>
          <a:xfrm>
            <a:off x="8339328" y="3123225"/>
            <a:ext cx="302940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Camın kırılma indisi her renk için biraz farklıdır: mor ışık için en büyük, kırmızı için en küçüktür. Bu yüzden beyaz ışık prizmadan geçerken renkler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farklı açılarda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sapar ve tayf hâlinde açılır. Buna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dispersiyon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denir. Renkler camın içinde ortaya çıkmaz — beyaz ışığın içinde zaten vardır, prizma yalnızca onları ayırır.</a:t>
            </a:r>
            <a:endParaRPr lang="en-US" sz="1050" dirty="0"/>
          </a:p>
        </p:txBody>
      </p:sp>
      <p:sp>
        <p:nvSpPr>
          <p:cNvPr id="17" name="Shape 13"/>
          <p:cNvSpPr/>
          <p:nvPr/>
        </p:nvSpPr>
        <p:spPr>
          <a:xfrm>
            <a:off x="640080" y="6382512"/>
            <a:ext cx="128016" cy="128016"/>
          </a:xfrm>
          <a:prstGeom prst="roundRect">
            <a:avLst>
              <a:gd name="adj" fmla="val 28571"/>
            </a:avLst>
          </a:prstGeom>
          <a:solidFill>
            <a:srgbClr val="A9E648"/>
          </a:solidFill>
          <a:ln/>
        </p:spPr>
      </p:sp>
      <p:sp>
        <p:nvSpPr>
          <p:cNvPr id="18"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9"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yansımalı prizma</a:t>
            </a:r>
            <a:endParaRPr lang="en-US" sz="3200" dirty="0"/>
          </a:p>
        </p:txBody>
      </p:sp>
      <p:sp>
        <p:nvSpPr>
          <p:cNvPr id="5" name="Text 3"/>
          <p:cNvSpPr txBox="1"/>
          <p:nvPr/>
        </p:nvSpPr>
        <p:spPr>
          <a:xfrm>
            <a:off x="640080" y="14813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Cam için sınır açı ≈ 41,8°'dir.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45° – 45° – 90° biçimindeki bir prizmada ışık hipotenüse 45° ile çarpar; bu açı sınır açıdan büyük olduğu için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tamamı yansır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6" name="Text 4"/>
          <p:cNvSpPr txBox="1"/>
          <p:nvPr/>
        </p:nvSpPr>
        <p:spPr>
          <a:xfrm>
            <a:off x="640080" y="2840736"/>
            <a:ext cx="5486400" cy="159410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Tek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90°</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döndürür (periskop).</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İki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180°</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 gönderir (dürbün, reflektör).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Aynaya göre üstünlüğü: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kayıp neredeyse yoktur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kaplama zamanla bozulmaz, ikincil görüntü oluşmaz.</a:t>
            </a:r>
            <a:endParaRPr lang="en-US" sz="1600" dirty="0"/>
          </a:p>
        </p:txBody>
      </p:sp>
      <p:sp>
        <p:nvSpPr>
          <p:cNvPr id="7" name="Shape 5"/>
          <p:cNvSpPr/>
          <p:nvPr/>
        </p:nvSpPr>
        <p:spPr>
          <a:xfrm>
            <a:off x="6419088" y="1481328"/>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prizmalar-05.png">    </p:cNvPr>
          <p:cNvPicPr>
            <a:picLocks noChangeAspect="1"/>
          </p:cNvPicPr>
          <p:nvPr/>
        </p:nvPicPr>
        <p:blipFill>
          <a:blip r:embed="rId1"/>
          <a:stretch>
            <a:fillRect/>
          </a:stretch>
        </p:blipFill>
        <p:spPr>
          <a:xfrm>
            <a:off x="6601968" y="1664208"/>
            <a:ext cx="4766767" cy="1946382"/>
          </a:xfrm>
          <a:prstGeom prst="rect">
            <a:avLst/>
          </a:prstGeom>
        </p:spPr>
      </p:pic>
      <p:sp>
        <p:nvSpPr>
          <p:cNvPr id="9" name="Shape 6"/>
          <p:cNvSpPr/>
          <p:nvPr/>
        </p:nvSpPr>
        <p:spPr>
          <a:xfrm>
            <a:off x="6601968" y="3702030"/>
            <a:ext cx="4766767" cy="0"/>
          </a:xfrm>
          <a:prstGeom prst="line">
            <a:avLst/>
          </a:prstGeom>
          <a:noFill/>
          <a:ln w="9525">
            <a:solidFill>
              <a:srgbClr val="E1E5EE"/>
            </a:solidFill>
            <a:prstDash val="dash"/>
          </a:ln>
        </p:spPr>
      </p:sp>
      <p:sp>
        <p:nvSpPr>
          <p:cNvPr id="10" name="Text 7"/>
          <p:cNvSpPr txBox="1"/>
          <p:nvPr/>
        </p:nvSpPr>
        <p:spPr>
          <a:xfrm>
            <a:off x="6601968" y="37568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45°'lik prizmada ışık iç yüzeye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sınır açının üstünde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çarpar ve tam yansır. Bir yansımayla 90°, iki yansımayla 180° döner. Neden ayna yerine prizma? Çünkü tam yansımada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ışık kaybı yoktur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zamanla kararacak bir gümüş kaplama gerekmez. Dürbünlerde, periskoplarda ve bisiklet reflektörlerinde bu yüzden prizma kullanılır.</a:t>
            </a:r>
            <a:endParaRPr lang="en-US" sz="105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Gökkuşağı</a:t>
            </a:r>
            <a:endParaRPr lang="en-US" sz="3200" dirty="0"/>
          </a:p>
        </p:txBody>
      </p:sp>
      <p:sp>
        <p:nvSpPr>
          <p:cNvPr id="5" name="Text 3"/>
          <p:cNvSpPr txBox="1"/>
          <p:nvPr/>
        </p:nvSpPr>
        <p:spPr>
          <a:xfrm>
            <a:off x="640080" y="1481328"/>
            <a:ext cx="8869680" cy="61874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Yağmur damlası küçük bir prizma gibi davranır.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Damlaya giren ışık:</a:t>
            </a:r>
            <a:endParaRPr lang="en-US" sz="1400" dirty="0"/>
          </a:p>
        </p:txBody>
      </p:sp>
      <p:sp>
        <p:nvSpPr>
          <p:cNvPr id="6" name="Text 4"/>
          <p:cNvSpPr txBox="1"/>
          <p:nvPr/>
        </p:nvSpPr>
        <p:spPr>
          <a:xfrm>
            <a:off x="640080" y="2209800"/>
            <a:ext cx="8869680" cy="92811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Damlaya girerken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kırılır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(ve renklerine ayrılmaya başlar).</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Damlanın arka yüzeyinden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yansır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Çıkarken ikinci kez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kırılır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7" name="Text 5"/>
          <p:cNvSpPr txBox="1"/>
          <p:nvPr/>
        </p:nvSpPr>
        <p:spPr>
          <a:xfrm>
            <a:off x="640080" y="3247644"/>
            <a:ext cx="8869680" cy="86410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Toplam sapma en az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138°</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olur; yani ışık geldiği yönle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42°</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'lik açı yaparak geri döner.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Bu açıda ışınlar yığıldığı için gökkuşağı, güneşin tam karşısında 42°'lik bir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koni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üzerinde görünür.</a:t>
            </a:r>
            <a:endParaRPr lang="en-US" sz="1400" dirty="0"/>
          </a:p>
        </p:txBody>
      </p:sp>
      <p:sp>
        <p:nvSpPr>
          <p:cNvPr id="8" name="Text 6"/>
          <p:cNvSpPr txBox="1"/>
          <p:nvPr/>
        </p:nvSpPr>
        <p:spPr>
          <a:xfrm>
            <a:off x="640080" y="4221480"/>
            <a:ext cx="8869680" cy="92811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Kırmızı dışta (42°), mor içte (40°) kalır.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İkinci gökkuşağı (daha soluk) iki iç yansımadan doğar; renkleri terstir ve ≈ 51°'de görünür.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Gökkuşağını görmek için güneş arkanızda, yağmur karşınızda olmalıdır.</a:t>
            </a:r>
            <a:endParaRPr lang="en-US" sz="14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Kullanım alanları</a:t>
            </a:r>
            <a:endParaRPr lang="en-US" sz="3200" dirty="0"/>
          </a:p>
        </p:txBody>
      </p:sp>
      <p:sp>
        <p:nvSpPr>
          <p:cNvPr id="5" name="Text 3"/>
          <p:cNvSpPr txBox="1"/>
          <p:nvPr/>
        </p:nvSpPr>
        <p:spPr>
          <a:xfrm>
            <a:off x="640080" y="1481328"/>
            <a:ext cx="5486400" cy="31242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Spektroskop:</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yıldızların ve maddelerin ışığını tayfa ayırıp bileşimini belirler.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Dürbün ve periskop:</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tam yansımalı prizmalarla ışık yolunu katlar.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Fotoğraf makinesi vizörü:</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pentaprizma görüntüyü düzeltir.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Reflektör: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araç ve bisiklet reflektörleri ışığı geldiği yöne döndürür.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Optik ölçüm:</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refraktometrelerle sıvıların indisi ölçülür.</a:t>
            </a:r>
            <a:endParaRPr lang="en-US" sz="1600" dirty="0"/>
          </a:p>
        </p:txBody>
      </p:sp>
      <p:sp>
        <p:nvSpPr>
          <p:cNvPr id="6" name="Shape 4"/>
          <p:cNvSpPr/>
          <p:nvPr/>
        </p:nvSpPr>
        <p:spPr>
          <a:xfrm>
            <a:off x="6419088" y="1481328"/>
            <a:ext cx="5132527" cy="3767398"/>
          </a:xfrm>
          <a:prstGeom prst="roundRect">
            <a:avLst>
              <a:gd name="adj" fmla="val 388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a4dee546-de71-4ec2-8add-be39dd273d29/scratchpad/sekiller/prizmalar-06.png">    </p:cNvPr>
          <p:cNvPicPr>
            <a:picLocks noChangeAspect="1"/>
          </p:cNvPicPr>
          <p:nvPr/>
        </p:nvPicPr>
        <p:blipFill>
          <a:blip r:embed="rId1"/>
          <a:stretch>
            <a:fillRect/>
          </a:stretch>
        </p:blipFill>
        <p:spPr>
          <a:xfrm>
            <a:off x="6601968" y="1664208"/>
            <a:ext cx="4766767" cy="2125136"/>
          </a:xfrm>
          <a:prstGeom prst="rect">
            <a:avLst/>
          </a:prstGeom>
        </p:spPr>
      </p:pic>
      <p:sp>
        <p:nvSpPr>
          <p:cNvPr id="8" name="Shape 5"/>
          <p:cNvSpPr/>
          <p:nvPr/>
        </p:nvSpPr>
        <p:spPr>
          <a:xfrm>
            <a:off x="6601968" y="3880784"/>
            <a:ext cx="4766767" cy="0"/>
          </a:xfrm>
          <a:prstGeom prst="line">
            <a:avLst/>
          </a:prstGeom>
          <a:noFill/>
          <a:ln w="9525">
            <a:solidFill>
              <a:srgbClr val="E1E5EE"/>
            </a:solidFill>
            <a:prstDash val="dash"/>
          </a:ln>
        </p:spPr>
      </p:sp>
      <p:sp>
        <p:nvSpPr>
          <p:cNvPr id="9" name="Text 6"/>
          <p:cNvSpPr txBox="1"/>
          <p:nvPr/>
        </p:nvSpPr>
        <p:spPr>
          <a:xfrm>
            <a:off x="6601968" y="3935648"/>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Bir yağmur damlasında ışık üç işlemden geçer: girerken kırılır, arka yüzeyden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içeriden yansır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çıkarken yeniden kırılır. Her renk biraz farklı açıyla çıkar ve en yoğun çıkış kırmızı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42°</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mor için 40° civarındadır. Bu yüzden gökkuşağı hep aynı açıda görünür ve kırmızı hep dışta kalır — gökkuşağının yeri yağmurun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senin nerede durduğunun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sonucudur.</a:t>
            </a:r>
            <a:endParaRPr lang="en-US" sz="105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Sapma açısı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olan prizmaya 45° ile giren ışın, ikinci yüzeyden 52° ile çıkıyor. Sapma açısı kaçtır?</a:t>
            </a:r>
            <a:endParaRPr lang="en-US" sz="1600" dirty="0"/>
          </a:p>
        </p:txBody>
      </p:sp>
      <p:sp>
        <p:nvSpPr>
          <p:cNvPr id="9" name="Shape 7"/>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139696"/>
            <a:ext cx="384048" cy="384048"/>
          </a:xfrm>
          <a:prstGeom prst="roundRect">
            <a:avLst>
              <a:gd name="adj" fmla="val 26000"/>
            </a:avLst>
          </a:prstGeom>
          <a:solidFill>
            <a:srgbClr val="A56209"/>
          </a:solidFill>
          <a:ln/>
        </p:spPr>
      </p:sp>
      <p:sp>
        <p:nvSpPr>
          <p:cNvPr id="11" name="Text 9"/>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i₁ + i₂ − A</a:t>
            </a:r>
            <a:endParaRPr lang="en-US" sz="1600" dirty="0"/>
          </a:p>
        </p:txBody>
      </p:sp>
      <p:sp>
        <p:nvSpPr>
          <p:cNvPr id="13" name="Shape 11"/>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694176"/>
            <a:ext cx="384048" cy="384048"/>
          </a:xfrm>
          <a:prstGeom prst="roundRect">
            <a:avLst>
              <a:gd name="adj" fmla="val 26000"/>
            </a:avLst>
          </a:prstGeom>
          <a:solidFill>
            <a:srgbClr val="A56209"/>
          </a:solidFill>
          <a:ln/>
        </p:spPr>
      </p:sp>
      <p:sp>
        <p:nvSpPr>
          <p:cNvPr id="15" name="Text 13"/>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45 + 52 − 60</a:t>
            </a:r>
            <a:endParaRPr lang="en-US" sz="1600" dirty="0"/>
          </a:p>
        </p:txBody>
      </p:sp>
      <p:sp>
        <p:nvSpPr>
          <p:cNvPr id="17" name="Shape 15"/>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248656"/>
            <a:ext cx="384048" cy="384048"/>
          </a:xfrm>
          <a:prstGeom prst="roundRect">
            <a:avLst>
              <a:gd name="adj" fmla="val 26000"/>
            </a:avLst>
          </a:prstGeom>
          <a:solidFill>
            <a:srgbClr val="A56209"/>
          </a:solidFill>
          <a:ln/>
        </p:spPr>
      </p:sp>
      <p:sp>
        <p:nvSpPr>
          <p:cNvPr id="19" name="Text 17"/>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37°</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sapmadan indis</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olan bir prizmada en küçük sapma açısı 30° ölçülüyor. Prizmanın kırılma indisi nedir? (sin45° = 0,707 · sin30° = 0,5)</a:t>
            </a:r>
            <a:endParaRPr lang="en-US" sz="1600" dirty="0"/>
          </a:p>
        </p:txBody>
      </p:sp>
      <p:sp>
        <p:nvSpPr>
          <p:cNvPr id="9" name="Shape 7"/>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45386"/>
            <a:ext cx="384048" cy="384048"/>
          </a:xfrm>
          <a:prstGeom prst="roundRect">
            <a:avLst>
              <a:gd name="adj" fmla="val 26000"/>
            </a:avLst>
          </a:prstGeom>
          <a:solidFill>
            <a:srgbClr val="A56209"/>
          </a:solidFill>
          <a:ln/>
        </p:spPr>
      </p:sp>
      <p:sp>
        <p:nvSpPr>
          <p:cNvPr id="11" name="Text 9"/>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sin((A + δ)/2) / sin(A/2)</a:t>
            </a:r>
            <a:endParaRPr lang="en-US" sz="1600" dirty="0"/>
          </a:p>
        </p:txBody>
      </p:sp>
      <p:sp>
        <p:nvSpPr>
          <p:cNvPr id="13" name="Shape 11"/>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111246"/>
            <a:ext cx="384048" cy="384048"/>
          </a:xfrm>
          <a:prstGeom prst="roundRect">
            <a:avLst>
              <a:gd name="adj" fmla="val 26000"/>
            </a:avLst>
          </a:prstGeom>
          <a:solidFill>
            <a:srgbClr val="A56209"/>
          </a:solidFill>
          <a:ln/>
        </p:spPr>
      </p:sp>
      <p:sp>
        <p:nvSpPr>
          <p:cNvPr id="15" name="Text 13"/>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sin((60 + 30)/2) / sin30° = sin45° / sin30°</a:t>
            </a:r>
            <a:endParaRPr lang="en-US" sz="1600" dirty="0"/>
          </a:p>
        </p:txBody>
      </p:sp>
      <p:sp>
        <p:nvSpPr>
          <p:cNvPr id="17" name="Shape 15"/>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277106"/>
            <a:ext cx="384048" cy="384048"/>
          </a:xfrm>
          <a:prstGeom prst="roundRect">
            <a:avLst>
              <a:gd name="adj" fmla="val 26000"/>
            </a:avLst>
          </a:prstGeom>
          <a:solidFill>
            <a:srgbClr val="A56209"/>
          </a:solidFill>
          <a:ln/>
        </p:spPr>
      </p:sp>
      <p:sp>
        <p:nvSpPr>
          <p:cNvPr id="19" name="Text 17"/>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0,707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1,41</a:t>
            </a:r>
            <a:endParaRPr lang="en-US" sz="1600" dirty="0"/>
          </a:p>
        </p:txBody>
      </p:sp>
      <p:sp>
        <p:nvSpPr>
          <p:cNvPr id="21" name="Shape 19"/>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442966"/>
            <a:ext cx="384048" cy="384048"/>
          </a:xfrm>
          <a:prstGeom prst="roundRect">
            <a:avLst>
              <a:gd name="adj" fmla="val 26000"/>
            </a:avLst>
          </a:prstGeom>
          <a:solidFill>
            <a:srgbClr val="A56209"/>
          </a:solidFill>
          <a:ln/>
        </p:spPr>
      </p:sp>
      <p:sp>
        <p:nvSpPr>
          <p:cNvPr id="23" name="Text 21"/>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Bu, yaklaşık √2 değeridir.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Prizma içindeki açılar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indisi 1,5 olan prizmaya 30° ile giren ışın için r₁, r₂ ve çıkabilme durumunu inceleyiniz. (sin30° = 0,5)</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r₁ = sin30°/1,5 = 0,333 → r₁ ≈ 19,5°</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r₂ = A − r₁ = 60 − 19,5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40,5°</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 açı: sin θ = 1/1,5 = 0,667 → θ ≈ 41,8°</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r₂ &lt; θ olduğu için ışın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çıkabilir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(ama sınıra çok yakındır).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Tam yansımalı prizma</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45° – 45° – 90° prizmada ışık hipotenüse 45° ile çarpıyor. Prizmanın indisi 1,5 ise ışık ne yapar?</a:t>
            </a:r>
            <a:endParaRPr lang="en-US" sz="1600" dirty="0"/>
          </a:p>
        </p:txBody>
      </p:sp>
      <p:sp>
        <p:nvSpPr>
          <p:cNvPr id="9" name="Shape 7"/>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48778"/>
            <a:ext cx="384048" cy="384048"/>
          </a:xfrm>
          <a:prstGeom prst="roundRect">
            <a:avLst>
              <a:gd name="adj" fmla="val 26000"/>
            </a:avLst>
          </a:prstGeom>
          <a:solidFill>
            <a:srgbClr val="A56209"/>
          </a:solidFill>
          <a:ln/>
        </p:spPr>
      </p:sp>
      <p:sp>
        <p:nvSpPr>
          <p:cNvPr id="11" name="Text 9"/>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 açı: sin θ = 1/1,5 = 0,667 → θ = 41,8°</a:t>
            </a:r>
            <a:endParaRPr lang="en-US" sz="1600" dirty="0"/>
          </a:p>
        </p:txBody>
      </p:sp>
      <p:sp>
        <p:nvSpPr>
          <p:cNvPr id="13" name="Shape 11"/>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014638"/>
            <a:ext cx="384048" cy="384048"/>
          </a:xfrm>
          <a:prstGeom prst="roundRect">
            <a:avLst>
              <a:gd name="adj" fmla="val 26000"/>
            </a:avLst>
          </a:prstGeom>
          <a:solidFill>
            <a:srgbClr val="A56209"/>
          </a:solidFill>
          <a:ln/>
        </p:spPr>
      </p:sp>
      <p:sp>
        <p:nvSpPr>
          <p:cNvPr id="15" name="Text 13"/>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Geliş açısı 45° &gt; 41,8° olduğu için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tam yansıma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olur.</a:t>
            </a:r>
            <a:endParaRPr lang="en-US" sz="1600" dirty="0"/>
          </a:p>
        </p:txBody>
      </p:sp>
      <p:sp>
        <p:nvSpPr>
          <p:cNvPr id="17" name="Shape 15"/>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180498"/>
            <a:ext cx="384048" cy="384048"/>
          </a:xfrm>
          <a:prstGeom prst="roundRect">
            <a:avLst>
              <a:gd name="adj" fmla="val 26000"/>
            </a:avLst>
          </a:prstGeom>
          <a:solidFill>
            <a:srgbClr val="A56209"/>
          </a:solidFill>
          <a:ln/>
        </p:spPr>
      </p:sp>
      <p:sp>
        <p:nvSpPr>
          <p:cNvPr id="19" name="Text 17"/>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Işığın tamamı yansır; hiç kayıp olmaz.</a:t>
            </a:r>
            <a:endParaRPr lang="en-US" sz="1600" dirty="0"/>
          </a:p>
        </p:txBody>
      </p:sp>
      <p:sp>
        <p:nvSpPr>
          <p:cNvPr id="21" name="Shape 19"/>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346358"/>
            <a:ext cx="384048" cy="384048"/>
          </a:xfrm>
          <a:prstGeom prst="roundRect">
            <a:avLst>
              <a:gd name="adj" fmla="val 26000"/>
            </a:avLst>
          </a:prstGeom>
          <a:solidFill>
            <a:srgbClr val="A56209"/>
          </a:solidFill>
          <a:ln/>
        </p:spPr>
      </p:sp>
      <p:sp>
        <p:nvSpPr>
          <p:cNvPr id="23" name="Text 21"/>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İndis 1,3 olsaydı sınır açı 50,3° olurdu ve 45° &lt; 50,3° olduğundan ışık prizmadan çıkardı.</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Prizmanın renk ürettiğini sanmak.</a:t>
            </a:r>
            <a:endParaRPr lang="en-US" sz="1500" dirty="0"/>
          </a:p>
        </p:txBody>
      </p:sp>
      <p:sp>
        <p:nvSpPr>
          <p:cNvPr id="10" name="Shape 8"/>
          <p:cNvSpPr/>
          <p:nvPr/>
        </p:nvSpPr>
        <p:spPr>
          <a:xfrm>
            <a:off x="841248" y="2137410"/>
            <a:ext cx="274320" cy="274320"/>
          </a:xfrm>
          <a:prstGeom prst="roundRect">
            <a:avLst>
              <a:gd name="adj" fmla="val 26667"/>
            </a:avLst>
          </a:prstGeom>
          <a:solidFill>
            <a:srgbClr val="EAF7DC"/>
          </a:solidFill>
          <a:ln/>
        </p:spPr>
      </p:sp>
      <p:sp>
        <p:nvSpPr>
          <p:cNvPr id="11" name="Text 9"/>
          <p:cNvSpPr txBox="1"/>
          <p:nvPr/>
        </p:nvSpPr>
        <p:spPr>
          <a:xfrm>
            <a:off x="841248"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Prizma renkleri ayırır, üretmez.</a:t>
            </a:r>
            <a:endParaRPr lang="en-US" sz="1400" dirty="0"/>
          </a:p>
        </p:txBody>
      </p:sp>
      <p:sp>
        <p:nvSpPr>
          <p:cNvPr id="13" name="Shape 11"/>
          <p:cNvSpPr/>
          <p:nvPr/>
        </p:nvSpPr>
        <p:spPr>
          <a:xfrm>
            <a:off x="6205576"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Kırmızının en çok saptığını düşünmek.</a:t>
            </a:r>
            <a:endParaRPr lang="en-US" sz="1500" dirty="0"/>
          </a:p>
        </p:txBody>
      </p:sp>
      <p:sp>
        <p:nvSpPr>
          <p:cNvPr id="17" name="Shape 15"/>
          <p:cNvSpPr/>
          <p:nvPr/>
        </p:nvSpPr>
        <p:spPr>
          <a:xfrm>
            <a:off x="6406744" y="2137410"/>
            <a:ext cx="274320" cy="274320"/>
          </a:xfrm>
          <a:prstGeom prst="roundRect">
            <a:avLst>
              <a:gd name="adj" fmla="val 26667"/>
            </a:avLst>
          </a:prstGeom>
          <a:solidFill>
            <a:srgbClr val="EAF7DC"/>
          </a:solidFill>
          <a:ln/>
        </p:spPr>
      </p:sp>
      <p:sp>
        <p:nvSpPr>
          <p:cNvPr id="18" name="Text 16"/>
          <p:cNvSpPr txBox="1"/>
          <p:nvPr/>
        </p:nvSpPr>
        <p:spPr>
          <a:xfrm>
            <a:off x="6406744"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En çok sapan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mordur</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indisi en büyüktür.</a:t>
            </a:r>
            <a:endParaRPr lang="en-US" sz="1400" dirty="0"/>
          </a:p>
        </p:txBody>
      </p:sp>
      <p:sp>
        <p:nvSpPr>
          <p:cNvPr id="20" name="Shape 18"/>
          <p:cNvSpPr/>
          <p:nvPr/>
        </p:nvSpPr>
        <p:spPr>
          <a:xfrm>
            <a:off x="640080"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3328416"/>
            <a:ext cx="274320" cy="274320"/>
          </a:xfrm>
          <a:prstGeom prst="roundRect">
            <a:avLst>
              <a:gd name="adj" fmla="val 26667"/>
            </a:avLst>
          </a:prstGeom>
          <a:solidFill>
            <a:srgbClr val="FBE9EE"/>
          </a:solidFill>
          <a:ln/>
        </p:spPr>
      </p:sp>
      <p:sp>
        <p:nvSpPr>
          <p:cNvPr id="22" name="Text 20"/>
          <p:cNvSpPr txBox="1"/>
          <p:nvPr/>
        </p:nvSpPr>
        <p:spPr>
          <a:xfrm>
            <a:off x="841248"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δ = i₁ + i₂ + A yazmak.</a:t>
            </a:r>
            <a:endParaRPr lang="en-US" sz="1500" dirty="0"/>
          </a:p>
        </p:txBody>
      </p:sp>
      <p:sp>
        <p:nvSpPr>
          <p:cNvPr id="24" name="Shape 22"/>
          <p:cNvSpPr/>
          <p:nvPr/>
        </p:nvSpPr>
        <p:spPr>
          <a:xfrm>
            <a:off x="841248" y="3691890"/>
            <a:ext cx="274320" cy="274320"/>
          </a:xfrm>
          <a:prstGeom prst="roundRect">
            <a:avLst>
              <a:gd name="adj" fmla="val 26667"/>
            </a:avLst>
          </a:prstGeom>
          <a:solidFill>
            <a:srgbClr val="EAF7DC"/>
          </a:solidFill>
          <a:ln/>
        </p:spPr>
      </p:sp>
      <p:sp>
        <p:nvSpPr>
          <p:cNvPr id="25" name="Text 23"/>
          <p:cNvSpPr txBox="1"/>
          <p:nvPr/>
        </p:nvSpPr>
        <p:spPr>
          <a:xfrm>
            <a:off x="841248"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Doğrusu δ = i₁ + i₂ − A'dır.</a:t>
            </a:r>
            <a:endParaRPr lang="en-US" sz="1400" dirty="0"/>
          </a:p>
        </p:txBody>
      </p:sp>
      <p:sp>
        <p:nvSpPr>
          <p:cNvPr id="27" name="Shape 25"/>
          <p:cNvSpPr/>
          <p:nvPr/>
        </p:nvSpPr>
        <p:spPr>
          <a:xfrm>
            <a:off x="6205576"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3328416"/>
            <a:ext cx="274320" cy="274320"/>
          </a:xfrm>
          <a:prstGeom prst="roundRect">
            <a:avLst>
              <a:gd name="adj" fmla="val 26667"/>
            </a:avLst>
          </a:prstGeom>
          <a:solidFill>
            <a:srgbClr val="FBE9EE"/>
          </a:solidFill>
          <a:ln/>
        </p:spPr>
      </p:sp>
      <p:sp>
        <p:nvSpPr>
          <p:cNvPr id="29" name="Text 27"/>
          <p:cNvSpPr txBox="1"/>
          <p:nvPr/>
        </p:nvSpPr>
        <p:spPr>
          <a:xfrm>
            <a:off x="6406744"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Işığın tepeye doğru saptığını sanmak.</a:t>
            </a:r>
            <a:endParaRPr lang="en-US" sz="1500" dirty="0"/>
          </a:p>
        </p:txBody>
      </p:sp>
      <p:sp>
        <p:nvSpPr>
          <p:cNvPr id="31" name="Shape 29"/>
          <p:cNvSpPr/>
          <p:nvPr/>
        </p:nvSpPr>
        <p:spPr>
          <a:xfrm>
            <a:off x="6406744" y="3691890"/>
            <a:ext cx="274320" cy="274320"/>
          </a:xfrm>
          <a:prstGeom prst="roundRect">
            <a:avLst>
              <a:gd name="adj" fmla="val 26667"/>
            </a:avLst>
          </a:prstGeom>
          <a:solidFill>
            <a:srgbClr val="EAF7DC"/>
          </a:solidFill>
          <a:ln/>
        </p:spPr>
      </p:sp>
      <p:sp>
        <p:nvSpPr>
          <p:cNvPr id="32" name="Text 30"/>
          <p:cNvSpPr txBox="1"/>
          <p:nvPr/>
        </p:nvSpPr>
        <p:spPr>
          <a:xfrm>
            <a:off x="6406744"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Sapma her zaman </a:t>
            </a:r>
            <a:pPr indent="0" marL="0">
              <a:lnSpc>
                <a:spcPct val="108000"/>
              </a:lnSpc>
              <a:buNone/>
            </a:pPr>
            <a:r>
              <a:rPr lang="en-US" sz="1400" i="1" dirty="0">
                <a:solidFill>
                  <a:srgbClr val="4A5470"/>
                </a:solidFill>
                <a:latin typeface="Calibri" pitchFamily="34" charset="0"/>
                <a:ea typeface="Calibri" pitchFamily="34" charset="-122"/>
                <a:cs typeface="Calibri" pitchFamily="34" charset="-120"/>
              </a:rPr>
              <a:t>tabana</a:t>
            </a:r>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doğrudur.</a:t>
            </a:r>
            <a:endParaRPr lang="en-US" sz="1400" dirty="0"/>
          </a:p>
        </p:txBody>
      </p:sp>
      <p:sp>
        <p:nvSpPr>
          <p:cNvPr id="34" name="Shape 32"/>
          <p:cNvSpPr/>
          <p:nvPr/>
        </p:nvSpPr>
        <p:spPr>
          <a:xfrm>
            <a:off x="640080"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882896"/>
            <a:ext cx="274320" cy="274320"/>
          </a:xfrm>
          <a:prstGeom prst="roundRect">
            <a:avLst>
              <a:gd name="adj" fmla="val 26667"/>
            </a:avLst>
          </a:prstGeom>
          <a:solidFill>
            <a:srgbClr val="FBE9EE"/>
          </a:solidFill>
          <a:ln/>
        </p:spPr>
      </p:sp>
      <p:sp>
        <p:nvSpPr>
          <p:cNvPr id="36" name="Text 34"/>
          <p:cNvSpPr txBox="1"/>
          <p:nvPr/>
        </p:nvSpPr>
        <p:spPr>
          <a:xfrm>
            <a:off x="841248"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85546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Işığın her durumda prizmadan çıkacağını varsaymak.</a:t>
            </a:r>
            <a:endParaRPr lang="en-US" sz="1500" dirty="0"/>
          </a:p>
        </p:txBody>
      </p:sp>
      <p:sp>
        <p:nvSpPr>
          <p:cNvPr id="38" name="Shape 36"/>
          <p:cNvSpPr/>
          <p:nvPr/>
        </p:nvSpPr>
        <p:spPr>
          <a:xfrm>
            <a:off x="841248" y="5509260"/>
            <a:ext cx="274320" cy="274320"/>
          </a:xfrm>
          <a:prstGeom prst="roundRect">
            <a:avLst>
              <a:gd name="adj" fmla="val 26667"/>
            </a:avLst>
          </a:prstGeom>
          <a:solidFill>
            <a:srgbClr val="EAF7DC"/>
          </a:solidFill>
          <a:ln/>
        </p:spPr>
      </p:sp>
      <p:sp>
        <p:nvSpPr>
          <p:cNvPr id="39" name="Text 37"/>
          <p:cNvSpPr txBox="1"/>
          <p:nvPr/>
        </p:nvSpPr>
        <p:spPr>
          <a:xfrm>
            <a:off x="841248" y="550926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549097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r₂ sınır açıyı aşarsa ışık içeride tam yansır.</a:t>
            </a:r>
            <a:endParaRPr lang="en-US" sz="1400" dirty="0"/>
          </a:p>
        </p:txBody>
      </p:sp>
      <p:sp>
        <p:nvSpPr>
          <p:cNvPr id="41" name="Shape 39"/>
          <p:cNvSpPr/>
          <p:nvPr/>
        </p:nvSpPr>
        <p:spPr>
          <a:xfrm>
            <a:off x="6205576"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882896"/>
            <a:ext cx="274320" cy="274320"/>
          </a:xfrm>
          <a:prstGeom prst="roundRect">
            <a:avLst>
              <a:gd name="adj" fmla="val 26667"/>
            </a:avLst>
          </a:prstGeom>
          <a:solidFill>
            <a:srgbClr val="FBE9EE"/>
          </a:solidFill>
          <a:ln/>
        </p:spPr>
      </p:sp>
      <p:sp>
        <p:nvSpPr>
          <p:cNvPr id="43" name="Text 41"/>
          <p:cNvSpPr txBox="1"/>
          <p:nvPr/>
        </p:nvSpPr>
        <p:spPr>
          <a:xfrm>
            <a:off x="6406744"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85546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Paralel kenarlı levhayla prizmayı karıştırmak.</a:t>
            </a:r>
            <a:endParaRPr lang="en-US" sz="1500" dirty="0"/>
          </a:p>
        </p:txBody>
      </p:sp>
      <p:sp>
        <p:nvSpPr>
          <p:cNvPr id="45" name="Shape 43"/>
          <p:cNvSpPr/>
          <p:nvPr/>
        </p:nvSpPr>
        <p:spPr>
          <a:xfrm>
            <a:off x="6406744" y="5509260"/>
            <a:ext cx="274320" cy="274320"/>
          </a:xfrm>
          <a:prstGeom prst="roundRect">
            <a:avLst>
              <a:gd name="adj" fmla="val 26667"/>
            </a:avLst>
          </a:prstGeom>
          <a:solidFill>
            <a:srgbClr val="EAF7DC"/>
          </a:solidFill>
          <a:ln/>
        </p:spPr>
      </p:sp>
      <p:sp>
        <p:nvSpPr>
          <p:cNvPr id="46" name="Text 44"/>
          <p:cNvSpPr txBox="1"/>
          <p:nvPr/>
        </p:nvSpPr>
        <p:spPr>
          <a:xfrm>
            <a:off x="6406744" y="550926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549097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Levhada doğrultu korunur, prizmada değişir.</a:t>
            </a:r>
            <a:endParaRPr lang="en-US" sz="1400" dirty="0"/>
          </a:p>
        </p:txBody>
      </p:sp>
      <p:sp>
        <p:nvSpPr>
          <p:cNvPr id="48" name="Shape 46"/>
          <p:cNvSpPr/>
          <p:nvPr/>
        </p:nvSpPr>
        <p:spPr>
          <a:xfrm>
            <a:off x="640080" y="6382512"/>
            <a:ext cx="128016" cy="128016"/>
          </a:xfrm>
          <a:prstGeom prst="roundRect">
            <a:avLst>
              <a:gd name="adj" fmla="val 28571"/>
            </a:avLst>
          </a:prstGeom>
          <a:solidFill>
            <a:srgbClr val="A9E648"/>
          </a:solidFill>
          <a:ln/>
        </p:spPr>
      </p:sp>
      <p:sp>
        <p:nvSpPr>
          <p:cNvPr id="49" name="Text 4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50" name="Text 4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Sapma </a:t>
            </a:r>
            <a:pPr indent="0" marL="0">
              <a:buNone/>
            </a:pPr>
            <a:r>
              <a:rPr lang="en-US" sz="1500" b="1" dirty="0">
                <a:solidFill>
                  <a:srgbClr val="FFFFFF"/>
                </a:solidFill>
                <a:latin typeface="Calibri" pitchFamily="34" charset="0"/>
                <a:ea typeface="Calibri" pitchFamily="34" charset="-122"/>
                <a:cs typeface="Calibri" pitchFamily="34" charset="-120"/>
              </a:rPr>
              <a:t>δ = i₁ + i₂ − A</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Mor </a:t>
            </a:r>
            <a:pPr indent="0" marL="0">
              <a:buNone/>
            </a:pPr>
            <a:r>
              <a:rPr lang="en-US" sz="1500" b="1" dirty="0">
                <a:solidFill>
                  <a:srgbClr val="FFFFFF"/>
                </a:solidFill>
                <a:latin typeface="Calibri" pitchFamily="34" charset="0"/>
                <a:ea typeface="Calibri" pitchFamily="34" charset="-122"/>
                <a:cs typeface="Calibri" pitchFamily="34" charset="-120"/>
              </a:rPr>
              <a:t>en çok sapar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45° prizma </a:t>
            </a:r>
            <a:pPr indent="0" marL="0">
              <a:buNone/>
            </a:pPr>
            <a:r>
              <a:rPr lang="en-US" sz="1500" b="1" dirty="0">
                <a:solidFill>
                  <a:srgbClr val="FFFFFF"/>
                </a:solidFill>
                <a:latin typeface="Calibri" pitchFamily="34" charset="0"/>
                <a:ea typeface="Calibri" pitchFamily="34" charset="-122"/>
                <a:cs typeface="Calibri" pitchFamily="34" charset="-120"/>
              </a:rPr>
              <a:t>tam yansıtır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Gökkuşağı </a:t>
            </a:r>
            <a:pPr indent="0" marL="0">
              <a:buNone/>
            </a:pPr>
            <a:r>
              <a:rPr lang="en-US" sz="1500" b="1" dirty="0">
                <a:solidFill>
                  <a:srgbClr val="FFFFFF"/>
                </a:solidFill>
                <a:latin typeface="Calibri" pitchFamily="34" charset="0"/>
                <a:ea typeface="Calibri" pitchFamily="34" charset="-122"/>
                <a:cs typeface="Calibri" pitchFamily="34" charset="-120"/>
              </a:rPr>
              <a:t>42°</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r₁ + r₂ = A</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prizma içi açılar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 = i₁ + i₂ − A</a:t>
            </a:r>
            <a:endParaRPr lang="en-US" sz="1350" dirty="0"/>
          </a:p>
        </p:txBody>
      </p:sp>
      <p:sp>
        <p:nvSpPr>
          <p:cNvPr id="19" name="Text 17"/>
          <p:cNvSpPr txBox="1"/>
          <p:nvPr/>
        </p:nvSpPr>
        <p:spPr>
          <a:xfrm>
            <a:off x="8572500" y="321868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sapma açısı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27228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n(mor) &gt; n(kırmızı)</a:t>
            </a:r>
            <a:endParaRPr lang="en-US" sz="1350" dirty="0"/>
          </a:p>
        </p:txBody>
      </p:sp>
      <p:sp>
        <p:nvSpPr>
          <p:cNvPr id="22" name="Text 20"/>
          <p:cNvSpPr txBox="1"/>
          <p:nvPr/>
        </p:nvSpPr>
        <p:spPr>
          <a:xfrm>
            <a:off x="8993124" y="4041648"/>
            <a:ext cx="237561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dağılma (dispersiyon)</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16712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1/n</a:t>
            </a:r>
            <a:endParaRPr lang="en-US" sz="1350" dirty="0"/>
          </a:p>
        </p:txBody>
      </p:sp>
      <p:sp>
        <p:nvSpPr>
          <p:cNvPr id="25" name="Text 23"/>
          <p:cNvSpPr txBox="1"/>
          <p:nvPr/>
        </p:nvSpPr>
        <p:spPr>
          <a:xfrm>
            <a:off x="8887968" y="4864608"/>
            <a:ext cx="248076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yansımalı prizma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dersler.perinet.org/prizmalar.html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08 · Mercekler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Prizmalar — Dersler</dc:title>
  <dc:subject>Fizik · Optik</dc:subject>
  <dc:creator>Dersler</dc:creator>
  <cp:lastModifiedBy>Dersler</cp:lastModifiedBy>
  <cp:revision>1</cp:revision>
  <dcterms:created xsi:type="dcterms:W3CDTF">2026-09-20T18:42:49Z</dcterms:created>
  <dcterms:modified xsi:type="dcterms:W3CDTF">2026-09-20T18:42:49Z</dcterms:modified>
</cp:coreProperties>
</file>