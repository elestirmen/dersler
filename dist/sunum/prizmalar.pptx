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 = 60°, n = 1,50 için sapma açısı – gelme açısı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Sheet1!$A$2:$A$59</c:f>
              <c:numCache>
                <c:formatCode>General</c:formatCode>
                <c:ptCount val="58"/>
                <c:pt idx="0">
                  <c:v>28</c:v>
                </c:pt>
                <c:pt idx="1">
                  <c:v>29</c:v>
                </c:pt>
                <c:pt idx="2">
                  <c:v>30</c:v>
                </c:pt>
                <c:pt idx="3">
                  <c:v>31</c:v>
                </c:pt>
                <c:pt idx="4">
                  <c:v>32</c:v>
                </c:pt>
                <c:pt idx="5">
                  <c:v>33</c:v>
                </c:pt>
                <c:pt idx="6">
                  <c:v>34</c:v>
                </c:pt>
                <c:pt idx="7">
                  <c:v>35</c:v>
                </c:pt>
                <c:pt idx="8">
                  <c:v>36</c:v>
                </c:pt>
                <c:pt idx="9">
                  <c:v>37</c:v>
                </c:pt>
                <c:pt idx="10">
                  <c:v>38</c:v>
                </c:pt>
                <c:pt idx="11">
                  <c:v>39</c:v>
                </c:pt>
                <c:pt idx="12">
                  <c:v>40</c:v>
                </c:pt>
                <c:pt idx="13">
                  <c:v>41</c:v>
                </c:pt>
                <c:pt idx="14">
                  <c:v>42</c:v>
                </c:pt>
                <c:pt idx="15">
                  <c:v>43</c:v>
                </c:pt>
                <c:pt idx="16">
                  <c:v>44</c:v>
                </c:pt>
                <c:pt idx="17">
                  <c:v>45</c:v>
                </c:pt>
                <c:pt idx="18">
                  <c:v>46</c:v>
                </c:pt>
                <c:pt idx="19">
                  <c:v>47</c:v>
                </c:pt>
                <c:pt idx="20">
                  <c:v>48</c:v>
                </c:pt>
                <c:pt idx="21">
                  <c:v>49</c:v>
                </c:pt>
                <c:pt idx="22">
                  <c:v>50</c:v>
                </c:pt>
                <c:pt idx="23">
                  <c:v>51</c:v>
                </c:pt>
                <c:pt idx="24">
                  <c:v>52</c:v>
                </c:pt>
                <c:pt idx="25">
                  <c:v>53</c:v>
                </c:pt>
                <c:pt idx="26">
                  <c:v>54</c:v>
                </c:pt>
                <c:pt idx="27">
                  <c:v>55</c:v>
                </c:pt>
                <c:pt idx="28">
                  <c:v>56</c:v>
                </c:pt>
                <c:pt idx="29">
                  <c:v>57</c:v>
                </c:pt>
                <c:pt idx="30">
                  <c:v>58</c:v>
                </c:pt>
                <c:pt idx="31">
                  <c:v>59</c:v>
                </c:pt>
                <c:pt idx="32">
                  <c:v>60</c:v>
                </c:pt>
                <c:pt idx="33">
                  <c:v>61</c:v>
                </c:pt>
                <c:pt idx="34">
                  <c:v>62</c:v>
                </c:pt>
                <c:pt idx="35">
                  <c:v>63</c:v>
                </c:pt>
                <c:pt idx="36">
                  <c:v>64</c:v>
                </c:pt>
                <c:pt idx="37">
                  <c:v>65</c:v>
                </c:pt>
                <c:pt idx="38">
                  <c:v>66</c:v>
                </c:pt>
                <c:pt idx="39">
                  <c:v>67</c:v>
                </c:pt>
                <c:pt idx="40">
                  <c:v>68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73</c:v>
                </c:pt>
                <c:pt idx="46">
                  <c:v>74</c:v>
                </c:pt>
                <c:pt idx="47">
                  <c:v>75</c:v>
                </c:pt>
                <c:pt idx="48">
                  <c:v>76</c:v>
                </c:pt>
                <c:pt idx="49">
                  <c:v>77</c:v>
                </c:pt>
                <c:pt idx="50">
                  <c:v>78</c:v>
                </c:pt>
                <c:pt idx="51">
                  <c:v>79</c:v>
                </c:pt>
                <c:pt idx="52">
                  <c:v>80</c:v>
                </c:pt>
                <c:pt idx="53">
                  <c:v>81</c:v>
                </c:pt>
                <c:pt idx="54">
                  <c:v>82</c:v>
                </c:pt>
                <c:pt idx="55">
                  <c:v>83</c:v>
                </c:pt>
                <c:pt idx="56">
                  <c:v>84</c:v>
                </c:pt>
                <c:pt idx="57">
                  <c:v>85</c:v>
                </c:pt>
              </c:numCache>
            </c:numRef>
          </c:xVal>
          <c:yVal>
            <c:numRef>
              <c:f>Sheet1!$B$2:$B$59</c:f>
              <c:numCache>
                <c:formatCode>General</c:formatCode>
                <c:ptCount val="58"/>
                <c:pt idx="0">
                  <c:v>55.49</c:v>
                </c:pt>
                <c:pt idx="1">
                  <c:v>49.72</c:v>
                </c:pt>
                <c:pt idx="2">
                  <c:v>47.1</c:v>
                </c:pt>
                <c:pt idx="3">
                  <c:v>45.27</c:v>
                </c:pt>
                <c:pt idx="4">
                  <c:v>43.86</c:v>
                </c:pt>
                <c:pt idx="5">
                  <c:v>42.73</c:v>
                </c:pt>
                <c:pt idx="6">
                  <c:v>41.79</c:v>
                </c:pt>
                <c:pt idx="7">
                  <c:v>41</c:v>
                </c:pt>
                <c:pt idx="8">
                  <c:v>40.32</c:v>
                </c:pt>
                <c:pt idx="9">
                  <c:v>39.75</c:v>
                </c:pt>
                <c:pt idx="10">
                  <c:v>39.25</c:v>
                </c:pt>
                <c:pt idx="11">
                  <c:v>38.83</c:v>
                </c:pt>
                <c:pt idx="12">
                  <c:v>38.47</c:v>
                </c:pt>
                <c:pt idx="13">
                  <c:v>38.16</c:v>
                </c:pt>
                <c:pt idx="14">
                  <c:v>37.9</c:v>
                </c:pt>
                <c:pt idx="15">
                  <c:v>37.69</c:v>
                </c:pt>
                <c:pt idx="16">
                  <c:v>37.51</c:v>
                </c:pt>
                <c:pt idx="17">
                  <c:v>37.38</c:v>
                </c:pt>
                <c:pt idx="18">
                  <c:v>37.28</c:v>
                </c:pt>
                <c:pt idx="19">
                  <c:v>37.22</c:v>
                </c:pt>
                <c:pt idx="20">
                  <c:v>37.19</c:v>
                </c:pt>
                <c:pt idx="21">
                  <c:v>37.18</c:v>
                </c:pt>
                <c:pt idx="22">
                  <c:v>37.21</c:v>
                </c:pt>
                <c:pt idx="23">
                  <c:v>37.26</c:v>
                </c:pt>
                <c:pt idx="24">
                  <c:v>37.34</c:v>
                </c:pt>
                <c:pt idx="25">
                  <c:v>37.45</c:v>
                </c:pt>
                <c:pt idx="26">
                  <c:v>37.58</c:v>
                </c:pt>
                <c:pt idx="27">
                  <c:v>37.74</c:v>
                </c:pt>
                <c:pt idx="28">
                  <c:v>37.92</c:v>
                </c:pt>
                <c:pt idx="29">
                  <c:v>38.12</c:v>
                </c:pt>
                <c:pt idx="30">
                  <c:v>38.35</c:v>
                </c:pt>
                <c:pt idx="31">
                  <c:v>38.6</c:v>
                </c:pt>
                <c:pt idx="32">
                  <c:v>38.88</c:v>
                </c:pt>
                <c:pt idx="33">
                  <c:v>39.17</c:v>
                </c:pt>
                <c:pt idx="34">
                  <c:v>39.49</c:v>
                </c:pt>
                <c:pt idx="35">
                  <c:v>39.84</c:v>
                </c:pt>
                <c:pt idx="36">
                  <c:v>40.2</c:v>
                </c:pt>
                <c:pt idx="37">
                  <c:v>40.59</c:v>
                </c:pt>
                <c:pt idx="38">
                  <c:v>41</c:v>
                </c:pt>
                <c:pt idx="39">
                  <c:v>41.43</c:v>
                </c:pt>
                <c:pt idx="40">
                  <c:v>41.89</c:v>
                </c:pt>
                <c:pt idx="41">
                  <c:v>42.37</c:v>
                </c:pt>
                <c:pt idx="42">
                  <c:v>42.87</c:v>
                </c:pt>
                <c:pt idx="43">
                  <c:v>43.39</c:v>
                </c:pt>
                <c:pt idx="44">
                  <c:v>43.94</c:v>
                </c:pt>
                <c:pt idx="45">
                  <c:v>44.51</c:v>
                </c:pt>
                <c:pt idx="46">
                  <c:v>45.1</c:v>
                </c:pt>
                <c:pt idx="47">
                  <c:v>45.72</c:v>
                </c:pt>
                <c:pt idx="48">
                  <c:v>46.36</c:v>
                </c:pt>
                <c:pt idx="49">
                  <c:v>47.03</c:v>
                </c:pt>
                <c:pt idx="50">
                  <c:v>47.72</c:v>
                </c:pt>
                <c:pt idx="51">
                  <c:v>48.43</c:v>
                </c:pt>
                <c:pt idx="52">
                  <c:v>49.17</c:v>
                </c:pt>
                <c:pt idx="53">
                  <c:v>49.94</c:v>
                </c:pt>
                <c:pt idx="54">
                  <c:v>50.72</c:v>
                </c:pt>
                <c:pt idx="55">
                  <c:v>51.54</c:v>
                </c:pt>
                <c:pt idx="56">
                  <c:v>52.37</c:v>
                </c:pt>
                <c:pt idx="57">
                  <c:v>53.23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gelme açısı i₁ (°)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60"/>
          <c:min val="3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sapma açısı δ (°)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Su damlasında toplam sapma – ışının damlaya düşme yeri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sapma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Sheet1!$A$2:$A$100</c:f>
              <c:numCache>
                <c:formatCode>General</c:formatCode>
                <c:ptCount val="99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0.06</c:v>
                </c:pt>
                <c:pt idx="6">
                  <c:v>0.07</c:v>
                </c:pt>
                <c:pt idx="7">
                  <c:v>0.08</c:v>
                </c:pt>
                <c:pt idx="8">
                  <c:v>0.09</c:v>
                </c:pt>
                <c:pt idx="9">
                  <c:v>0.1</c:v>
                </c:pt>
                <c:pt idx="10">
                  <c:v>0.11</c:v>
                </c:pt>
                <c:pt idx="11">
                  <c:v>0.12</c:v>
                </c:pt>
                <c:pt idx="12">
                  <c:v>0.13</c:v>
                </c:pt>
                <c:pt idx="13">
                  <c:v>0.14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  <c:pt idx="17">
                  <c:v>0.18</c:v>
                </c:pt>
                <c:pt idx="18">
                  <c:v>0.19</c:v>
                </c:pt>
                <c:pt idx="19">
                  <c:v>0.2</c:v>
                </c:pt>
                <c:pt idx="20">
                  <c:v>0.21</c:v>
                </c:pt>
                <c:pt idx="21">
                  <c:v>0.22</c:v>
                </c:pt>
                <c:pt idx="22">
                  <c:v>0.23</c:v>
                </c:pt>
                <c:pt idx="23">
                  <c:v>0.24</c:v>
                </c:pt>
                <c:pt idx="24">
                  <c:v>0.25</c:v>
                </c:pt>
                <c:pt idx="25">
                  <c:v>0.26</c:v>
                </c:pt>
                <c:pt idx="26">
                  <c:v>0.27</c:v>
                </c:pt>
                <c:pt idx="27">
                  <c:v>0.28</c:v>
                </c:pt>
                <c:pt idx="28">
                  <c:v>0.29</c:v>
                </c:pt>
                <c:pt idx="29">
                  <c:v>0.3</c:v>
                </c:pt>
                <c:pt idx="30">
                  <c:v>0.31</c:v>
                </c:pt>
                <c:pt idx="31">
                  <c:v>0.32</c:v>
                </c:pt>
                <c:pt idx="32">
                  <c:v>0.33</c:v>
                </c:pt>
                <c:pt idx="33">
                  <c:v>0.34</c:v>
                </c:pt>
                <c:pt idx="34">
                  <c:v>0.35</c:v>
                </c:pt>
                <c:pt idx="35">
                  <c:v>0.36</c:v>
                </c:pt>
                <c:pt idx="36">
                  <c:v>0.37</c:v>
                </c:pt>
                <c:pt idx="37">
                  <c:v>0.38</c:v>
                </c:pt>
                <c:pt idx="38">
                  <c:v>0.39</c:v>
                </c:pt>
                <c:pt idx="39">
                  <c:v>0.4</c:v>
                </c:pt>
                <c:pt idx="40">
                  <c:v>0.41</c:v>
                </c:pt>
                <c:pt idx="41">
                  <c:v>0.42</c:v>
                </c:pt>
                <c:pt idx="42">
                  <c:v>0.43</c:v>
                </c:pt>
                <c:pt idx="43">
                  <c:v>0.44</c:v>
                </c:pt>
                <c:pt idx="44">
                  <c:v>0.45</c:v>
                </c:pt>
                <c:pt idx="45">
                  <c:v>0.46</c:v>
                </c:pt>
                <c:pt idx="46">
                  <c:v>0.47</c:v>
                </c:pt>
                <c:pt idx="47">
                  <c:v>0.48</c:v>
                </c:pt>
                <c:pt idx="48">
                  <c:v>0.49</c:v>
                </c:pt>
                <c:pt idx="49">
                  <c:v>0.5</c:v>
                </c:pt>
                <c:pt idx="50">
                  <c:v>0.51</c:v>
                </c:pt>
                <c:pt idx="51">
                  <c:v>0.52</c:v>
                </c:pt>
                <c:pt idx="52">
                  <c:v>0.53</c:v>
                </c:pt>
                <c:pt idx="53">
                  <c:v>0.54</c:v>
                </c:pt>
                <c:pt idx="54">
                  <c:v>0.55</c:v>
                </c:pt>
                <c:pt idx="55">
                  <c:v>0.56</c:v>
                </c:pt>
                <c:pt idx="56">
                  <c:v>0.57</c:v>
                </c:pt>
                <c:pt idx="57">
                  <c:v>0.58</c:v>
                </c:pt>
                <c:pt idx="58">
                  <c:v>0.59</c:v>
                </c:pt>
                <c:pt idx="59">
                  <c:v>0.6</c:v>
                </c:pt>
                <c:pt idx="60">
                  <c:v>0.61</c:v>
                </c:pt>
                <c:pt idx="61">
                  <c:v>0.62</c:v>
                </c:pt>
                <c:pt idx="62">
                  <c:v>0.63</c:v>
                </c:pt>
                <c:pt idx="63">
                  <c:v>0.64</c:v>
                </c:pt>
                <c:pt idx="64">
                  <c:v>0.65</c:v>
                </c:pt>
                <c:pt idx="65">
                  <c:v>0.66</c:v>
                </c:pt>
                <c:pt idx="66">
                  <c:v>0.67</c:v>
                </c:pt>
                <c:pt idx="67">
                  <c:v>0.68</c:v>
                </c:pt>
                <c:pt idx="68">
                  <c:v>0.69</c:v>
                </c:pt>
                <c:pt idx="69">
                  <c:v>0.7</c:v>
                </c:pt>
                <c:pt idx="70">
                  <c:v>0.71</c:v>
                </c:pt>
                <c:pt idx="71">
                  <c:v>0.72</c:v>
                </c:pt>
                <c:pt idx="72">
                  <c:v>0.73</c:v>
                </c:pt>
                <c:pt idx="73">
                  <c:v>0.74</c:v>
                </c:pt>
                <c:pt idx="74">
                  <c:v>0.75</c:v>
                </c:pt>
                <c:pt idx="75">
                  <c:v>0.76</c:v>
                </c:pt>
                <c:pt idx="76">
                  <c:v>0.77</c:v>
                </c:pt>
                <c:pt idx="77">
                  <c:v>0.78</c:v>
                </c:pt>
                <c:pt idx="78">
                  <c:v>0.79</c:v>
                </c:pt>
                <c:pt idx="79">
                  <c:v>0.8</c:v>
                </c:pt>
                <c:pt idx="80">
                  <c:v>0.81</c:v>
                </c:pt>
                <c:pt idx="81">
                  <c:v>0.82</c:v>
                </c:pt>
                <c:pt idx="82">
                  <c:v>0.83</c:v>
                </c:pt>
                <c:pt idx="83">
                  <c:v>0.84</c:v>
                </c:pt>
                <c:pt idx="84">
                  <c:v>0.85</c:v>
                </c:pt>
                <c:pt idx="85">
                  <c:v>0.86</c:v>
                </c:pt>
                <c:pt idx="86">
                  <c:v>0.87</c:v>
                </c:pt>
                <c:pt idx="87">
                  <c:v>0.88</c:v>
                </c:pt>
                <c:pt idx="88">
                  <c:v>0.89</c:v>
                </c:pt>
                <c:pt idx="89">
                  <c:v>0.9</c:v>
                </c:pt>
                <c:pt idx="90">
                  <c:v>0.91</c:v>
                </c:pt>
                <c:pt idx="91">
                  <c:v>0.92</c:v>
                </c:pt>
                <c:pt idx="92">
                  <c:v>0.93</c:v>
                </c:pt>
                <c:pt idx="93">
                  <c:v>0.94</c:v>
                </c:pt>
                <c:pt idx="94">
                  <c:v>0.95</c:v>
                </c:pt>
                <c:pt idx="95">
                  <c:v>0.96</c:v>
                </c:pt>
                <c:pt idx="96">
                  <c:v>0.97</c:v>
                </c:pt>
                <c:pt idx="97">
                  <c:v>0.98</c:v>
                </c:pt>
                <c:pt idx="98">
                  <c:v>0.99</c:v>
                </c:pt>
              </c:numCache>
            </c:numRef>
          </c:xVal>
          <c:yVal>
            <c:numRef>
              <c:f>Sheet1!$B$2:$B$100</c:f>
              <c:numCache>
                <c:formatCode>General</c:formatCode>
                <c:ptCount val="99"/>
                <c:pt idx="0">
                  <c:v>179.43</c:v>
                </c:pt>
                <c:pt idx="1">
                  <c:v>178.85</c:v>
                </c:pt>
                <c:pt idx="2">
                  <c:v>178.28</c:v>
                </c:pt>
                <c:pt idx="3">
                  <c:v>177.71</c:v>
                </c:pt>
                <c:pt idx="4">
                  <c:v>177.13</c:v>
                </c:pt>
                <c:pt idx="5">
                  <c:v>176.56</c:v>
                </c:pt>
                <c:pt idx="6">
                  <c:v>175.99</c:v>
                </c:pt>
                <c:pt idx="7">
                  <c:v>175.41</c:v>
                </c:pt>
                <c:pt idx="8">
                  <c:v>174.84</c:v>
                </c:pt>
                <c:pt idx="9">
                  <c:v>174.27</c:v>
                </c:pt>
                <c:pt idx="10">
                  <c:v>173.7</c:v>
                </c:pt>
                <c:pt idx="11">
                  <c:v>173.12</c:v>
                </c:pt>
                <c:pt idx="12">
                  <c:v>172.55</c:v>
                </c:pt>
                <c:pt idx="13">
                  <c:v>171.98</c:v>
                </c:pt>
                <c:pt idx="14">
                  <c:v>171.41</c:v>
                </c:pt>
                <c:pt idx="15">
                  <c:v>170.84</c:v>
                </c:pt>
                <c:pt idx="16">
                  <c:v>170.27</c:v>
                </c:pt>
                <c:pt idx="17">
                  <c:v>169.7</c:v>
                </c:pt>
                <c:pt idx="18">
                  <c:v>169.13</c:v>
                </c:pt>
                <c:pt idx="19">
                  <c:v>168.56</c:v>
                </c:pt>
                <c:pt idx="20">
                  <c:v>167.99</c:v>
                </c:pt>
                <c:pt idx="21">
                  <c:v>167.42</c:v>
                </c:pt>
                <c:pt idx="22">
                  <c:v>166.85</c:v>
                </c:pt>
                <c:pt idx="23">
                  <c:v>166.28</c:v>
                </c:pt>
                <c:pt idx="24">
                  <c:v>165.72</c:v>
                </c:pt>
                <c:pt idx="25">
                  <c:v>165.15</c:v>
                </c:pt>
                <c:pt idx="26">
                  <c:v>164.58</c:v>
                </c:pt>
                <c:pt idx="27">
                  <c:v>164.02</c:v>
                </c:pt>
                <c:pt idx="28">
                  <c:v>163.45</c:v>
                </c:pt>
                <c:pt idx="29">
                  <c:v>162.89</c:v>
                </c:pt>
                <c:pt idx="30">
                  <c:v>162.33</c:v>
                </c:pt>
                <c:pt idx="31">
                  <c:v>161.77</c:v>
                </c:pt>
                <c:pt idx="32">
                  <c:v>161.2</c:v>
                </c:pt>
                <c:pt idx="33">
                  <c:v>160.64</c:v>
                </c:pt>
                <c:pt idx="34">
                  <c:v>160.09</c:v>
                </c:pt>
                <c:pt idx="35">
                  <c:v>159.53</c:v>
                </c:pt>
                <c:pt idx="36">
                  <c:v>158.97</c:v>
                </c:pt>
                <c:pt idx="37">
                  <c:v>158.41</c:v>
                </c:pt>
                <c:pt idx="38">
                  <c:v>157.86</c:v>
                </c:pt>
                <c:pt idx="39">
                  <c:v>157.31</c:v>
                </c:pt>
                <c:pt idx="40">
                  <c:v>156.76</c:v>
                </c:pt>
                <c:pt idx="41">
                  <c:v>156.21</c:v>
                </c:pt>
                <c:pt idx="42">
                  <c:v>155.66</c:v>
                </c:pt>
                <c:pt idx="43">
                  <c:v>155.11</c:v>
                </c:pt>
                <c:pt idx="44">
                  <c:v>154.57</c:v>
                </c:pt>
                <c:pt idx="45">
                  <c:v>154.03</c:v>
                </c:pt>
                <c:pt idx="46">
                  <c:v>153.49</c:v>
                </c:pt>
                <c:pt idx="47">
                  <c:v>152.95</c:v>
                </c:pt>
                <c:pt idx="48">
                  <c:v>152.41</c:v>
                </c:pt>
                <c:pt idx="49">
                  <c:v>151.88</c:v>
                </c:pt>
                <c:pt idx="50">
                  <c:v>151.35</c:v>
                </c:pt>
                <c:pt idx="51">
                  <c:v>150.82</c:v>
                </c:pt>
                <c:pt idx="52">
                  <c:v>150.3</c:v>
                </c:pt>
                <c:pt idx="53">
                  <c:v>149.78</c:v>
                </c:pt>
                <c:pt idx="54">
                  <c:v>149.26</c:v>
                </c:pt>
                <c:pt idx="55">
                  <c:v>148.75</c:v>
                </c:pt>
                <c:pt idx="56">
                  <c:v>148.24</c:v>
                </c:pt>
                <c:pt idx="57">
                  <c:v>147.73</c:v>
                </c:pt>
                <c:pt idx="58">
                  <c:v>147.23</c:v>
                </c:pt>
                <c:pt idx="59">
                  <c:v>146.74</c:v>
                </c:pt>
                <c:pt idx="60">
                  <c:v>146.25</c:v>
                </c:pt>
                <c:pt idx="61">
                  <c:v>145.76</c:v>
                </c:pt>
                <c:pt idx="62">
                  <c:v>145.28</c:v>
                </c:pt>
                <c:pt idx="63">
                  <c:v>144.81</c:v>
                </c:pt>
                <c:pt idx="64">
                  <c:v>144.35</c:v>
                </c:pt>
                <c:pt idx="65">
                  <c:v>143.89</c:v>
                </c:pt>
                <c:pt idx="66">
                  <c:v>143.44</c:v>
                </c:pt>
                <c:pt idx="67">
                  <c:v>143</c:v>
                </c:pt>
                <c:pt idx="68">
                  <c:v>142.57</c:v>
                </c:pt>
                <c:pt idx="69">
                  <c:v>142.15</c:v>
                </c:pt>
                <c:pt idx="70">
                  <c:v>141.74</c:v>
                </c:pt>
                <c:pt idx="71">
                  <c:v>141.34</c:v>
                </c:pt>
                <c:pt idx="72">
                  <c:v>140.95</c:v>
                </c:pt>
                <c:pt idx="73">
                  <c:v>140.58</c:v>
                </c:pt>
                <c:pt idx="74">
                  <c:v>140.23</c:v>
                </c:pt>
                <c:pt idx="75">
                  <c:v>139.89</c:v>
                </c:pt>
                <c:pt idx="76">
                  <c:v>139.57</c:v>
                </c:pt>
                <c:pt idx="77">
                  <c:v>139.27</c:v>
                </c:pt>
                <c:pt idx="78">
                  <c:v>138.99</c:v>
                </c:pt>
                <c:pt idx="79">
                  <c:v>138.74</c:v>
                </c:pt>
                <c:pt idx="80">
                  <c:v>138.51</c:v>
                </c:pt>
                <c:pt idx="81">
                  <c:v>138.32</c:v>
                </c:pt>
                <c:pt idx="82">
                  <c:v>138.16</c:v>
                </c:pt>
                <c:pt idx="83">
                  <c:v>138.03</c:v>
                </c:pt>
                <c:pt idx="84">
                  <c:v>137.95</c:v>
                </c:pt>
                <c:pt idx="85">
                  <c:v>137.92</c:v>
                </c:pt>
                <c:pt idx="86">
                  <c:v>137.95</c:v>
                </c:pt>
                <c:pt idx="87">
                  <c:v>138.03</c:v>
                </c:pt>
                <c:pt idx="88">
                  <c:v>138.2</c:v>
                </c:pt>
                <c:pt idx="89">
                  <c:v>138.45</c:v>
                </c:pt>
                <c:pt idx="90">
                  <c:v>138.8</c:v>
                </c:pt>
                <c:pt idx="91">
                  <c:v>139.28</c:v>
                </c:pt>
                <c:pt idx="92">
                  <c:v>139.91</c:v>
                </c:pt>
                <c:pt idx="93">
                  <c:v>140.73</c:v>
                </c:pt>
                <c:pt idx="94">
                  <c:v>141.8</c:v>
                </c:pt>
                <c:pt idx="95">
                  <c:v>143.2</c:v>
                </c:pt>
                <c:pt idx="96">
                  <c:v>145.09</c:v>
                </c:pt>
                <c:pt idx="97">
                  <c:v>147.75</c:v>
                </c:pt>
                <c:pt idx="98">
                  <c:v>151.94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b / R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5"/>
          <c:min val="13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toplam sapma (°)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Newton'un 1666'daki deneyini anlat: prizma renk üretmiyor, ayırıyor.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Prizma konusu kırılmanın iki kez uygulanmasından ibaret; bunu baştan söylemek rahatlatıyor.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δ = i₁ + i₂ − A bağıntısının türetimi üçgen açı toplamından geliyor; istersen tahtada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Eğrinin düz tabanı önemli: minimum civarında sapma açıya çok az duyarlıdır.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Sapma farkının yalnızca 2,2° olmasına dikkat çek: küçük fark, uzak perdede büyük şerit.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Bisiklet reflektörünü sınıfa getir: içi köşe prizmalarla dolu, ışığı geldiği yöne döndürüyor.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Eğrinin minimumu ışınların yığıldığı yer; 'neden orada parlak?' sorusu tam burada sorulmalı.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Bağıntının basitliği yanıltmasın; i₂'yi bulmak için Snell iki kez uygulanır.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Formülün türetimi ileri düzey; burada kullanımı yeterli.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örnek, tam yansımalı prizmaya doğal bir köprü kuruyor.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İkinci madde gökkuşağı sıralamasıyla birlikte sorulunca netleşiyor.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gökkuşağı bölümünü aç; sapma eğrisinin minimumunu sınıfa buldur.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Prizmalar ve renkler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Prizma ışığı iki kez kırarak saptırır. Her renk için indis biraz farklı olduğundan beyaz ışık bileşenlerine ayrılır.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r₁ + r₂ = A          δ = i₁ + i₂ − A          n(mor) &gt; n(kırmızı)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dersler.perinet.org/prizmalar.html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418320" y="2560320"/>
            <a:ext cx="1828800" cy="1645920"/>
          </a:xfrm>
          <a:prstGeom prst="triangle">
            <a:avLst/>
          </a:prstGeom>
          <a:solidFill>
            <a:srgbClr val="1B2544"/>
          </a:solidFill>
          <a:ln w="25400">
            <a:solidFill>
              <a:srgbClr val="82AA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38160" y="3566160"/>
            <a:ext cx="1371600" cy="22860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0" y="3703320"/>
            <a:ext cx="914400" cy="274320"/>
          </a:xfrm>
          <a:prstGeom prst="line">
            <a:avLst/>
          </a:prstGeom>
          <a:noFill/>
          <a:ln w="27940">
            <a:solidFill>
              <a:srgbClr val="E23B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0" y="3703320"/>
            <a:ext cx="914400" cy="384048"/>
          </a:xfrm>
          <a:prstGeom prst="line">
            <a:avLst/>
          </a:prstGeom>
          <a:noFill/>
          <a:ln w="27940">
            <a:solidFill>
              <a:srgbClr val="EF7D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0" y="3703320"/>
            <a:ext cx="914400" cy="493776"/>
          </a:xfrm>
          <a:prstGeom prst="line">
            <a:avLst/>
          </a:prstGeom>
          <a:noFill/>
          <a:ln w="27940">
            <a:solidFill>
              <a:srgbClr val="E8C1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972800" y="3703320"/>
            <a:ext cx="914400" cy="603504"/>
          </a:xfrm>
          <a:prstGeom prst="line">
            <a:avLst/>
          </a:prstGeom>
          <a:noFill/>
          <a:ln w="27940">
            <a:solidFill>
              <a:srgbClr val="2EA4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972800" y="3703320"/>
            <a:ext cx="914400" cy="713232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0" y="3703320"/>
            <a:ext cx="914400" cy="82296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beyaz ışık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0" y="4617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tayf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sapma açısından gökkuşağına.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açısı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i₁ + i₂ − A; ışık tabana doğru sapar.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küçük sapma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Simetrik geçişte; indis ölçümünde kullanılır.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Dispersiyon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rengin indisi farklı; beyaz ışık ayrışır.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Tayf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Kırmızıdan mora renk şeridi.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yansımalı prizma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prizma ışığı 90° ya da 180° döndürür.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Gökkuşağı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Damlada kırılma + yansıma + kırılma: 42°.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Prizmada sapma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kırılma, tek sonuç: ışık tabana doğru sapar.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r₁ + r₂ = A          δ = i₁ + i₂ − 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6583680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2743200"/>
            <a:ext cx="1005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743200"/>
            <a:ext cx="1645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açısı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743200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ışığın girdiği ve çıktığı yüzeyler arasındaki açı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9584"/>
            <a:ext cx="6583680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3529584"/>
            <a:ext cx="1005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i₁ · r₁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3529584"/>
            <a:ext cx="1645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birinci yüzey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29584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geliş ve kırılma açıları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315968"/>
            <a:ext cx="6583680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4315968"/>
            <a:ext cx="1005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r₂ · i₂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315968"/>
            <a:ext cx="1645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ikinci yüzey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4315968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geliş ve çıkış açıları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6583680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14400" y="5102352"/>
            <a:ext cx="1005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011680" y="5102352"/>
            <a:ext cx="1645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açısı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51023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 ışın ile çıkan ışın arasındaki açı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543800" y="2743200"/>
            <a:ext cx="4007815" cy="3145536"/>
          </a:xfrm>
          <a:prstGeom prst="roundRect">
            <a:avLst>
              <a:gd name="adj" fmla="val 4070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86384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her zaman çıkamaz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474720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r₂ sınır açıdan büyükse ışık ikinci yüzeyden çıkamaz; içeride tam yansımaya uğrar.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için sınır açı ≈ 41,8°'dir. Tepe açısı büyüdükçe r₂ de büyür; 60°'lik prizmada küçük gelme açılarında ışık hapsolur.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yansımalı prizmalar bu durumu bilerek kullanır.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küçük sapma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açısı gelme açısıyla önce azalır, sonra artar.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83080"/>
            <a:ext cx="4556455" cy="960120"/>
          </a:xfrm>
          <a:prstGeom prst="roundRect">
            <a:avLst>
              <a:gd name="adj" fmla="val 9524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783080"/>
            <a:ext cx="4556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i₁ = i₂ ve r₁ = r₂ = A/2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sin((A + δmin)/2) / sin(A/2)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926080"/>
            <a:ext cx="4556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küçük sapmada ışın prizmadan simetrik geçer.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Işın, prizmanın tabanına paralel ilerler.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60° ve n = 1,5 için δmin ≈ 37,2°.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δmin ölçülerek prizmanın indisi hesaplanır.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Bu, laboratuvarda indis ölçmenin klasik yöntemidir.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Dispersiyon: renklere ayrılma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indisi dalga boyuna bağlıdır.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7830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Dalga boyu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8308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Camda 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7830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(A = 60°, i = 50°)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51460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Kırmızı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5146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700 nm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1460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1,513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146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38,3°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24612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2461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Sarı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2461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580 nm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2461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1,520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246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38,9°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7764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97764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9776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470 nm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39776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1,531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39776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39,9°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7091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70916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470916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400 nm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47091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1,538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47091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40,5°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4617720"/>
            <a:ext cx="10911535" cy="685800"/>
          </a:xfrm>
          <a:prstGeom prst="roundRect">
            <a:avLst>
              <a:gd name="adj" fmla="val 13333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461772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n(mor) &gt; n(mavi) &gt; ... &gt; n(kırmızı)        →        mor en çok sapar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40080" y="5440680"/>
            <a:ext cx="10911535" cy="594360"/>
          </a:xfrm>
          <a:prstGeom prst="roundRect">
            <a:avLst>
              <a:gd name="adj" fmla="val 21538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60120" y="5440680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Prizma renk üretmez, ayırır.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İkinci bir prizmayla tayf yeniden birleştirilirse beyaz ışık elde edilir — Newton bunu 1666'da göstermiştir.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 yansımalı prizmalar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dürbünlerde ayna değil prizma kullanılır?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 için sin θ(sınır) = 1/1,5 → θ ≈ 41,8°   ·   hipotenüse geliş 45° &gt; 41,8°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3392424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2926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yansıma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015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 90° döndürür.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114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periskop, dik açı prizması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98264" y="2743200"/>
            <a:ext cx="3392424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72584" y="2926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yansıma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72584" y="34015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 180° geri gönderir.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4114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dürbün, reflektör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6448" y="2743200"/>
            <a:ext cx="3392424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30768" y="2926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Aynaya üstünlüğü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34015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yok, kaplama bozulmaz, ikincil görüntü oluşmaz.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114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yüksek verim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217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800600"/>
            <a:ext cx="10271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İndis düşerse ne olur?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1,3 olsaydı sınır açı 50,3° olurdu; 45° bu değerin altında kaldığı için tam yansıma gerçekleşmez ve ışığın bir kısmı prizmadan dışarı sızardı. Bu yüzden prizma camının indisi önemlidir.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Gökkuşağı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Yağmur damlası küçük bir prizma gibi davranır.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83080"/>
            <a:ext cx="4556455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223760" y="1920240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22376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1783080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Damlaya girerken kırılır (renkler ayrılmaya başlar).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995160" y="2569464"/>
            <a:ext cx="4556455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223760" y="2706624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2376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569464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Damlanın arka yüzeyinden yansır.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995160" y="3355848"/>
            <a:ext cx="4556455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223760" y="3493008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2376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355848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Çıkarken ikinci kez kırılır.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995160" y="4142232"/>
            <a:ext cx="4556455" cy="676656"/>
          </a:xfrm>
          <a:prstGeom prst="roundRect">
            <a:avLst>
              <a:gd name="adj" fmla="val 1891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223760" y="427939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223760" y="4279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142232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sapma en az 138°: ışık geldiği yönle 42° açı yaparak döner.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995160" y="4983480"/>
            <a:ext cx="4556455" cy="868680"/>
          </a:xfrm>
          <a:prstGeom prst="roundRect">
            <a:avLst>
              <a:gd name="adj" fmla="val 14737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315200" y="4983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Kırmızı dışta (42°), mor içte (40°). İkinci gökkuşağı iki iç yansımadan doğar, renkleri terstir ve ≈ 51°'de görünür.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sapma açısı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Doğrudan bağıntıyla.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açısı 60° olan prizmaya 45° ile giren ışın, ikinci yüzeyden 52° ile çıkıyor.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açısı kaçtır?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i₁ + i₂ − 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45 + 52 − 60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37°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değer en küçük sapmaya çok yakın; ışın neredeyse simetrik geçmiş.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en küçük sapmadan indis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sin45° = 0,707 · sin30° = 0,5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açısı 60° olan bir prizmada en küçük sapma açısı 30° ölçülüyor.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Prizmanın kırılma indisi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≈ 1,41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sin((A + δmin)/2) / sin(A/2)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sin((60 + 30)/2) / sin30° = sin45° / sin30°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0,707 / 0,5 ≈ 1,41 (yaklaşık √2)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yöntem, bilinmeyen bir camın indisini ölçmenin en hassas yollarındandır.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ışık çıkabilir mi?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sin30° = 0,5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açısı 60°, indisi 1,5 olan prizmaya 30° ile giren ışın için r₁, r₂ ve ışığın çıkıp çıkamayacağını inceleyiniz.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r₁ ≈ 19,5° · r₂ ≈ 40,5° · çıkar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r₁ = sin30°/1,5 = 0,333 → r₁ ≈ 19,5°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r₂ = A − r₁ = 60 − 19,5 = 40,5°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açı: sin θ = 1/1,5 = 0,667 → θ ≈ 41,8°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r₂ &lt; θ olduğu için ışın çıkabilir — ama sınıra çok yakın, biraz daha küçük i₁'de hapsolurdu.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Prizma renk üretir sanmak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Prizma renkleri ayırır; beyaz ışıkta zaten hepsi vardır.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Kırmızı en çok sapar sanmak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sapan mordur; indisi en büyüktür.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i₁ + i₂ + A yazmak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Doğrusu δ = i₁ + i₂ − A'dır.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tepeye doğru sapar sanmak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Sapma her zaman tabana doğrudur.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her durumda çıkar sanmak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r₂ sınır açıyı aşarsa içeride tam yansır.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 ile prizmayı karıştırmak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Levhada doğrultu korunur, prizmada değişir.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07 · Prizmalar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kırılma, bir sapma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i₁ + i₂ − A; ışık tabana doğru sapar.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küçük sapma simetriktir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 = i₂, r₁ = r₂ = A/2; indis ölçümünde kullanılır.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İndis renge bağlıdır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 en çok, kırmızı en az sapar: dispersiyon.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prizma tam yansıtır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 açı 41,8° &lt; 45°; kayıpsız 90° ve 180° dönüş.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Prizma laboratuvarı, tayf ve gökkuşağı: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dersler.perinet.org/prizmalar.html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Prizmalar</dc:title>
  <dc:subject>Fizik · Optik</dc:subject>
  <dc:creator>Dersler</dc:creator>
  <cp:lastModifiedBy>Dersler</cp:lastModifiedBy>
  <cp:revision>1</cp:revision>
  <dcterms:created xsi:type="dcterms:W3CDTF">2026-09-18T22:00:25Z</dcterms:created>
  <dcterms:modified xsi:type="dcterms:W3CDTF">2026-09-18T22:00:25Z</dcterms:modified>
</cp:coreProperties>
</file>