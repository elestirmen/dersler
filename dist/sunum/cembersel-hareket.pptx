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Aynı diskte (T = 2 s): yarıçap büyüdükçe çizgisel hız doğrusal artar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3C8C21"/>
            </a:solidFill>
            <a:ln w="3175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4.1</c:v>
                </c:pt>
                <c:pt idx="42">
                  <c:v>4.2</c:v>
                </c:pt>
                <c:pt idx="43">
                  <c:v>4.3</c:v>
                </c:pt>
                <c:pt idx="44">
                  <c:v>4.4</c:v>
                </c:pt>
                <c:pt idx="45">
                  <c:v>4.5</c:v>
                </c:pt>
                <c:pt idx="46">
                  <c:v>4.6</c:v>
                </c:pt>
                <c:pt idx="47">
                  <c:v>4.7</c:v>
                </c:pt>
                <c:pt idx="48">
                  <c:v>4.8</c:v>
                </c:pt>
                <c:pt idx="49">
                  <c:v>4.9</c:v>
                </c:pt>
                <c:pt idx="50">
                  <c:v>5</c:v>
                </c:pt>
              </c:numCache>
            </c:numRef>
          </c:xVal>
          <c:yVal>
            <c:numRef>
              <c:f>Sheet1!$B$2:$B$52</c:f>
              <c:numCache>
                <c:formatCode>General</c:formatCode>
                <c:ptCount val="51"/>
                <c:pt idx="0">
                  <c:v>0</c:v>
                </c:pt>
                <c:pt idx="1">
                  <c:v>0.31</c:v>
                </c:pt>
                <c:pt idx="2">
                  <c:v>0.63</c:v>
                </c:pt>
                <c:pt idx="3">
                  <c:v>0.94</c:v>
                </c:pt>
                <c:pt idx="4">
                  <c:v>1.26</c:v>
                </c:pt>
                <c:pt idx="5">
                  <c:v>1.57</c:v>
                </c:pt>
                <c:pt idx="6">
                  <c:v>1.88</c:v>
                </c:pt>
                <c:pt idx="7">
                  <c:v>2.2</c:v>
                </c:pt>
                <c:pt idx="8">
                  <c:v>2.51</c:v>
                </c:pt>
                <c:pt idx="9">
                  <c:v>2.83</c:v>
                </c:pt>
                <c:pt idx="10">
                  <c:v>3.14</c:v>
                </c:pt>
                <c:pt idx="11">
                  <c:v>3.45</c:v>
                </c:pt>
                <c:pt idx="12">
                  <c:v>3.77</c:v>
                </c:pt>
                <c:pt idx="13">
                  <c:v>4.08</c:v>
                </c:pt>
                <c:pt idx="14">
                  <c:v>4.4</c:v>
                </c:pt>
                <c:pt idx="15">
                  <c:v>4.71</c:v>
                </c:pt>
                <c:pt idx="16">
                  <c:v>5.02</c:v>
                </c:pt>
                <c:pt idx="17">
                  <c:v>5.34</c:v>
                </c:pt>
                <c:pt idx="18">
                  <c:v>5.65</c:v>
                </c:pt>
                <c:pt idx="19">
                  <c:v>5.97</c:v>
                </c:pt>
                <c:pt idx="20">
                  <c:v>6.28</c:v>
                </c:pt>
                <c:pt idx="21">
                  <c:v>6.59</c:v>
                </c:pt>
                <c:pt idx="22">
                  <c:v>6.91</c:v>
                </c:pt>
                <c:pt idx="23">
                  <c:v>7.22</c:v>
                </c:pt>
                <c:pt idx="24">
                  <c:v>7.54</c:v>
                </c:pt>
                <c:pt idx="25">
                  <c:v>7.85</c:v>
                </c:pt>
                <c:pt idx="26">
                  <c:v>8.16</c:v>
                </c:pt>
                <c:pt idx="27">
                  <c:v>8.48</c:v>
                </c:pt>
                <c:pt idx="28">
                  <c:v>8.79</c:v>
                </c:pt>
                <c:pt idx="29">
                  <c:v>9.11</c:v>
                </c:pt>
                <c:pt idx="30">
                  <c:v>9.42</c:v>
                </c:pt>
                <c:pt idx="31">
                  <c:v>9.73</c:v>
                </c:pt>
                <c:pt idx="32">
                  <c:v>10.05</c:v>
                </c:pt>
                <c:pt idx="33">
                  <c:v>10.36</c:v>
                </c:pt>
                <c:pt idx="34">
                  <c:v>10.68</c:v>
                </c:pt>
                <c:pt idx="35">
                  <c:v>10.99</c:v>
                </c:pt>
                <c:pt idx="36">
                  <c:v>11.3</c:v>
                </c:pt>
                <c:pt idx="37">
                  <c:v>11.62</c:v>
                </c:pt>
                <c:pt idx="38">
                  <c:v>11.93</c:v>
                </c:pt>
                <c:pt idx="39">
                  <c:v>12.25</c:v>
                </c:pt>
                <c:pt idx="40">
                  <c:v>12.56</c:v>
                </c:pt>
                <c:pt idx="41">
                  <c:v>12.87</c:v>
                </c:pt>
                <c:pt idx="42">
                  <c:v>13.19</c:v>
                </c:pt>
                <c:pt idx="43">
                  <c:v>13.5</c:v>
                </c:pt>
                <c:pt idx="44">
                  <c:v>13.82</c:v>
                </c:pt>
                <c:pt idx="45">
                  <c:v>14.13</c:v>
                </c:pt>
                <c:pt idx="46">
                  <c:v>14.44</c:v>
                </c:pt>
                <c:pt idx="47">
                  <c:v>14.76</c:v>
                </c:pt>
                <c:pt idx="48">
                  <c:v>15.07</c:v>
                </c:pt>
                <c:pt idx="49">
                  <c:v>15.39</c:v>
                </c:pt>
                <c:pt idx="50">
                  <c:v>15.7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yarıçap r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v (m/s)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r = 2 m sabit: hız 2 katına çıkarsa ivme 4 katına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  <c:pt idx="25">
                  <c:v>12.5</c:v>
                </c:pt>
                <c:pt idx="26">
                  <c:v>13</c:v>
                </c:pt>
                <c:pt idx="27">
                  <c:v>13.5</c:v>
                </c:pt>
                <c:pt idx="28">
                  <c:v>14</c:v>
                </c:pt>
                <c:pt idx="29">
                  <c:v>14.5</c:v>
                </c:pt>
                <c:pt idx="30">
                  <c:v>15</c:v>
                </c:pt>
                <c:pt idx="31">
                  <c:v>15.5</c:v>
                </c:pt>
                <c:pt idx="32">
                  <c:v>16</c:v>
                </c:pt>
                <c:pt idx="33">
                  <c:v>16.5</c:v>
                </c:pt>
                <c:pt idx="34">
                  <c:v>17</c:v>
                </c:pt>
                <c:pt idx="35">
                  <c:v>17.5</c:v>
                </c:pt>
                <c:pt idx="36">
                  <c:v>18</c:v>
                </c:pt>
                <c:pt idx="37">
                  <c:v>18.5</c:v>
                </c:pt>
                <c:pt idx="38">
                  <c:v>19</c:v>
                </c:pt>
                <c:pt idx="39">
                  <c:v>19.5</c:v>
                </c:pt>
                <c:pt idx="40">
                  <c:v>20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0.13</c:v>
                </c:pt>
                <c:pt idx="2">
                  <c:v>0.5</c:v>
                </c:pt>
                <c:pt idx="3">
                  <c:v>1.13</c:v>
                </c:pt>
                <c:pt idx="4">
                  <c:v>2</c:v>
                </c:pt>
                <c:pt idx="5">
                  <c:v>3.13</c:v>
                </c:pt>
                <c:pt idx="6">
                  <c:v>4.5</c:v>
                </c:pt>
                <c:pt idx="7">
                  <c:v>6.13</c:v>
                </c:pt>
                <c:pt idx="8">
                  <c:v>8</c:v>
                </c:pt>
                <c:pt idx="9">
                  <c:v>10.13</c:v>
                </c:pt>
                <c:pt idx="10">
                  <c:v>12.5</c:v>
                </c:pt>
                <c:pt idx="11">
                  <c:v>15.13</c:v>
                </c:pt>
                <c:pt idx="12">
                  <c:v>18</c:v>
                </c:pt>
                <c:pt idx="13">
                  <c:v>21.13</c:v>
                </c:pt>
                <c:pt idx="14">
                  <c:v>24.5</c:v>
                </c:pt>
                <c:pt idx="15">
                  <c:v>28.13</c:v>
                </c:pt>
                <c:pt idx="16">
                  <c:v>32</c:v>
                </c:pt>
                <c:pt idx="17">
                  <c:v>36.13</c:v>
                </c:pt>
                <c:pt idx="18">
                  <c:v>40.5</c:v>
                </c:pt>
                <c:pt idx="19">
                  <c:v>45.13</c:v>
                </c:pt>
                <c:pt idx="20">
                  <c:v>50</c:v>
                </c:pt>
                <c:pt idx="21">
                  <c:v>55.13</c:v>
                </c:pt>
                <c:pt idx="22">
                  <c:v>60.5</c:v>
                </c:pt>
                <c:pt idx="23">
                  <c:v>66.13</c:v>
                </c:pt>
                <c:pt idx="24">
                  <c:v>72</c:v>
                </c:pt>
                <c:pt idx="25">
                  <c:v>78.13</c:v>
                </c:pt>
                <c:pt idx="26">
                  <c:v>84.5</c:v>
                </c:pt>
                <c:pt idx="27">
                  <c:v>91.13</c:v>
                </c:pt>
                <c:pt idx="28">
                  <c:v>98</c:v>
                </c:pt>
                <c:pt idx="29">
                  <c:v>105.13</c:v>
                </c:pt>
                <c:pt idx="30">
                  <c:v>112.5</c:v>
                </c:pt>
                <c:pt idx="31">
                  <c:v>120.13</c:v>
                </c:pt>
                <c:pt idx="32">
                  <c:v>128</c:v>
                </c:pt>
                <c:pt idx="33">
                  <c:v>136.13</c:v>
                </c:pt>
                <c:pt idx="34">
                  <c:v>144.5</c:v>
                </c:pt>
                <c:pt idx="35">
                  <c:v>153.13</c:v>
                </c:pt>
                <c:pt idx="36">
                  <c:v>162</c:v>
                </c:pt>
                <c:pt idx="37">
                  <c:v>171.13</c:v>
                </c:pt>
                <c:pt idx="38">
                  <c:v>180.5</c:v>
                </c:pt>
                <c:pt idx="39">
                  <c:v>190.13</c:v>
                </c:pt>
                <c:pt idx="40">
                  <c:v>200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hız v (m/s)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a (m/s²)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v = 10 m/s sabit: yarıçap büyüdükçe ivme azalır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Sheet1!$A$2:$A$60</c:f>
              <c:numCache>
                <c:formatCode>General</c:formatCode>
                <c:ptCount val="59"/>
                <c:pt idx="0">
                  <c:v>0.4</c:v>
                </c:pt>
                <c:pt idx="1">
                  <c:v>0.6</c:v>
                </c:pt>
                <c:pt idx="2">
                  <c:v>0.8</c:v>
                </c:pt>
                <c:pt idx="3">
                  <c:v>1</c:v>
                </c:pt>
                <c:pt idx="4">
                  <c:v>1.2</c:v>
                </c:pt>
                <c:pt idx="5">
                  <c:v>1.4</c:v>
                </c:pt>
                <c:pt idx="6">
                  <c:v>1.6</c:v>
                </c:pt>
                <c:pt idx="7">
                  <c:v>1.8</c:v>
                </c:pt>
                <c:pt idx="8">
                  <c:v>2</c:v>
                </c:pt>
                <c:pt idx="9">
                  <c:v>2.2</c:v>
                </c:pt>
                <c:pt idx="10">
                  <c:v>2.4</c:v>
                </c:pt>
                <c:pt idx="11">
                  <c:v>2.6</c:v>
                </c:pt>
                <c:pt idx="12">
                  <c:v>2.8</c:v>
                </c:pt>
                <c:pt idx="13">
                  <c:v>3</c:v>
                </c:pt>
                <c:pt idx="14">
                  <c:v>3.2</c:v>
                </c:pt>
                <c:pt idx="15">
                  <c:v>3.4</c:v>
                </c:pt>
                <c:pt idx="16">
                  <c:v>3.6</c:v>
                </c:pt>
                <c:pt idx="17">
                  <c:v>3.8</c:v>
                </c:pt>
                <c:pt idx="18">
                  <c:v>4</c:v>
                </c:pt>
                <c:pt idx="19">
                  <c:v>4.2</c:v>
                </c:pt>
                <c:pt idx="20">
                  <c:v>4.4</c:v>
                </c:pt>
                <c:pt idx="21">
                  <c:v>4.6</c:v>
                </c:pt>
                <c:pt idx="22">
                  <c:v>4.8</c:v>
                </c:pt>
                <c:pt idx="23">
                  <c:v>5</c:v>
                </c:pt>
                <c:pt idx="24">
                  <c:v>5.2</c:v>
                </c:pt>
                <c:pt idx="25">
                  <c:v>5.4</c:v>
                </c:pt>
                <c:pt idx="26">
                  <c:v>5.6</c:v>
                </c:pt>
                <c:pt idx="27">
                  <c:v>5.8</c:v>
                </c:pt>
                <c:pt idx="28">
                  <c:v>6</c:v>
                </c:pt>
                <c:pt idx="29">
                  <c:v>6.2</c:v>
                </c:pt>
                <c:pt idx="30">
                  <c:v>6.4</c:v>
                </c:pt>
                <c:pt idx="31">
                  <c:v>6.6</c:v>
                </c:pt>
                <c:pt idx="32">
                  <c:v>6.8</c:v>
                </c:pt>
                <c:pt idx="33">
                  <c:v>7</c:v>
                </c:pt>
                <c:pt idx="34">
                  <c:v>7.2</c:v>
                </c:pt>
                <c:pt idx="35">
                  <c:v>7.4</c:v>
                </c:pt>
                <c:pt idx="36">
                  <c:v>7.6</c:v>
                </c:pt>
                <c:pt idx="37">
                  <c:v>7.8</c:v>
                </c:pt>
                <c:pt idx="38">
                  <c:v>8</c:v>
                </c:pt>
                <c:pt idx="39">
                  <c:v>8.2</c:v>
                </c:pt>
                <c:pt idx="40">
                  <c:v>8.4</c:v>
                </c:pt>
                <c:pt idx="41">
                  <c:v>8.6</c:v>
                </c:pt>
                <c:pt idx="42">
                  <c:v>8.8</c:v>
                </c:pt>
                <c:pt idx="43">
                  <c:v>9</c:v>
                </c:pt>
                <c:pt idx="44">
                  <c:v>9.2</c:v>
                </c:pt>
                <c:pt idx="45">
                  <c:v>9.4</c:v>
                </c:pt>
                <c:pt idx="46">
                  <c:v>9.6</c:v>
                </c:pt>
                <c:pt idx="47">
                  <c:v>9.8</c:v>
                </c:pt>
                <c:pt idx="48">
                  <c:v>10</c:v>
                </c:pt>
                <c:pt idx="49">
                  <c:v>10.2</c:v>
                </c:pt>
                <c:pt idx="50">
                  <c:v>10.4</c:v>
                </c:pt>
                <c:pt idx="51">
                  <c:v>10.6</c:v>
                </c:pt>
                <c:pt idx="52">
                  <c:v>10.8</c:v>
                </c:pt>
                <c:pt idx="53">
                  <c:v>11</c:v>
                </c:pt>
                <c:pt idx="54">
                  <c:v>11.2</c:v>
                </c:pt>
                <c:pt idx="55">
                  <c:v>11.4</c:v>
                </c:pt>
                <c:pt idx="56">
                  <c:v>11.6</c:v>
                </c:pt>
                <c:pt idx="57">
                  <c:v>11.8</c:v>
                </c:pt>
                <c:pt idx="58">
                  <c:v>12</c:v>
                </c:pt>
              </c:numCache>
            </c:numRef>
          </c:xVal>
          <c:yVal>
            <c:numRef>
              <c:f>Sheet1!$B$2:$B$60</c:f>
              <c:numCache>
                <c:formatCode>General</c:formatCode>
                <c:ptCount val="59"/>
                <c:pt idx="0">
                  <c:v>250</c:v>
                </c:pt>
                <c:pt idx="1">
                  <c:v>166.7</c:v>
                </c:pt>
                <c:pt idx="2">
                  <c:v>125</c:v>
                </c:pt>
                <c:pt idx="3">
                  <c:v>100</c:v>
                </c:pt>
                <c:pt idx="4">
                  <c:v>83.3</c:v>
                </c:pt>
                <c:pt idx="5">
                  <c:v>71.4</c:v>
                </c:pt>
                <c:pt idx="6">
                  <c:v>62.5</c:v>
                </c:pt>
                <c:pt idx="7">
                  <c:v>55.6</c:v>
                </c:pt>
                <c:pt idx="8">
                  <c:v>50</c:v>
                </c:pt>
                <c:pt idx="9">
                  <c:v>45.5</c:v>
                </c:pt>
                <c:pt idx="10">
                  <c:v>41.7</c:v>
                </c:pt>
                <c:pt idx="11">
                  <c:v>38.5</c:v>
                </c:pt>
                <c:pt idx="12">
                  <c:v>35.7</c:v>
                </c:pt>
                <c:pt idx="13">
                  <c:v>33.3</c:v>
                </c:pt>
                <c:pt idx="14">
                  <c:v>31.3</c:v>
                </c:pt>
                <c:pt idx="15">
                  <c:v>29.4</c:v>
                </c:pt>
                <c:pt idx="16">
                  <c:v>27.8</c:v>
                </c:pt>
                <c:pt idx="17">
                  <c:v>26.3</c:v>
                </c:pt>
                <c:pt idx="18">
                  <c:v>25</c:v>
                </c:pt>
                <c:pt idx="19">
                  <c:v>23.8</c:v>
                </c:pt>
                <c:pt idx="20">
                  <c:v>22.7</c:v>
                </c:pt>
                <c:pt idx="21">
                  <c:v>21.7</c:v>
                </c:pt>
                <c:pt idx="22">
                  <c:v>20.8</c:v>
                </c:pt>
                <c:pt idx="23">
                  <c:v>20</c:v>
                </c:pt>
                <c:pt idx="24">
                  <c:v>19.2</c:v>
                </c:pt>
                <c:pt idx="25">
                  <c:v>18.5</c:v>
                </c:pt>
                <c:pt idx="26">
                  <c:v>17.9</c:v>
                </c:pt>
                <c:pt idx="27">
                  <c:v>17.2</c:v>
                </c:pt>
                <c:pt idx="28">
                  <c:v>16.7</c:v>
                </c:pt>
                <c:pt idx="29">
                  <c:v>16.1</c:v>
                </c:pt>
                <c:pt idx="30">
                  <c:v>15.6</c:v>
                </c:pt>
                <c:pt idx="31">
                  <c:v>15.2</c:v>
                </c:pt>
                <c:pt idx="32">
                  <c:v>14.7</c:v>
                </c:pt>
                <c:pt idx="33">
                  <c:v>14.3</c:v>
                </c:pt>
                <c:pt idx="34">
                  <c:v>13.9</c:v>
                </c:pt>
                <c:pt idx="35">
                  <c:v>13.5</c:v>
                </c:pt>
                <c:pt idx="36">
                  <c:v>13.2</c:v>
                </c:pt>
                <c:pt idx="37">
                  <c:v>12.8</c:v>
                </c:pt>
                <c:pt idx="38">
                  <c:v>12.5</c:v>
                </c:pt>
                <c:pt idx="39">
                  <c:v>12.2</c:v>
                </c:pt>
                <c:pt idx="40">
                  <c:v>11.9</c:v>
                </c:pt>
                <c:pt idx="41">
                  <c:v>11.6</c:v>
                </c:pt>
                <c:pt idx="42">
                  <c:v>11.4</c:v>
                </c:pt>
                <c:pt idx="43">
                  <c:v>11.1</c:v>
                </c:pt>
                <c:pt idx="44">
                  <c:v>10.9</c:v>
                </c:pt>
                <c:pt idx="45">
                  <c:v>10.6</c:v>
                </c:pt>
                <c:pt idx="46">
                  <c:v>10.4</c:v>
                </c:pt>
                <c:pt idx="47">
                  <c:v>10.2</c:v>
                </c:pt>
                <c:pt idx="48">
                  <c:v>10</c:v>
                </c:pt>
                <c:pt idx="49">
                  <c:v>9.8</c:v>
                </c:pt>
                <c:pt idx="50">
                  <c:v>9.6</c:v>
                </c:pt>
                <c:pt idx="51">
                  <c:v>9.4</c:v>
                </c:pt>
                <c:pt idx="52">
                  <c:v>9.3</c:v>
                </c:pt>
                <c:pt idx="53">
                  <c:v>9.1</c:v>
                </c:pt>
                <c:pt idx="54">
                  <c:v>8.9</c:v>
                </c:pt>
                <c:pt idx="55">
                  <c:v>8.8</c:v>
                </c:pt>
                <c:pt idx="56">
                  <c:v>8.6</c:v>
                </c:pt>
                <c:pt idx="57">
                  <c:v>8.5</c:v>
                </c:pt>
                <c:pt idx="58">
                  <c:v>8.3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yarıçap r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a (m/s²)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Savrulmadan alınabilecek en büyük hız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kuru (μ = 0,8)</c:v>
                </c:pt>
              </c:strCache>
            </c:strRef>
          </c:tx>
          <c:spPr>
            <a:solidFill>
              <a:srgbClr val="3C8C21"/>
            </a:solidFill>
            <a:ln w="3175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Sheet1!$A$2:$A$25</c:f>
              <c:numCache>
                <c:formatCode>General</c:formatCode>
                <c:ptCount val="2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  <c:pt idx="7">
                  <c:v>80</c:v>
                </c:pt>
                <c:pt idx="8">
                  <c:v>90</c:v>
                </c:pt>
                <c:pt idx="9">
                  <c:v>100</c:v>
                </c:pt>
                <c:pt idx="10">
                  <c:v>110</c:v>
                </c:pt>
                <c:pt idx="11">
                  <c:v>120</c:v>
                </c:pt>
                <c:pt idx="12">
                  <c:v>130</c:v>
                </c:pt>
                <c:pt idx="13">
                  <c:v>140</c:v>
                </c:pt>
                <c:pt idx="14">
                  <c:v>150</c:v>
                </c:pt>
                <c:pt idx="15">
                  <c:v>160</c:v>
                </c:pt>
                <c:pt idx="16">
                  <c:v>170</c:v>
                </c:pt>
                <c:pt idx="17">
                  <c:v>180</c:v>
                </c:pt>
                <c:pt idx="18">
                  <c:v>190</c:v>
                </c:pt>
                <c:pt idx="19">
                  <c:v>200</c:v>
                </c:pt>
                <c:pt idx="20">
                  <c:v>210</c:v>
                </c:pt>
                <c:pt idx="21">
                  <c:v>220</c:v>
                </c:pt>
                <c:pt idx="22">
                  <c:v>230</c:v>
                </c:pt>
                <c:pt idx="23">
                  <c:v>240</c:v>
                </c:pt>
              </c:numCache>
            </c:numRef>
          </c:xVal>
          <c:yVal>
            <c:numRef>
              <c:f>Sheet1!$B$2:$B$25</c:f>
              <c:numCache>
                <c:formatCode>General</c:formatCode>
                <c:ptCount val="24"/>
                <c:pt idx="0">
                  <c:v>31.9</c:v>
                </c:pt>
                <c:pt idx="1">
                  <c:v>45.1</c:v>
                </c:pt>
                <c:pt idx="2">
                  <c:v>55.2</c:v>
                </c:pt>
                <c:pt idx="3">
                  <c:v>63.8</c:v>
                </c:pt>
                <c:pt idx="4">
                  <c:v>71.3</c:v>
                </c:pt>
                <c:pt idx="5">
                  <c:v>78.1</c:v>
                </c:pt>
                <c:pt idx="6">
                  <c:v>84.4</c:v>
                </c:pt>
                <c:pt idx="7">
                  <c:v>90.2</c:v>
                </c:pt>
                <c:pt idx="8">
                  <c:v>95.7</c:v>
                </c:pt>
                <c:pt idx="9">
                  <c:v>100.9</c:v>
                </c:pt>
                <c:pt idx="10">
                  <c:v>105.8</c:v>
                </c:pt>
                <c:pt idx="11">
                  <c:v>110.5</c:v>
                </c:pt>
                <c:pt idx="12">
                  <c:v>115</c:v>
                </c:pt>
                <c:pt idx="13">
                  <c:v>119.3</c:v>
                </c:pt>
                <c:pt idx="14">
                  <c:v>123.5</c:v>
                </c:pt>
                <c:pt idx="15">
                  <c:v>127.6</c:v>
                </c:pt>
                <c:pt idx="16">
                  <c:v>131.5</c:v>
                </c:pt>
                <c:pt idx="17">
                  <c:v>135.3</c:v>
                </c:pt>
                <c:pt idx="18">
                  <c:v>139</c:v>
                </c:pt>
                <c:pt idx="19">
                  <c:v>142.6</c:v>
                </c:pt>
                <c:pt idx="20">
                  <c:v>146.1</c:v>
                </c:pt>
                <c:pt idx="21">
                  <c:v>149.6</c:v>
                </c:pt>
                <c:pt idx="22">
                  <c:v>152.9</c:v>
                </c:pt>
                <c:pt idx="23">
                  <c:v>156.2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ıslak (μ = 0,5)</c:v>
                </c:pt>
              </c:strCache>
            </c:strRef>
          </c:tx>
          <c:spPr>
            <a:solidFill>
              <a:srgbClr val="A56209"/>
            </a:solidFill>
            <a:ln w="3175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Sheet1!$A$2:$A$25</c:f>
              <c:numCache>
                <c:formatCode>General</c:formatCode>
                <c:ptCount val="2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  <c:pt idx="7">
                  <c:v>80</c:v>
                </c:pt>
                <c:pt idx="8">
                  <c:v>90</c:v>
                </c:pt>
                <c:pt idx="9">
                  <c:v>100</c:v>
                </c:pt>
                <c:pt idx="10">
                  <c:v>110</c:v>
                </c:pt>
                <c:pt idx="11">
                  <c:v>120</c:v>
                </c:pt>
                <c:pt idx="12">
                  <c:v>130</c:v>
                </c:pt>
                <c:pt idx="13">
                  <c:v>140</c:v>
                </c:pt>
                <c:pt idx="14">
                  <c:v>150</c:v>
                </c:pt>
                <c:pt idx="15">
                  <c:v>160</c:v>
                </c:pt>
                <c:pt idx="16">
                  <c:v>170</c:v>
                </c:pt>
                <c:pt idx="17">
                  <c:v>180</c:v>
                </c:pt>
                <c:pt idx="18">
                  <c:v>190</c:v>
                </c:pt>
                <c:pt idx="19">
                  <c:v>200</c:v>
                </c:pt>
                <c:pt idx="20">
                  <c:v>210</c:v>
                </c:pt>
                <c:pt idx="21">
                  <c:v>220</c:v>
                </c:pt>
                <c:pt idx="22">
                  <c:v>230</c:v>
                </c:pt>
                <c:pt idx="23">
                  <c:v>240</c:v>
                </c:pt>
              </c:numCache>
            </c:numRef>
          </c:xVal>
          <c:yVal>
            <c:numRef>
              <c:f>Sheet1!$C$2:$C$25</c:f>
              <c:numCache>
                <c:formatCode>General</c:formatCode>
                <c:ptCount val="24"/>
                <c:pt idx="0">
                  <c:v>25.2</c:v>
                </c:pt>
                <c:pt idx="1">
                  <c:v>35.7</c:v>
                </c:pt>
                <c:pt idx="2">
                  <c:v>43.7</c:v>
                </c:pt>
                <c:pt idx="3">
                  <c:v>50.4</c:v>
                </c:pt>
                <c:pt idx="4">
                  <c:v>56.4</c:v>
                </c:pt>
                <c:pt idx="5">
                  <c:v>61.8</c:v>
                </c:pt>
                <c:pt idx="6">
                  <c:v>66.7</c:v>
                </c:pt>
                <c:pt idx="7">
                  <c:v>71.3</c:v>
                </c:pt>
                <c:pt idx="8">
                  <c:v>75.6</c:v>
                </c:pt>
                <c:pt idx="9">
                  <c:v>79.7</c:v>
                </c:pt>
                <c:pt idx="10">
                  <c:v>83.6</c:v>
                </c:pt>
                <c:pt idx="11">
                  <c:v>87.3</c:v>
                </c:pt>
                <c:pt idx="12">
                  <c:v>90.9</c:v>
                </c:pt>
                <c:pt idx="13">
                  <c:v>94.3</c:v>
                </c:pt>
                <c:pt idx="14">
                  <c:v>97.6</c:v>
                </c:pt>
                <c:pt idx="15">
                  <c:v>100.9</c:v>
                </c:pt>
                <c:pt idx="16">
                  <c:v>104</c:v>
                </c:pt>
                <c:pt idx="17">
                  <c:v>107</c:v>
                </c:pt>
                <c:pt idx="18">
                  <c:v>109.9</c:v>
                </c:pt>
                <c:pt idx="19">
                  <c:v>112.8</c:v>
                </c:pt>
                <c:pt idx="20">
                  <c:v>115.5</c:v>
                </c:pt>
                <c:pt idx="21">
                  <c:v>118.3</c:v>
                </c:pt>
                <c:pt idx="22">
                  <c:v>120.9</c:v>
                </c:pt>
                <c:pt idx="23">
                  <c:v>123.5</c:v>
                </c:pt>
              </c:numCache>
            </c:numRef>
          </c:y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karlı (μ = 0,2)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Sheet1!$A$2:$A$25</c:f>
              <c:numCache>
                <c:formatCode>General</c:formatCode>
                <c:ptCount val="2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  <c:pt idx="5">
                  <c:v>60</c:v>
                </c:pt>
                <c:pt idx="6">
                  <c:v>70</c:v>
                </c:pt>
                <c:pt idx="7">
                  <c:v>80</c:v>
                </c:pt>
                <c:pt idx="8">
                  <c:v>90</c:v>
                </c:pt>
                <c:pt idx="9">
                  <c:v>100</c:v>
                </c:pt>
                <c:pt idx="10">
                  <c:v>110</c:v>
                </c:pt>
                <c:pt idx="11">
                  <c:v>120</c:v>
                </c:pt>
                <c:pt idx="12">
                  <c:v>130</c:v>
                </c:pt>
                <c:pt idx="13">
                  <c:v>140</c:v>
                </c:pt>
                <c:pt idx="14">
                  <c:v>150</c:v>
                </c:pt>
                <c:pt idx="15">
                  <c:v>160</c:v>
                </c:pt>
                <c:pt idx="16">
                  <c:v>170</c:v>
                </c:pt>
                <c:pt idx="17">
                  <c:v>180</c:v>
                </c:pt>
                <c:pt idx="18">
                  <c:v>190</c:v>
                </c:pt>
                <c:pt idx="19">
                  <c:v>200</c:v>
                </c:pt>
                <c:pt idx="20">
                  <c:v>210</c:v>
                </c:pt>
                <c:pt idx="21">
                  <c:v>220</c:v>
                </c:pt>
                <c:pt idx="22">
                  <c:v>230</c:v>
                </c:pt>
                <c:pt idx="23">
                  <c:v>240</c:v>
                </c:pt>
              </c:numCache>
            </c:numRef>
          </c:xVal>
          <c:yVal>
            <c:numRef>
              <c:f>Sheet1!$D$2:$D$25</c:f>
              <c:numCache>
                <c:formatCode>General</c:formatCode>
                <c:ptCount val="24"/>
                <c:pt idx="0">
                  <c:v>15.9</c:v>
                </c:pt>
                <c:pt idx="1">
                  <c:v>22.6</c:v>
                </c:pt>
                <c:pt idx="2">
                  <c:v>27.6</c:v>
                </c:pt>
                <c:pt idx="3">
                  <c:v>31.9</c:v>
                </c:pt>
                <c:pt idx="4">
                  <c:v>35.7</c:v>
                </c:pt>
                <c:pt idx="5">
                  <c:v>39.1</c:v>
                </c:pt>
                <c:pt idx="6">
                  <c:v>42.2</c:v>
                </c:pt>
                <c:pt idx="7">
                  <c:v>45.1</c:v>
                </c:pt>
                <c:pt idx="8">
                  <c:v>47.8</c:v>
                </c:pt>
                <c:pt idx="9">
                  <c:v>50.4</c:v>
                </c:pt>
                <c:pt idx="10">
                  <c:v>52.9</c:v>
                </c:pt>
                <c:pt idx="11">
                  <c:v>55.2</c:v>
                </c:pt>
                <c:pt idx="12">
                  <c:v>57.5</c:v>
                </c:pt>
                <c:pt idx="13">
                  <c:v>59.7</c:v>
                </c:pt>
                <c:pt idx="14">
                  <c:v>61.8</c:v>
                </c:pt>
                <c:pt idx="15">
                  <c:v>63.8</c:v>
                </c:pt>
                <c:pt idx="16">
                  <c:v>65.7</c:v>
                </c:pt>
                <c:pt idx="17">
                  <c:v>67.7</c:v>
                </c:pt>
                <c:pt idx="18">
                  <c:v>69.5</c:v>
                </c:pt>
                <c:pt idx="19">
                  <c:v>71.3</c:v>
                </c:pt>
                <c:pt idx="20">
                  <c:v>73.1</c:v>
                </c:pt>
                <c:pt idx="21">
                  <c:v>74.8</c:v>
                </c:pt>
                <c:pt idx="22">
                  <c:v>76.5</c:v>
                </c:pt>
                <c:pt idx="23">
                  <c:v>78.1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viraj yarıçapı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v(maks) (km/h)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C577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Açılış: 'Sabit süratle dönen bir cismin ivmesi var mıdır?' Çoğu öğrenci hayır der; ders bu cevabı düzeltmek üzerine kurulu.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konu Newton yasalarının çembersel harekete uygulanmasıdır; yeni bir yasa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İvmenin hıza dik olması fikri bu dersin en soyut kısmı; ipli örnekle somutlaştır.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Atlıkarınca örneği: dıştaki at daha hızlı ama ikisi de aynı anda turu bitirir.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 doğrusal: v ile r doğru orantılı. Bir sonraki slaytta a ile v'nin karesel ilişkisi gelecek.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Sağdaki 1/r eğrisi, geniş virajın neden daha güvenli olduğunu anlatır: aynı hızda daha küçük ivme.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Tabloyu tek tek sordur: 'Uyduyu çemberde tutan kuvvet hangisi?' Cevap: yerçekimi.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Şemayı göstererek sor: 'İp kesilirse taş hangi yöne gider?' Sınıfın çoğu kırmızı oku seçer.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 üç eğri: kışın hız sınırı neden düşürülmeli sorusunun fiziksel cevabı.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Sıralamayı ezberlet: önce T'den f ve v, sonra a, en son 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soru tipi sınavlarda çok çıkıyor. 'Aynı disk' ifadesini görünce ω ortak yazdır.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satır sezgiye aykırı gelir: 'ağır araç daha çok savrulur' sanısını burada düzelt.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iki madde vektör kavramının özü; kalan dördü uygulama hataları.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siteyi aç: ipi kes deneyiyle teğet doğrultuyu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Düzgün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çembersel hareket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794760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Sürat sabit olabilir; ama hız her an yön değiştiriyorsa hareket ivmelidir. Bu ivme daima merkeze doğrudur ve onu üreten kuvvet olmadan cisim çemberde kalamaz.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9834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2πr / T        a = v² / r        F = m·v² / 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732520" y="2148840"/>
            <a:ext cx="2651760" cy="2651760"/>
          </a:xfrm>
          <a:prstGeom prst="ellipse">
            <a:avLst/>
          </a:prstGeom>
          <a:ln w="25400">
            <a:solidFill>
              <a:srgbClr val="3D4C74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9994392" y="3410712"/>
            <a:ext cx="128016" cy="128016"/>
          </a:xfrm>
          <a:prstGeom prst="ellipse">
            <a:avLst/>
          </a:prstGeom>
          <a:solidFill>
            <a:srgbClr val="6A7798"/>
          </a:solidFill>
          <a:ln/>
        </p:spPr>
      </p:sp>
      <p:sp>
        <p:nvSpPr>
          <p:cNvPr id="8" name="Shape 6"/>
          <p:cNvSpPr/>
          <p:nvPr/>
        </p:nvSpPr>
        <p:spPr>
          <a:xfrm>
            <a:off x="11137392" y="3310128"/>
            <a:ext cx="329184" cy="329184"/>
          </a:xfrm>
          <a:prstGeom prst="ellipse">
            <a:avLst/>
          </a:prstGeom>
          <a:solidFill>
            <a:srgbClr val="82AAFF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301984" y="2331720"/>
            <a:ext cx="0" cy="960120"/>
          </a:xfrm>
          <a:prstGeom prst="line">
            <a:avLst/>
          </a:prstGeom>
          <a:noFill/>
          <a:ln w="31750">
            <a:solidFill>
              <a:srgbClr val="82AA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10195560" y="3474720"/>
            <a:ext cx="941832" cy="0"/>
          </a:xfrm>
          <a:prstGeom prst="line">
            <a:avLst/>
          </a:prstGeom>
          <a:noFill/>
          <a:ln w="31750">
            <a:solidFill>
              <a:srgbClr val="FF8FA3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11109960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A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829800" y="3566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dersler.perinet.org/cembersel-hareket.html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periyottan viraj güvenliğine.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süratli ama ivmeli hareket.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Periyot ve frekans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T, f ve açısal hız ω.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Çizgisel hız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2πr/T = ω·r.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Merkezcil ivme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v²/r, daima merkeze doğru.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Merkezcil kuvvet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bir kuvvet değil, bir rol.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Viraj ve savrulma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 hız √(μgr).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Sabit sürat, değişen hız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bir vektördür: büyüklüğü sabit olsa da yönü değişiyorsa hız değişiyordur.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583680" cy="1645920"/>
          </a:xfrm>
          <a:prstGeom prst="roundRect">
            <a:avLst>
              <a:gd name="adj" fmla="val 7778"/>
            </a:avLst>
          </a:prstGeom>
          <a:solidFill>
            <a:srgbClr val="EAF0FD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178308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Düzgün çembersel hareket, sabit süratli ama ivmeli bir harekettir.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6583680" cy="658368"/>
          </a:xfrm>
          <a:prstGeom prst="roundRect">
            <a:avLst>
              <a:gd name="adj" fmla="val 1944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37033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Sürat (skaler)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370332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sabittir: |v| değişmez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453128"/>
            <a:ext cx="658368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14400" y="44531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(vektör)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445312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an yön değiştirir; yörüngeye teğettir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202936"/>
            <a:ext cx="6583680" cy="658368"/>
          </a:xfrm>
          <a:prstGeom prst="roundRect">
            <a:avLst>
              <a:gd name="adj" fmla="val 1944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520293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108960" y="520293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hızın yönünü çevirir; merkeze doğrudur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589520" y="1783080"/>
            <a:ext cx="3962095" cy="4069080"/>
          </a:xfrm>
          <a:prstGeom prst="roundRect">
            <a:avLst>
              <a:gd name="adj" fmla="val 3231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90956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İvmenin işi ne?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24688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Doğrusal harekette ivme hızı büyütür ya da küçültür.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çembersel harekette ise ivme hıza diktir: büyüklüğünü değiştirmez, yalnızca yönünü çevirir.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cisim sürekli 'içeri düşer' ama yarıçapı sabit kalır.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Periyot, frekans ve açısal hız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Katı bir cisim dönerken bu üç büyüklük bütün noktalar için ortaktır.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583680" cy="841248"/>
          </a:xfrm>
          <a:prstGeom prst="roundRect">
            <a:avLst>
              <a:gd name="adj" fmla="val 1521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7830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178308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periyot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783080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tam turun süresi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6583680" cy="841248"/>
          </a:xfrm>
          <a:prstGeom prst="roundRect">
            <a:avLst>
              <a:gd name="adj" fmla="val 1521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14400" y="274320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2743200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 zamandaki tur sayısı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74320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6583680" cy="841248"/>
          </a:xfrm>
          <a:prstGeom prst="roundRect">
            <a:avLst>
              <a:gd name="adj" fmla="val 1521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370332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ω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0332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açısal hız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703320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 zamanda taranan açı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70332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rad/s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6583680" cy="731520"/>
          </a:xfrm>
          <a:prstGeom prst="roundRect">
            <a:avLst>
              <a:gd name="adj" fmla="val 12500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7548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1 / f        ω = 2π / T = 2π·f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589520" y="1783080"/>
            <a:ext cx="3962095" cy="4069080"/>
          </a:xfrm>
          <a:prstGeom prst="roundRect">
            <a:avLst>
              <a:gd name="adj" fmla="val 3231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90956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Ortak olan ne?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24688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Dönen bir diskin, tekerleğin ya da atlıkarıncanın üzerindeki bütün noktalar aynı sürede bir tur atar.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T, f ve ω ortaktır.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çizgisel hız v = ω·r olduğundan, merkezden uzaklaştıkça hız büyür.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Çizgisel hız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turda 2πr yol alınır; bunu T süreye bölmek hızı verir.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2πr / T = ω · r</a:t>
            </a:r>
            <a:endParaRPr lang="en-US" sz="1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788920"/>
          <a:ext cx="65836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543800" y="2788920"/>
            <a:ext cx="4007815" cy="676656"/>
          </a:xfrm>
          <a:prstGeom prst="roundRect">
            <a:avLst>
              <a:gd name="adj" fmla="val 18919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818120" y="278892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2788920"/>
            <a:ext cx="2103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noktalarda eşit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43800" y="3575304"/>
            <a:ext cx="4007815" cy="676656"/>
          </a:xfrm>
          <a:prstGeom prst="roundRect">
            <a:avLst>
              <a:gd name="adj" fmla="val 18919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818120" y="3575304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ω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0" y="3575304"/>
            <a:ext cx="2103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noktalarda eşit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43800" y="4361688"/>
            <a:ext cx="4007815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818120" y="4361688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v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0" y="4361688"/>
            <a:ext cx="2103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ω·r, yarıçapla orantılı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43800" y="5148072"/>
            <a:ext cx="4007815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818120" y="5148072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a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0" y="5148072"/>
            <a:ext cx="2103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ω²·r, yarıçapla orantılı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Merkezcil ivme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Yönü daima merkeze doğru; büyüklüğü hızın karesiyle, yarıçapla ters orantılı.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v² / r = ω² · r = 4π²r / T²</a:t>
            </a:r>
            <a:endParaRPr lang="en-US" sz="17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74320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126480" y="2743200"/>
          <a:ext cx="5425135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Merkezcil kuvvet: bir rol, bir kuvvet türü değil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merkeze doğrudur; bu rolü hangi kuvvetin üstlendiği duruma göre değişir.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BE9EE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m·a = m·v² / r = m·ω²·r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432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Durum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7432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Merkezcil kuvveti sağlayan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74320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Bağıntı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401568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4015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İpin ucunda dönen taş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40156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ipteki gerilme kuvveti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40156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mv²/r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59936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05993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Virajı alan araç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405993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yol–lastik sürtünmesi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405993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μmg ≥ mv²/r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718304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7183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 çevresindeki uydu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023360" y="47183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yerçekimi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4718304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GMm/r² = mv²/r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37667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3766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Çamaşır makinesi sıkma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023360" y="53766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tambur duvarının normal kuvveti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537667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mv²/r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052560" y="2743200"/>
            <a:ext cx="2499055" cy="3108960"/>
          </a:xfrm>
          <a:prstGeom prst="roundRect">
            <a:avLst>
              <a:gd name="adj" fmla="val 5123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326880" y="2971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Diyagrama eklenmez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352044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cisim diyagramına 'merkezcil kuvvet' diye ayrı bir ok çizilmez. Var olan kuvvetlerden hangisinin bu rolü üstlendiği bulunur.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Merkezkaç kuvveti yanılgısı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Virajda kapıya doğru itilme hissinin sebebi bir kuvvet değil, eylemsizliktir.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029200" cy="2286000"/>
          </a:xfrm>
          <a:prstGeom prst="roundRect">
            <a:avLst>
              <a:gd name="adj" fmla="val 5600"/>
            </a:avLst>
          </a:prstGeom>
          <a:solidFill>
            <a:srgbClr val="FBE9EE"/>
          </a:solidFill>
          <a:ln w="12700">
            <a:solidFill>
              <a:srgbClr val="F2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Yaygın sanı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2316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Cisme dışarı doğru bir 'merkezkaç kuvveti' etki eder; ip kesilirse cisim merkezden uzaklaşan doğrultuda fırlar.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783080"/>
            <a:ext cx="5516575" cy="2286000"/>
          </a:xfrm>
          <a:prstGeom prst="roundRect">
            <a:avLst>
              <a:gd name="adj" fmla="val 5600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5508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Doğrusu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231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Yerdeki gözlemci için dışarı iten bir kuvvet yoktur. İp kesilince net kuvvet sıfırlanır ve cisim 1. yasa gereği teğet doğrultuda düzgün doğrusal hareket eder.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93392" y="4507992"/>
            <a:ext cx="1499616" cy="1499616"/>
          </a:xfrm>
          <a:prstGeom prst="ellipse">
            <a:avLst/>
          </a:prstGeom>
          <a:ln w="19050">
            <a:solidFill>
              <a:srgbClr val="DDE3F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679192" y="5193792"/>
            <a:ext cx="128016" cy="128016"/>
          </a:xfrm>
          <a:prstGeom prst="ellipse">
            <a:avLst/>
          </a:prstGeom>
          <a:solidFill>
            <a:srgbClr val="78829F"/>
          </a:solidFill>
          <a:ln/>
        </p:spPr>
      </p:sp>
      <p:sp>
        <p:nvSpPr>
          <p:cNvPr id="14" name="Shape 12"/>
          <p:cNvSpPr/>
          <p:nvPr/>
        </p:nvSpPr>
        <p:spPr>
          <a:xfrm>
            <a:off x="3374136" y="5138928"/>
            <a:ext cx="237744" cy="237744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5" name="Shape 13"/>
          <p:cNvSpPr/>
          <p:nvPr/>
        </p:nvSpPr>
        <p:spPr>
          <a:xfrm flipV="1">
            <a:off x="3493008" y="4389120"/>
            <a:ext cx="0" cy="868680"/>
          </a:xfrm>
          <a:prstGeom prst="line">
            <a:avLst/>
          </a:prstGeom>
          <a:noFill/>
          <a:ln w="38100">
            <a:solidFill>
              <a:srgbClr val="3C8C2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584448" y="5257800"/>
            <a:ext cx="1005840" cy="0"/>
          </a:xfrm>
          <a:prstGeom prst="line">
            <a:avLst/>
          </a:prstGeom>
          <a:noFill/>
          <a:ln w="25400">
            <a:solidFill>
              <a:srgbClr val="C53455"/>
            </a:solidFill>
            <a:prstDash val="dash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670048" y="4050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doğru: teğet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636008" y="5120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yanlış: dışarı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75120" y="4343400"/>
            <a:ext cx="4876495" cy="1508760"/>
          </a:xfrm>
          <a:prstGeom prst="roundRect">
            <a:avLst>
              <a:gd name="adj" fmla="val 8485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95160" y="452628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"Merkezkaç kuvveti" yalnızca dönen bir referans sisteminde tanımlanan hayalî (eylemsizlik) kuvvetidir. Yerdeki gözlemci için böyle bir kuvvet yoktur.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Virajda savrulma sınırı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Gereken kuvvet mv²/r, yolun sağlayabildiği en fazla kuvvet μmg.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58368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1783080"/>
            <a:ext cx="4007815" cy="685800"/>
          </a:xfrm>
          <a:prstGeom prst="roundRect">
            <a:avLst>
              <a:gd name="adj" fmla="val 13333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783080"/>
            <a:ext cx="40078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v(maks) = √(μ · g · r)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69748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sadeleşir: kamyon da otomobil de aynı sınıra sahiptir.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Yarıçap 4 katına çıkarsa sınır hız 2 katına çıkar.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yarıya inerse sınır hız √2 kat (≈ %30) düşer.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virajlar geniş yapılır ve dışa doğru eğimlendirilir.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543800" y="5166360"/>
            <a:ext cx="4007815" cy="685800"/>
          </a:xfrm>
          <a:prstGeom prst="roundRect">
            <a:avLst>
              <a:gd name="adj" fmla="val 18667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818120" y="51663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burada merkezcil kuvvet rolündedir.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temel büyüklükler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 yarıçaplı çember üzerinde dolanan 0,5 kg'lık cisim 4 saniyede bir tur atıyor.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Frekans, çizgisel hız, merkezcil ivme ve kuvveti bulunuz. (π ≈ 3)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0,25 Hz · 3 m/s · 4,5 m/s² · 2,25 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1/T = 1/4 = 0,25 Hz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2πr/T = (2·3·2)/4 = 3 m/s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v²/r = 9/2 = 4,5 m/s²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m·a = 0,5 · 4,5 = 2,25 N (merkeze doğru)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aynı diskte iki nokta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Dönen bir diskin merkezinden 20 cm ve 60 cm uzaklıktaki iki noktası karşılaştırılıyor.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Periyot, çizgisel hız ve merkezcil ivme oranları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eşit · v ve a oranı 3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Katı cisimde her nokta aynı sürede bir tur atar → T₁ = T₂, ω₁ = ω₂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ω·r → v₂/v₁ = r₂/r₁ = 60/20 = 3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ω²·r → a₂/a₁ = r₂/r₁ = 3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diskte v ve a yarıçapla doğru orantılıdır; T ve ω ise ortaktır.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virajda sınır hız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Yarıçapı 50 m olan virajda lastik–yol sürtünme katsayısı 0,5'tir.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Savrulmadan alınabilecek en büyük hız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Yol ıslanıp μ 0,2'ye düşerse?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≈ 57 km/h · (b) 36 km/h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Gereken kuvvet mv²/r, sağlanabilen en büyük kuvvet μmg → v = √(μgr)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√(0,5 · 10 · 50) = √250 ≈ 15,8 m/s ≈ 57 km/h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√(0,2 · 10 · 50) = √100 = 10 m/s = 36 km/h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sadeleşti: sınır hız araç kütlesinden bağımsızdır.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Sürat sabitse ivme yoktur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Hızın yönü değişiyorsa ivme vardır.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hız yönündedir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çembersel harekette ivme hıza diktir.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Dışarı doğru merkezkaç kuvveti etki eder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Yerdeki gözlemci için böyle bir kuvvet yoktur.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Merkezcil kuvvet ayrı bir kuvvettir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Gerilme, sürtünme ya da çekim bu rolü üstlenir.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İp kesilince cisim dışarı fırlar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Teğet doğrultuda gider.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Diskin her noktasının hızı aynıdır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olan T ve ω; v yarıçapla artar.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06 · Düzgün çembersel hareket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sürat, ivmeli hareket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532120" y="206654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Hızın yönü sürekli değişir; ivme merkeze doğrudur.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2πr/T = ω·r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299923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diskte T ve ω ortak, v yarıçapla artar.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v²/r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393192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2 katına çıkarsa ivme 4 katına; yarıçap büyürse ivme azalır.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Merkezcil kuvvet bir roldür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486460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Gerilme, sürtünme ya da çekim bu rolü üstlenir.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Çember laboratuvarı, ipi kes deneyi ve viraj sınırı: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dersler.perinet.org/cembersel-hareket.html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Düzgün çembersel hareket</dc:title>
  <dc:subject>Fizik · Kuvvet ve Hareket</dc:subject>
  <dc:creator>Dersler</dc:creator>
  <cp:lastModifiedBy>Dersler</cp:lastModifiedBy>
  <cp:revision>1</cp:revision>
  <dcterms:created xsi:type="dcterms:W3CDTF">2026-09-18T17:24:04Z</dcterms:created>
  <dcterms:modified xsi:type="dcterms:W3CDTF">2026-09-18T17:24:04Z</dcterms:modified>
</cp:coreProperties>
</file>