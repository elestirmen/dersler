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Sabit süratle dönen bir cismin hızı değişiyor mu? Evet — ve bu, konunun en kritik cümlesi. Hız bir vektördür; büyüklüğü hiç değişmese bile yönü her an değiştiği için cisim ivmelidir. Bu ivmeyi üreten bir kuvvet olmasaydı, ipi kesilen taş gibi teğet doğrultuda kaçıp giderdi. Aşağıda önce bu ivmeyi bulacağız, sonra onu üreten kuvvetin her seferinde nereden geldiğini.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Sabit süratle dönen bir cismin hızı değişiyor mu? Evet — ve bu, konunun en kritik cümlesi. Hız bir vektördür; büyüklüğü hiç değişmese bile yönü her an değiştiği için cisim ivmelidir. Bu ivmeyi üreten bir kuvvet olmasaydı, ipi kesilen taş gibi teğet doğrultuda kaçıp giderdi. Aşağıda önce bu ivmeyi bulacağız, sonra onu üreten kuvvetin her seferinde nereden geldiğini.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Düzgün çembersel hareket nedir?
2. Periyot ve frekans
3. Çizgisel hız ve açısal hız
4. Merkezcil ivme
5. Merkezcil kuvvet
6. Merkezkaç kuvveti yanılgısı
7. Uygulamalar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çembersel hareket nedir?
Bir cisim sabit süratle çembersel bir yörüngede dolanıyorsa bu harekete düzgün çembersel hareket denir. "Düzgün" kelimesi süratin sabitliğini anlatır — hızın sabitliğini değil.
Hız bir vektördür ve çembersel harekette yönü her an değişir: hız daima yörüngeye teğettir. Yönü değişen bir vektör, büyüklüğü sabit olsa bile değişiyor demektir. Değişen hız ise ivme demektir.
Anahtar cümle: Düzgün çembersel hareket, sabit süratli ama ivmeli bir harekettir. İvmenin işi hızı büyütmek değil, yönünü çevirmektir.
Çizim: Düzgün çembersel harekette hız vektörü her noktada yörüngeye teğettir. Altı okun boyu birbirinin aynı — sürat değişmiyor. Ama yönleri farklı, yani hız değişiyor. Hız değişiyorsa ivme vardır; ivme varsa bir kuvvet vardır. Konunun tamamı bu zincirden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Periyot ve frekans
Periyot (T), cismin bir tam turu tamamlama süresidir; birimi saniyedir. Frekans (f) ise birim zamandaki tur sayısıdır; birimi hertz (1/s).
T = 1 / f   f = 1 / T
Katı bir cisim (disk, tekerlek, atlıkarınca) döndüğünde üzerindeki bütün noktaların periyodu aynıdır — merkeze yakın da olsalar, uzak da.
Çizim: Periyot (T) bir tam turun kaç saniye sürdüğü, frekans (f) ise bir saniyede kaç tur atıldığıdır. İkisi aynı bilginin iki okunuşu olduğu için birbirinin tersidir: T = 1/f. Saniyede 4 tur atan bir cisim, her turu 0,25 saniyede tamamlar.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Çizgisel hız ve açısal hız
Cisim bir turda 2πr uzunluğunda yol alır ve bunu T sürede yapar. Buradan çizgisel hız:
v = 2πr / T   ω = 2π / T = 2π·f   v = ω · r
Açısal hız (ω), birim zamanda taranan açıdır; birimi rad/s'dir. Aynı disk üzerindeki noktaların ω'sı ortaktır, ama v = ω·r olduğu için yarıçapı büyük olanın çizgisel hızı büyüktür. Sayfadaki 03 numaralı bölüm tam olarak bunu gösteriyor.
Çizim: Bir diskin üzerindeki bütün noktalar aynı sürede bir tur atar; yani periyotları ve açısal hızları aynıdır. Ama kenardaki nokta aynı sürede daha uzun bir yay katettiği için çizgisel hızı büyüktür. v = ω·r bağıntısı tam olarak bunu söyler: ω ortak, v yarıçapla orantılı.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ivme
Hızın yönünü çeviren ivmenin yönü, hız vektörüne diktir ve daima çemberin merkezine doğrudur. Bu yüzden adına merkezcil (merkeze doğru) ivme denir.
a = v² / r   a = ω² · r   a = 4π²r / T²
Bağıntıya iki yönden bakmak gerekir: yarıçap sabitken hız iki katına çıkarsa ivme dört katına çıkar (v²). Hız sabitken yarıçap büyüdükçe ivme azalır (1/r): geniş viraj, yumuşak dönüş demektir.
Çizim: Çok kısa bir süre içinde hız vektörü v₁'den v₂'ye döner. İkisini kuyruk kuyruğa koyduğumuzda aradaki fark Δv ortaya çıkar ve iki nokta birbirine yaklaştıkça bu fark tam olarak merkeze doğru bakar. İvme Δv yönünde olduğu için merkezcil ivme adını alır; büyüklüğü v²/r'dir. Sürat büyüdükçe ivme karesiyle artar, yarıçap büyüdükçe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kuvvet
Newton'un 2. yasası gereği ivme varsa net kuvvet de vardır. Çembersel harekette net kuvvet merkeze doğrudur ve büyüklüğü:
F = m·a = m·v² / r   F = m·ω²·r
Merkezcil kuvvet yeni bir kuvvet türü değildir. O, mevcut kuvvetlerden birinin (ya da bileşkesinin) üstlendiği bir roldür: ipteki gerilme, virajda sürtünme, Ay için yerçekimi, elektronu tutan elektriksel çekim. "Serbest cisim diyagramına merkezcil kuvvet eklenmez"; hangi kuvvetin bu rolü üstlendiği bulunur.
Çizim: "Merkezcil kuvvet" diye ayrı bir kuvvet türü yoktur; bu, bir kuvvetin üstlendiği görevin adıdır. Dönen taşta bu görevi ip gerilmesi, virajdaki arabada lastik sürtünmesi, uyduda yerçekimi, çamaşır makinesinde tambur duvarı üstlenir. Hepsinde yeşil ok merkeze bakar, mavi ok (hız) ise teğettir.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Merkezkaç kuvveti yanılgısı
Virajı hızlı alan bir araçta kendini kapıya doğru itiliyor hissedersin. Aslında seni dışarı iten bir kuvvet yoktur: sen eylemsizliğin gereği doğrusal gitmek istersin, araç ise altından dönerek yön değiştirir. Kapı sana çarpar ve seni çembere sokan merkeze doğru kuvveti uygular.
"Merkezkaç kuvveti" yalnızca dönen bir referans sisteminde tanımlanan bir hayalî (eylemsizlik) kuvvettir. Yerdeki bir gözlemci için böyle bir kuvvet yoktur.
Test: İpi kesersen cisim dışarı doğru mu fırlar? Hayır — teğet doğrultuda gider. Dışarı iten bir kuvvet olsaydı yörünge merkezden uzaklaşan bir doğru olurdu. Sayfadaki 02 numaralı deney bunu gösteriyor.
Çizim: İp kesildiği anda cisme etki eden kuvvet kalmaz; 1. yasa gereği o anki hız doğrultusunda, yani teğet boyunca düz bir çizgide gider. "Dışarı doğru fırlama" hissi, dönen sistemin içinde bulunan gözlemcinin eylemsizliği kuvvet sanmasından doğar. Gerçek kuvvet, cismi içeri çeken merkezcil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Uygulamalar
Durum | Merkezcil kuvveti sağlayan | Bağıntı
İpin ucunda dönen taş | İpteki gerilme kuvveti | T = mv²/r
Virajı alan araç | Yol–lastik sürtünmesi | μmg ≥ mv²/r
Dünya çevresindeki uydu | Yerçekimi | GMm/r² = mv²/r
Çamaşır makinesi sıkma | Tambur duvarı (normal kuvvet) | N = mv²/r
Virajda savrulma: Gereken kuvvet mv²/r, yolun sağlayabildiği en büyük sürtünme ise μmg'dir. Kütle sadeleşir ve sınır hız ortaya çıkar:
vmaks = √(μ·g·r)
Yol ıslanınca μ yarıya inerse sınır hız √2 kat (yaklaşık %30) düşer. Virajın yarıçapı dört katına çıkarsa sınır hız iki katına çıkar. Bu yüzden otoyol virajları geniş yarıçaplı yapılır ve yol yüzeyi dışa doğru eğimlendirilir.
Çizim: Virajda merkezcil kuvveti lastik sürtünmesi sağlar ve bu kuvvetin bir üst sınırı vardır: μ·m·g. Gereken kuvvet mv²/r hızın karesiyle büyüdüğü için, belli bir hızdan sonra sürtünme yetişemez ve araç savrulur. Sınır hız √(μgr)'dir: yarıçapı küçük (keskin) virajlarda ve ıslak yolda (μ küçükken) çok daha düşüktür.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Temel büyüklükler
2 m yarıçaplı çember üzerinde dolanan 0,5 kg'lık bir cisim, 4 saniyede bir tur atıyor. Frekansını, çizgisel hızını, merkezcil ivmesini ve merkezcil kuvveti bulunuz. (π ≈ 3)
1. f = 1/T = 1/4 = 0,25 Hz
2. v = 2πr/T = (2·3·2)/4 = 3 m/s
3. a = v²/r = 9/2 = 4,5 m/s²
4. F = m·a = 0,5 · 4,5 = 2,25 N (merkeze doğru)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Aynı diskte iki nokta
Dönen bir diskin merkezinden 20 cm ve 60 cm uzaklıktaki iki noktası için periyot, çizgisel hız ve merkezcil ivme oranlarını karşılaştırınız.
1. Periyotlar eşittir: katı cismin her noktası aynı sürede bir tur atar (T₁ = T₂).
2. Açısal hızlar da eşittir: ω = 2π/T.
3. v = ω·r olduğundan v₂/v₁ = r₂/r₁ = 60/20 = 3
4. a = ω²·r olduğundan a₂/a₁ = r₂/r₁ =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Virajda sınır hız
Yarıçapı 50 m olan bir virajda lastik–yol sürtünme katsayısı 0,5'tir. Aracın savrulmadan alabileceği en büyük hız nedir? Yol ıslanıp μ 0,2'ye düşerse bu hız ne olur?
1. Gereken kuvvet mv²/r, sağlanabilen en büyük kuvvet μmg → vmaks = √(μgr)
2. Kuru: v = √(0,5 · 10 · 50) = √250 ≈ 15,8 m/s ≈ 57 km/h
3. Islak: v = √(0,2 · 10 · 50) = √100 = 10 m/s = 36 km/h
4. Kütle hiçbir adımda kullanılmadı: kamyon da otomobil de aynı sınır hıza sahiptir.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Periyot değişirse
Sabit yarıçaplı bir çemberde dolanan cismin periyodu yarıya indirilirse çizgisel hızı ve merkezcil ivmesi nasıl değişir?
1. v = 2πr/T → T yarıya inerse v iki katına çıkar.
2. a = v²/r → v iki katına çıkınca a dört katına çıkar.
3. Aynı sonuç a = 4π²r/T² bağıntısından da okunur: T yarıya inince a dört katına çıkar.
4. Merkezcil kuvvet de dört katına çıkar; bu yüzden hızlı dönen sistemlerde bağlantı elemanları çok daha güçlü seçilir.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“Sürat sabitse ivme yoktur.” Hızın yönü değişiyorsa ivme vardır; çembersel harekette ivme merkeze doğrudur.
• “İvme hız yönündedir.” Düzgün çembersel harekette ivme hıza diktir: hızı büyütmez, çevirir.
• “Cisme dışarı doğru merkezkaç kuvveti etki eder.” Yerdeki gözlemci için böyle bir kuvvet yoktur; hissedilen şey eylemsizliktir.
• “Merkezcil kuvvet ayrı bir kuvvettir.” Serbest cisim diyagramına ayrıca eklenmez; gerilme, sürtünme ya da çekim bu rolü üstlenir.
• “İp kesilince cisim merkezden uzaklaşan doğrultuda gider.” Teğet doğrultuda gider.
• “Diskin her noktasının hızı aynıdır.” Aynı olan periyot ve açısal hızdır; çizgisel hız yarıçapla artar.
• “Ağır araç virajda daha kolay savrulur.” Sınır hız √(μgr)'dir; kütleden bağımsızdır.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Sürat sabit, hız değil · İvme merkeze doğru · a = v² / r · Viraj sınırı √(μgr)
v = 2πr / T = ω·r — çizgisel hız
ω = 2π / T = 2π·f — açısal hız
a = v² / r = ω²·r — merkezcil ivme
F = m·v² / r — merkezcil kuvvet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06</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Düzgün çembersel hareket</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Sürat sabit olabilir, ama hız her an yön değiştiriyorsa hareket ivmelidir. Bu ivme daima merkeze doğrudur ve onu üreten kuvvet olmadan cisim çemberde kalamaz. Aşağıda ipi kes, diski döndür, virajı hızlı al.</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2πr / T = ω·r   ·   ω = 2π / T = 2π·f   ·   a = v² / r = ω²·r</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Sabit süratle dönen bir cismin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hızı değişiyor mu?</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Evet — ve bu, konunun en kritik cümlesi. Hız bir vektördür; büyüklüğü hiç değişmese bile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yönü her an değiştiği için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cisim ivmelidir. Bu ivmeyi üreten bir kuvvet olmasaydı, ipi kesilen taş gibi teğet doğrultuda kaçıp giderdi. Aşağıda önce bu ivmeyi bulacağız, sonra onu üreten kuvvetin her seferinde nereden geldiğini.</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Düzgün çembersel hareket nedir?</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cisim sabit süratle çembersel bir yörüngede dolanıyorsa bu harekete düzgün çembersel…</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Periyot ve frekans</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Periyot (T), cismin bir tam turu tamamlama süresidir; birimi saniyedir.</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Çizgisel hız ve açısal hız</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Cisim bir turda 2πr uzunluğunda yol alır ve bunu T sürede yapar.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Merkezcil ivme</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Hızın yönünü çeviren ivmenin yönü, hız vektörüne diktir ve daima çemberin merkezine…</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Merkezcil kuvvet</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Newton'un 2. yasası gereği ivme varsa net kuvvet de vardır. Çembersel harekette net kuvvet…</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Merkezkaç kuvveti yanılgısı</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Virajı hızlı alan bir araçta kendini kapıya doğru itiliyor hissedersin.</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Uygulamalar</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Virajda savrulma: Gereken kuvvet mv²/r, yolun sağlayabildiği en büyük sürtünme ise μmg'dir.</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7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çembersel hareket nedir?</a:t>
            </a:r>
            <a:endParaRPr lang="en-US" sz="3200" dirty="0"/>
          </a:p>
        </p:txBody>
      </p:sp>
      <p:sp>
        <p:nvSpPr>
          <p:cNvPr id="5" name="Text 3"/>
          <p:cNvSpPr txBox="1"/>
          <p:nvPr/>
        </p:nvSpPr>
        <p:spPr>
          <a:xfrm>
            <a:off x="640080" y="1481328"/>
            <a:ext cx="5852160" cy="11795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Bir cisim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sabit süratle çembersel bir yörüngede</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dolanıyorsa bu harekete düzgün çembersel hareket denir.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"Düzgün" kelimesi süratin sabitliğini anlatır —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hızın</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sabitliğini değil.</a:t>
            </a:r>
            <a:endParaRPr lang="en-US" sz="1500" dirty="0"/>
          </a:p>
        </p:txBody>
      </p:sp>
      <p:sp>
        <p:nvSpPr>
          <p:cNvPr id="6" name="Text 4"/>
          <p:cNvSpPr txBox="1"/>
          <p:nvPr/>
        </p:nvSpPr>
        <p:spPr>
          <a:xfrm>
            <a:off x="640080" y="2770632"/>
            <a:ext cx="5852160" cy="150647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Hız bir vektördür ve çembersel harekette yönü her an değişir: hız daima yörüngeye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teğettir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Yönü değişen bir vektör, büyüklüğü sabit olsa bile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değişiyor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demektir.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Değişen hız ise ivme demektir.</a:t>
            </a:r>
            <a:endParaRPr lang="en-US" sz="1500" dirty="0"/>
          </a:p>
        </p:txBody>
      </p:sp>
      <p:sp>
        <p:nvSpPr>
          <p:cNvPr id="7" name="Shape 5"/>
          <p:cNvSpPr/>
          <p:nvPr/>
        </p:nvSpPr>
        <p:spPr>
          <a:xfrm>
            <a:off x="640080" y="4386834"/>
            <a:ext cx="5852160" cy="1138428"/>
          </a:xfrm>
          <a:prstGeom prst="roundRect">
            <a:avLst>
              <a:gd name="adj" fmla="val 96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4533138"/>
            <a:ext cx="45720" cy="845820"/>
          </a:xfrm>
          <a:prstGeom prst="rect">
            <a:avLst/>
          </a:prstGeom>
          <a:solidFill>
            <a:srgbClr val="3C8C21"/>
          </a:solidFill>
          <a:ln/>
        </p:spPr>
      </p:sp>
      <p:sp>
        <p:nvSpPr>
          <p:cNvPr id="9" name="Text 7"/>
          <p:cNvSpPr txBox="1"/>
          <p:nvPr/>
        </p:nvSpPr>
        <p:spPr>
          <a:xfrm>
            <a:off x="914400" y="4496562"/>
            <a:ext cx="5394960" cy="918972"/>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Anahtar cümle:</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Düzgün çembersel hareket,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sabit süratli ama ivmeli</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bir harekettir. İvmenin işi hızı büyütmek değil,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yönünü çevirmektir</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6784848" y="1481328"/>
            <a:ext cx="4766767" cy="3626780"/>
          </a:xfrm>
          <a:prstGeom prst="roundRect">
            <a:avLst>
              <a:gd name="adj" fmla="val 403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cembersel-hareket-01.png">    </p:cNvPr>
          <p:cNvPicPr>
            <a:picLocks noChangeAspect="1"/>
          </p:cNvPicPr>
          <p:nvPr/>
        </p:nvPicPr>
        <p:blipFill>
          <a:blip r:embed="rId1"/>
          <a:stretch>
            <a:fillRect/>
          </a:stretch>
        </p:blipFill>
        <p:spPr>
          <a:xfrm>
            <a:off x="6967728" y="1664208"/>
            <a:ext cx="4401007" cy="2163740"/>
          </a:xfrm>
          <a:prstGeom prst="rect">
            <a:avLst/>
          </a:prstGeom>
        </p:spPr>
      </p:pic>
      <p:sp>
        <p:nvSpPr>
          <p:cNvPr id="12" name="Shape 9"/>
          <p:cNvSpPr/>
          <p:nvPr/>
        </p:nvSpPr>
        <p:spPr>
          <a:xfrm>
            <a:off x="6967728" y="3919388"/>
            <a:ext cx="4401007" cy="0"/>
          </a:xfrm>
          <a:prstGeom prst="line">
            <a:avLst/>
          </a:prstGeom>
          <a:noFill/>
          <a:ln w="9525">
            <a:solidFill>
              <a:srgbClr val="E1E5EE"/>
            </a:solidFill>
            <a:prstDash val="dash"/>
          </a:ln>
        </p:spPr>
      </p:sp>
      <p:sp>
        <p:nvSpPr>
          <p:cNvPr id="13" name="Text 10"/>
          <p:cNvSpPr txBox="1"/>
          <p:nvPr/>
        </p:nvSpPr>
        <p:spPr>
          <a:xfrm>
            <a:off x="6967728" y="3974252"/>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Düzgün çembersel harekette hız vektörü her noktada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yörüngeye teğettir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Altı okun boyu birbirinin aynı — sürat değişmiyor. Ama yönleri farklı, yani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hız değişiyor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 değişiyorsa ivme vardır; ivme varsa bir kuvvet vardır. Konunun tamamı bu zincirden çıkar.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Periyot ve frekans</a:t>
            </a:r>
            <a:endParaRPr lang="en-US" sz="3200" dirty="0"/>
          </a:p>
        </p:txBody>
      </p:sp>
      <p:sp>
        <p:nvSpPr>
          <p:cNvPr id="5" name="Text 3"/>
          <p:cNvSpPr txBox="1"/>
          <p:nvPr/>
        </p:nvSpPr>
        <p:spPr>
          <a:xfrm>
            <a:off x="640080" y="14813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Periyot (T)</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cismin bir tam turu tamamlama süresidir; birimi saniyedir.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Frekans (f)</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ise birim zamandaki tur sayısıdır; birimi hertz (1/s).</a:t>
            </a:r>
            <a:endParaRPr lang="en-US" sz="1600" dirty="0"/>
          </a:p>
        </p:txBody>
      </p:sp>
      <p:sp>
        <p:nvSpPr>
          <p:cNvPr id="6" name="Shape 4"/>
          <p:cNvSpPr/>
          <p:nvPr/>
        </p:nvSpPr>
        <p:spPr>
          <a:xfrm>
            <a:off x="640080" y="2840736"/>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84073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1 / f</a:t>
            </a:r>
            <a:endParaRPr lang="en-US" sz="1300" dirty="0"/>
          </a:p>
        </p:txBody>
      </p:sp>
      <p:sp>
        <p:nvSpPr>
          <p:cNvPr id="8" name="Shape 6"/>
          <p:cNvSpPr/>
          <p:nvPr/>
        </p:nvSpPr>
        <p:spPr>
          <a:xfrm>
            <a:off x="2095805" y="2840736"/>
            <a:ext cx="1345997"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284073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1 / T</a:t>
            </a:r>
            <a:endParaRPr lang="en-US" sz="1300" dirty="0"/>
          </a:p>
        </p:txBody>
      </p:sp>
      <p:sp>
        <p:nvSpPr>
          <p:cNvPr id="10" name="Text 8"/>
          <p:cNvSpPr txBox="1"/>
          <p:nvPr/>
        </p:nvSpPr>
        <p:spPr>
          <a:xfrm>
            <a:off x="640080" y="3462528"/>
            <a:ext cx="5486400" cy="841248"/>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Katı bir cisim (disk, tekerlek, atlıkarınca) döndüğünde üzerindeki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bütün noktaların periyodu aynıdır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merkeze yakın da olsalar, uzak da.</a:t>
            </a:r>
            <a:endParaRPr lang="en-US" sz="1600" dirty="0"/>
          </a:p>
        </p:txBody>
      </p:sp>
      <p:sp>
        <p:nvSpPr>
          <p:cNvPr id="11" name="Shape 9"/>
          <p:cNvSpPr/>
          <p:nvPr/>
        </p:nvSpPr>
        <p:spPr>
          <a:xfrm>
            <a:off x="6419088" y="1481328"/>
            <a:ext cx="5132527" cy="3230200"/>
          </a:xfrm>
          <a:prstGeom prst="roundRect">
            <a:avLst>
              <a:gd name="adj" fmla="val 452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cembersel-hareket-02.png">    </p:cNvPr>
          <p:cNvPicPr>
            <a:picLocks noChangeAspect="1"/>
          </p:cNvPicPr>
          <p:nvPr/>
        </p:nvPicPr>
        <p:blipFill>
          <a:blip r:embed="rId1"/>
          <a:stretch>
            <a:fillRect/>
          </a:stretch>
        </p:blipFill>
        <p:spPr>
          <a:xfrm>
            <a:off x="6601968" y="1664208"/>
            <a:ext cx="4766767" cy="1946382"/>
          </a:xfrm>
          <a:prstGeom prst="rect">
            <a:avLst/>
          </a:prstGeom>
        </p:spPr>
      </p:pic>
      <p:sp>
        <p:nvSpPr>
          <p:cNvPr id="13" name="Shape 10"/>
          <p:cNvSpPr/>
          <p:nvPr/>
        </p:nvSpPr>
        <p:spPr>
          <a:xfrm>
            <a:off x="6601968" y="3702030"/>
            <a:ext cx="4766767" cy="0"/>
          </a:xfrm>
          <a:prstGeom prst="line">
            <a:avLst/>
          </a:prstGeom>
          <a:noFill/>
          <a:ln w="9525">
            <a:solidFill>
              <a:srgbClr val="E1E5EE"/>
            </a:solidFill>
            <a:prstDash val="dash"/>
          </a:ln>
        </p:spPr>
      </p:sp>
      <p:sp>
        <p:nvSpPr>
          <p:cNvPr id="14" name="Text 11"/>
          <p:cNvSpPr txBox="1"/>
          <p:nvPr/>
        </p:nvSpPr>
        <p:spPr>
          <a:xfrm>
            <a:off x="6601968" y="3756894"/>
            <a:ext cx="4766767" cy="771754"/>
          </a:xfrm>
          <a:prstGeom prst="rect">
            <a:avLst/>
          </a:prstGeom>
          <a:noFill/>
          <a:ln/>
        </p:spPr>
        <p:txBody>
          <a:bodyPr wrap="square" lIns="0" tIns="0" rIns="0" bIns="0" rtlCol="0" anchor="t"/>
          <a:lstStyle/>
          <a:p>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Periyot (T)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tam turun kaç saniye sürdüğü,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frekans (f)</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bir saniyede kaç tur atıldığıdır. İkisi aynı bilginin iki okunuşu olduğu için birbirinin tersidir: T = 1/f. Saniyede 4 tur atan bir cisim, her turu 0,25 saniyede tamamlar.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Çizgisel hız ve açısal hız</a:t>
            </a:r>
            <a:endParaRPr lang="en-US" sz="3200" dirty="0"/>
          </a:p>
        </p:txBody>
      </p:sp>
      <p:sp>
        <p:nvSpPr>
          <p:cNvPr id="5" name="Text 3"/>
          <p:cNvSpPr txBox="1"/>
          <p:nvPr/>
        </p:nvSpPr>
        <p:spPr>
          <a:xfrm>
            <a:off x="640080" y="1481328"/>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Cisim bir turda 2πr uzunluğunda yol alır ve bunu T sürede yapar.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Buradan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çizgisel hız</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6" name="Shape 4"/>
          <p:cNvSpPr/>
          <p:nvPr/>
        </p:nvSpPr>
        <p:spPr>
          <a:xfrm>
            <a:off x="640080" y="2560320"/>
            <a:ext cx="154350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560320"/>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2πr / T</a:t>
            </a:r>
            <a:endParaRPr lang="en-US" sz="1300" dirty="0"/>
          </a:p>
        </p:txBody>
      </p:sp>
      <p:sp>
        <p:nvSpPr>
          <p:cNvPr id="8" name="Shape 6"/>
          <p:cNvSpPr/>
          <p:nvPr/>
        </p:nvSpPr>
        <p:spPr>
          <a:xfrm>
            <a:off x="2293315" y="2560320"/>
            <a:ext cx="213603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293315" y="2560320"/>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ω = 2π / T = 2π·f</a:t>
            </a:r>
            <a:endParaRPr lang="en-US" sz="1300" dirty="0"/>
          </a:p>
        </p:txBody>
      </p:sp>
      <p:sp>
        <p:nvSpPr>
          <p:cNvPr id="10" name="Shape 8"/>
          <p:cNvSpPr/>
          <p:nvPr/>
        </p:nvSpPr>
        <p:spPr>
          <a:xfrm>
            <a:off x="4539082" y="2560320"/>
            <a:ext cx="1345997"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4539082" y="2560320"/>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ω · r</a:t>
            </a:r>
            <a:endParaRPr lang="en-US" sz="1300" dirty="0"/>
          </a:p>
        </p:txBody>
      </p:sp>
      <p:sp>
        <p:nvSpPr>
          <p:cNvPr id="12" name="Text 10"/>
          <p:cNvSpPr txBox="1"/>
          <p:nvPr/>
        </p:nvSpPr>
        <p:spPr>
          <a:xfrm>
            <a:off x="640080" y="3182112"/>
            <a:ext cx="5486400" cy="21549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Açısal hız (ω)</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birim zamanda taranan açıdır; birimi rad/s'dir.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Aynı disk üzerindeki noktaların ω'sı ortaktır, ama v = ω·r olduğu için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yarıçapı büyük olanın çizgisel hızı büyüktür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Sayfadaki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03</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numaralı bölüm tam olarak bunu gösteriyor.</a:t>
            </a:r>
            <a:endParaRPr lang="en-US" sz="1600" dirty="0"/>
          </a:p>
        </p:txBody>
      </p:sp>
      <p:sp>
        <p:nvSpPr>
          <p:cNvPr id="13" name="Shape 11"/>
          <p:cNvSpPr/>
          <p:nvPr/>
        </p:nvSpPr>
        <p:spPr>
          <a:xfrm>
            <a:off x="6419088" y="1481328"/>
            <a:ext cx="5132527" cy="3428863"/>
          </a:xfrm>
          <a:prstGeom prst="roundRect">
            <a:avLst>
              <a:gd name="adj" fmla="val 426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cembersel-hareket-03.png">    </p:cNvPr>
          <p:cNvPicPr>
            <a:picLocks noChangeAspect="1"/>
          </p:cNvPicPr>
          <p:nvPr/>
        </p:nvPicPr>
        <p:blipFill>
          <a:blip r:embed="rId1"/>
          <a:stretch>
            <a:fillRect/>
          </a:stretch>
        </p:blipFill>
        <p:spPr>
          <a:xfrm>
            <a:off x="6601968" y="1664208"/>
            <a:ext cx="4766767" cy="2145045"/>
          </a:xfrm>
          <a:prstGeom prst="rect">
            <a:avLst/>
          </a:prstGeom>
        </p:spPr>
      </p:pic>
      <p:sp>
        <p:nvSpPr>
          <p:cNvPr id="15" name="Shape 12"/>
          <p:cNvSpPr/>
          <p:nvPr/>
        </p:nvSpPr>
        <p:spPr>
          <a:xfrm>
            <a:off x="6601968" y="3900693"/>
            <a:ext cx="4766767" cy="0"/>
          </a:xfrm>
          <a:prstGeom prst="line">
            <a:avLst/>
          </a:prstGeom>
          <a:noFill/>
          <a:ln w="9525">
            <a:solidFill>
              <a:srgbClr val="E1E5EE"/>
            </a:solidFill>
            <a:prstDash val="dash"/>
          </a:ln>
        </p:spPr>
      </p:sp>
      <p:sp>
        <p:nvSpPr>
          <p:cNvPr id="16" name="Text 13"/>
          <p:cNvSpPr txBox="1"/>
          <p:nvPr/>
        </p:nvSpPr>
        <p:spPr>
          <a:xfrm>
            <a:off x="6601968" y="3955557"/>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Bir diskin üzerindeki bütün noktalar aynı sürede bir tur atar; yani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periyotları ve açısal hızları aynıdır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Ama kenardaki nokta aynı sürede daha uzun bir yay katettiği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çizgisel hızı büyüktür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 = ω·r bağıntısı tam olarak bunu söyler: ω ortak, v yarıçapla orantılı.</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ivme</a:t>
            </a:r>
            <a:endParaRPr lang="en-US" sz="3200" dirty="0"/>
          </a:p>
        </p:txBody>
      </p:sp>
      <p:sp>
        <p:nvSpPr>
          <p:cNvPr id="5" name="Text 3"/>
          <p:cNvSpPr txBox="1"/>
          <p:nvPr/>
        </p:nvSpPr>
        <p:spPr>
          <a:xfrm>
            <a:off x="640080" y="14813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Hızın yönünü çeviren ivmenin yönü, hız vektörüne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diktir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ve daima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çemberin merkezine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doğrudur.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Bu yüzden adına merkezcil (merkeze doğru) ivme denir.</a:t>
            </a:r>
            <a:endParaRPr lang="en-US" sz="1600" dirty="0"/>
          </a:p>
        </p:txBody>
      </p:sp>
      <p:sp>
        <p:nvSpPr>
          <p:cNvPr id="6" name="Shape 4"/>
          <p:cNvSpPr/>
          <p:nvPr/>
        </p:nvSpPr>
        <p:spPr>
          <a:xfrm>
            <a:off x="640080" y="2840736"/>
            <a:ext cx="1444752"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840736"/>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v² / r</a:t>
            </a:r>
            <a:endParaRPr lang="en-US" sz="1300" dirty="0"/>
          </a:p>
        </p:txBody>
      </p:sp>
      <p:sp>
        <p:nvSpPr>
          <p:cNvPr id="8" name="Shape 6"/>
          <p:cNvSpPr/>
          <p:nvPr/>
        </p:nvSpPr>
        <p:spPr>
          <a:xfrm>
            <a:off x="2194560" y="2840736"/>
            <a:ext cx="1444752"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194560" y="2840736"/>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ω² · r</a:t>
            </a:r>
            <a:endParaRPr lang="en-US" sz="1300" dirty="0"/>
          </a:p>
        </p:txBody>
      </p:sp>
      <p:sp>
        <p:nvSpPr>
          <p:cNvPr id="10" name="Shape 8"/>
          <p:cNvSpPr/>
          <p:nvPr/>
        </p:nvSpPr>
        <p:spPr>
          <a:xfrm>
            <a:off x="3749040" y="2840736"/>
            <a:ext cx="174101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3749040" y="2840736"/>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4π²r / T²</a:t>
            </a:r>
            <a:endParaRPr lang="en-US" sz="1300" dirty="0"/>
          </a:p>
        </p:txBody>
      </p:sp>
      <p:sp>
        <p:nvSpPr>
          <p:cNvPr id="12" name="Text 10"/>
          <p:cNvSpPr txBox="1"/>
          <p:nvPr/>
        </p:nvSpPr>
        <p:spPr>
          <a:xfrm>
            <a:off x="640080" y="3462528"/>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Bağıntıya iki yönden bakmak gerekir: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yarıçap sabitken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hız iki katına çıkarsa ivme dört katına çıkar (v²).</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Hız sabitken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yarıçap büyüdükçe ivme azalır (1/r): geniş viraj, yumuşak dönüş demektir.</a:t>
            </a:r>
            <a:endParaRPr lang="en-US" sz="1600" dirty="0"/>
          </a:p>
        </p:txBody>
      </p:sp>
      <p:sp>
        <p:nvSpPr>
          <p:cNvPr id="13" name="Shape 11"/>
          <p:cNvSpPr/>
          <p:nvPr/>
        </p:nvSpPr>
        <p:spPr>
          <a:xfrm>
            <a:off x="6419088" y="1481328"/>
            <a:ext cx="5132527" cy="3647761"/>
          </a:xfrm>
          <a:prstGeom prst="roundRect">
            <a:avLst>
              <a:gd name="adj" fmla="val 401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cembersel-hareket-04.png">    </p:cNvPr>
          <p:cNvPicPr>
            <a:picLocks noChangeAspect="1"/>
          </p:cNvPicPr>
          <p:nvPr/>
        </p:nvPicPr>
        <p:blipFill>
          <a:blip r:embed="rId1"/>
          <a:stretch>
            <a:fillRect/>
          </a:stretch>
        </p:blipFill>
        <p:spPr>
          <a:xfrm>
            <a:off x="6601968" y="1664208"/>
            <a:ext cx="4766767" cy="2184721"/>
          </a:xfrm>
          <a:prstGeom prst="rect">
            <a:avLst/>
          </a:prstGeom>
        </p:spPr>
      </p:pic>
      <p:sp>
        <p:nvSpPr>
          <p:cNvPr id="15" name="Shape 12"/>
          <p:cNvSpPr/>
          <p:nvPr/>
        </p:nvSpPr>
        <p:spPr>
          <a:xfrm>
            <a:off x="6601968" y="3940369"/>
            <a:ext cx="4766767" cy="0"/>
          </a:xfrm>
          <a:prstGeom prst="line">
            <a:avLst/>
          </a:prstGeom>
          <a:noFill/>
          <a:ln w="9525">
            <a:solidFill>
              <a:srgbClr val="E1E5EE"/>
            </a:solidFill>
            <a:prstDash val="dash"/>
          </a:ln>
        </p:spPr>
      </p:sp>
      <p:sp>
        <p:nvSpPr>
          <p:cNvPr id="16" name="Text 13"/>
          <p:cNvSpPr txBox="1"/>
          <p:nvPr/>
        </p:nvSpPr>
        <p:spPr>
          <a:xfrm>
            <a:off x="6601968" y="3995233"/>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Çok kısa bir süre içinde hız vektörü v₁'den v₂'ye döner. İkisini kuyruk kuyruğa koyduğumuzda aradaki fark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Δv</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ortaya çıkar ve iki nokta birbirine yaklaştıkça bu fark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tam olarak merkeze doğru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bakar. İvme Δv yönünde olduğu için merkezcil ivme adını alır; büyüklüğü v²/r'dir. Sürat büyüdükçe ivme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karesiyle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artar, yarıçap büyüdükçe azalır.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kuvvet</a:t>
            </a:r>
            <a:endParaRPr lang="en-US" sz="3200" dirty="0"/>
          </a:p>
        </p:txBody>
      </p:sp>
      <p:sp>
        <p:nvSpPr>
          <p:cNvPr id="5" name="Text 3"/>
          <p:cNvSpPr txBox="1"/>
          <p:nvPr/>
        </p:nvSpPr>
        <p:spPr>
          <a:xfrm>
            <a:off x="640080" y="1481328"/>
            <a:ext cx="5852160" cy="11795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Newton'un 2. yasası gereği ivme varsa net kuvvet de vardır.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Çembersel harekette net kuvvet merkeze doğrudur ve büyüklüğü:</a:t>
            </a:r>
            <a:endParaRPr lang="en-US" sz="1500" dirty="0"/>
          </a:p>
        </p:txBody>
      </p:sp>
      <p:sp>
        <p:nvSpPr>
          <p:cNvPr id="6" name="Shape 4"/>
          <p:cNvSpPr/>
          <p:nvPr/>
        </p:nvSpPr>
        <p:spPr>
          <a:xfrm>
            <a:off x="640080" y="2770632"/>
            <a:ext cx="223479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770632"/>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m·a = m·v² / r</a:t>
            </a:r>
            <a:endParaRPr lang="en-US" sz="1300" dirty="0"/>
          </a:p>
        </p:txBody>
      </p:sp>
      <p:sp>
        <p:nvSpPr>
          <p:cNvPr id="8" name="Shape 6"/>
          <p:cNvSpPr/>
          <p:nvPr/>
        </p:nvSpPr>
        <p:spPr>
          <a:xfrm>
            <a:off x="2984602" y="2770632"/>
            <a:ext cx="1444752"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984602" y="2770632"/>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m·ω²·r</a:t>
            </a:r>
            <a:endParaRPr lang="en-US" sz="1300" dirty="0"/>
          </a:p>
        </p:txBody>
      </p:sp>
      <p:sp>
        <p:nvSpPr>
          <p:cNvPr id="10" name="Shape 8"/>
          <p:cNvSpPr/>
          <p:nvPr/>
        </p:nvSpPr>
        <p:spPr>
          <a:xfrm>
            <a:off x="640080" y="3392424"/>
            <a:ext cx="5852160" cy="1874520"/>
          </a:xfrm>
          <a:prstGeom prst="roundRect">
            <a:avLst>
              <a:gd name="adj" fmla="val 585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3538728"/>
            <a:ext cx="45720" cy="1581912"/>
          </a:xfrm>
          <a:prstGeom prst="rect">
            <a:avLst/>
          </a:prstGeom>
          <a:solidFill>
            <a:srgbClr val="A56209"/>
          </a:solidFill>
          <a:ln/>
        </p:spPr>
      </p:sp>
      <p:sp>
        <p:nvSpPr>
          <p:cNvPr id="12" name="Text 10"/>
          <p:cNvSpPr txBox="1"/>
          <p:nvPr/>
        </p:nvSpPr>
        <p:spPr>
          <a:xfrm>
            <a:off x="914400" y="3502152"/>
            <a:ext cx="5394960" cy="1655064"/>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Merkezcil kuvvet yeni bir kuvvet türü değildir.</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O, mevcut kuvvetlerden birinin (ya da bileşkesinin) üstlendiği bir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roldür</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ipteki gerilme, virajda sürtünme, Ay için yerçekimi, elektronu tutan elektriksel çekim. "Serbest cisim diyagramına merkezcil kuvvet eklenmez"; hangi kuvvetin bu rolü üstlendiği bulunur.</a:t>
            </a:r>
            <a:endParaRPr lang="en-US" sz="1400" dirty="0"/>
          </a:p>
        </p:txBody>
      </p:sp>
      <p:sp>
        <p:nvSpPr>
          <p:cNvPr id="13" name="Shape 11"/>
          <p:cNvSpPr/>
          <p:nvPr/>
        </p:nvSpPr>
        <p:spPr>
          <a:xfrm>
            <a:off x="6784848" y="1481328"/>
            <a:ext cx="4766767" cy="3956856"/>
          </a:xfrm>
          <a:prstGeom prst="roundRect">
            <a:avLst>
              <a:gd name="adj" fmla="val 369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cembersel-hareket-05.png">    </p:cNvPr>
          <p:cNvPicPr>
            <a:picLocks noChangeAspect="1"/>
          </p:cNvPicPr>
          <p:nvPr/>
        </p:nvPicPr>
        <p:blipFill>
          <a:blip r:embed="rId1"/>
          <a:stretch>
            <a:fillRect/>
          </a:stretch>
        </p:blipFill>
        <p:spPr>
          <a:xfrm>
            <a:off x="6967728" y="1664208"/>
            <a:ext cx="4401007" cy="2493816"/>
          </a:xfrm>
          <a:prstGeom prst="rect">
            <a:avLst/>
          </a:prstGeom>
        </p:spPr>
      </p:pic>
      <p:sp>
        <p:nvSpPr>
          <p:cNvPr id="15" name="Shape 12"/>
          <p:cNvSpPr/>
          <p:nvPr/>
        </p:nvSpPr>
        <p:spPr>
          <a:xfrm>
            <a:off x="6967728" y="4249464"/>
            <a:ext cx="4401007" cy="0"/>
          </a:xfrm>
          <a:prstGeom prst="line">
            <a:avLst/>
          </a:prstGeom>
          <a:noFill/>
          <a:ln w="9525">
            <a:solidFill>
              <a:srgbClr val="E1E5EE"/>
            </a:solidFill>
            <a:prstDash val="dash"/>
          </a:ln>
        </p:spPr>
      </p:sp>
      <p:sp>
        <p:nvSpPr>
          <p:cNvPr id="16" name="Text 13"/>
          <p:cNvSpPr txBox="1"/>
          <p:nvPr/>
        </p:nvSpPr>
        <p:spPr>
          <a:xfrm>
            <a:off x="6967728" y="4304328"/>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"Merkezcil kuvvet" diye ayrı bir kuvvet türü yoktur; bu,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 kuvvetin üstlendiği görevin adıdır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Dönen taşta bu görevi ip gerilmesi, virajdaki arabada lastik sürtünmesi, uyduda yerçekimi, çamaşır makinesinde tambur duvarı üstlenir. Hepsinde yeşil ok merkeze bakar, mavi ok (hız) ise teğettir.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Merkezkaç kuvveti yanılgısı</a:t>
            </a:r>
            <a:endParaRPr lang="en-US" sz="3200" dirty="0"/>
          </a:p>
        </p:txBody>
      </p:sp>
      <p:sp>
        <p:nvSpPr>
          <p:cNvPr id="5" name="Text 3"/>
          <p:cNvSpPr txBox="1"/>
          <p:nvPr/>
        </p:nvSpPr>
        <p:spPr>
          <a:xfrm>
            <a:off x="640080" y="1481328"/>
            <a:ext cx="6309360" cy="19095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Virajı hızlı alan bir araçta kendini kapıya doğru itiliyor hissedersin.</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Aslında seni dışarı iten bir kuvvet yoktur: sen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eylemsizliğin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gereği doğrusal gitmek istersin, araç ise altından dönerek yön değiştirir.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Kapı sana çarpar ve seni çembere sokan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merkeze doğru</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kuvveti uygular.</a:t>
            </a:r>
            <a:endParaRPr lang="en-US" sz="1400" dirty="0"/>
          </a:p>
        </p:txBody>
      </p:sp>
      <p:sp>
        <p:nvSpPr>
          <p:cNvPr id="6" name="Text 4"/>
          <p:cNvSpPr txBox="1"/>
          <p:nvPr/>
        </p:nvSpPr>
        <p:spPr>
          <a:xfrm>
            <a:off x="640080" y="3500628"/>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"Merkezkaç kuvveti" yalnızca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dönen bir referans sisteminde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tanımlanan bir hayalî (eylemsizlik) kuvvettir.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Yerdeki bir gözlemci için böyle bir kuvvet yoktur.</a:t>
            </a:r>
            <a:endParaRPr lang="en-US" sz="1400" dirty="0"/>
          </a:p>
        </p:txBody>
      </p:sp>
      <p:sp>
        <p:nvSpPr>
          <p:cNvPr id="7" name="Shape 5"/>
          <p:cNvSpPr/>
          <p:nvPr/>
        </p:nvSpPr>
        <p:spPr>
          <a:xfrm>
            <a:off x="640080" y="4474464"/>
            <a:ext cx="6309360" cy="1313688"/>
          </a:xfrm>
          <a:prstGeom prst="roundRect">
            <a:avLst>
              <a:gd name="adj" fmla="val 83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4620768"/>
            <a:ext cx="45720" cy="1021080"/>
          </a:xfrm>
          <a:prstGeom prst="rect">
            <a:avLst/>
          </a:prstGeom>
          <a:solidFill>
            <a:srgbClr val="3C8C21"/>
          </a:solidFill>
          <a:ln/>
        </p:spPr>
      </p:sp>
      <p:sp>
        <p:nvSpPr>
          <p:cNvPr id="9" name="Text 7"/>
          <p:cNvSpPr txBox="1"/>
          <p:nvPr/>
        </p:nvSpPr>
        <p:spPr>
          <a:xfrm>
            <a:off x="914400" y="4584192"/>
            <a:ext cx="5852160" cy="1094232"/>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Test:</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İpi kesersen cisim dışarı doğru mu fırlar? Hayır —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teğet doğrultuda</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gider. Dışarı iten bir kuvvet olsaydı yörünge merkezden uzaklaşan bir doğru olurdu. Sayfadaki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02</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numaralı deney bunu gösteriyor.</a:t>
            </a:r>
            <a:endParaRPr lang="en-US" sz="1300" dirty="0"/>
          </a:p>
        </p:txBody>
      </p:sp>
      <p:sp>
        <p:nvSpPr>
          <p:cNvPr id="10" name="Shape 8"/>
          <p:cNvSpPr/>
          <p:nvPr/>
        </p:nvSpPr>
        <p:spPr>
          <a:xfrm>
            <a:off x="7242048" y="1481328"/>
            <a:ext cx="4309567" cy="3531924"/>
          </a:xfrm>
          <a:prstGeom prst="roundRect">
            <a:avLst>
              <a:gd name="adj" fmla="val 41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cembersel-hareket-06.png">    </p:cNvPr>
          <p:cNvPicPr>
            <a:picLocks noChangeAspect="1"/>
          </p:cNvPicPr>
          <p:nvPr/>
        </p:nvPicPr>
        <p:blipFill>
          <a:blip r:embed="rId1"/>
          <a:stretch>
            <a:fillRect/>
          </a:stretch>
        </p:blipFill>
        <p:spPr>
          <a:xfrm>
            <a:off x="7424928" y="1664208"/>
            <a:ext cx="3943807" cy="1889662"/>
          </a:xfrm>
          <a:prstGeom prst="rect">
            <a:avLst/>
          </a:prstGeom>
        </p:spPr>
      </p:pic>
      <p:sp>
        <p:nvSpPr>
          <p:cNvPr id="12" name="Shape 9"/>
          <p:cNvSpPr/>
          <p:nvPr/>
        </p:nvSpPr>
        <p:spPr>
          <a:xfrm>
            <a:off x="7424928" y="3645310"/>
            <a:ext cx="3943807" cy="0"/>
          </a:xfrm>
          <a:prstGeom prst="line">
            <a:avLst/>
          </a:prstGeom>
          <a:noFill/>
          <a:ln w="9525">
            <a:solidFill>
              <a:srgbClr val="E1E5EE"/>
            </a:solidFill>
            <a:prstDash val="dash"/>
          </a:ln>
        </p:spPr>
      </p:sp>
      <p:sp>
        <p:nvSpPr>
          <p:cNvPr id="13" name="Text 10"/>
          <p:cNvSpPr txBox="1"/>
          <p:nvPr/>
        </p:nvSpPr>
        <p:spPr>
          <a:xfrm>
            <a:off x="7424928" y="3700174"/>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İp kesildiği anda cisme etki eden kuvvet kalmaz; 1. yasa gereği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 anki hız doğrultusunda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yani teğet boyunca düz bir çizgide gider. "Dışarı doğru fırlama" hissi, dönen sistemin içinde bulunan gözlemcinin eylemsizliği kuvvet sanmasından doğar. Gerçek kuvvet, cismi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içeri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çeken merkezcil kuvvettir.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Uygulamalar</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6675120" cy="914400"/>
        </p:xfrm>
        <a:graphic>
          <a:graphicData uri="http://schemas.openxmlformats.org/drawingml/2006/table">
            <a:tbl>
              <a:tblPr/>
              <a:tblGrid>
                <a:gridCol w="2326178"/>
                <a:gridCol w="2933007"/>
                <a:gridCol w="1415935"/>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Merkezcil kuvveti sağlayan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Bağıntı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İpin ucunda dönen taş</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İpteki gerilme kuvveti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Virajı alan araç</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Yol–lastik sürtünmesi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μmg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Dünya çevresindeki uydu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Yerçekimi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GMm/r²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Çamaşır makinesi sıkma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Tambur duvarı (normal kuvvet)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6" name="Text 3"/>
          <p:cNvSpPr txBox="1"/>
          <p:nvPr/>
        </p:nvSpPr>
        <p:spPr>
          <a:xfrm>
            <a:off x="640080" y="3300984"/>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Virajda savrulma: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Gereken kuvvet mv²/r, yolun sağlayabildiği en büyük sürtünme ise μmg'dir.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Kütle sadeleşir ve sınır hız ortaya çıkar:</a:t>
            </a:r>
            <a:endParaRPr lang="en-US" sz="1300" dirty="0"/>
          </a:p>
        </p:txBody>
      </p:sp>
      <p:sp>
        <p:nvSpPr>
          <p:cNvPr id="7" name="Shape 4"/>
          <p:cNvSpPr/>
          <p:nvPr/>
        </p:nvSpPr>
        <p:spPr>
          <a:xfrm>
            <a:off x="640080" y="4222242"/>
            <a:ext cx="2037283" cy="457200"/>
          </a:xfrm>
          <a:prstGeom prst="roundRect">
            <a:avLst>
              <a:gd name="adj" fmla="val 24000"/>
            </a:avLst>
          </a:prstGeom>
          <a:solidFill>
            <a:srgbClr val="EEF2FC"/>
          </a:solidFill>
          <a:ln w="9525">
            <a:solidFill>
              <a:srgbClr val="CBD7F4"/>
            </a:solidFill>
            <a:prstDash val="solid"/>
          </a:ln>
        </p:spPr>
      </p:sp>
      <p:sp>
        <p:nvSpPr>
          <p:cNvPr id="8" name="Text 5"/>
          <p:cNvSpPr txBox="1"/>
          <p:nvPr/>
        </p:nvSpPr>
        <p:spPr>
          <a:xfrm>
            <a:off x="640080" y="4222242"/>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vmaks = √(μ·g·r)</a:t>
            </a:r>
            <a:endParaRPr lang="en-US" sz="1300" dirty="0"/>
          </a:p>
        </p:txBody>
      </p:sp>
      <p:sp>
        <p:nvSpPr>
          <p:cNvPr id="9" name="Text 6"/>
          <p:cNvSpPr txBox="1"/>
          <p:nvPr/>
        </p:nvSpPr>
        <p:spPr>
          <a:xfrm>
            <a:off x="640080" y="4844034"/>
            <a:ext cx="6675120"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Yol ıslanınca μ yarıya inerse sınır hız √2 kat (yaklaşık %30) düşer.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Virajın yarıçapı dört katına çıkarsa sınır hız iki katına çıkar.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Bu yüzden otoyol virajları geniş yarıçaplı yapılır ve yol yüzeyi dışa doğru eğimlendirilir.</a:t>
            </a:r>
            <a:endParaRPr lang="en-US" sz="1300" dirty="0"/>
          </a:p>
        </p:txBody>
      </p:sp>
      <p:sp>
        <p:nvSpPr>
          <p:cNvPr id="10" name="Shape 7"/>
          <p:cNvSpPr/>
          <p:nvPr/>
        </p:nvSpPr>
        <p:spPr>
          <a:xfrm>
            <a:off x="7607808" y="1481328"/>
            <a:ext cx="3943807" cy="3491168"/>
          </a:xfrm>
          <a:prstGeom prst="roundRect">
            <a:avLst>
              <a:gd name="adj" fmla="val 41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cembersel-hareket-07.png">    </p:cNvPr>
          <p:cNvPicPr>
            <a:picLocks noChangeAspect="1"/>
          </p:cNvPicPr>
          <p:nvPr/>
        </p:nvPicPr>
        <p:blipFill>
          <a:blip r:embed="rId1"/>
          <a:stretch>
            <a:fillRect/>
          </a:stretch>
        </p:blipFill>
        <p:spPr>
          <a:xfrm>
            <a:off x="7790688" y="1664208"/>
            <a:ext cx="3578047" cy="1669684"/>
          </a:xfrm>
          <a:prstGeom prst="rect">
            <a:avLst/>
          </a:prstGeom>
        </p:spPr>
      </p:pic>
      <p:sp>
        <p:nvSpPr>
          <p:cNvPr id="12" name="Shape 8"/>
          <p:cNvSpPr/>
          <p:nvPr/>
        </p:nvSpPr>
        <p:spPr>
          <a:xfrm>
            <a:off x="7790688" y="3425332"/>
            <a:ext cx="3578047" cy="0"/>
          </a:xfrm>
          <a:prstGeom prst="line">
            <a:avLst/>
          </a:prstGeom>
          <a:noFill/>
          <a:ln w="9525">
            <a:solidFill>
              <a:srgbClr val="E1E5EE"/>
            </a:solidFill>
            <a:prstDash val="dash"/>
          </a:ln>
        </p:spPr>
      </p:sp>
      <p:sp>
        <p:nvSpPr>
          <p:cNvPr id="13" name="Text 9"/>
          <p:cNvSpPr txBox="1"/>
          <p:nvPr/>
        </p:nvSpPr>
        <p:spPr>
          <a:xfrm>
            <a:off x="7790688" y="3480196"/>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Virajda merkezcil kuvveti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lastik sürtünmesi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sağlar ve bu kuvvetin bir üst sınırı vardır: μ·m·g. Gereken kuvvet mv²/r hızın karesiyle büyüdüğü için, belli bir hızdan sonra sürtünme yetişemez ve araç savrulur. Sınır hız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√(μgr)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 yarıçapı küçük (keskin) virajlarda ve ıslak yolda (μ küçükken) çok daha düşüktür.</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Temel büyüklükler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 m yarıçaplı çember üzerinde dolanan 0,5 kg'lık bir cisim, 4 saniyede bir tur atıyor. Frekansını, çizgisel hızını, merkezcil ivmesini ve merkezcil kuvveti bulunuz. (π ≈ 3)</a:t>
            </a:r>
            <a:endParaRPr lang="en-US" sz="1600" dirty="0"/>
          </a:p>
        </p:txBody>
      </p:sp>
      <p:sp>
        <p:nvSpPr>
          <p:cNvPr id="9" name="Shape 7"/>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45386"/>
            <a:ext cx="384048" cy="384048"/>
          </a:xfrm>
          <a:prstGeom prst="roundRect">
            <a:avLst>
              <a:gd name="adj" fmla="val 26000"/>
            </a:avLst>
          </a:prstGeom>
          <a:solidFill>
            <a:srgbClr val="A56209"/>
          </a:solidFill>
          <a:ln/>
        </p:spPr>
      </p:sp>
      <p:sp>
        <p:nvSpPr>
          <p:cNvPr id="11" name="Text 9"/>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1/T = 1/4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0,25 Hz</a:t>
            </a:r>
            <a:endParaRPr lang="en-US" sz="1600" dirty="0"/>
          </a:p>
        </p:txBody>
      </p:sp>
      <p:sp>
        <p:nvSpPr>
          <p:cNvPr id="13" name="Shape 11"/>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111246"/>
            <a:ext cx="384048" cy="384048"/>
          </a:xfrm>
          <a:prstGeom prst="roundRect">
            <a:avLst>
              <a:gd name="adj" fmla="val 26000"/>
            </a:avLst>
          </a:prstGeom>
          <a:solidFill>
            <a:srgbClr val="A56209"/>
          </a:solidFill>
          <a:ln/>
        </p:spPr>
      </p:sp>
      <p:sp>
        <p:nvSpPr>
          <p:cNvPr id="15" name="Text 13"/>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2πr/T = (2·3·2)/4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m/s</a:t>
            </a:r>
            <a:endParaRPr lang="en-US" sz="1600" dirty="0"/>
          </a:p>
        </p:txBody>
      </p:sp>
      <p:sp>
        <p:nvSpPr>
          <p:cNvPr id="17" name="Shape 15"/>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277106"/>
            <a:ext cx="384048" cy="384048"/>
          </a:xfrm>
          <a:prstGeom prst="roundRect">
            <a:avLst>
              <a:gd name="adj" fmla="val 26000"/>
            </a:avLst>
          </a:prstGeom>
          <a:solidFill>
            <a:srgbClr val="A56209"/>
          </a:solidFill>
          <a:ln/>
        </p:spPr>
      </p:sp>
      <p:sp>
        <p:nvSpPr>
          <p:cNvPr id="19" name="Text 17"/>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v²/r = 9/2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4,5 m/s²</a:t>
            </a:r>
            <a:endParaRPr lang="en-US" sz="1600" dirty="0"/>
          </a:p>
        </p:txBody>
      </p:sp>
      <p:sp>
        <p:nvSpPr>
          <p:cNvPr id="21" name="Shape 19"/>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442966"/>
            <a:ext cx="384048" cy="384048"/>
          </a:xfrm>
          <a:prstGeom prst="roundRect">
            <a:avLst>
              <a:gd name="adj" fmla="val 26000"/>
            </a:avLst>
          </a:prstGeom>
          <a:solidFill>
            <a:srgbClr val="A56209"/>
          </a:solidFill>
          <a:ln/>
        </p:spPr>
      </p:sp>
      <p:sp>
        <p:nvSpPr>
          <p:cNvPr id="23" name="Text 21"/>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m·a = 0,5 · 4,5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2,25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(merkeze doğru)</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diskte iki nokta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Dönen bir diskin merkezinden 20 cm ve 60 cm uzaklıktaki iki noktası için periyot, çizgisel hız ve merkezcil ivme oranlarını karşılaştırınız.</a:t>
            </a:r>
            <a:endParaRPr lang="en-US" sz="1600" dirty="0"/>
          </a:p>
        </p:txBody>
      </p:sp>
      <p:sp>
        <p:nvSpPr>
          <p:cNvPr id="9" name="Shape 7"/>
          <p:cNvSpPr/>
          <p:nvPr/>
        </p:nvSpPr>
        <p:spPr>
          <a:xfrm>
            <a:off x="5212080" y="162763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105466"/>
            <a:ext cx="384048" cy="384048"/>
          </a:xfrm>
          <a:prstGeom prst="roundRect">
            <a:avLst>
              <a:gd name="adj" fmla="val 26000"/>
            </a:avLst>
          </a:prstGeom>
          <a:solidFill>
            <a:srgbClr val="A56209"/>
          </a:solidFill>
          <a:ln/>
        </p:spPr>
      </p:sp>
      <p:sp>
        <p:nvSpPr>
          <p:cNvPr id="11" name="Text 9"/>
          <p:cNvSpPr txBox="1"/>
          <p:nvPr/>
        </p:nvSpPr>
        <p:spPr>
          <a:xfrm>
            <a:off x="5449824" y="21054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Periyotlar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eşittir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katı cismin her noktası aynı sürede bir tur atar (T₁ = T₂).</a:t>
            </a:r>
            <a:endParaRPr lang="en-US" sz="1600" dirty="0"/>
          </a:p>
        </p:txBody>
      </p:sp>
      <p:sp>
        <p:nvSpPr>
          <p:cNvPr id="13" name="Shape 11"/>
          <p:cNvSpPr/>
          <p:nvPr/>
        </p:nvSpPr>
        <p:spPr>
          <a:xfrm>
            <a:off x="5212080" y="311365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378046"/>
            <a:ext cx="384048" cy="384048"/>
          </a:xfrm>
          <a:prstGeom prst="roundRect">
            <a:avLst>
              <a:gd name="adj" fmla="val 26000"/>
            </a:avLst>
          </a:prstGeom>
          <a:solidFill>
            <a:srgbClr val="A56209"/>
          </a:solidFill>
          <a:ln/>
        </p:spPr>
      </p:sp>
      <p:sp>
        <p:nvSpPr>
          <p:cNvPr id="15" name="Text 13"/>
          <p:cNvSpPr txBox="1"/>
          <p:nvPr/>
        </p:nvSpPr>
        <p:spPr>
          <a:xfrm>
            <a:off x="5449824" y="33780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16851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Açısal hızlar da eşittir: ω = 2π/T.</a:t>
            </a:r>
            <a:endParaRPr lang="en-US" sz="1600" dirty="0"/>
          </a:p>
        </p:txBody>
      </p:sp>
      <p:sp>
        <p:nvSpPr>
          <p:cNvPr id="17" name="Shape 15"/>
          <p:cNvSpPr/>
          <p:nvPr/>
        </p:nvSpPr>
        <p:spPr>
          <a:xfrm>
            <a:off x="5212080" y="417279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437186"/>
            <a:ext cx="384048" cy="384048"/>
          </a:xfrm>
          <a:prstGeom prst="roundRect">
            <a:avLst>
              <a:gd name="adj" fmla="val 26000"/>
            </a:avLst>
          </a:prstGeom>
          <a:solidFill>
            <a:srgbClr val="A56209"/>
          </a:solidFill>
          <a:ln/>
        </p:spPr>
      </p:sp>
      <p:sp>
        <p:nvSpPr>
          <p:cNvPr id="19" name="Text 17"/>
          <p:cNvSpPr txBox="1"/>
          <p:nvPr/>
        </p:nvSpPr>
        <p:spPr>
          <a:xfrm>
            <a:off x="5449824" y="44371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22765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ω·r olduğundan v₂/v₁ = r₂/r₁ = 60/20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a:t>
            </a:r>
            <a:endParaRPr lang="en-US" sz="1600" dirty="0"/>
          </a:p>
        </p:txBody>
      </p:sp>
      <p:sp>
        <p:nvSpPr>
          <p:cNvPr id="21" name="Shape 19"/>
          <p:cNvSpPr/>
          <p:nvPr/>
        </p:nvSpPr>
        <p:spPr>
          <a:xfrm>
            <a:off x="5212080" y="52319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496326"/>
            <a:ext cx="384048" cy="384048"/>
          </a:xfrm>
          <a:prstGeom prst="roundRect">
            <a:avLst>
              <a:gd name="adj" fmla="val 26000"/>
            </a:avLst>
          </a:prstGeom>
          <a:solidFill>
            <a:srgbClr val="A56209"/>
          </a:solidFill>
          <a:ln/>
        </p:spPr>
      </p:sp>
      <p:sp>
        <p:nvSpPr>
          <p:cNvPr id="23" name="Text 21"/>
          <p:cNvSpPr txBox="1"/>
          <p:nvPr/>
        </p:nvSpPr>
        <p:spPr>
          <a:xfrm>
            <a:off x="5449824" y="54963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2867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ω²·r olduğundan a₂/a₁ = r₂/r₁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Virajda sınır hız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Yarıçapı 50 m olan bir virajda lastik–yol sürtünme katsayısı 0,5'tir. Aracın savrulmadan alabileceği en büyük hız nedir? Yol ıslanıp μ 0,2'ye düşerse bu hız ne olur?</a:t>
            </a:r>
            <a:endParaRPr lang="en-US" sz="1600" dirty="0"/>
          </a:p>
        </p:txBody>
      </p:sp>
      <p:sp>
        <p:nvSpPr>
          <p:cNvPr id="9" name="Shape 7"/>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45386"/>
            <a:ext cx="384048" cy="384048"/>
          </a:xfrm>
          <a:prstGeom prst="roundRect">
            <a:avLst>
              <a:gd name="adj" fmla="val 26000"/>
            </a:avLst>
          </a:prstGeom>
          <a:solidFill>
            <a:srgbClr val="A56209"/>
          </a:solidFill>
          <a:ln/>
        </p:spPr>
      </p:sp>
      <p:sp>
        <p:nvSpPr>
          <p:cNvPr id="11" name="Text 9"/>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Gereken kuvvet mv²/r, sağlanabilen en büyük kuvvet μmg →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maks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√(μgr)</a:t>
            </a:r>
            <a:endParaRPr lang="en-US" sz="1600" dirty="0"/>
          </a:p>
        </p:txBody>
      </p:sp>
      <p:sp>
        <p:nvSpPr>
          <p:cNvPr id="13" name="Shape 11"/>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111246"/>
            <a:ext cx="384048" cy="384048"/>
          </a:xfrm>
          <a:prstGeom prst="roundRect">
            <a:avLst>
              <a:gd name="adj" fmla="val 26000"/>
            </a:avLst>
          </a:prstGeom>
          <a:solidFill>
            <a:srgbClr val="A56209"/>
          </a:solidFill>
          <a:ln/>
        </p:spPr>
      </p:sp>
      <p:sp>
        <p:nvSpPr>
          <p:cNvPr id="15" name="Text 13"/>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Kuru: v = √(0,5 · 10 · 50) = √250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15,8 m/s ≈ 57 km/h</a:t>
            </a:r>
            <a:endParaRPr lang="en-US" sz="1600" dirty="0"/>
          </a:p>
        </p:txBody>
      </p:sp>
      <p:sp>
        <p:nvSpPr>
          <p:cNvPr id="17" name="Shape 15"/>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277106"/>
            <a:ext cx="384048" cy="384048"/>
          </a:xfrm>
          <a:prstGeom prst="roundRect">
            <a:avLst>
              <a:gd name="adj" fmla="val 26000"/>
            </a:avLst>
          </a:prstGeom>
          <a:solidFill>
            <a:srgbClr val="A56209"/>
          </a:solidFill>
          <a:ln/>
        </p:spPr>
      </p:sp>
      <p:sp>
        <p:nvSpPr>
          <p:cNvPr id="19" name="Text 17"/>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Islak: v = √(0,2 · 10 · 50) = √100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 m/s = 36 km/h</a:t>
            </a:r>
            <a:endParaRPr lang="en-US" sz="1600" dirty="0"/>
          </a:p>
        </p:txBody>
      </p:sp>
      <p:sp>
        <p:nvSpPr>
          <p:cNvPr id="21" name="Shape 19"/>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442966"/>
            <a:ext cx="384048" cy="384048"/>
          </a:xfrm>
          <a:prstGeom prst="roundRect">
            <a:avLst>
              <a:gd name="adj" fmla="val 26000"/>
            </a:avLst>
          </a:prstGeom>
          <a:solidFill>
            <a:srgbClr val="A56209"/>
          </a:solidFill>
          <a:ln/>
        </p:spPr>
      </p:sp>
      <p:sp>
        <p:nvSpPr>
          <p:cNvPr id="23" name="Text 21"/>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Kütle hiçbir adımda kullanılmadı: kamyon da otomobil de aynı sınır hıza sahiptir.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Periyot değişirse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Sabit yarıçaplı bir çemberde dolanan cismin periyodu yarıya indirilirse çizgisel hızı ve merkezcil ivmesi nasıl değişir?</a:t>
            </a:r>
            <a:endParaRPr lang="en-US" sz="1600" dirty="0"/>
          </a:p>
        </p:txBody>
      </p:sp>
      <p:sp>
        <p:nvSpPr>
          <p:cNvPr id="9" name="Shape 7"/>
          <p:cNvSpPr/>
          <p:nvPr/>
        </p:nvSpPr>
        <p:spPr>
          <a:xfrm>
            <a:off x="5212080" y="1627632"/>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782953"/>
            <a:ext cx="384048" cy="384048"/>
          </a:xfrm>
          <a:prstGeom prst="roundRect">
            <a:avLst>
              <a:gd name="adj" fmla="val 26000"/>
            </a:avLst>
          </a:prstGeom>
          <a:solidFill>
            <a:srgbClr val="A56209"/>
          </a:solidFill>
          <a:ln/>
        </p:spPr>
      </p:sp>
      <p:sp>
        <p:nvSpPr>
          <p:cNvPr id="11" name="Text 9"/>
          <p:cNvSpPr txBox="1"/>
          <p:nvPr/>
        </p:nvSpPr>
        <p:spPr>
          <a:xfrm>
            <a:off x="5449824" y="178295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584962"/>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2πr/T → T yarıya inerse v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iki katına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çıkar.</a:t>
            </a:r>
            <a:endParaRPr lang="en-US" sz="1600" dirty="0"/>
          </a:p>
        </p:txBody>
      </p:sp>
      <p:sp>
        <p:nvSpPr>
          <p:cNvPr id="13" name="Shape 11"/>
          <p:cNvSpPr/>
          <p:nvPr/>
        </p:nvSpPr>
        <p:spPr>
          <a:xfrm>
            <a:off x="5212080" y="2468626"/>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786380"/>
            <a:ext cx="384048" cy="384048"/>
          </a:xfrm>
          <a:prstGeom prst="roundRect">
            <a:avLst>
              <a:gd name="adj" fmla="val 26000"/>
            </a:avLst>
          </a:prstGeom>
          <a:solidFill>
            <a:srgbClr val="A56209"/>
          </a:solidFill>
          <a:ln/>
        </p:spPr>
      </p:sp>
      <p:sp>
        <p:nvSpPr>
          <p:cNvPr id="15" name="Text 13"/>
          <p:cNvSpPr txBox="1"/>
          <p:nvPr/>
        </p:nvSpPr>
        <p:spPr>
          <a:xfrm>
            <a:off x="5449824" y="278638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523490"/>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v²/r → v iki katına çıkınca a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dört katına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çıkar.</a:t>
            </a:r>
            <a:endParaRPr lang="en-US" sz="1600" dirty="0"/>
          </a:p>
        </p:txBody>
      </p:sp>
      <p:sp>
        <p:nvSpPr>
          <p:cNvPr id="17" name="Shape 15"/>
          <p:cNvSpPr/>
          <p:nvPr/>
        </p:nvSpPr>
        <p:spPr>
          <a:xfrm>
            <a:off x="5212080" y="3634486"/>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952240"/>
            <a:ext cx="384048" cy="384048"/>
          </a:xfrm>
          <a:prstGeom prst="roundRect">
            <a:avLst>
              <a:gd name="adj" fmla="val 26000"/>
            </a:avLst>
          </a:prstGeom>
          <a:solidFill>
            <a:srgbClr val="A56209"/>
          </a:solidFill>
          <a:ln/>
        </p:spPr>
      </p:sp>
      <p:sp>
        <p:nvSpPr>
          <p:cNvPr id="19" name="Text 17"/>
          <p:cNvSpPr txBox="1"/>
          <p:nvPr/>
        </p:nvSpPr>
        <p:spPr>
          <a:xfrm>
            <a:off x="5449824" y="395224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689350"/>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Aynı sonuç a = 4π²r/T² bağıntısından da okunur: T yarıya inince a dört katına çıkar.</a:t>
            </a:r>
            <a:endParaRPr lang="en-US" sz="1600" dirty="0"/>
          </a:p>
        </p:txBody>
      </p:sp>
      <p:sp>
        <p:nvSpPr>
          <p:cNvPr id="21" name="Shape 19"/>
          <p:cNvSpPr/>
          <p:nvPr/>
        </p:nvSpPr>
        <p:spPr>
          <a:xfrm>
            <a:off x="5212080" y="4800346"/>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0533"/>
            <a:ext cx="384048" cy="384048"/>
          </a:xfrm>
          <a:prstGeom prst="roundRect">
            <a:avLst>
              <a:gd name="adj" fmla="val 26000"/>
            </a:avLst>
          </a:prstGeom>
          <a:solidFill>
            <a:srgbClr val="A56209"/>
          </a:solidFill>
          <a:ln/>
        </p:spPr>
      </p:sp>
      <p:sp>
        <p:nvSpPr>
          <p:cNvPr id="23" name="Text 21"/>
          <p:cNvSpPr txBox="1"/>
          <p:nvPr/>
        </p:nvSpPr>
        <p:spPr>
          <a:xfrm>
            <a:off x="5449824" y="52805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5210"/>
            <a:ext cx="5379415" cy="1234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Merkezcil kuvvet de dört katına çıkar; bu yüzden hızlı dönen sistemlerde bağlantı elemanları çok daha güçlü seçilir.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“Sürat sabitse ivme yoktur.”</a:t>
            </a:r>
            <a:endParaRPr lang="en-US" sz="1250" dirty="0"/>
          </a:p>
        </p:txBody>
      </p:sp>
      <p:sp>
        <p:nvSpPr>
          <p:cNvPr id="10" name="Shape 8"/>
          <p:cNvSpPr/>
          <p:nvPr/>
        </p:nvSpPr>
        <p:spPr>
          <a:xfrm>
            <a:off x="841248" y="2093595"/>
            <a:ext cx="274320" cy="274320"/>
          </a:xfrm>
          <a:prstGeom prst="roundRect">
            <a:avLst>
              <a:gd name="adj" fmla="val 26667"/>
            </a:avLst>
          </a:prstGeom>
          <a:solidFill>
            <a:srgbClr val="EAF7DC"/>
          </a:solidFill>
          <a:ln/>
        </p:spPr>
      </p:sp>
      <p:sp>
        <p:nvSpPr>
          <p:cNvPr id="11" name="Text 9"/>
          <p:cNvSpPr txBox="1"/>
          <p:nvPr/>
        </p:nvSpPr>
        <p:spPr>
          <a:xfrm>
            <a:off x="841248"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Hızın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yönü</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değişiyorsa ivme vardır; çembersel harekette ivme merkeze doğrudur.</a:t>
            </a:r>
            <a:endParaRPr lang="en-US" sz="1150" dirty="0"/>
          </a:p>
        </p:txBody>
      </p:sp>
      <p:sp>
        <p:nvSpPr>
          <p:cNvPr id="13" name="Shape 11"/>
          <p:cNvSpPr/>
          <p:nvPr/>
        </p:nvSpPr>
        <p:spPr>
          <a:xfrm>
            <a:off x="6205576"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“İvme hız yönündedir.”</a:t>
            </a:r>
            <a:endParaRPr lang="en-US" sz="1250" dirty="0"/>
          </a:p>
        </p:txBody>
      </p:sp>
      <p:sp>
        <p:nvSpPr>
          <p:cNvPr id="17" name="Shape 15"/>
          <p:cNvSpPr/>
          <p:nvPr/>
        </p:nvSpPr>
        <p:spPr>
          <a:xfrm>
            <a:off x="6406744" y="2093595"/>
            <a:ext cx="274320" cy="274320"/>
          </a:xfrm>
          <a:prstGeom prst="roundRect">
            <a:avLst>
              <a:gd name="adj" fmla="val 26667"/>
            </a:avLst>
          </a:prstGeom>
          <a:solidFill>
            <a:srgbClr val="EAF7DC"/>
          </a:solidFill>
          <a:ln/>
        </p:spPr>
      </p:sp>
      <p:sp>
        <p:nvSpPr>
          <p:cNvPr id="18" name="Text 16"/>
          <p:cNvSpPr txBox="1"/>
          <p:nvPr/>
        </p:nvSpPr>
        <p:spPr>
          <a:xfrm>
            <a:off x="6406744"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Düzgün çembersel harekette ivme hıza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hızı büyütmez, çevirir.</a:t>
            </a:r>
            <a:endParaRPr lang="en-US" sz="1150" dirty="0"/>
          </a:p>
        </p:txBody>
      </p:sp>
      <p:sp>
        <p:nvSpPr>
          <p:cNvPr id="20" name="Shape 18"/>
          <p:cNvSpPr/>
          <p:nvPr/>
        </p:nvSpPr>
        <p:spPr>
          <a:xfrm>
            <a:off x="640080"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2939796"/>
            <a:ext cx="274320" cy="274320"/>
          </a:xfrm>
          <a:prstGeom prst="roundRect">
            <a:avLst>
              <a:gd name="adj" fmla="val 26667"/>
            </a:avLst>
          </a:prstGeom>
          <a:solidFill>
            <a:srgbClr val="FBE9EE"/>
          </a:solidFill>
          <a:ln/>
        </p:spPr>
      </p:sp>
      <p:sp>
        <p:nvSpPr>
          <p:cNvPr id="22" name="Text 20"/>
          <p:cNvSpPr txBox="1"/>
          <p:nvPr/>
        </p:nvSpPr>
        <p:spPr>
          <a:xfrm>
            <a:off x="841248"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“Cisme dışarı doğru merkezkaç kuvveti etki eder.”</a:t>
            </a:r>
            <a:endParaRPr lang="en-US" sz="1250" dirty="0"/>
          </a:p>
        </p:txBody>
      </p:sp>
      <p:sp>
        <p:nvSpPr>
          <p:cNvPr id="24" name="Shape 22"/>
          <p:cNvSpPr/>
          <p:nvPr/>
        </p:nvSpPr>
        <p:spPr>
          <a:xfrm>
            <a:off x="841248" y="3259455"/>
            <a:ext cx="274320" cy="274320"/>
          </a:xfrm>
          <a:prstGeom prst="roundRect">
            <a:avLst>
              <a:gd name="adj" fmla="val 26667"/>
            </a:avLst>
          </a:prstGeom>
          <a:solidFill>
            <a:srgbClr val="EAF7DC"/>
          </a:solidFill>
          <a:ln/>
        </p:spPr>
      </p:sp>
      <p:sp>
        <p:nvSpPr>
          <p:cNvPr id="25" name="Text 23"/>
          <p:cNvSpPr txBox="1"/>
          <p:nvPr/>
        </p:nvSpPr>
        <p:spPr>
          <a:xfrm>
            <a:off x="841248"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Yerdeki gözlemci için böyle bir kuvvet yoktur; hissedilen şey eylemsizliktir.</a:t>
            </a:r>
            <a:endParaRPr lang="en-US" sz="1150" dirty="0"/>
          </a:p>
        </p:txBody>
      </p:sp>
      <p:sp>
        <p:nvSpPr>
          <p:cNvPr id="27" name="Shape 25"/>
          <p:cNvSpPr/>
          <p:nvPr/>
        </p:nvSpPr>
        <p:spPr>
          <a:xfrm>
            <a:off x="6205576"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2939796"/>
            <a:ext cx="274320" cy="274320"/>
          </a:xfrm>
          <a:prstGeom prst="roundRect">
            <a:avLst>
              <a:gd name="adj" fmla="val 26667"/>
            </a:avLst>
          </a:prstGeom>
          <a:solidFill>
            <a:srgbClr val="FBE9EE"/>
          </a:solidFill>
          <a:ln/>
        </p:spPr>
      </p:sp>
      <p:sp>
        <p:nvSpPr>
          <p:cNvPr id="29" name="Text 27"/>
          <p:cNvSpPr txBox="1"/>
          <p:nvPr/>
        </p:nvSpPr>
        <p:spPr>
          <a:xfrm>
            <a:off x="6406744"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“Merkezcil kuvvet ayrı bir kuvvettir.”</a:t>
            </a:r>
            <a:endParaRPr lang="en-US" sz="1250" dirty="0"/>
          </a:p>
        </p:txBody>
      </p:sp>
      <p:sp>
        <p:nvSpPr>
          <p:cNvPr id="31" name="Shape 29"/>
          <p:cNvSpPr/>
          <p:nvPr/>
        </p:nvSpPr>
        <p:spPr>
          <a:xfrm>
            <a:off x="6406744" y="3259455"/>
            <a:ext cx="274320" cy="274320"/>
          </a:xfrm>
          <a:prstGeom prst="roundRect">
            <a:avLst>
              <a:gd name="adj" fmla="val 26667"/>
            </a:avLst>
          </a:prstGeom>
          <a:solidFill>
            <a:srgbClr val="EAF7DC"/>
          </a:solidFill>
          <a:ln/>
        </p:spPr>
      </p:sp>
      <p:sp>
        <p:nvSpPr>
          <p:cNvPr id="32" name="Text 30"/>
          <p:cNvSpPr txBox="1"/>
          <p:nvPr/>
        </p:nvSpPr>
        <p:spPr>
          <a:xfrm>
            <a:off x="6406744"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Serbest cisim diyagramına ayrıca eklenmez; gerilme, sürtünme ya da çekim bu rolü üstlenir.</a:t>
            </a:r>
            <a:endParaRPr lang="en-US" sz="1150" dirty="0"/>
          </a:p>
        </p:txBody>
      </p:sp>
      <p:sp>
        <p:nvSpPr>
          <p:cNvPr id="34" name="Shape 32"/>
          <p:cNvSpPr/>
          <p:nvPr/>
        </p:nvSpPr>
        <p:spPr>
          <a:xfrm>
            <a:off x="640080"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105656"/>
            <a:ext cx="274320" cy="274320"/>
          </a:xfrm>
          <a:prstGeom prst="roundRect">
            <a:avLst>
              <a:gd name="adj" fmla="val 26667"/>
            </a:avLst>
          </a:prstGeom>
          <a:solidFill>
            <a:srgbClr val="FBE9EE"/>
          </a:solidFill>
          <a:ln/>
        </p:spPr>
      </p:sp>
      <p:sp>
        <p:nvSpPr>
          <p:cNvPr id="36" name="Text 34"/>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078224"/>
            <a:ext cx="4559656" cy="493014"/>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“İp kesilince cisim merkezden uzaklaşan doğrultuda gider.”</a:t>
            </a:r>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 </a:t>
            </a:r>
            <a:endParaRPr lang="en-US" sz="1250" dirty="0"/>
          </a:p>
        </p:txBody>
      </p:sp>
      <p:sp>
        <p:nvSpPr>
          <p:cNvPr id="38" name="Shape 36"/>
          <p:cNvSpPr/>
          <p:nvPr/>
        </p:nvSpPr>
        <p:spPr>
          <a:xfrm>
            <a:off x="841248" y="4644390"/>
            <a:ext cx="274320" cy="274320"/>
          </a:xfrm>
          <a:prstGeom prst="roundRect">
            <a:avLst>
              <a:gd name="adj" fmla="val 26667"/>
            </a:avLst>
          </a:prstGeom>
          <a:solidFill>
            <a:srgbClr val="EAF7DC"/>
          </a:solidFill>
          <a:ln/>
        </p:spPr>
      </p:sp>
      <p:sp>
        <p:nvSpPr>
          <p:cNvPr id="39" name="Text 37"/>
          <p:cNvSpPr txBox="1"/>
          <p:nvPr/>
        </p:nvSpPr>
        <p:spPr>
          <a:xfrm>
            <a:off x="841248" y="46443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4626102"/>
            <a:ext cx="4559656" cy="274320"/>
          </a:xfrm>
          <a:prstGeom prst="rect">
            <a:avLst/>
          </a:prstGeom>
          <a:noFill/>
          <a:ln/>
        </p:spPr>
        <p:txBody>
          <a:bodyPr wrap="square" lIns="0" tIns="0" rIns="0" bIns="0" rtlCol="0" anchor="t"/>
          <a:lstStyle/>
          <a:p>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Teğet</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doğrultuda gider.</a:t>
            </a:r>
            <a:endParaRPr lang="en-US" sz="1150" dirty="0"/>
          </a:p>
        </p:txBody>
      </p:sp>
      <p:sp>
        <p:nvSpPr>
          <p:cNvPr id="41" name="Shape 39"/>
          <p:cNvSpPr/>
          <p:nvPr/>
        </p:nvSpPr>
        <p:spPr>
          <a:xfrm>
            <a:off x="6205576"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105656"/>
            <a:ext cx="274320" cy="274320"/>
          </a:xfrm>
          <a:prstGeom prst="roundRect">
            <a:avLst>
              <a:gd name="adj" fmla="val 26667"/>
            </a:avLst>
          </a:prstGeom>
          <a:solidFill>
            <a:srgbClr val="FBE9EE"/>
          </a:solidFill>
          <a:ln/>
        </p:spPr>
      </p:sp>
      <p:sp>
        <p:nvSpPr>
          <p:cNvPr id="43" name="Text 41"/>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“Diskin her noktasının hızı aynıdır.”</a:t>
            </a:r>
            <a:endParaRPr lang="en-US" sz="1250" dirty="0"/>
          </a:p>
        </p:txBody>
      </p:sp>
      <p:sp>
        <p:nvSpPr>
          <p:cNvPr id="45" name="Shape 43"/>
          <p:cNvSpPr/>
          <p:nvPr/>
        </p:nvSpPr>
        <p:spPr>
          <a:xfrm>
            <a:off x="6406744" y="4425315"/>
            <a:ext cx="274320" cy="274320"/>
          </a:xfrm>
          <a:prstGeom prst="roundRect">
            <a:avLst>
              <a:gd name="adj" fmla="val 26667"/>
            </a:avLst>
          </a:prstGeom>
          <a:solidFill>
            <a:srgbClr val="EAF7DC"/>
          </a:solidFill>
          <a:ln/>
        </p:spPr>
      </p:sp>
      <p:sp>
        <p:nvSpPr>
          <p:cNvPr id="46" name="Text 44"/>
          <p:cNvSpPr txBox="1"/>
          <p:nvPr/>
        </p:nvSpPr>
        <p:spPr>
          <a:xfrm>
            <a:off x="6406744"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Aynı olan periyot ve açısal hızdır; çizgisel hız yarıçapla artar.</a:t>
            </a:r>
            <a:endParaRPr lang="en-US" sz="1150" dirty="0"/>
          </a:p>
        </p:txBody>
      </p:sp>
      <p:sp>
        <p:nvSpPr>
          <p:cNvPr id="48" name="Shape 46"/>
          <p:cNvSpPr/>
          <p:nvPr/>
        </p:nvSpPr>
        <p:spPr>
          <a:xfrm>
            <a:off x="640080" y="512521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9" name="Shape 47"/>
          <p:cNvSpPr/>
          <p:nvPr/>
        </p:nvSpPr>
        <p:spPr>
          <a:xfrm>
            <a:off x="841248" y="5271516"/>
            <a:ext cx="274320" cy="274320"/>
          </a:xfrm>
          <a:prstGeom prst="roundRect">
            <a:avLst>
              <a:gd name="adj" fmla="val 26667"/>
            </a:avLst>
          </a:prstGeom>
          <a:solidFill>
            <a:srgbClr val="FBE9EE"/>
          </a:solidFill>
          <a:ln/>
        </p:spPr>
      </p:sp>
      <p:sp>
        <p:nvSpPr>
          <p:cNvPr id="50" name="Text 48"/>
          <p:cNvSpPr txBox="1"/>
          <p:nvPr/>
        </p:nvSpPr>
        <p:spPr>
          <a:xfrm>
            <a:off x="841248" y="52715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51" name="Text 49"/>
          <p:cNvSpPr txBox="1"/>
          <p:nvPr/>
        </p:nvSpPr>
        <p:spPr>
          <a:xfrm>
            <a:off x="1225296" y="524408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“Ağır araç virajda daha kolay savrulur.”</a:t>
            </a:r>
            <a:endParaRPr lang="en-US" sz="1250" dirty="0"/>
          </a:p>
        </p:txBody>
      </p:sp>
      <p:sp>
        <p:nvSpPr>
          <p:cNvPr id="52" name="Shape 50"/>
          <p:cNvSpPr/>
          <p:nvPr/>
        </p:nvSpPr>
        <p:spPr>
          <a:xfrm>
            <a:off x="841248" y="5591175"/>
            <a:ext cx="274320" cy="274320"/>
          </a:xfrm>
          <a:prstGeom prst="roundRect">
            <a:avLst>
              <a:gd name="adj" fmla="val 26667"/>
            </a:avLst>
          </a:prstGeom>
          <a:solidFill>
            <a:srgbClr val="EAF7DC"/>
          </a:solidFill>
          <a:ln/>
        </p:spPr>
      </p:sp>
      <p:sp>
        <p:nvSpPr>
          <p:cNvPr id="53" name="Text 51"/>
          <p:cNvSpPr txBox="1"/>
          <p:nvPr/>
        </p:nvSpPr>
        <p:spPr>
          <a:xfrm>
            <a:off x="841248" y="559117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54" name="Text 52"/>
          <p:cNvSpPr txBox="1"/>
          <p:nvPr/>
        </p:nvSpPr>
        <p:spPr>
          <a:xfrm>
            <a:off x="1225296" y="557288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Sınır hız √(μgr)'dir; kütleden bağımsızdır.</a:t>
            </a:r>
            <a:endParaRPr lang="en-US" sz="1150" dirty="0"/>
          </a:p>
        </p:txBody>
      </p:sp>
      <p:sp>
        <p:nvSpPr>
          <p:cNvPr id="55" name="Shape 53"/>
          <p:cNvSpPr/>
          <p:nvPr/>
        </p:nvSpPr>
        <p:spPr>
          <a:xfrm>
            <a:off x="640080" y="6382512"/>
            <a:ext cx="128016" cy="128016"/>
          </a:xfrm>
          <a:prstGeom prst="roundRect">
            <a:avLst>
              <a:gd name="adj" fmla="val 28571"/>
            </a:avLst>
          </a:prstGeom>
          <a:solidFill>
            <a:srgbClr val="A9E648"/>
          </a:solidFill>
          <a:ln/>
        </p:spPr>
      </p:sp>
      <p:sp>
        <p:nvSpPr>
          <p:cNvPr id="56" name="Text 5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57" name="Text 5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Sürat </a:t>
            </a:r>
            <a:pPr indent="0" marL="0">
              <a:buNone/>
            </a:pPr>
            <a:r>
              <a:rPr lang="en-US" sz="1500" b="1" dirty="0">
                <a:solidFill>
                  <a:srgbClr val="FFFFFF"/>
                </a:solidFill>
                <a:latin typeface="Calibri" pitchFamily="34" charset="0"/>
                <a:ea typeface="Calibri" pitchFamily="34" charset="-122"/>
                <a:cs typeface="Calibri" pitchFamily="34" charset="-120"/>
              </a:rPr>
              <a:t>sabit</a:t>
            </a:r>
            <a:pPr indent="0" marL="0">
              <a:buNone/>
            </a:pPr>
            <a:r>
              <a:rPr lang="en-US" sz="1500" dirty="0">
                <a:solidFill>
                  <a:srgbClr val="C3CEE8"/>
                </a:solidFill>
                <a:latin typeface="Calibri" pitchFamily="34" charset="0"/>
                <a:ea typeface="Calibri" pitchFamily="34" charset="-122"/>
                <a:cs typeface="Calibri" pitchFamily="34" charset="-120"/>
              </a:rPr>
              <a:t>, hız değil</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İvme </a:t>
            </a:r>
            <a:pPr indent="0" marL="0">
              <a:buNone/>
            </a:pPr>
            <a:r>
              <a:rPr lang="en-US" sz="1500" b="1" dirty="0">
                <a:solidFill>
                  <a:srgbClr val="FFFFFF"/>
                </a:solidFill>
                <a:latin typeface="Calibri" pitchFamily="34" charset="0"/>
                <a:ea typeface="Calibri" pitchFamily="34" charset="-122"/>
                <a:cs typeface="Calibri" pitchFamily="34" charset="-120"/>
              </a:rPr>
              <a:t>merkeze</a:t>
            </a:r>
            <a:pPr indent="0" marL="0">
              <a:buNone/>
            </a:pPr>
            <a:r>
              <a:rPr lang="en-US" sz="1500" dirty="0">
                <a:solidFill>
                  <a:srgbClr val="C3CEE8"/>
                </a:solidFill>
                <a:latin typeface="Calibri" pitchFamily="34" charset="0"/>
                <a:ea typeface="Calibri" pitchFamily="34" charset="-122"/>
                <a:cs typeface="Calibri" pitchFamily="34" charset="-120"/>
              </a:rPr>
              <a:t> doğru</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 = v² / 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Viraj sınırı </a:t>
            </a:r>
            <a:pPr indent="0" marL="0">
              <a:buNone/>
            </a:pPr>
            <a:r>
              <a:rPr lang="en-US" sz="1500" b="1" dirty="0">
                <a:solidFill>
                  <a:srgbClr val="FFFFFF"/>
                </a:solidFill>
                <a:latin typeface="Calibri" pitchFamily="34" charset="0"/>
                <a:ea typeface="Calibri" pitchFamily="34" charset="-122"/>
                <a:cs typeface="Calibri" pitchFamily="34" charset="-120"/>
              </a:rPr>
              <a:t>√(μgr)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2πr / T = ω·r</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çizgisel hız</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ω = 2π / T = 2π·f</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açısal hız</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a = v² / r = ω²·r</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ivme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53619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m·v² / r</a:t>
            </a:r>
            <a:endParaRPr lang="en-US" sz="1350" dirty="0"/>
          </a:p>
        </p:txBody>
      </p:sp>
      <p:sp>
        <p:nvSpPr>
          <p:cNvPr id="25" name="Text 23"/>
          <p:cNvSpPr txBox="1"/>
          <p:nvPr/>
        </p:nvSpPr>
        <p:spPr>
          <a:xfrm>
            <a:off x="8257032" y="4864608"/>
            <a:ext cx="311170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kuvvet</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dersler.perinet.org/cembersel-hareket.html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Düzgün çembersel hareket — Dersler</dc:title>
  <dc:subject>Fizik · Kuvvet ve Hareket</dc:subject>
  <dc:creator>Dersler</dc:creator>
  <cp:lastModifiedBy>Dersler</cp:lastModifiedBy>
  <cp:revision>1</cp:revision>
  <dcterms:created xsi:type="dcterms:W3CDTF">2026-09-20T18:42:21Z</dcterms:created>
  <dcterms:modified xsi:type="dcterms:W3CDTF">2026-09-20T18:42:21Z</dcterms:modified>
</cp:coreProperties>
</file>