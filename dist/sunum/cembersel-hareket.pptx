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Lst>
  <p:notesMasterIdLst>
    <p:notesMasterId r:id="rId1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notesMaster" Target="notesMasters/notesMaster1.xml"/><Relationship Id="rId128" Type="http://schemas.openxmlformats.org/officeDocument/2006/relationships/presProps" Target="presProps.xml"/><Relationship Id="rId129" Type="http://schemas.openxmlformats.org/officeDocument/2006/relationships/viewProps" Target="viewProps.xml"/><Relationship Id="rId130" Type="http://schemas.openxmlformats.org/officeDocument/2006/relationships/theme" Target="theme/theme1.xml"/><Relationship Id="rId1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Sabit süratle dönen bir cismin hızı değişiyor mu? Evet — ve bu, konunun en kritik cümlesi. Hız bir vektördür; büyüklüğü hiç değişmese bile yönü her an değiştiği için cisim ivmelidir. Bu ivmeyi üreten bir kuvvet olmasaydı, ipi kesilen taş gibi teğet doğrultuda kaçıp giderdi. Bu anlatım dört basamakta ilerliyor: önce virajı dönen bir arabayı gözleyip hareketi tanımlayacağız, sonra hızı, ivmeyi ve kuvveti veren bağıntıları adım adım çıkaracağız, ardından merkezkaç yanılgısına, virajlara, düşey çembere ve uydulara geçeceğiz. En sonda kolaydan zora sıralanmış örneklerle hepsini birlikte kullanacağız.
Kapak görseli: Zincirli salıncak dönmeye başlayınca zincirler düşeyden ayrılır ve dışa doğru açılır. Koltuklar sabit süratle dönse bile her an yön değiştirir; onları çemberde tutan şey zincirin içeri doğru çeken kuvvetidir. Zincirin neden eğildiğini ve bu açının neye bağlı olduğunu üçüncü basamakta hesaplayacağız.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sorusu — sınıfa sorup birkaç cevap alın, sonra konuya geçin.
Sabit süratle dönen bir cismin hızı değişiyor mu? Evet — ve bu, konunun en kritik cümlesi. Hız bir vektördür; büyüklüğü hiç değişmese bile yönü her an değiştiği için cisim ivmelidir. Bu ivmeyi üreten bir kuvvet olmasaydı, ipi kesilen taş gibi teğet doğrultuda kaçıp giderdi. Bu anlatım dört basamakta ilerliyor: önce virajı dönen bir arabayı gözleyip hareketi tanımlayacağız, sonra hızı, ivmeyi ve kuvveti veren bağıntıları adım adım çıkaracağız, ardından merkezkaç yanılgısına, virajlara, düşey çembere ve uydulara geçeceğiz. En sonda kolaydan zora sıralanmış örneklerle hepsini birlikte kullanacağız.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derste:
1. Temel — Önce sezgi: dönen bir cisme bak, neyin sabit kalıp neyin değiştiğini gör ve adını koy. Bu basamakta hesap yok denecek kadar az.
   01 Önce gözlemle: virajı dönen bir arabada ne olur?
   02 Düzgün çembersel hareket nedir?
   03 Periyot ve frekans: dönmeyi saymak
   04 Çemberde kalmak için neden kuvvet gerekir?
2. Orta — Bağıntılar: hızı, ivmeyi ve kuvveti adım adım türet, sonra gerçek sayılarla hisset.
   05 Çizgisel hız ve açısal hız
   06 Merkezcil ivme: v²/r nereden geliyor?
   07 Merkezcil kuvvet: bu görevi kim üstleniyor?
   08 Sayılarla hisset: ne kadar hızlı, ne kadar ivme?
3. İleri — Derinleşme: dönen sistemin içinden bakınca, eğimli virajlarda, düşey çemberde ve yörüngede ne olur?
   09 Merkezkaç kuvveti yanılgısı
   10 Virajda savrulma sınırı ve eğimli yollar
   11 Düşey çember: kova neden dökülmez?
   12 Çembersel hareket gerçek dünyada
4. Pekiştir — Kolaydan zora çözümlü örnekler ve çembersel harekette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Sürat ve hız: sürat, bir saniyede alınan yoldur (ör. 5 m/s). Hız ise sürata bir yön ekler: “doğuya doğru 5 m/s” gibi. Yön değişirse hız da değişmiş olur.
• İvme: hızın her saniye ne kadar değiştiğidir; birimi m/s². Hız hiç değişmiyorsa ivme sıfırdır.
• Newton'un yasaları: net kuvvet yoksa cisim düz bir çizgide sabit hızla gider. Net kuvvet varsa cisim ivmelenir: F = m · a.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hatırlayalım:
• Çember: merkezden aynı uzaklıktaki noktaların oluşturduğu eğridir; bu uzaklığa yarıçap (r) denir. Çemberin çevresi 2 · π · r'dir; π ≈ 3,14, sorularda çoğu zaman 3 alınır.
• Kare ve karekök: 4² = 4 · 4 = 16 ve √16 = 4. Bir sayı 2 katına çıkınca karesi 4 katına çıkar.
Her maddeyi sınıfa sorarak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1 — Temel: Önce sezgi: dönen bir cisme bak, neyin sabit kalıp neyin değiştiğini gör ve adını koy. Bu basamakta hesap yok denecek kadar az.
01 Önce gözlemle: virajı dönen bir arabada ne olur?
02 Düzgün çembersel hareket nedir?
03 Periyot ve frekans: dönmeyi saymak
04 Çemberde kalmak için neden kuvvet gerekir?
Görsel: Virajı dönen bir otomobil, çembersel hareketin en tanıdık hâlidir. Asfalttaki lastik izleri yolun eğrisini izliyor: araba her an yön değiştiriyor. Bunu sağlayan, lastiklerle yol arasındaki tutunmadır. Bariyerin virajın dış kenarında durması da tutunma kaybolursa aracın nereye gideceğini söylüyor: düz ileri, eğrinin dışına.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virajı dönen bir arabada ne olur? — adım 1/4
• Bir dağ yolunda arabayla ilerlediğini düşün.
• Sürücü gaza da frene de dokunmuyor; gösterge hep 50 km/h'yi gösterirken keskin bir virajı dönüyor.
• Göstergeye bakan biri “hiçbir şey değişmiyor” der; oysa sen kapıya doğru kaydığını, arka koltuktaki çantanın devrildiğini hissedersin.
• Hareketin bir şeyi değişiyor olmalı — ama 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virajı dönen bir arabada ne olur? — adım 2/4
• Değişen şey arabanın gittiği yöndür.
• Virajın başında burnu bir yöne bakan araba, sonunda bambaşka bir yöne bakar.
• Fizik günlük dildeki “hız”ı ikiye ayırır: ne kadar hızlı gittiğin ve hangi yöne gittiğin.
• Virajda birincisi sabit kalabilir, ikincisi asla.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virajı dönen bir arabada ne olur? — adım 3/4
• Virajı dönen her araçta, sürat sabit kalsa bile, aynı üç şey gözlenir:
• Yön sürekli değişir: arabanın burnu virajın her noktasında başka bir yöne bakar.
• Bir tutunma gerekir: lastikler yolu kavramazsa araba virajı dönemez, düz gider.
• İçerideki her şey dışa kayar gibi olur: yolcu kapıya, çanta yana yaslanır.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gözlemle: virajı dönen bir arabada ne olur? — adım 4/4
• Üçüncü madde en aldatıcı olanıdır: sanki bir el seni dışarı itiyor gibi gelir.
• İleride göreceğiz ki seni dışarı iten bir şey yoktur; araba seni içeri doğru çevirmektedir.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Virajı dönen araba sürati sabit kalsa bile sürekli yön değiştirir. Yön değiştirmek için yolun arabayı yana doğru tutması gerekir; tutunma kaybolursa araba düz gider.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Buzlu bir virajda direksiyonu çevirsen de araba neden dümdüz kaymaya devam eder?
Sınıfa sorun, birkaç tahmin alın; sonra cevap slaytına geçin.
Cevap: Arabayı virajda döndüren, lastiklerle yol arasındaki tutunmadır. Buz bu tutunmayı neredeyse yok eder; yana doğru bir kuvvet kalmayınca araba o andaki doğrultusunda gitmeyi sürdürür. Tekerlekleri çevirmek yetmez, yolun arabayı yana itebilmesi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Arabayı virajda döndüren, lastiklerle yol arasındaki tutunmadır. Buz bu tutunmayı neredeyse yok eder; yana doğru bir kuvvet kalmayınca araba o andaki doğrultusunda gitmeyi sürdürür. Tekerlekleri çevirmek yetmez, yolun arabayı yana itebilmesi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çembersel hareket nedir? — adım 1/6
• Bir cisim sabit süratle çembersel bir yörüngede dolanıyorsa bu harekete düzgün çembersel hareket denir.
• "Düzgün" kelimesi süratin sabitliğini anlatır — hızın sabitliğini değil.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çembersel hareket nedir? — adım 2/6
• Bu ayrım konunun kalbidir.
• Sürat, birim zamanda alınan yoldur ve yalnızca bir büyüklüğü vardır (örneğin 5 m/s).
• Hız ise bir vektördür: büyüklüğünün yanında bir de yönü vardır.
• İki hızın eşit sayılması için hem büyüklüklerinin hem yönlerinin aynı olması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çembersel hareket nedir? — adım 3/6
• Hız bir vektördür ve çembersel harekette yönü her an değişir: hız daima yörüngeye teğettir.
• (Teğet, çembere tek noktada dokunan ve o noktadaki yarıçapa dik olan doğrudur.) Yönü değişen bir vektör, büyüklüğü sabit olsa bile değişiyor demektir.
• Değişen hız ise ivme demektir.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çembersel hareket nedir? — adım 4/6
Anahtar cümle: Düzgün çembersel hareket, sabit süratli ama ivmeli bir harekettir. İvmenin işi hızı büyütmek değil, yönünü çevirmektir.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çembersel hareket nedir? — şekil
Düzgün çembersel harekette hız vektörü her noktada yörüngeye teğettir. Altı okun boyu birbirinin aynı — sürat değişmiyor. Ama yönleri farklı, yani hız değişiyor. Hız değişiyorsa ivme vardır; ivme varsa bir kuvvet vardır. Konunun tamamı bu zincirden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Düzgün çembersel hareket nedir? — adım 6/6
• Düzenli dönen saat ibresinin ucu, sabit süratle dönen atlıkarınca ve çembere yakın yörüngedeki bir uydu bu harekete iyi örneklerdir.
• Virajda gaza basan ya da fren yapan araba ise düzgün çembersel hareket yapmaz; onun hem yönü hem sürati değişir.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Düzgün çembersel harekette sürat sabittir, ama hız yörüngeye teğet olduğu için yönü her an değişir. Yönü değişen hız, ivmeli hareket demektir.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Periyot ve frekans: dönmeyi saymak — adım 1/5
• Periyot (T), cismin bir tam turu tamamlama süresidir; birimi saniyedir.
• Frekans (f) ise birim zamandaki tur sayısıdır; birimi hertz (1/s).
T = 1 / f   f = 1 /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Periyot ve frekans: dönmeyi saymak — adım 2/5
• İkisi aynı bilginin iki okunuşudur.
• Saniyede 4 tur atan cisim (f = 4 Hz) her turu 0,25 saniyede tamamlar; bir turu 2 saniyede atan cisim saniyede yarım tur atar (f = 0,5 Hz).
• Makinelerde dönme çoğunlukla devir/dakika ile verilir; hertz'e çevirmek için 60'a bölmek yeter.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Periyot ve frekans: dönmeyi saymak — adım 3/5
Dönen şey | Periyot | Frekans
Saatin saniye ibresi | 60 s | 1/60 ≈ 0,017 Hz
Atlıkarınca | yaklaşık 10 s | 0,1 Hz
Çamaşır tamburu (1200 devir/dk) | 0,05 s | 20 Hz
Dünya'nın kendi ekseni çevresinde | yaklaşık 1 gün | günde 1 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Periyot ve frekans: dönmeyi saymak — adım 4/5
• Katı bir cisim (disk, tekerlek, atlıkarınca) döndüğünde üzerindeki bütün noktaların periyodu aynıdır — merkeze yakın da olsalar, uzak da.
• Atlıkarıncanın iç sırasındaki at da dış sırasındaki at da turu aynı anda tamamlar.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Periyot ve frekans: dönmeyi saymak — şekil
Periyot (T) bir tam turun kaç saniye sürdüğü, frekans (f) ise bir saniyede kaç tur atıldığıdır. İkisi aynı bilginin iki okunuşu olduğu için birbirinin tersidir: T = 1/f. Saniyede 4 tur atan bir cisim, her turu 0,25 saniyede tamamlar.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Periyot bir turun süresi, frekans bir saniyedeki tur sayısıdır ve T = 1/f. Dönen katı bir cismin bütün noktaları aynı periyotla döner.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Dakikada 120 tur atan bir tekerlek bir turu kaç saniyede tamamlar?
Sınıfa sorun, birkaç tahmin alın; sonra cevap slaytına geçin.
Cevap: Önce hertz'e çevir: 120 / 60 = saniyede 2 tur, yani f = 2 Hz. Periyot bunun tersidir: T = 1/2 = 0,5 s. Kontrol: her tur 0,5 saniye sürüyorsa 60 saniyede 120 tur atılır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Önce hertz'e çevir: 120 / 60 = saniyede 2 tur, yani f = 2 Hz. Periyot bunun tersidir: T = 1/2 = 0,5 s. Kontrol: her tur 0,5 saniye sürüyorsa 60 saniyede 120 tur atılır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Çemberde kalmak için neden kuvvet gerekir? — adım 1/5
• Newton'un birinci yasasına göre net kuvvet etki etmeyen bir cisim ya durgun kalır ya da düz bir çizgide sabit hızla gider.
• Cisimlerin hareket durumunu koruma eğilimine eylemsizlik denir.
• Yön değiştirmek de bir hareket değişikliğidir; bu yüzden çembersel hareket kendiliğinden olmaz, cismi her an düz yolundan saptıran bir kuvvet gerekir.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Çemberde kalmak için neden kuvvet gerekir? — adım 2/5
• İpin ucuna bağladığın bir silgiyi başının üstünde döndür.
• Elin ipi hep merkeze doğru çeker; silgi ise her an teğet doğrultuda gitmek ister ve ip onu durmadan içeri büker.
• Kuvvet hıza dik kaldığı için süratini değiştirmez, yalnızca yönünü çevirir.
• İpi bıraktığın an silgi o anki hız doğrultusunda, yani teğet boyunca gider.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Çemberde kalmak için neden kuvvet gerekir? — adım 3/5
Test: İpi kesersen cisim dışarı doğru mu fırlar? Hayır — teğet doğrultuda gider. Dışarı iten bir kuvvet olsaydı yörünge merkezden uzaklaşan bir doğru olurdu. Sayfadaki 02 numaralı deney bunu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Çemberde kalmak için neden kuvvet gerekir? — şekil
İp kesildiği anda cisme etki eden kuvvet kalmaz; 1. yasa gereği o anki hız doğrultusunda, yani teğet boyunca düz bir çizgide gider. "Dışarı doğru fırlama" hissi, dönen sistemin içinde bulunan gözlemcinin eylemsizliği kuvvet sanmasından doğar. Gerçek kuvvet, cismi içeri çeken merkezcil kuvvettir.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Çemberde kalmak için neden kuvvet gerekir? — adım 5/5
• Çekiç atma: atlet dönerken teli içeri çeker; bıraktığı an çekiç teğet doğrultuda uçar.
• Islak şemsiye: döndürülen şemsiyenin kenarından kopan damlalar teğet doğrultuda saçılır.
• Taşlama makinesi: dönen taştan kopan kıvılcımlar teğet boyunca düz çizgiler hâlinde fışkırır.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Eylemsizlik yüzünden cisim hep düz gitmek ister; onu çemberde tutmak için her an merkeze doğru bir kuvvet gerekir. Bu kuvvet kalkarsa cisim teğet doğrultuda gider.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2 — Orta: Bağıntılar: hızı, ivmeyi ve kuvveti adım adım türet, sonra gerçek sayılarla hisset.
05 Çizgisel hız ve açısal hız
06 Merkezcil ivme: v²/r nereden geliyor?
07 Merkezcil kuvvet: bu görevi kim üstleniyor?
08 Sayılarla hisset: ne kadar hızlı, ne kadar ivme?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Çizgisel hız ve açısal hız — adım 1/6
• Cisim bir turda 2πr uzunluğunda yol alır ve bunu T sürede yapar.
• Buradan çizgisel hız:
v = 2πr / T   ω = 2π / T = 2π·f   v = ω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Çizgisel hız ve açısal hız — adım 2/6
Formüldeki harfler ne anlama geliyor?
Sembol | Anlamı | Birimi
v | çizgisel hız: cismin çember boyunca sürati | m/s
r | yarıçap: merkezle cisim arasındaki uzaklık | m
T | periyot: bir tam turun süresi | s
f | frekans: bir saniyedeki tur sayısı | Hz (1/s)
ω | açısal hız: bir saniyede taranan açı (okunuşu “omega”) | rad/s
π | pi sayısı, yaklaşık 3,14; 2πr bir turda alınan yol, yani çemberin çevresi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Çizgisel hız ve açısal hız — adım 3/6
• Açısal hız (ω), birim zamanda taranan açıdır; birimi rad/s'dir.
• Aynı disk üzerindeki noktaların ω'sı ortaktır, ama v = ω·r olduğu için yarıçapı büyük olanın çizgisel hızı büyüktür.
• Sayfadaki 03 numaralı bölüm tam olarak bunu gösteriyor.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Çizgisel hız ve açısal hız — adım 4/6
• Açıyı radyanla ölçmek hesabı sadeleştirir: açı = yay / yarıçap.
• Yay yarıçapa eşitse açı 1 radyandır; çevre 2πr olduğundan bir tam tur 2π rad (≈ 6,28 rad, yani 360°) eder.
• Üç bağıntı da bu tanımlardan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Çizgisel hız ve açısal hız — adım 5/6
• Çizgisel hız: bir turda alınan yol çevre kadardır (2πr), süresi T'dir: v = 2πr/T.
• Açısal hız: bir turda taranan açı 2π radyandır: ω = 2π/T; T = 1/f olduğundan ω = 2π·f.
• İkisini bağlamak: v = (2π/T)·r diye yazarsan parantezin içi ω'dır: v = ω·r.
• Birim kontrolü: radyan iki uzunluğun oranı olduğu için birimsizdir; ω·r için (rad/s)·m = m/s çıkar, bu bir hızdır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Çizgisel hız ve açısal hız — şekil
Bir diskin üzerindeki bütün noktalar aynı sürede bir tur atar; yani periyotları ve açısal hızları aynıdır. Ama kenardaki nokta aynı sürede daha uzun bir yay katettiği için çizgisel hızı büyüktür. v = ω·r bağıntısı tam olarak bunu söyler: ω ortak, v yarıçapla orantılı.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Çizgisel hız v = 2πr/T, açısal hız ω = 2π/T'dir ve v = ω·r. Dönen bir diskte ω her noktada aynıdır; çizgisel hız ise merkezden uzaklıkla doğru orantılı artar.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Atlıkarıncada dış sıradaki at iç sıradakinden merkeze iki kat uzaksa, hangisi kaç kat hızlıdır?
Sınıfa sorun, birkaç tahmin alın; sonra cevap slaytına geçin.
Cevap: İkisinin periyodu ve açısal hızı aynıdır. Ama dış at aynı sürede iki kat uzun bir çember çizer, bu yüzden çizgisel hızı iki kat büyüktür. v = ω·r de aynı sonucu verir: ω ortak, r iki kat, v iki 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İkisinin periyodu ve açısal hızı aynıdır. Ama dış at aynı sürede iki kat uzun bir çember çizer, bu yüzden çizgisel hızı iki kat büyüktür. v = ω·r de aynı sonucu verir: ω ortak, r iki kat, v iki kat.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ivme: v²/r nereden geliyor? — adım 1/5
• Hızın yönünü çeviren ivmenin yönü, hız vektörüne diktir ve daima çemberin merkezine doğrudur.
• Bu yüzden adına merkezcil (merkeze doğru) ivme denir.
a = v² / r   a = ω² · r   a = 4π²r / T²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ivme: v²/r nereden geliyor? — şekil
Çok kısa bir süre içinde hız vektörü v₁'den v₂'ye döner. İkisini kuyruk kuyruğa koyduğumuzda aradaki fark Δv ortaya çıkar ve iki nokta birbirine yaklaştıkça bu fark tam olarak merkeze doğru bakar. İvme Δv yönünde olduğu için merkezcil ivme adını alır; büyüklüğü v²/r'dir. Sürat büyüdükçe ivme karesiyle artar, yarıçap büyüdükçe azalır.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ivme: v²/r nereden geliyor? — adım 3/5
• Cisim çok kısa bir Δt süresinde çember üzerinde Δs kadar yol alsın.
• Bu sürede yarıçap küçük bir açı kadar döner; hız vektörü yarıçapa hep dik olduğu için o da aynı açı kadar döner.
• Gerisi iki üçgeni karşılaştırmaktır: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ivme: v²/r nereden geliyor? — adım 4/5
• İki üçgen: iki yakın konumu merkeze bağlayan yarıçaplar (r, r) ile iki hız vektörü (v₁, v₂) aynı açıyı yapar.
• Benzerlik: ikisi de ikizkenar ve tepe açıları eşit, yani benzer üçgenler: Δv / v = Δs / r.
• Hız değişimi: kısa sürede alınan yol Δs = v·Δt olduğundan Δv = v·(v·Δt)/r = v²·Δt/r.
• İvme: a = Δv/Δt = v²/r. Δt küçüldükçe Δv tam olarak merkeze bakar.
• Öteki biçimler: v = ω·r koyarsan a = ω²·r; v = 2πr/T koyarsan a = 4π²r/T².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ivme: v²/r nereden geliyor? — adım 5/5
• Birim kontrolü: (m/s)² / m = m/s² ✓; “a = v/r” yazsaydın 1/s çıkardı, hatanı birim yakalar.
• Bağıntıya iki yönden bakmak gerekir: yarıçap sabitken hız iki katına çıkarsa ivme dört katına çıkar (v²).
• Hız sabitken yarıçap büyüdükçe ivme azalır (1/r): geniş viraj, yumuşak dönüş demektir.
• Sayfanın 01 numaralı laboratuvarındaki iki grafik bu iki bakışı çiziyor.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Merkezcil ivme hıza dik ve merkeze doğrudur; büyüklüğü a = v²/r = ω²·r'dir. Sürat iki katına çıkarsa ivme dört katına çıkar; aynı süratte geniş yarıçap küçük ivme demektir.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kuvvet: bu görevi kim üstleniyor? — adım 1/5
• Newton'un 2. yasası gereği ivme varsa net kuvvet de vardır.
• Çembersel harekette net kuvvet merkeze doğrudur ve büyüklüğü:
F = m·a = m·v² / r   F = m·ω²·r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kuvvet: bu görevi kim üstleniyor? — adım 2/5
• Laboratuvarın başlangıç ayarında (r = 1 m, T = 4 s, m = 2 kg) ekranda v ≈ 1,57 m/s, a ≈ 2,47 m/s² ve F ≈ 4,9 N okunur; bunları kendin hesaplayıp karşılaştırabilirsin.
• Kütle 3 katı düğmesine bastığında ivme değişmez, kuvvet üç katına çıkar.
Merkezcil kuvvet yeni bir kuvvet türü değildir. O, mevcut kuvvetlerden birinin (ya da bileşkesinin) üstlendiği bir roldür: ipteki gerilme, virajda sürtünme, Ay için yerçekimi, elektronu tutan elektriksel çekim. "Serbest cisim diyagramına merkezcil kuvvet eklenmez"; hangi kuvvetin bu rolü üstlendiği bulunur.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kuvvet: bu görevi kim üstleniyor? — şekil
"Merkezcil kuvvet" diye ayrı bir kuvvet türü yoktur; bu, bir kuvvetin üstlendiği görevin adıdır. Dönen taşta bu görevi ip gerilmesi, virajdaki arabada lastik sürtünmesi, uyduda yerçekimi, çamaşır makinesinde tambur duvarı üstlenir. Hepsinde yeşil ok merkeze bakar, mavi ok (hız) ise teğettir.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kuvvet: bu görevi kim üstleniyor? — adım 4/5
Durum | Merkezcil kuvveti sağlayan | Bağıntı
İpin ucunda dönen taş | İpteki gerilme kuvveti | T = mv²/r
Virajı alan araç | Yol–lastik sürtünmesi | μmg ≥ mv²/r
Dünya çevresindeki uydu | Yerçekimi | GMm/r² = mv²/r
Çamaşır makinesi sıkma | Tambur duvarı (normal kuvvet) | N = mv²/r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Merkezcil kuvvet: bu görevi kim üstleniyor? — adım 5/5
• Tablodaki T ipteki gerilme kuvvetidir; periyotla karıştırma.
• Soruları hep aynı sırayla çöz: önce gerçek kuvvetleri çiz (ayrıca “merkezcil kuvvet” oku ekleme), sonra merkeze bakanları artı, dışa bakanları eksi alarak topla, en sonda bu toplamı m·v²/r'ye eşitle.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Çembersel harekette net kuvvet merkeze doğrudur ve F = m·v²/r. Bu yeni bir kuvvet değildir; ip gerilmesi, sürtünme, yerçekimi ya da normal kuvvet bu görevi üstlenir.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ivme? — adım 1/3
• Formüller soyut kalmasın; tanıdık dönen sistemlerin hızına ve merkezcil ivmesine bakalım (değerler yuvarlatılmış, parantezde g'nin kaç katı olduğu yazılı):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ivme? — adım 2/3
Dönen (yarıçap, periyot) | Çizgisel hız | Merkezcil ivme
Atlıkarınca, dış sıra (5 m, 10 s) | 3,1 m/s | 2,0 m/s² (0,2 g)
Çamaşır tamburu (0,25 m, 0,05 s) | 31 m/s | 3 900 m/s² (400 g)
Uzay istasyonu (6 770 km, 92 dk) | 7,7 km/s | 8,7 m/s² (0,9 g)
Ay (384 000 km, 27,3 gün) | 1,0 km/s | 0,0027 m/s²
Dünya, Güneş çevresinde (150 milyon km, 1 yıl) | 30 km/s | 0,006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Sayılarla hisset: ne kadar hızlı, ne kadar ivme? — adım 3/3
• İlk düzen: en hızlı olan en ivmeli değildir.
• Çamaşır tamburu saniyede ancak 31 m yol alır, ama yarıçapı çok küçük olduğu için ivmesi yerçekiminin yaklaşık 400 katıdır.
• Ay saniyede 1 km gider, ama öyle geniş bir çember çizer ki yönü çok ağır değişir.
• Belirleyici olan v tek başına değil, v²/r oranıdır.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Merkezcil ivmeyi sürat tek başına belirlemez, v²/r oranı belirler. Küçük yarıçaplı çamaşır tamburu yaklaşık 400 g'ye ulaşırken saniyede 1 km giden Ay'ın ivmesi yalnızca 0,0027 m/s²'dir.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Uzay istasyonu Ay'dan yaklaşık 7,5 kat hızlı gidiyor; ivmesi neden binlerce kat büyük?
Sınıfa sorun, birkaç tahmin alın; sonra cevap slaytına geçin.
Cevap: Çünkü ivme hızın karesiyle büyür, yarıçapla küçülür. Hız 7,5 kat olunca v² yaklaşık 56 kat büyür; istasyonun yörünge yarıçapı ise Ay'ınkinden yaklaşık 57 kat küçüktür. İkisi çarpılınca 56 · 57 ≈ 3 200 kat çıkar: 0,0027 m/s² yerine 8,7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Çünkü ivme hızın karesiyle büyür, yarıçapla küçülür. Hız 7,5 kat olunca v² yaklaşık 56 kat büyür; istasyonun yörünge yarıçapı ise Ay'ınkinden yaklaşık 57 kat küçüktür. İkisi çarpılınca 56 · 57 ≈ 3 200 kat çıkar: 0,0027 m/s² yerine 8,7 m/s².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3 — İleri: Derinleşme: dönen sistemin içinden bakınca, eğimli virajlarda, düşey çemberde ve yörüngede ne olur?
09 Merkezkaç kuvveti yanılgısı
10 Virajda savrulma sınırı ve eğimli yollar
11 Düşey çember: kova neden dökülmez?
12 Çembersel hareket gerçek dünyada
Görsel: Yörüngedeki bir uyduyu çemberde tutan ne ip ne raydır: merkezcil kuvvet görevini yerçekimi üstlenir. Uzay istasyonunun bulunduğu yaklaşık 400 km yükseklikte dolanan bir araç saniyede yaklaşık 7,7 km yol alır ve Dünya'nın çevresini yaklaşık 92 dakikada bir dolanır.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Merkezkaç kuvveti yanılgısı — adım 1/5
• Virajı hızlı alan bir araçta kendini kapıya doğru itiliyor hissedersin.
• Aslında seni dışarı iten bir kuvvet yoktur: sen eylemsizliğin gereği doğrusal gitmek istersin, araç ise altından dönerek yön değiştirir.
• Kapı sana çarpar ve seni çembere sokan merkeze doğru kuvveti uygular.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Merkezkaç kuvveti yanılgısı — adım 2/5
• "Merkezkaç kuvveti" yalnızca dönen bir referans sisteminde tanımlanan bir hayalî (eylemsizlik) kuvvettir.
• Yerdeki bir gözlemci için böyle bir kuvvet yoktur.
• (Referans sistemi, hareketi ölçtüğün bakış yeridir.) Arabadaki yolcu kendini hareketsiz sayar ve kapının itişini dengeleyecek dışa doğru bir kuvvet varsayar; ama bu kuvveti uygulayan bir ip, yüzey ya da cisim gösterilemez.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Merkezkaç kuvveti yanılgısı — adım 3/5
Soru | Yerdeki gözlemci | Arabadaki yolcu
Yolcu ne yapıyor? | Araçla birlikte çember çiziyor | Yerinde duruyor, kapıya bastırılıyor
Kapının kuvveti | Merkeze doğru; yolcuyu döndürüyor | “Dışa iten kuvveti” dengeliyor
Dışa doğru kuvvet | Yok; yalnızca eylemsizlik | Var gibi görünüyor (hayalî)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Merkezkaç kuvveti yanılgısı — adım 4/5
• Girişteki zincirli salıncağa da böyle bak: yerden bakınca eğik zincirin çekişinin bir parçası merkeze doğrudur ve koltuğu çemberde tutar; koltuktaki kişi ise kendini dışarı savruluyor hisseder.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Merkezkaç kuvveti yanılgısı — şekil
Otobüs sola dönerken ayaktaki yolcuların gövdeleri sağa, virajın dışına doğru yatar. Onları dışarı iten bir kuvvet yoktur: gövdeleri eylemsizlikle düz gitmeyi sürdürürken otobüs altlarından döner. Yolcuları dönüşe katan, tutamağın ve tabanın onlara uyguladığı içeri doğru kuvvettir.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Merkezkaç kuvveti yalnızca dönen sistemin içindeki gözlemcinin kullandığı hayalî bir kuvvettir; uygulayıcısı yoktur. Yerden bakınca yalnızca merkeze doğru gerçek bir kuvvet ve eylemsizlik vardır.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Dönen bir platformun kenarında tuttuğun topu bırakırsan, yerdeki biri topu nasıl bir yolda görür?
Sınıfa sorun, birkaç tahmin alın; sonra cevap slaytına geçin.
Cevap: Yerdeki gözlemci topun bırakıldığı andaki hız doğrultusunda, yani teğet boyunca düz gittiğini görür. Platformdaki sen ise dönmeye devam ettiğin için topu eğri bir yol çizerek uzaklaşıyor görürsün. Hareket iki referans sisteminde farklı görünür, ama topa yatay bir kuvvet etki etmez.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Yerdeki gözlemci topun bırakıldığı andaki hız doğrultusunda, yani teğet boyunca düz gittiğini görür. Platformdaki sen ise dönmeye devam ettiğin için topu eğri bir yol çizerek uzaklaşıyor görürsün. Hareket iki referans sisteminde farklı görünür, ama topa yatay bir kuvvet etki etmez.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Virajda savrulma sınırı ve eğimli yollar — adım 1/6
• Düz bir virajda arabayı çemberde tutan tek yatay kuvvet sürtünmedir.
• Gereken kuvvet mv²/r, yolun sağlayabildiği en büyük sürtünme ise μmg'dir (μ: lastik–yol sürtünme katsayısı).
• Araç yol tutuyorsa m·v²/r ≤ μ·m·g olmalıdır; kütle iki yanda da bulunduğu için sadeleşir ve sınır hız ortaya çıkar:
vmaks = √(μ·g·r)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Virajda savrulma sınırı ve eğimli yollar — adım 2/6
• Yol ıslanınca μ yarıya inerse sınır hız √2 kat (yaklaşık %30) düşer.
• Virajın yarıçapı dört katına çıkarsa sınır hız iki katına çıkar.
• Bu yüzden otoyol virajları geniş yarıçaplı yapılır ve yol yüzeyi eğimlendirilir.
• Sayfanın 04 numaralı bölümünde yol durumunu değiştirip sınırın nasıl düştüğünü izleyebilirsin.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Virajda savrulma sınırı ve eğimli yollar — şekil
Virajda merkezcil kuvveti lastik sürtünmesi sağlar ve bu kuvvetin bir üst sınırı vardır: μ·m·g. Gereken kuvvet mv²/r hızın karesiyle büyüdüğü için, belli bir hızdan sonra sürtünme yetişemez ve araç savrulur. Sınır hız √(μgr)'dir: yarıçapı küçük (keskin) virajlarda ve ıslak yolda (μ küçükken) çok daha düşüktür.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Virajda savrulma sınırı ve eğimli yollar — adım 4/6
• 50 m yarıçaplı bir virajda (g = 10 m/s²) yol durumu sınır hızı şöyle değiştirir:
Yol durumu | Sürtünme katsayısı | Sınır hız
Kuru asfalt | 0,8 | 20 m/s (72 km/h)
Islak asfalt | 0,5 | 15,8 m/s (57 km/h)
Kar | 0,2 | 10 m/s (36 km/h)
Buz | ≈ 0,1 | 7,1 m/s (25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Virajda savrulma sınırı ve eğimli yollar — adım 5/6
• Eğimlendirme, virajın dış kenarını iç kenarından biraz yüksek yapmaktır; buna dever denir.
• Eğimli yolda normal kuvvet biraz merkeze doğru yatar ve yatay bileşeni aracı çevirmeye yardım eder.
• Düşeyde N·cos θ = m·g, yatayda N·sin θ = m·v²/r yazıp taraf tarafa bölersen sürtünmesiz ideal hızı veren bağıntı çıkar:
tan θ = v² / (g ·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Virajda savrulma sınırı ve eğimli yollar — adım 6/6
• 100 m yarıçaplı virajda 20 m/s (72 km/h) için tan θ = 0,4, yani θ ≈ 22° gerekir; gerçek yollarda dever birkaç derecedir, gerisini sürtünme karşılar.
• Zincirli salıncakta zincirin düşeyle yaptığı açı da aynı bağıntıya uyar ve kütleye bağlı değildir.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Düz virajda sınır hız vmaks = √(μ·g·r)'dir ve kütleden bağımsızdır. Eğimli yolda normal kuvvetin yatay bileşeni de yardım eder; sürtünmesiz ideal hız tan θ = v²/(g·r) ile bulunur.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çember: kova neden dökülmez? — adım 1/5
• Su dolu bir kovayı düşey bir çemberde hızla döndürürsen, kovanın baş aşağı durduğu tepe noktasında bile su dökülmez; yavaş döndürürsen başından aşağı boşalır.
• Neden?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çember: kova neden dökülmez? — adım 2/5
• Tepe noktada suya etki eden iki kuvvet de aşağı, yani merkeze doğrudur: ağırlık (m·g) ve kovanın dibinin uyguladığı normal kuvvet (N).
• İkisi birlikte merkezcil kuvvet görevini üstlenir.
• Kovanın dibi suyu itebilir ama çekemez; N en az sıfır olabilir.
• Hız √(g·r)'nin altına düşerse ağırlık gerekenden büyük kalır, su çemberin içine doğru sapar ve kovadan ayrılır.
Tepe: N + m·g = m·v²/r   Alt: N − m·g = m·v²/r   vmin = √(g·r)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çember: kova neden dökülmez? — adım 3/5
• Kol boyu yaklaşık 1 m ise en küçük hız √10 ≈ 3,2 m/s'dir; bir tur en fazla yaklaşık 2 saniye sürmelidir.
• 10 m yarıçaplı bir lunapark döngüsünde yolcuların emniyet barına asılı kalmaması için vagon tepe noktadan en az 10 m/s (36 km/h) hızla geçmelidir.
• En alt noktada ise ağırlık dışa bakar; ip ya da ray en çok orada zorlanır.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çember: kova neden dökülmez? — adım 4/5
Modelin sınırı: Yerçekimi düşey çemberde cismi inerken hızlandırır, çıkarken yavaşlatır; sürat kendiliğinden sabit kalmaz ve hareket artık düzgün değildir. Yine de merkeze doğru bileşen için a = v²/r her an geçerlidir; v yerine o andaki sürat konur.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Düşey çember: kova neden dökülmez? — şekil
Kovanın baş aşağı durduğu tepe noktada suya etki eden ağırlık da kovanın dibinin itişi de aşağıya, çemberin merkezine bakar; ikisi birlikte suyu çemberde tutar. Kova yeterince hızlı dönüyorsa ağırlık tek başına yetmez, kovanın dibi de suyu iter ve su dibe bastırılmış kalır. Hız √(g·r)'nin altına düşerse ağırlık gerekenden büyük gelir ve su kovadan ayrılır.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Düşey çemberin tepesinde ağırlık ve normal kuvvet birlikte merkeze bakar; cismin çemberde kalması için orada v ≥ √(g·r) olmalıdır. İp ya da ray en çok en alt noktada zorlanır.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Çembersel hareket gerçek dünyada — adım 1/3
• Çembersel hareket lunaparktan uzaya kadar her yerde karşına çıkar.
• Her durumda sorulacak soru aynıdır: merkezcil kuvvet görevini kim üstleniyor ve ne kadar büyük olmalı?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Çembersel hareket gerçek dünyada — adım 2/3
• Uydular: m·g = m·v²/r eşitliğinden v = √(g·r) çıkar; 400 km'de (r ≈ 6 770 km) g ≈ 8,7 m/s² olduğundan hız ≈ 7,7 km/s olur.
• Yerdurağan uydular: yaklaşık 36 000 km yükseklikte bir tur, Dünya'nın kendi dönüşü kadar sürer; uydu gökte hep aynı yerde durur.
• Santrifüj: binlerce devir/dakika ile dönen tüplerde kanın yoğun bileşenleri tüpün dibinde toplanır.
• Çamaşır makinesi: sıkmada tambur çamaşırı yaklaşık 400 g'lik ivmeyle döndürür; deliklere gelen su teğet doğrultuda kaçar.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Çembersel hareket gerçek dünyada — adım 3/3
• Dünya'nın dönüşü: ekvatordaki bir nokta 465 m/s ile döner; bu dönme ekvatorda tartıların yaklaşık binde 3,5 az göstermesine yol açar.
• Uydu bağıntısında kütle yine sadeleşir: küçük bir uydu ile dev uzay istasyonu aynı yükseklikte aynı hızla dolanır.
• Daha yavaş giden bir uydu için yerçekimi gerekenden büyük kalır ve uydu alçalır; daha hızlı giden uydu ise yükselir.
• Yerdurağan uydular gökte kıpırdamadığı için çanak antenler bir kez ayarlanıp sabit bırakılabilir.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Kısaca: Uydularda yerçekimi, santrifüjde ve çamaşır makinesinde tambur duvarı merkezcil kuvvet görevini üstlenir. Uydunun hızı v = √(g·r) ile bulunur ve kütlesine bağlı değildir.
Sınıfa bu cümleyi kendi sözleriyle tekrar ettirin.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Düşün: Uzay istasyonundaki astronotlar süzülüyorsa, üzerlerinde yerçekimi yok mu?
Sınıfa sorun, birkaç tahmin alın; sonra cevap slaytına geçin.
Cevap: Var: 400 km yükseklikte yerçekimi ivmesi yaklaşık 8,7 m/s², yani yerdekinin %89'u kadardır. Yerçekimi astronotu da istasyonu da aynı ivmeyle çemberde tutar; ikisi birlikte düşer, bu yüzden istasyonun tabanı astronota bastırmaz.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Var: 400 km yükseklikte yerçekimi ivmesi yaklaşık 8,7 m/s², yani yerdekinin %89'u kadardır. Yerçekimi astronotu da istasyonu da aynı ivmeyle çemberde tutar; ikisi birlikte düşer, bu yüzden istasyonun tabanı astronota bastırmaz.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Basamak 4 — Pekiştir: Kolaydan zora çözümlü örnekler ve çembersel harekette puan kaybettiren klasik hatalar.
13 Çözümlü örnekler
14 Sık yapılan hatalar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Temel büyüklükler
2 m yarıçaplı çember üzerinde dolanan 0,5 kg'lık bir cisim, 4 saniyede bir tur atıyor. Frekansını, çizgisel hızını, merkezcil ivmesini ve merkezcil kuvveti bulunuz. (π ≈ 3)
Verilenler: r = 2 m · m = 0,5 kg · T = 4 s (4 saniyede bir tur) · π ≈ 3
İstenen: frekans f · çizgisel hız v · merkezcil ivme a · merkezcil kuvvet F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Temel büyüklükler — çözüm
1. f = 1/T = 1/4 = 0,25 Hz
2. v = 2πr/T = (2·3·2)/4 = 3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1 — Temel büyüklükler — çözüm
3. a = v²/r = 9/2 = 4,5 m/s²
4. F = m·a = 0,5 · 4,5 = 2,25 N (merkeze doğru)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Aynı diskte iki nokta
Dönen bir diskin merkezinden 20 cm ve 60 cm uzaklıktaki iki noktası için periyot, çizgisel hız ve merkezcil ivme oranlarını karşılaştırınız.
Verilenler: aynı disk, yani T ve ω ortak · r₁ = 20 cm · r₂ = 60 cm
İstenen: periyotların, çizgisel hızların (v₂/v₁) ve merkezcil ivmelerin (a₂/a₁) karşılaştırması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Aynı diskte iki nokta — çözüm
1. Periyotlar eşittir: katı cismin her noktası aynı sürede bir tur atar (T₁ = T₂).
2. Açısal hızlar da eşittir: ω = 2π/T.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2 — Aynı diskte iki nokta — çözüm
3. v = ω·r olduğundan v₂/v₁ = r₂/r₁ = 60/20 = 3
4. a = ω²·r olduğundan a₂/a₁ = r₂/r₁ =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Periyot değişirse
Sabit yarıçaplı bir çemberde dolanan cismin periyodu yarıya indirilirse çizgisel hızı ve merkezcil ivmesi nasıl değişir?
Verilenler: r sabit · yeni periyot T₂ = T₁ / 2
İstenen: çizgisel hızın ve merkezcil ivmenin kaç katına çıktığı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Periyot değişirse — çözüm
1. v = 2πr/T → T yarıya inerse v iki katına çıkar.
2. a = v²/r → v iki katına çıkınca a dört katına çıkar.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3 — Periyot değişirse — çözüm
3. Aynı sonuç a = 4π²r/T² bağıntısından da okunur: T yarıya inince a dört katına çıkar.
4. Merkezcil kuvvet de dört katına çıkar; bu yüzden hızlı dönen sistemlerde bağlantı elemanları çok daha güçlü seçilir.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Virajda sınır hız
Yarıçapı 50 m olan bir virajda lastik–yol sürtünme katsayısı 0,5'tir. Aracın savrulmadan alabileceği en büyük hız nedir? Yol karla kaplanıp μ 0,2'ye düşerse bu hız ne olur?
Verilenler: r = 50 m · μ = 0,5 · karlı yolda μ = 0,2 · g = 10 m/s²
İstenen: iki yol durumu için savrulmadan alınabilecek en büyük hız vmaks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Virajda sınır hız — çözüm
1. Gereken kuvvet mv²/r, sağlanabilen en büyük kuvvet μmg → vmaks = √(μgr)
2. μ = 0,5: v = √(0,5 · 10 · 50) = √250 ≈ 15,8 m/s ≈ 57 km/h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4 — Virajda sınır hız — çözüm
3. Karlı yol, μ = 0,2: v = √(0,2 · 10 · 50) = √100 = 10 m/s = 36 km/h
4. Kütle hiçbir adımda kullanılmadı: kamyon da otomobil de aynı sınır hıza sahiptir.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Çamaşır makinesinin sıkma programı
Bir çamaşır makinesinin tamburu sıkmada dakikada 1200 devir yapıyor; tamburun yarıçapı 0,25 m. (a) Frekansı ve periyodu, (b) çepere yapışan çamaşırın çizgisel hızını, (c) merkezcil ivmesini, (d) 0,1 kg'lık ıslak bir çorabı çemberde tutan kuvveti bulunuz. (π ≈ 3)
Verilenler: dakikada 1200 devir · r = 0,25 m · çorabın kütlesi m = 0,1 kg · π ≈ 3
İstenen: (a) frekans f ve periyot T · (b) çizgisel hız v · (c) merkezcil ivme a · (d) çorabı tutan kuvvet F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Çamaşır makinesinin sıkma programı — çözüm
1. (a) f = 1200 / 60 = 20 Hz, T = 1/20 = 0,05 s
2. (b) v = 2πr/T = (2 · 3 · 0,25) / 0,05 = 30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5 — Çamaşır makinesinin sıkma programı — çözüm
3. (c) a = v²/r = 900 / 0,25 = 3 600 m/s², yani g'nin 360 katı
4. (d) F = m·a = 0,1 · 3 600 = 360 N; bu kuvveti tambur duvarı (normal kuvvet) uygular.
Deliğe gelen su damlasını içeri itecek duvar yoktur; damla teğet doğrultuda kaçar.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Zincirli salıncakta zincirin açısı
Zincirli bir salıncakta koltuk, yatay bir çember üzerinde 7,5 m yarıçapla dönüyor ve zincir düşeyle 37° açı yapıyor. Koltuk ve yolcunun toplam kütlesi 60 kg'dır. (a) Koltuğun süratini, (b) bir turun süresini, (c) zincirdeki kuvveti bulunuz. (tan 37° = 0,75, cos 37° = 0,8, π ≈ 3)
Verilenler: r = 7,5 m · zincirin düşeyle açısı 37° · m = 60 kg · tan 37° = 0,75 · cos 37° = 0,8 · π ≈ 3 · g = 10 m/s²
İstenen: (a) koltuğun sürati v · (b) bir turun süresi · (c) zincirdeki kuvvet F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Zincirli salıncakta zincirin açısı — çözüm
1. Kuvvetler: ağırlık (aşağı) ve zincir kuvveti F (zincir boyunca). Düşey: F·cos 37° = m·g; merkeze doğru: F·sin 37° = m·v²/r.
2. (a) Taraf tarafa bölersen tan 37° = v²/(g·r) → v² = 10 · 7,5 · 0,75 = 56,25 → v = 7,5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6 — Zincirli salıncakta zincirin açısı — çözüm
3. (b) Bir tur: 2πr/v = (2 · 3 · 7,5) / 7,5 = 6 s
4. (c) F = m·g / cos 37° = 600 / 0,8 = 750 N
(a) ve (b) şıklarında kütle sadeleşti: hafif çocuk da ağır yetişkin de aynı açıyla açılır. Kütleyle büyüyen tek şey zincirdeki kuvvettir.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Düşey çemberde ip gerilmesi
0,5 kg'lık bir taş 0,8 m uzunluğundaki ipin ucunda düşey bir çemberde döndürülüyor. (a) İpin tepe noktada gevşememesi için taş orada en az hangi hızla geçmelidir? (b) El taşı her noktada 4 m/s süratte tutarsa ipteki gerilme (T) tepe noktada ve en alt noktada kaç N olur?
Verilenler: m = 0,5 kg · r = 0,8 m (ip uzunluğu) · (b) şıkkında v = 4 m/s · g = 10 m/s²
İstenen: (a) tepe noktadaki en küçük hız vmin · (b) tepe ve alt noktada ipteki gerilme T
Önce öğrencilere verilenleri ve isteneni söyletin; hangi bağıntının kullanılacağını sorun.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Düşey çemberde ip gerilmesi — çözüm
1. (a) Tepe: T + m·g = m·v²/r. En küçük hızda ip gevşemek üzeredir, T = 0 → v = √(g·r) = √8 ≈ 2,8 m/s
2. (b) Gereken merkezcil kuvvet her noktada aynıdır: m·v²/r = 0,5 · 16 / 0,8 = 10 N. Ağırlık m·g = 5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Örnek 7 — Düşey çemberde ip gerilmesi — çözüm
3. Tepe: ağırlık da merkeze bakar → T = 10 − 5 = 5 N
4. Alt: ağırlık dışa bakar → T = 10 + 5 = 15 N
İp en alt noktada tepe noktadakinin üç katı gerilir; ip koparsa en olası yer orasıdır.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3 m yarıçaplı bir çemberde dolanan cisim bir turu 6 saniyede atıyor. Çizgisel hızı kaç m/s'dir?
Öğrencilere 2–3 dakika verin; sonra cevap slaytını açın.
Cevap: Cevap: v = 2πr / T = (2 · 3 · 3) / 6 = 18 / 6 = 3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v = 2πr / T = (2 · 3 · 3) / 6 = 18 / 6 = 3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2 m yarıçaplı bir çemberde 4 m/s süratle dolanan cismin merkezcil ivmesi kaç m/s²'dir?
Öğrencilere 2–3 dakika verin; sonra cevap slaytını açın.
Cevap: Cevap: a = v² / r = 4² / 2 = 16 / 2 = 8 m/s², merkeze doğru.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a = v² / r = 4² / 2 = 16 / 2 = 8 m/s², merkeze doğru.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Sürtünmesiz yatay bir masada 2 kg'lık bir cisim, 0,5 m'lik bir ipin ucunda 3 m/s süratle dönüyor. İpteki gerilme kaç N'dur?
Öğrencilere 2–3 dakika verin; sonra cevap slaytını açın.
Cevap: Cevap: Merkezcil kuvvet görevini ipteki gerilme üstlenir: gerilme = m · v² / r = 2 · 3² / 0,5 = 18 / 0,5 = 36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Merkezcil kuvvet görevini ipteki gerilme üstlenir: gerilme = m · v² / r = 2 · 3² / 0,5 = 18 / 0,5 = 36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Dakikada 6 tur atan bir atlıkarıncada merkezden 5 m uzaktaki atın çizgisel hızı kaç m/s'dir?
Öğrencilere 2–3 dakika verin; sonra cevap slaytını açın.
Cevap: Cevap: f = 6 / 60 = 0,1 Hz → T = 1 / f = 10 s. v = 2πr / T = (2 · 3 · 5) / 10 = 3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f = 6 / 60 = 0,1 Hz → T = 1 / f = 10 s. v = 2πr / T = (2 · 3 · 5) / 10 = 3 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Sıra sende: 10 m yarıçaplı düşey bir döngünün tepesinden 20 m/s ile geçen vagondaki 50 kg'lık yolcuya koltuk kaç N kuvvet uygular?
Öğrencilere 2–3 dakika verin; sonra cevap slaytını açın.
Cevap: Cevap: Tepede hem ağırlık hem koltuğun kuvveti N aşağı, yani merkeze bakar: N + m · g = m · v² / r. m · v² / r = 50 · 400 / 10 = 2000 N ve m · g = 500 N → N = 2000 − 500 = 1500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Cevap: Cevap: Tepede hem ağırlık hem koltuğun kuvveti N aşağı, yani merkeze bakar: N + m · g = m · v² / r. m · v² / r = 50 · 400 / 10 = 2000 N ve m · g = 500 N → N = 2000 − 500 = 1500 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“Sürat sabitse ivme yoktur.” Hızın yönü değişiyorsa ivme vardır; çembersel harekette ivme merkeze doğrudur.
• “İvme hız yönündedir.” Düzgün çembersel harekette ivme hıza diktir: hızı büyütmez, çevirir.
• “Cisme dışarı doğru merkezkaç kuvveti etki eder.” Yerdeki gözlemci için böyle bir kuvvet yoktur; hissedilen şey eylemsizliktir.
• “Merkezcil kuvvet ayrı bir kuvvettir.” Serbest cisim diyagramına ayrıca eklenmez; gerilme, sürtünme ya da çekim bu rolü üstlenir.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Sık yapılan hatalar
• “İp kesilince cisim merkezden uzaklaşan doğrultuda gider.” Teğet doğrultuda gider.
• “Diskin her noktasının hızı aynıdır.” Aynı olan periyot ve açısal hızdır; çizgisel hız yarıçapla artar.
• “Ağır araç virajda daha kolay savrulur.” Sınır hız √(μgr)'dir; kütleden bağımsızdır.
• “Uydu, yerçekimi olmadığı için düşmez.” Yerçekimi oradadır ve tam da merkezcil kuvvet görevini üstlenir; uydu yana doğru o kadar hızlı gider ki çemberde kalır.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Özet: Sürat sabit, hız değil · İvme merkeze doğru · a = v² / r · Viraj sınırı √(μgr)
v = 2πr / T = ω·r — çizgisel hız
ω = 2π / T = 2π·f — açısal hız
a = v² / r = ω²·r — merkezcil ivme
F = m·v² / r — merkezcil kuvvet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jp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jp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slideLayout" Target="../slideLayouts/slideLayout1.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image" Target="../media/image-83-1.jpg"/><Relationship Id="rId2" Type="http://schemas.openxmlformats.org/officeDocument/2006/relationships/slideLayout" Target="../slideLayouts/slideLayout1.xml"/><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426"/>
        </a:solidFill>
      </p:bgPr>
    </p:bg>
    <p:spTree>
      <p:nvGrpSpPr>
        <p:cNvPr id="1" name=""/>
        <p:cNvGrpSpPr/>
        <p:nvPr/>
      </p:nvGrpSpPr>
      <p:grpSpPr>
        <a:xfrm>
          <a:off x="0" y="0"/>
          <a:ext cx="0" cy="0"/>
          <a:chOff x="0" y="0"/>
          <a:chExt cx="0" cy="0"/>
        </a:xfrm>
      </p:grpSpPr>
      <p:pic>
        <p:nvPicPr>
          <p:cNvPr id="2" name="Image 0" descr="/tmp/claude-1000/-opt-dersler/8a8328c3-841c-44fa-b76f-82572d338d3d/scratchpad/d10/sek/cembersel-hareket-kapak.jpg">    </p:cNvPr>
          <p:cNvPicPr>
            <a:picLocks noChangeAspect="1"/>
          </p:cNvPicPr>
          <p:nvPr/>
        </p:nvPicPr>
        <p:blipFill>
          <a:blip r:embed="rId1"/>
          <a:stretch>
            <a:fillRect/>
          </a:stretch>
        </p:blipFill>
        <p:spPr>
          <a:xfrm>
            <a:off x="4967935" y="0"/>
            <a:ext cx="7223760" cy="6858000"/>
          </a:xfrm>
          <a:prstGeom prst="rect">
            <a:avLst/>
          </a:prstGeom>
        </p:spPr>
      </p:pic>
      <p:sp>
        <p:nvSpPr>
          <p:cNvPr id="3" name="Shape 0"/>
          <p:cNvSpPr/>
          <p:nvPr/>
        </p:nvSpPr>
        <p:spPr>
          <a:xfrm>
            <a:off x="868680" y="822960"/>
            <a:ext cx="310896" cy="310896"/>
          </a:xfrm>
          <a:prstGeom prst="roundRect">
            <a:avLst>
              <a:gd name="adj" fmla="val 29412"/>
            </a:avLst>
          </a:prstGeom>
          <a:solidFill>
            <a:srgbClr val="A9E648"/>
          </a:solidFill>
          <a:ln/>
        </p:spPr>
      </p:sp>
      <p:sp>
        <p:nvSpPr>
          <p:cNvPr id="4" name="Text 1"/>
          <p:cNvSpPr txBox="1"/>
          <p:nvPr/>
        </p:nvSpPr>
        <p:spPr>
          <a:xfrm>
            <a:off x="1280160" y="822960"/>
            <a:ext cx="3657600" cy="310896"/>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Dersler</a:t>
            </a:r>
            <a:pPr indent="0" marL="0">
              <a:buNone/>
            </a:pPr>
            <a:r>
              <a:rPr lang="en-US" sz="1250" dirty="0">
                <a:solidFill>
                  <a:srgbClr val="8D97B5"/>
                </a:solidFill>
                <a:latin typeface="Calibri" pitchFamily="34" charset="0"/>
                <a:ea typeface="Calibri" pitchFamily="34" charset="-122"/>
                <a:cs typeface="Calibri" pitchFamily="34" charset="-120"/>
              </a:rPr>
              <a:t>  ·  fizik</a:t>
            </a:r>
            <a:endParaRPr lang="en-US" sz="1250" dirty="0"/>
          </a:p>
        </p:txBody>
      </p:sp>
      <p:sp>
        <p:nvSpPr>
          <p:cNvPr id="5" name="Shape 2"/>
          <p:cNvSpPr/>
          <p:nvPr/>
        </p:nvSpPr>
        <p:spPr>
          <a:xfrm>
            <a:off x="640080" y="1965960"/>
            <a:ext cx="54864" cy="1097280"/>
          </a:xfrm>
          <a:prstGeom prst="rect">
            <a:avLst/>
          </a:prstGeom>
          <a:solidFill>
            <a:srgbClr val="C6F36B"/>
          </a:solidFill>
          <a:ln/>
        </p:spPr>
      </p:sp>
      <p:sp>
        <p:nvSpPr>
          <p:cNvPr id="6" name="Text 3"/>
          <p:cNvSpPr txBox="1"/>
          <p:nvPr/>
        </p:nvSpPr>
        <p:spPr>
          <a:xfrm>
            <a:off x="868680" y="1554480"/>
            <a:ext cx="5852160" cy="320040"/>
          </a:xfrm>
          <a:prstGeom prst="rect">
            <a:avLst/>
          </a:prstGeom>
          <a:noFill/>
          <a:ln/>
        </p:spPr>
        <p:txBody>
          <a:bodyPr wrap="square" lIns="0" tIns="0" rIns="0" bIns="0" rtlCol="0" anchor="ctr"/>
          <a:lstStyle/>
          <a:p>
            <a:pPr indent="0" marL="0">
              <a:buNone/>
            </a:pPr>
            <a:r>
              <a:rPr lang="en-US" sz="1300" b="1" spc="300" kern="0" dirty="0">
                <a:solidFill>
                  <a:srgbClr val="C6F36B"/>
                </a:solidFill>
                <a:latin typeface="Calibri" pitchFamily="34" charset="0"/>
                <a:ea typeface="Calibri" pitchFamily="34" charset="-122"/>
                <a:cs typeface="Calibri" pitchFamily="34" charset="-120"/>
              </a:rPr>
              <a:t>KUVVET VE HAREKET · KONU 06</a:t>
            </a:r>
            <a:endParaRPr lang="en-US" sz="1300" dirty="0"/>
          </a:p>
        </p:txBody>
      </p:sp>
      <p:sp>
        <p:nvSpPr>
          <p:cNvPr id="7" name="Text 4"/>
          <p:cNvSpPr txBox="1"/>
          <p:nvPr/>
        </p:nvSpPr>
        <p:spPr>
          <a:xfrm>
            <a:off x="822960" y="1920240"/>
            <a:ext cx="5120640" cy="1188720"/>
          </a:xfrm>
          <a:prstGeom prst="rect">
            <a:avLst/>
          </a:prstGeom>
          <a:noFill/>
          <a:ln/>
        </p:spPr>
        <p:txBody>
          <a:bodyPr wrap="square" lIns="0" tIns="0" rIns="0" bIns="0" rtlCol="0" anchor="ctr"/>
          <a:lstStyle/>
          <a:p>
            <a:pPr indent="0" marL="0">
              <a:buNone/>
            </a:pPr>
            <a:r>
              <a:rPr lang="en-US" sz="3900" b="1" spc="-100" kern="0" dirty="0">
                <a:solidFill>
                  <a:srgbClr val="FFFFFF"/>
                </a:solidFill>
                <a:latin typeface="Cambria" pitchFamily="34" charset="0"/>
                <a:ea typeface="Cambria" pitchFamily="34" charset="-122"/>
                <a:cs typeface="Cambria" pitchFamily="34" charset="-120"/>
              </a:rPr>
              <a:t>Düzgün çembersel hareket</a:t>
            </a:r>
            <a:endParaRPr lang="en-US" sz="3900" dirty="0"/>
          </a:p>
        </p:txBody>
      </p:sp>
      <p:sp>
        <p:nvSpPr>
          <p:cNvPr id="8" name="Text 5"/>
          <p:cNvSpPr txBox="1"/>
          <p:nvPr/>
        </p:nvSpPr>
        <p:spPr>
          <a:xfrm>
            <a:off x="868680" y="3291840"/>
            <a:ext cx="4754880" cy="1371600"/>
          </a:xfrm>
          <a:prstGeom prst="rect">
            <a:avLst/>
          </a:prstGeom>
          <a:noFill/>
          <a:ln/>
        </p:spPr>
        <p:txBody>
          <a:bodyPr wrap="square" lIns="0" tIns="0" rIns="0" bIns="0" rtlCol="0" anchor="t"/>
          <a:lstStyle/>
          <a:p>
            <a:pPr indent="0" marL="0">
              <a:lnSpc>
                <a:spcPct val="125000"/>
              </a:lnSpc>
              <a:buNone/>
            </a:pPr>
            <a:r>
              <a:rPr lang="en-US" sz="1400" dirty="0">
                <a:solidFill>
                  <a:srgbClr val="C3CEE8"/>
                </a:solidFill>
                <a:latin typeface="Calibri" pitchFamily="34" charset="0"/>
                <a:ea typeface="Calibri" pitchFamily="34" charset="-122"/>
                <a:cs typeface="Calibri" pitchFamily="34" charset="-120"/>
              </a:rPr>
              <a:t>Sürat sabit olabilir, ama hız her an yön değiştiriyorsa hareket ivmelidir. Bu ivme daima merkeze doğrudur ve onu üreten kuvvet olmadan cisim çemberde kalamaz. Aşağıda ipi kes, diski döndür, virajı hızlı al.</a:t>
            </a:r>
            <a:endParaRPr lang="en-US" sz="1400" dirty="0"/>
          </a:p>
        </p:txBody>
      </p:sp>
      <p:sp>
        <p:nvSpPr>
          <p:cNvPr id="9" name="Shape 6"/>
          <p:cNvSpPr/>
          <p:nvPr/>
        </p:nvSpPr>
        <p:spPr>
          <a:xfrm>
            <a:off x="868680"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0" name="Shape 7"/>
          <p:cNvSpPr/>
          <p:nvPr/>
        </p:nvSpPr>
        <p:spPr>
          <a:xfrm>
            <a:off x="978408" y="5020056"/>
            <a:ext cx="45720" cy="310896"/>
          </a:xfrm>
          <a:prstGeom prst="rect">
            <a:avLst/>
          </a:prstGeom>
          <a:solidFill>
            <a:srgbClr val="C6F36B"/>
          </a:solidFill>
          <a:ln/>
        </p:spPr>
      </p:sp>
      <p:sp>
        <p:nvSpPr>
          <p:cNvPr id="11" name="Text 8"/>
          <p:cNvSpPr txBox="1"/>
          <p:nvPr/>
        </p:nvSpPr>
        <p:spPr>
          <a:xfrm>
            <a:off x="1124712" y="4892040"/>
            <a:ext cx="841248" cy="566928"/>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1  </a:t>
            </a:r>
            <a:pPr indent="0" marL="0">
              <a:buNone/>
            </a:pPr>
            <a:r>
              <a:rPr lang="en-US" sz="1300" b="1" dirty="0">
                <a:solidFill>
                  <a:srgbClr val="FFFFFF"/>
                </a:solidFill>
                <a:latin typeface="Calibri" pitchFamily="34" charset="0"/>
                <a:ea typeface="Calibri" pitchFamily="34" charset="-122"/>
                <a:cs typeface="Calibri" pitchFamily="34" charset="-120"/>
              </a:rPr>
              <a:t>Temel</a:t>
            </a:r>
            <a:endParaRPr lang="en-US" sz="1300" dirty="0"/>
          </a:p>
        </p:txBody>
      </p:sp>
      <p:sp>
        <p:nvSpPr>
          <p:cNvPr id="12" name="Shape 9"/>
          <p:cNvSpPr/>
          <p:nvPr/>
        </p:nvSpPr>
        <p:spPr>
          <a:xfrm>
            <a:off x="2075688"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3" name="Shape 10"/>
          <p:cNvSpPr/>
          <p:nvPr/>
        </p:nvSpPr>
        <p:spPr>
          <a:xfrm>
            <a:off x="2185416" y="5020056"/>
            <a:ext cx="45720" cy="310896"/>
          </a:xfrm>
          <a:prstGeom prst="rect">
            <a:avLst/>
          </a:prstGeom>
          <a:solidFill>
            <a:srgbClr val="82AAFF"/>
          </a:solidFill>
          <a:ln/>
        </p:spPr>
      </p:sp>
      <p:sp>
        <p:nvSpPr>
          <p:cNvPr id="14" name="Text 11"/>
          <p:cNvSpPr txBox="1"/>
          <p:nvPr/>
        </p:nvSpPr>
        <p:spPr>
          <a:xfrm>
            <a:off x="2331720" y="4892040"/>
            <a:ext cx="841248" cy="566928"/>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2  </a:t>
            </a:r>
            <a:pPr indent="0" marL="0">
              <a:buNone/>
            </a:pPr>
            <a:r>
              <a:rPr lang="en-US" sz="1300" b="1" dirty="0">
                <a:solidFill>
                  <a:srgbClr val="FFFFFF"/>
                </a:solidFill>
                <a:latin typeface="Calibri" pitchFamily="34" charset="0"/>
                <a:ea typeface="Calibri" pitchFamily="34" charset="-122"/>
                <a:cs typeface="Calibri" pitchFamily="34" charset="-120"/>
              </a:rPr>
              <a:t>Orta</a:t>
            </a:r>
            <a:endParaRPr lang="en-US" sz="1300" dirty="0"/>
          </a:p>
        </p:txBody>
      </p:sp>
      <p:sp>
        <p:nvSpPr>
          <p:cNvPr id="15" name="Shape 12"/>
          <p:cNvSpPr/>
          <p:nvPr/>
        </p:nvSpPr>
        <p:spPr>
          <a:xfrm>
            <a:off x="3282696"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6" name="Shape 13"/>
          <p:cNvSpPr/>
          <p:nvPr/>
        </p:nvSpPr>
        <p:spPr>
          <a:xfrm>
            <a:off x="3392424" y="5020056"/>
            <a:ext cx="45720" cy="310896"/>
          </a:xfrm>
          <a:prstGeom prst="rect">
            <a:avLst/>
          </a:prstGeom>
          <a:solidFill>
            <a:srgbClr val="A093FF"/>
          </a:solidFill>
          <a:ln/>
        </p:spPr>
      </p:sp>
      <p:sp>
        <p:nvSpPr>
          <p:cNvPr id="17" name="Text 14"/>
          <p:cNvSpPr txBox="1"/>
          <p:nvPr/>
        </p:nvSpPr>
        <p:spPr>
          <a:xfrm>
            <a:off x="3538728" y="4892040"/>
            <a:ext cx="841248" cy="566928"/>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3  </a:t>
            </a:r>
            <a:pPr indent="0" marL="0">
              <a:buNone/>
            </a:pPr>
            <a:r>
              <a:rPr lang="en-US" sz="1300" b="1" dirty="0">
                <a:solidFill>
                  <a:srgbClr val="FFFFFF"/>
                </a:solidFill>
                <a:latin typeface="Calibri" pitchFamily="34" charset="0"/>
                <a:ea typeface="Calibri" pitchFamily="34" charset="-122"/>
                <a:cs typeface="Calibri" pitchFamily="34" charset="-120"/>
              </a:rPr>
              <a:t>İleri</a:t>
            </a:r>
            <a:endParaRPr lang="en-US" sz="1300" dirty="0"/>
          </a:p>
        </p:txBody>
      </p:sp>
      <p:sp>
        <p:nvSpPr>
          <p:cNvPr id="18" name="Shape 15"/>
          <p:cNvSpPr/>
          <p:nvPr/>
        </p:nvSpPr>
        <p:spPr>
          <a:xfrm>
            <a:off x="4489704" y="4892040"/>
            <a:ext cx="1115568" cy="566928"/>
          </a:xfrm>
          <a:prstGeom prst="roundRect">
            <a:avLst>
              <a:gd name="adj" fmla="val 16129"/>
            </a:avLst>
          </a:prstGeom>
          <a:solidFill>
            <a:srgbClr val="1C2542">
              <a:alpha val="90000"/>
            </a:srgbClr>
          </a:solidFill>
          <a:ln w="9525">
            <a:solidFill>
              <a:srgbClr val="2C3860"/>
            </a:solidFill>
            <a:prstDash val="solid"/>
          </a:ln>
        </p:spPr>
      </p:sp>
      <p:sp>
        <p:nvSpPr>
          <p:cNvPr id="19" name="Shape 16"/>
          <p:cNvSpPr/>
          <p:nvPr/>
        </p:nvSpPr>
        <p:spPr>
          <a:xfrm>
            <a:off x="4599432" y="5020056"/>
            <a:ext cx="45720" cy="310896"/>
          </a:xfrm>
          <a:prstGeom prst="rect">
            <a:avLst/>
          </a:prstGeom>
          <a:solidFill>
            <a:srgbClr val="FFCB6B"/>
          </a:solidFill>
          <a:ln/>
        </p:spPr>
      </p:sp>
      <p:sp>
        <p:nvSpPr>
          <p:cNvPr id="20" name="Text 17"/>
          <p:cNvSpPr txBox="1"/>
          <p:nvPr/>
        </p:nvSpPr>
        <p:spPr>
          <a:xfrm>
            <a:off x="4745736" y="4892040"/>
            <a:ext cx="841248" cy="566928"/>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4  </a:t>
            </a:r>
            <a:pPr indent="0" marL="0">
              <a:buNone/>
            </a:pPr>
            <a:r>
              <a:rPr lang="en-US" sz="1300" b="1" dirty="0">
                <a:solidFill>
                  <a:srgbClr val="FFFFFF"/>
                </a:solidFill>
                <a:latin typeface="Calibri" pitchFamily="34" charset="0"/>
                <a:ea typeface="Calibri" pitchFamily="34" charset="-122"/>
                <a:cs typeface="Calibri" pitchFamily="34" charset="-120"/>
              </a:rPr>
              <a:t>Pekiştir</a:t>
            </a:r>
            <a:endParaRPr lang="en-US" sz="1300" dirty="0"/>
          </a:p>
        </p:txBody>
      </p:sp>
      <p:sp>
        <p:nvSpPr>
          <p:cNvPr id="21" name="Shape 18"/>
          <p:cNvSpPr/>
          <p:nvPr/>
        </p:nvSpPr>
        <p:spPr>
          <a:xfrm>
            <a:off x="640080" y="6382512"/>
            <a:ext cx="128016" cy="128016"/>
          </a:xfrm>
          <a:prstGeom prst="roundRect">
            <a:avLst>
              <a:gd name="adj" fmla="val 28571"/>
            </a:avLst>
          </a:prstGeom>
          <a:solidFill>
            <a:srgbClr val="C6F36B"/>
          </a:solidFill>
          <a:ln/>
        </p:spPr>
      </p:sp>
      <p:sp>
        <p:nvSpPr>
          <p:cNvPr id="22"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dersler.perinet.org/cembersel-hareket.html</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Başlarken</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Konuya günlük bir soruyla giriyoruz.</a:t>
            </a:r>
            <a:endParaRPr lang="en-US" sz="1450" dirty="0"/>
          </a:p>
        </p:txBody>
      </p:sp>
      <p:sp>
        <p:nvSpPr>
          <p:cNvPr id="6" name="Shape 4"/>
          <p:cNvSpPr/>
          <p:nvPr/>
        </p:nvSpPr>
        <p:spPr>
          <a:xfrm>
            <a:off x="1188720" y="1828800"/>
            <a:ext cx="9814255" cy="3931920"/>
          </a:xfrm>
          <a:prstGeom prst="roundRect">
            <a:avLst>
              <a:gd name="adj" fmla="val 5116"/>
            </a:avLst>
          </a:prstGeom>
          <a:solidFill>
            <a:srgbClr val="FFFFFF"/>
          </a:solidFill>
          <a:ln w="9525">
            <a:solidFill>
              <a:srgbClr val="CFC8F5"/>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225296" y="2286000"/>
            <a:ext cx="64008" cy="3017520"/>
          </a:xfrm>
          <a:prstGeom prst="rect">
            <a:avLst/>
          </a:prstGeom>
          <a:solidFill>
            <a:srgbClr val="5F4BD8"/>
          </a:solidFill>
          <a:ln/>
        </p:spPr>
      </p:sp>
      <p:sp>
        <p:nvSpPr>
          <p:cNvPr id="8" name="Text 6"/>
          <p:cNvSpPr txBox="1"/>
          <p:nvPr/>
        </p:nvSpPr>
        <p:spPr>
          <a:xfrm>
            <a:off x="1828800" y="2194560"/>
            <a:ext cx="8534095" cy="3200400"/>
          </a:xfrm>
          <a:prstGeom prst="rect">
            <a:avLst/>
          </a:prstGeom>
          <a:noFill/>
          <a:ln/>
        </p:spPr>
        <p:txBody>
          <a:bodyPr wrap="square" lIns="0" tIns="0" rIns="0" bIns="0" rtlCol="0" anchor="ctr"/>
          <a:lstStyle/>
          <a:p>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Sabit süratle dönen bir cismin </a:t>
            </a:r>
            <a:pPr indent="0" marL="0">
              <a:lnSpc>
                <a:spcPct val="130000"/>
              </a:lnSpc>
              <a:buNone/>
            </a:pPr>
            <a:r>
              <a:rPr lang="en-US" sz="2400" b="1" dirty="0">
                <a:solidFill>
                  <a:srgbClr val="5F4BD8"/>
                </a:solidFill>
                <a:latin typeface="Cambria" pitchFamily="34" charset="0"/>
                <a:ea typeface="Cambria" pitchFamily="34" charset="-122"/>
                <a:cs typeface="Cambria" pitchFamily="34" charset="-120"/>
              </a:rPr>
              <a:t>hızı değişiyor mu?</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Evet — ve bu, konunun en kritik cümlesi.</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Hız bir vektördür; büyüklüğü hiç değişmese bile </a:t>
            </a:r>
            <a:pPr indent="0" marL="0">
              <a:lnSpc>
                <a:spcPct val="130000"/>
              </a:lnSpc>
              <a:buNone/>
            </a:pPr>
            <a:r>
              <a:rPr lang="en-US" sz="2400" b="1" dirty="0">
                <a:solidFill>
                  <a:srgbClr val="5F4BD8"/>
                </a:solidFill>
                <a:latin typeface="Cambria" pitchFamily="34" charset="0"/>
                <a:ea typeface="Cambria" pitchFamily="34" charset="-122"/>
                <a:cs typeface="Cambria" pitchFamily="34" charset="-120"/>
              </a:rPr>
              <a:t>yönü her an değiştiği için</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cisim ivmelidir.</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 </a:t>
            </a:r>
            <a:pPr indent="0" marL="0">
              <a:lnSpc>
                <a:spcPct val="130000"/>
              </a:lnSpc>
              <a:buNone/>
            </a:pPr>
            <a:r>
              <a:rPr lang="en-US" sz="2400" dirty="0">
                <a:solidFill>
                  <a:srgbClr val="0E1426"/>
                </a:solidFill>
                <a:latin typeface="Cambria" pitchFamily="34" charset="0"/>
                <a:ea typeface="Cambria" pitchFamily="34" charset="-122"/>
                <a:cs typeface="Cambria" pitchFamily="34" charset="-120"/>
              </a:rPr>
              <a:t>Bu ivmeyi üreten bir kuvvet olmasaydı, ipi kesilen taş gibi teğet doğrultuda kaçıp giderdi.</a:t>
            </a:r>
            <a:endParaRPr lang="en-US" sz="2400" dirty="0"/>
          </a:p>
        </p:txBody>
      </p:sp>
      <p:sp>
        <p:nvSpPr>
          <p:cNvPr id="9" name="Shape 7"/>
          <p:cNvSpPr/>
          <p:nvPr/>
        </p:nvSpPr>
        <p:spPr>
          <a:xfrm>
            <a:off x="640080" y="6382512"/>
            <a:ext cx="128016" cy="128016"/>
          </a:xfrm>
          <a:prstGeom prst="roundRect">
            <a:avLst>
              <a:gd name="adj" fmla="val 28571"/>
            </a:avLst>
          </a:prstGeom>
          <a:solidFill>
            <a:srgbClr val="A9E648"/>
          </a:solidFill>
          <a:ln/>
        </p:spPr>
      </p:sp>
      <p:sp>
        <p:nvSpPr>
          <p:cNvPr id="10"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1"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Bu derste</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Dört basamak, kolaydan zora: önce sezgi, sonra bağıntılar, sonra derinleşme; en sonda pekiştirme.</a:t>
            </a:r>
            <a:endParaRPr lang="en-US" sz="1450" dirty="0"/>
          </a:p>
        </p:txBody>
      </p:sp>
      <p:sp>
        <p:nvSpPr>
          <p:cNvPr id="6" name="Shape 4"/>
          <p:cNvSpPr/>
          <p:nvPr/>
        </p:nvSpPr>
        <p:spPr>
          <a:xfrm>
            <a:off x="640080"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822960" y="1645920"/>
            <a:ext cx="2211248" cy="64008"/>
          </a:xfrm>
          <a:prstGeom prst="rect">
            <a:avLst/>
          </a:prstGeom>
          <a:solidFill>
            <a:srgbClr val="3C8C21"/>
          </a:solidFill>
          <a:ln/>
        </p:spPr>
      </p:sp>
      <p:sp>
        <p:nvSpPr>
          <p:cNvPr id="8" name="Shape 6"/>
          <p:cNvSpPr/>
          <p:nvPr/>
        </p:nvSpPr>
        <p:spPr>
          <a:xfrm>
            <a:off x="859536" y="1920240"/>
            <a:ext cx="420624" cy="420624"/>
          </a:xfrm>
          <a:prstGeom prst="roundRect">
            <a:avLst>
              <a:gd name="adj" fmla="val 26000"/>
            </a:avLst>
          </a:prstGeom>
          <a:solidFill>
            <a:srgbClr val="3C8C21"/>
          </a:solidFill>
          <a:ln/>
        </p:spPr>
      </p:sp>
      <p:sp>
        <p:nvSpPr>
          <p:cNvPr id="9" name="Text 7"/>
          <p:cNvSpPr txBox="1"/>
          <p:nvPr/>
        </p:nvSpPr>
        <p:spPr>
          <a:xfrm>
            <a:off x="859536"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8"/>
          <p:cNvSpPr txBox="1"/>
          <p:nvPr/>
        </p:nvSpPr>
        <p:spPr>
          <a:xfrm>
            <a:off x="1408176"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Temel</a:t>
            </a:r>
            <a:endParaRPr lang="en-US" sz="1900" dirty="0"/>
          </a:p>
        </p:txBody>
      </p:sp>
      <p:sp>
        <p:nvSpPr>
          <p:cNvPr id="11" name="Text 9"/>
          <p:cNvSpPr txBox="1"/>
          <p:nvPr/>
        </p:nvSpPr>
        <p:spPr>
          <a:xfrm>
            <a:off x="859536" y="2487168"/>
            <a:ext cx="2138096" cy="868680"/>
          </a:xfrm>
          <a:prstGeom prst="rect">
            <a:avLst/>
          </a:prstGeom>
          <a:noFill/>
          <a:ln/>
        </p:spPr>
        <p:txBody>
          <a:bodyPr wrap="square" lIns="0" tIns="0" rIns="0" bIns="0" rtlCol="0" anchor="t"/>
          <a:lstStyle/>
          <a:p>
            <a:pPr indent="0" marL="0">
              <a:lnSpc>
                <a:spcPct val="110000"/>
              </a:lnSpc>
              <a:buNone/>
            </a:pPr>
            <a:r>
              <a:rPr lang="en-US" sz="1000" dirty="0">
                <a:solidFill>
                  <a:srgbClr val="4A5470"/>
                </a:solidFill>
                <a:latin typeface="Calibri" pitchFamily="34" charset="0"/>
                <a:ea typeface="Calibri" pitchFamily="34" charset="-122"/>
                <a:cs typeface="Calibri" pitchFamily="34" charset="-120"/>
              </a:rPr>
              <a:t>Önce sezgi: dönen bir cisme bak, neyin sabit kalıp neyin değiştiğini gör ve adını koy. Bu basamakta hesap yok denecek kadar az.</a:t>
            </a:r>
            <a:endParaRPr lang="en-US" sz="1000" dirty="0"/>
          </a:p>
        </p:txBody>
      </p:sp>
      <p:sp>
        <p:nvSpPr>
          <p:cNvPr id="12" name="Shape 10"/>
          <p:cNvSpPr/>
          <p:nvPr/>
        </p:nvSpPr>
        <p:spPr>
          <a:xfrm>
            <a:off x="859536" y="3429000"/>
            <a:ext cx="2138096" cy="0"/>
          </a:xfrm>
          <a:prstGeom prst="line">
            <a:avLst/>
          </a:prstGeom>
          <a:noFill/>
          <a:ln w="9525">
            <a:solidFill>
              <a:srgbClr val="E1E5EE"/>
            </a:solidFill>
            <a:prstDash val="dash"/>
          </a:ln>
        </p:spPr>
      </p:sp>
      <p:sp>
        <p:nvSpPr>
          <p:cNvPr id="13" name="Text 11"/>
          <p:cNvSpPr txBox="1"/>
          <p:nvPr/>
        </p:nvSpPr>
        <p:spPr>
          <a:xfrm>
            <a:off x="859536" y="3566160"/>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01</a:t>
            </a:r>
            <a:endParaRPr lang="en-US" sz="1100" dirty="0"/>
          </a:p>
        </p:txBody>
      </p:sp>
      <p:sp>
        <p:nvSpPr>
          <p:cNvPr id="14" name="Text 12"/>
          <p:cNvSpPr txBox="1"/>
          <p:nvPr/>
        </p:nvSpPr>
        <p:spPr>
          <a:xfrm>
            <a:off x="1243584" y="3566160"/>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Önce gözlemle: virajı dönen bir arabada ne olur?</a:t>
            </a:r>
            <a:endParaRPr lang="en-US" sz="1150" dirty="0"/>
          </a:p>
        </p:txBody>
      </p:sp>
      <p:sp>
        <p:nvSpPr>
          <p:cNvPr id="15" name="Text 13"/>
          <p:cNvSpPr txBox="1"/>
          <p:nvPr/>
        </p:nvSpPr>
        <p:spPr>
          <a:xfrm>
            <a:off x="859536" y="4199382"/>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02</a:t>
            </a:r>
            <a:endParaRPr lang="en-US" sz="1100" dirty="0"/>
          </a:p>
        </p:txBody>
      </p:sp>
      <p:sp>
        <p:nvSpPr>
          <p:cNvPr id="16" name="Text 14"/>
          <p:cNvSpPr txBox="1"/>
          <p:nvPr/>
        </p:nvSpPr>
        <p:spPr>
          <a:xfrm>
            <a:off x="1243584"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Düzgün çembersel hareket nedir?</a:t>
            </a:r>
            <a:endParaRPr lang="en-US" sz="1250" dirty="0"/>
          </a:p>
        </p:txBody>
      </p:sp>
      <p:sp>
        <p:nvSpPr>
          <p:cNvPr id="17" name="Text 15"/>
          <p:cNvSpPr txBox="1"/>
          <p:nvPr/>
        </p:nvSpPr>
        <p:spPr>
          <a:xfrm>
            <a:off x="859536" y="4832604"/>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03</a:t>
            </a:r>
            <a:endParaRPr lang="en-US" sz="1100" dirty="0"/>
          </a:p>
        </p:txBody>
      </p:sp>
      <p:sp>
        <p:nvSpPr>
          <p:cNvPr id="18" name="Text 16"/>
          <p:cNvSpPr txBox="1"/>
          <p:nvPr/>
        </p:nvSpPr>
        <p:spPr>
          <a:xfrm>
            <a:off x="1243584"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Periyot ve frekans: dönmeyi saymak</a:t>
            </a:r>
            <a:endParaRPr lang="en-US" sz="1250" dirty="0"/>
          </a:p>
        </p:txBody>
      </p:sp>
      <p:sp>
        <p:nvSpPr>
          <p:cNvPr id="19" name="Text 17"/>
          <p:cNvSpPr txBox="1"/>
          <p:nvPr/>
        </p:nvSpPr>
        <p:spPr>
          <a:xfrm>
            <a:off x="859536" y="5465826"/>
            <a:ext cx="384048" cy="578358"/>
          </a:xfrm>
          <a:prstGeom prst="rect">
            <a:avLst/>
          </a:prstGeom>
          <a:noFill/>
          <a:ln/>
        </p:spPr>
        <p:txBody>
          <a:bodyPr wrap="square" lIns="0" tIns="0" rIns="0" bIns="0" rtlCol="0" anchor="t"/>
          <a:lstStyle/>
          <a:p>
            <a:pPr indent="0" marL="0">
              <a:buNone/>
            </a:pPr>
            <a:r>
              <a:rPr lang="en-US" sz="1100" b="1" dirty="0">
                <a:solidFill>
                  <a:srgbClr val="3C8C21"/>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1243584"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Çemberde kalmak için neden kuvvet gerekir?</a:t>
            </a:r>
            <a:endParaRPr lang="en-US" sz="1150" dirty="0"/>
          </a:p>
        </p:txBody>
      </p:sp>
      <p:sp>
        <p:nvSpPr>
          <p:cNvPr id="21" name="Shape 19"/>
          <p:cNvSpPr/>
          <p:nvPr/>
        </p:nvSpPr>
        <p:spPr>
          <a:xfrm>
            <a:off x="3418256"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3601136" y="1645920"/>
            <a:ext cx="2211248" cy="64008"/>
          </a:xfrm>
          <a:prstGeom prst="rect">
            <a:avLst/>
          </a:prstGeom>
          <a:solidFill>
            <a:srgbClr val="2957D4"/>
          </a:solidFill>
          <a:ln/>
        </p:spPr>
      </p:sp>
      <p:sp>
        <p:nvSpPr>
          <p:cNvPr id="23" name="Shape 21"/>
          <p:cNvSpPr/>
          <p:nvPr/>
        </p:nvSpPr>
        <p:spPr>
          <a:xfrm>
            <a:off x="3637712" y="1920240"/>
            <a:ext cx="420624" cy="420624"/>
          </a:xfrm>
          <a:prstGeom prst="roundRect">
            <a:avLst>
              <a:gd name="adj" fmla="val 26000"/>
            </a:avLst>
          </a:prstGeom>
          <a:solidFill>
            <a:srgbClr val="2957D4"/>
          </a:solidFill>
          <a:ln/>
        </p:spPr>
      </p:sp>
      <p:sp>
        <p:nvSpPr>
          <p:cNvPr id="24" name="Text 22"/>
          <p:cNvSpPr txBox="1"/>
          <p:nvPr/>
        </p:nvSpPr>
        <p:spPr>
          <a:xfrm>
            <a:off x="3637712"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5" name="Text 23"/>
          <p:cNvSpPr txBox="1"/>
          <p:nvPr/>
        </p:nvSpPr>
        <p:spPr>
          <a:xfrm>
            <a:off x="4186352"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Orta</a:t>
            </a:r>
            <a:endParaRPr lang="en-US" sz="1900" dirty="0"/>
          </a:p>
        </p:txBody>
      </p:sp>
      <p:sp>
        <p:nvSpPr>
          <p:cNvPr id="26" name="Text 24"/>
          <p:cNvSpPr txBox="1"/>
          <p:nvPr/>
        </p:nvSpPr>
        <p:spPr>
          <a:xfrm>
            <a:off x="3637712"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Bağıntılar: hızı, ivmeyi ve kuvveti adım adım türet, sonra gerçek sayılarla hisset.</a:t>
            </a:r>
            <a:endParaRPr lang="en-US" sz="1150" dirty="0"/>
          </a:p>
        </p:txBody>
      </p:sp>
      <p:sp>
        <p:nvSpPr>
          <p:cNvPr id="27" name="Shape 25"/>
          <p:cNvSpPr/>
          <p:nvPr/>
        </p:nvSpPr>
        <p:spPr>
          <a:xfrm>
            <a:off x="3637712" y="3429000"/>
            <a:ext cx="2138096" cy="0"/>
          </a:xfrm>
          <a:prstGeom prst="line">
            <a:avLst/>
          </a:prstGeom>
          <a:noFill/>
          <a:ln w="9525">
            <a:solidFill>
              <a:srgbClr val="E1E5EE"/>
            </a:solidFill>
            <a:prstDash val="dash"/>
          </a:ln>
        </p:spPr>
      </p:sp>
      <p:sp>
        <p:nvSpPr>
          <p:cNvPr id="28" name="Text 26"/>
          <p:cNvSpPr txBox="1"/>
          <p:nvPr/>
        </p:nvSpPr>
        <p:spPr>
          <a:xfrm>
            <a:off x="3637712" y="3566160"/>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05</a:t>
            </a:r>
            <a:endParaRPr lang="en-US" sz="1100" dirty="0"/>
          </a:p>
        </p:txBody>
      </p:sp>
      <p:sp>
        <p:nvSpPr>
          <p:cNvPr id="29" name="Text 27"/>
          <p:cNvSpPr txBox="1"/>
          <p:nvPr/>
        </p:nvSpPr>
        <p:spPr>
          <a:xfrm>
            <a:off x="4021760"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Çizgisel hız ve açısal hız</a:t>
            </a:r>
            <a:endParaRPr lang="en-US" sz="1250" dirty="0"/>
          </a:p>
        </p:txBody>
      </p:sp>
      <p:sp>
        <p:nvSpPr>
          <p:cNvPr id="30" name="Text 28"/>
          <p:cNvSpPr txBox="1"/>
          <p:nvPr/>
        </p:nvSpPr>
        <p:spPr>
          <a:xfrm>
            <a:off x="3637712" y="4199382"/>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06</a:t>
            </a:r>
            <a:endParaRPr lang="en-US" sz="1100" dirty="0"/>
          </a:p>
        </p:txBody>
      </p:sp>
      <p:sp>
        <p:nvSpPr>
          <p:cNvPr id="31" name="Text 29"/>
          <p:cNvSpPr txBox="1"/>
          <p:nvPr/>
        </p:nvSpPr>
        <p:spPr>
          <a:xfrm>
            <a:off x="4021760" y="4199382"/>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Merkezcil ivme: v²/r nereden geliyor?</a:t>
            </a:r>
            <a:endParaRPr lang="en-US" sz="1250" dirty="0"/>
          </a:p>
        </p:txBody>
      </p:sp>
      <p:sp>
        <p:nvSpPr>
          <p:cNvPr id="32" name="Text 30"/>
          <p:cNvSpPr txBox="1"/>
          <p:nvPr/>
        </p:nvSpPr>
        <p:spPr>
          <a:xfrm>
            <a:off x="3637712" y="4832604"/>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07</a:t>
            </a:r>
            <a:endParaRPr lang="en-US" sz="1100" dirty="0"/>
          </a:p>
        </p:txBody>
      </p:sp>
      <p:sp>
        <p:nvSpPr>
          <p:cNvPr id="33" name="Text 31"/>
          <p:cNvSpPr txBox="1"/>
          <p:nvPr/>
        </p:nvSpPr>
        <p:spPr>
          <a:xfrm>
            <a:off x="4021760" y="4832604"/>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Merkezcil kuvvet: bu görevi kim üstleniyor?</a:t>
            </a:r>
            <a:endParaRPr lang="en-US" sz="1150" dirty="0"/>
          </a:p>
        </p:txBody>
      </p:sp>
      <p:sp>
        <p:nvSpPr>
          <p:cNvPr id="34" name="Text 32"/>
          <p:cNvSpPr txBox="1"/>
          <p:nvPr/>
        </p:nvSpPr>
        <p:spPr>
          <a:xfrm>
            <a:off x="3637712" y="5465826"/>
            <a:ext cx="384048" cy="578358"/>
          </a:xfrm>
          <a:prstGeom prst="rect">
            <a:avLst/>
          </a:prstGeom>
          <a:noFill/>
          <a:ln/>
        </p:spPr>
        <p:txBody>
          <a:bodyPr wrap="square" lIns="0" tIns="0" rIns="0" bIns="0" rtlCol="0" anchor="t"/>
          <a:lstStyle/>
          <a:p>
            <a:pPr indent="0" marL="0">
              <a:buNone/>
            </a:pPr>
            <a:r>
              <a:rPr lang="en-US" sz="1100" b="1" dirty="0">
                <a:solidFill>
                  <a:srgbClr val="2957D4"/>
                </a:solidFill>
                <a:latin typeface="Calibri" pitchFamily="34" charset="0"/>
                <a:ea typeface="Calibri" pitchFamily="34" charset="-122"/>
                <a:cs typeface="Calibri" pitchFamily="34" charset="-120"/>
              </a:rPr>
              <a:t>08</a:t>
            </a:r>
            <a:endParaRPr lang="en-US" sz="1100" dirty="0"/>
          </a:p>
        </p:txBody>
      </p:sp>
      <p:sp>
        <p:nvSpPr>
          <p:cNvPr id="35" name="Text 33"/>
          <p:cNvSpPr txBox="1"/>
          <p:nvPr/>
        </p:nvSpPr>
        <p:spPr>
          <a:xfrm>
            <a:off x="4021760" y="5465826"/>
            <a:ext cx="1754048" cy="578358"/>
          </a:xfrm>
          <a:prstGeom prst="rect">
            <a:avLst/>
          </a:prstGeom>
          <a:noFill/>
          <a:ln/>
        </p:spPr>
        <p:txBody>
          <a:bodyPr wrap="square" lIns="0" tIns="0" rIns="0" bIns="0" rtlCol="0" anchor="t"/>
          <a:lstStyle/>
          <a:p>
            <a:pPr indent="0" marL="0">
              <a:lnSpc>
                <a:spcPct val="105000"/>
              </a:lnSpc>
              <a:buNone/>
            </a:pPr>
            <a:r>
              <a:rPr lang="en-US" sz="1150" b="1" dirty="0">
                <a:solidFill>
                  <a:srgbClr val="0E1426"/>
                </a:solidFill>
                <a:latin typeface="Calibri" pitchFamily="34" charset="0"/>
                <a:ea typeface="Calibri" pitchFamily="34" charset="-122"/>
                <a:cs typeface="Calibri" pitchFamily="34" charset="-120"/>
              </a:rPr>
              <a:t>Sayılarla hisset: ne kadar hızlı, ne kadar ivme?</a:t>
            </a:r>
            <a:endParaRPr lang="en-US" sz="1150" dirty="0"/>
          </a:p>
        </p:txBody>
      </p:sp>
      <p:sp>
        <p:nvSpPr>
          <p:cNvPr id="36" name="Shape 34"/>
          <p:cNvSpPr/>
          <p:nvPr/>
        </p:nvSpPr>
        <p:spPr>
          <a:xfrm>
            <a:off x="6196432"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37" name="Shape 35"/>
          <p:cNvSpPr/>
          <p:nvPr/>
        </p:nvSpPr>
        <p:spPr>
          <a:xfrm>
            <a:off x="6379312" y="1645920"/>
            <a:ext cx="2211248" cy="64008"/>
          </a:xfrm>
          <a:prstGeom prst="rect">
            <a:avLst/>
          </a:prstGeom>
          <a:solidFill>
            <a:srgbClr val="5F4BD8"/>
          </a:solidFill>
          <a:ln/>
        </p:spPr>
      </p:sp>
      <p:sp>
        <p:nvSpPr>
          <p:cNvPr id="38" name="Shape 36"/>
          <p:cNvSpPr/>
          <p:nvPr/>
        </p:nvSpPr>
        <p:spPr>
          <a:xfrm>
            <a:off x="6415888" y="1920240"/>
            <a:ext cx="420624" cy="420624"/>
          </a:xfrm>
          <a:prstGeom prst="roundRect">
            <a:avLst>
              <a:gd name="adj" fmla="val 26000"/>
            </a:avLst>
          </a:prstGeom>
          <a:solidFill>
            <a:srgbClr val="5F4BD8"/>
          </a:solidFill>
          <a:ln/>
        </p:spPr>
      </p:sp>
      <p:sp>
        <p:nvSpPr>
          <p:cNvPr id="39" name="Text 37"/>
          <p:cNvSpPr txBox="1"/>
          <p:nvPr/>
        </p:nvSpPr>
        <p:spPr>
          <a:xfrm>
            <a:off x="6415888"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0" name="Text 38"/>
          <p:cNvSpPr txBox="1"/>
          <p:nvPr/>
        </p:nvSpPr>
        <p:spPr>
          <a:xfrm>
            <a:off x="6964528"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İleri</a:t>
            </a:r>
            <a:endParaRPr lang="en-US" sz="1900" dirty="0"/>
          </a:p>
        </p:txBody>
      </p:sp>
      <p:sp>
        <p:nvSpPr>
          <p:cNvPr id="41" name="Text 39"/>
          <p:cNvSpPr txBox="1"/>
          <p:nvPr/>
        </p:nvSpPr>
        <p:spPr>
          <a:xfrm>
            <a:off x="6415888"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Derinleşme: dönen sistemin içinden bakınca, eğimli virajlarda, düşey çemberde ve yörüngede ne olur?</a:t>
            </a:r>
            <a:endParaRPr lang="en-US" sz="1150" dirty="0"/>
          </a:p>
        </p:txBody>
      </p:sp>
      <p:sp>
        <p:nvSpPr>
          <p:cNvPr id="42" name="Shape 40"/>
          <p:cNvSpPr/>
          <p:nvPr/>
        </p:nvSpPr>
        <p:spPr>
          <a:xfrm>
            <a:off x="6415888" y="3429000"/>
            <a:ext cx="2138096" cy="0"/>
          </a:xfrm>
          <a:prstGeom prst="line">
            <a:avLst/>
          </a:prstGeom>
          <a:noFill/>
          <a:ln w="9525">
            <a:solidFill>
              <a:srgbClr val="E1E5EE"/>
            </a:solidFill>
            <a:prstDash val="dash"/>
          </a:ln>
        </p:spPr>
      </p:sp>
      <p:sp>
        <p:nvSpPr>
          <p:cNvPr id="43" name="Text 41"/>
          <p:cNvSpPr txBox="1"/>
          <p:nvPr/>
        </p:nvSpPr>
        <p:spPr>
          <a:xfrm>
            <a:off x="6415888" y="3566160"/>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09</a:t>
            </a:r>
            <a:endParaRPr lang="en-US" sz="1100" dirty="0"/>
          </a:p>
        </p:txBody>
      </p:sp>
      <p:sp>
        <p:nvSpPr>
          <p:cNvPr id="44" name="Text 42"/>
          <p:cNvSpPr txBox="1"/>
          <p:nvPr/>
        </p:nvSpPr>
        <p:spPr>
          <a:xfrm>
            <a:off x="6799936" y="3566160"/>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Merkezkaç kuvveti yanılgısı</a:t>
            </a:r>
            <a:endParaRPr lang="en-US" sz="1250" dirty="0"/>
          </a:p>
        </p:txBody>
      </p:sp>
      <p:sp>
        <p:nvSpPr>
          <p:cNvPr id="45" name="Text 43"/>
          <p:cNvSpPr txBox="1"/>
          <p:nvPr/>
        </p:nvSpPr>
        <p:spPr>
          <a:xfrm>
            <a:off x="6415888" y="4199382"/>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10</a:t>
            </a:r>
            <a:endParaRPr lang="en-US" sz="1100" dirty="0"/>
          </a:p>
        </p:txBody>
      </p:sp>
      <p:sp>
        <p:nvSpPr>
          <p:cNvPr id="46" name="Text 44"/>
          <p:cNvSpPr txBox="1"/>
          <p:nvPr/>
        </p:nvSpPr>
        <p:spPr>
          <a:xfrm>
            <a:off x="6799936" y="4199382"/>
            <a:ext cx="1754048" cy="578358"/>
          </a:xfrm>
          <a:prstGeom prst="rect">
            <a:avLst/>
          </a:prstGeom>
          <a:noFill/>
          <a:ln/>
        </p:spPr>
        <p:txBody>
          <a:bodyPr wrap="square" lIns="0" tIns="0" rIns="0" bIns="0" rtlCol="0" anchor="t"/>
          <a:lstStyle/>
          <a:p>
            <a:pPr indent="0" marL="0">
              <a:lnSpc>
                <a:spcPct val="105000"/>
              </a:lnSpc>
              <a:buNone/>
            </a:pPr>
            <a:r>
              <a:rPr lang="en-US" sz="1200" b="1" dirty="0">
                <a:solidFill>
                  <a:srgbClr val="0E1426"/>
                </a:solidFill>
                <a:latin typeface="Calibri" pitchFamily="34" charset="0"/>
                <a:ea typeface="Calibri" pitchFamily="34" charset="-122"/>
                <a:cs typeface="Calibri" pitchFamily="34" charset="-120"/>
              </a:rPr>
              <a:t>Virajda savrulma sınırı ve eğimli yollar</a:t>
            </a:r>
            <a:endParaRPr lang="en-US" sz="1200" dirty="0"/>
          </a:p>
        </p:txBody>
      </p:sp>
      <p:sp>
        <p:nvSpPr>
          <p:cNvPr id="47" name="Text 45"/>
          <p:cNvSpPr txBox="1"/>
          <p:nvPr/>
        </p:nvSpPr>
        <p:spPr>
          <a:xfrm>
            <a:off x="6415888" y="4832604"/>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11</a:t>
            </a:r>
            <a:endParaRPr lang="en-US" sz="1100" dirty="0"/>
          </a:p>
        </p:txBody>
      </p:sp>
      <p:sp>
        <p:nvSpPr>
          <p:cNvPr id="48" name="Text 46"/>
          <p:cNvSpPr txBox="1"/>
          <p:nvPr/>
        </p:nvSpPr>
        <p:spPr>
          <a:xfrm>
            <a:off x="6799936" y="4832604"/>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Düşey çember: kova neden dökülmez?</a:t>
            </a:r>
            <a:endParaRPr lang="en-US" sz="1250" dirty="0"/>
          </a:p>
        </p:txBody>
      </p:sp>
      <p:sp>
        <p:nvSpPr>
          <p:cNvPr id="49" name="Text 47"/>
          <p:cNvSpPr txBox="1"/>
          <p:nvPr/>
        </p:nvSpPr>
        <p:spPr>
          <a:xfrm>
            <a:off x="6415888" y="5465826"/>
            <a:ext cx="384048" cy="578358"/>
          </a:xfrm>
          <a:prstGeom prst="rect">
            <a:avLst/>
          </a:prstGeom>
          <a:noFill/>
          <a:ln/>
        </p:spPr>
        <p:txBody>
          <a:bodyPr wrap="square" lIns="0" tIns="0" rIns="0" bIns="0" rtlCol="0" anchor="t"/>
          <a:lstStyle/>
          <a:p>
            <a:pPr indent="0" marL="0">
              <a:buNone/>
            </a:pPr>
            <a:r>
              <a:rPr lang="en-US" sz="1100" b="1" dirty="0">
                <a:solidFill>
                  <a:srgbClr val="5F4BD8"/>
                </a:solidFill>
                <a:latin typeface="Calibri" pitchFamily="34" charset="0"/>
                <a:ea typeface="Calibri" pitchFamily="34" charset="-122"/>
                <a:cs typeface="Calibri" pitchFamily="34" charset="-120"/>
              </a:rPr>
              <a:t>12</a:t>
            </a:r>
            <a:endParaRPr lang="en-US" sz="1100" dirty="0"/>
          </a:p>
        </p:txBody>
      </p:sp>
      <p:sp>
        <p:nvSpPr>
          <p:cNvPr id="50" name="Text 48"/>
          <p:cNvSpPr txBox="1"/>
          <p:nvPr/>
        </p:nvSpPr>
        <p:spPr>
          <a:xfrm>
            <a:off x="6799936" y="5465826"/>
            <a:ext cx="1754048" cy="578358"/>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Çembersel hareket gerçek dünyada</a:t>
            </a:r>
            <a:endParaRPr lang="en-US" sz="1250" dirty="0"/>
          </a:p>
        </p:txBody>
      </p:sp>
      <p:sp>
        <p:nvSpPr>
          <p:cNvPr id="51" name="Shape 49"/>
          <p:cNvSpPr/>
          <p:nvPr/>
        </p:nvSpPr>
        <p:spPr>
          <a:xfrm>
            <a:off x="8974607" y="1645920"/>
            <a:ext cx="2577008" cy="4498848"/>
          </a:xfrm>
          <a:prstGeom prst="roundRect">
            <a:avLst>
              <a:gd name="adj" fmla="val 5677"/>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52" name="Shape 50"/>
          <p:cNvSpPr/>
          <p:nvPr/>
        </p:nvSpPr>
        <p:spPr>
          <a:xfrm>
            <a:off x="9157487" y="1645920"/>
            <a:ext cx="2211248" cy="64008"/>
          </a:xfrm>
          <a:prstGeom prst="rect">
            <a:avLst/>
          </a:prstGeom>
          <a:solidFill>
            <a:srgbClr val="A56209"/>
          </a:solidFill>
          <a:ln/>
        </p:spPr>
      </p:sp>
      <p:sp>
        <p:nvSpPr>
          <p:cNvPr id="53" name="Shape 51"/>
          <p:cNvSpPr/>
          <p:nvPr/>
        </p:nvSpPr>
        <p:spPr>
          <a:xfrm>
            <a:off x="9194063" y="1920240"/>
            <a:ext cx="420624" cy="420624"/>
          </a:xfrm>
          <a:prstGeom prst="roundRect">
            <a:avLst>
              <a:gd name="adj" fmla="val 26000"/>
            </a:avLst>
          </a:prstGeom>
          <a:solidFill>
            <a:srgbClr val="A56209"/>
          </a:solidFill>
          <a:ln/>
        </p:spPr>
      </p:sp>
      <p:sp>
        <p:nvSpPr>
          <p:cNvPr id="54" name="Text 52"/>
          <p:cNvSpPr txBox="1"/>
          <p:nvPr/>
        </p:nvSpPr>
        <p:spPr>
          <a:xfrm>
            <a:off x="9194063" y="1920240"/>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5" name="Text 53"/>
          <p:cNvSpPr txBox="1"/>
          <p:nvPr/>
        </p:nvSpPr>
        <p:spPr>
          <a:xfrm>
            <a:off x="9742703" y="1901952"/>
            <a:ext cx="1662608" cy="457200"/>
          </a:xfrm>
          <a:prstGeom prst="rect">
            <a:avLst/>
          </a:prstGeom>
          <a:noFill/>
          <a:ln/>
        </p:spPr>
        <p:txBody>
          <a:bodyPr wrap="square" lIns="0" tIns="0" rIns="0" bIns="0" rtlCol="0" anchor="ctr"/>
          <a:lstStyle/>
          <a:p>
            <a:pPr indent="0" marL="0">
              <a:buNone/>
            </a:pPr>
            <a:r>
              <a:rPr lang="en-US" sz="1900" b="1" dirty="0">
                <a:solidFill>
                  <a:srgbClr val="0E1426"/>
                </a:solidFill>
                <a:latin typeface="Cambria" pitchFamily="34" charset="0"/>
                <a:ea typeface="Cambria" pitchFamily="34" charset="-122"/>
                <a:cs typeface="Cambria" pitchFamily="34" charset="-120"/>
              </a:rPr>
              <a:t>Pekiştir</a:t>
            </a:r>
            <a:endParaRPr lang="en-US" sz="1900" dirty="0"/>
          </a:p>
        </p:txBody>
      </p:sp>
      <p:sp>
        <p:nvSpPr>
          <p:cNvPr id="56" name="Text 54"/>
          <p:cNvSpPr txBox="1"/>
          <p:nvPr/>
        </p:nvSpPr>
        <p:spPr>
          <a:xfrm>
            <a:off x="9194063" y="2487168"/>
            <a:ext cx="2138096" cy="868680"/>
          </a:xfrm>
          <a:prstGeom prst="rect">
            <a:avLst/>
          </a:prstGeom>
          <a:noFill/>
          <a:ln/>
        </p:spPr>
        <p:txBody>
          <a:bodyPr wrap="square" lIns="0" tIns="0" rIns="0" bIns="0" rtlCol="0" anchor="t"/>
          <a:lstStyle/>
          <a:p>
            <a:pPr indent="0" marL="0">
              <a:lnSpc>
                <a:spcPct val="110000"/>
              </a:lnSpc>
              <a:buNone/>
            </a:pPr>
            <a:r>
              <a:rPr lang="en-US" sz="1150" dirty="0">
                <a:solidFill>
                  <a:srgbClr val="4A5470"/>
                </a:solidFill>
                <a:latin typeface="Calibri" pitchFamily="34" charset="0"/>
                <a:ea typeface="Calibri" pitchFamily="34" charset="-122"/>
                <a:cs typeface="Calibri" pitchFamily="34" charset="-120"/>
              </a:rPr>
              <a:t>Kolaydan zora çözümlü örnekler ve çembersel harekette puan kaybettiren klasik hatalar.</a:t>
            </a:r>
            <a:endParaRPr lang="en-US" sz="1150" dirty="0"/>
          </a:p>
        </p:txBody>
      </p:sp>
      <p:sp>
        <p:nvSpPr>
          <p:cNvPr id="57" name="Shape 55"/>
          <p:cNvSpPr/>
          <p:nvPr/>
        </p:nvSpPr>
        <p:spPr>
          <a:xfrm>
            <a:off x="9194063" y="3429000"/>
            <a:ext cx="2138096" cy="0"/>
          </a:xfrm>
          <a:prstGeom prst="line">
            <a:avLst/>
          </a:prstGeom>
          <a:noFill/>
          <a:ln w="9525">
            <a:solidFill>
              <a:srgbClr val="E1E5EE"/>
            </a:solidFill>
            <a:prstDash val="dash"/>
          </a:ln>
        </p:spPr>
      </p:sp>
      <p:sp>
        <p:nvSpPr>
          <p:cNvPr id="58" name="Text 56"/>
          <p:cNvSpPr txBox="1"/>
          <p:nvPr/>
        </p:nvSpPr>
        <p:spPr>
          <a:xfrm>
            <a:off x="9194063" y="3566160"/>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13</a:t>
            </a:r>
            <a:endParaRPr lang="en-US" sz="1100" dirty="0"/>
          </a:p>
        </p:txBody>
      </p:sp>
      <p:sp>
        <p:nvSpPr>
          <p:cNvPr id="59" name="Text 57"/>
          <p:cNvSpPr txBox="1"/>
          <p:nvPr/>
        </p:nvSpPr>
        <p:spPr>
          <a:xfrm>
            <a:off x="9578111" y="3566160"/>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Çözümlü örnekler</a:t>
            </a:r>
            <a:endParaRPr lang="en-US" sz="1250" dirty="0"/>
          </a:p>
        </p:txBody>
      </p:sp>
      <p:sp>
        <p:nvSpPr>
          <p:cNvPr id="60" name="Text 58"/>
          <p:cNvSpPr txBox="1"/>
          <p:nvPr/>
        </p:nvSpPr>
        <p:spPr>
          <a:xfrm>
            <a:off x="9194063" y="4224528"/>
            <a:ext cx="384048" cy="603504"/>
          </a:xfrm>
          <a:prstGeom prst="rect">
            <a:avLst/>
          </a:prstGeom>
          <a:noFill/>
          <a:ln/>
        </p:spPr>
        <p:txBody>
          <a:bodyPr wrap="square" lIns="0" tIns="0" rIns="0" bIns="0" rtlCol="0" anchor="t"/>
          <a:lstStyle/>
          <a:p>
            <a:pPr indent="0" marL="0">
              <a:buNone/>
            </a:pPr>
            <a:r>
              <a:rPr lang="en-US" sz="1100" b="1" dirty="0">
                <a:solidFill>
                  <a:srgbClr val="A56209"/>
                </a:solidFill>
                <a:latin typeface="Calibri" pitchFamily="34" charset="0"/>
                <a:ea typeface="Calibri" pitchFamily="34" charset="-122"/>
                <a:cs typeface="Calibri" pitchFamily="34" charset="-120"/>
              </a:rPr>
              <a:t>14</a:t>
            </a:r>
            <a:endParaRPr lang="en-US" sz="1100" dirty="0"/>
          </a:p>
        </p:txBody>
      </p:sp>
      <p:sp>
        <p:nvSpPr>
          <p:cNvPr id="61" name="Text 59"/>
          <p:cNvSpPr txBox="1"/>
          <p:nvPr/>
        </p:nvSpPr>
        <p:spPr>
          <a:xfrm>
            <a:off x="9578111" y="4224528"/>
            <a:ext cx="1754048" cy="603504"/>
          </a:xfrm>
          <a:prstGeom prst="rect">
            <a:avLst/>
          </a:prstGeom>
          <a:noFill/>
          <a:ln/>
        </p:spPr>
        <p:txBody>
          <a:bodyPr wrap="square" lIns="0" tIns="0" rIns="0" bIns="0" rtlCol="0" anchor="t"/>
          <a:lstStyle/>
          <a:p>
            <a:pPr indent="0" marL="0">
              <a:lnSpc>
                <a:spcPct val="105000"/>
              </a:lnSpc>
              <a:buNone/>
            </a:pPr>
            <a:r>
              <a:rPr lang="en-US" sz="1250" b="1" dirty="0">
                <a:solidFill>
                  <a:srgbClr val="0E1426"/>
                </a:solidFill>
                <a:latin typeface="Calibri" pitchFamily="34" charset="0"/>
                <a:ea typeface="Calibri" pitchFamily="34" charset="-122"/>
                <a:cs typeface="Calibri" pitchFamily="34" charset="-120"/>
              </a:rPr>
              <a:t>Sık yapılan hatalar</a:t>
            </a:r>
            <a:endParaRPr lang="en-US" sz="1250" dirty="0"/>
          </a:p>
        </p:txBody>
      </p:sp>
      <p:sp>
        <p:nvSpPr>
          <p:cNvPr id="62" name="Shape 60"/>
          <p:cNvSpPr/>
          <p:nvPr/>
        </p:nvSpPr>
        <p:spPr>
          <a:xfrm>
            <a:off x="640080" y="6382512"/>
            <a:ext cx="128016" cy="128016"/>
          </a:xfrm>
          <a:prstGeom prst="roundRect">
            <a:avLst>
              <a:gd name="adj" fmla="val 28571"/>
            </a:avLst>
          </a:prstGeom>
          <a:solidFill>
            <a:srgbClr val="A9E648"/>
          </a:solidFill>
          <a:ln/>
        </p:spPr>
      </p:sp>
      <p:sp>
        <p:nvSpPr>
          <p:cNvPr id="63" name="Text 6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64" name="Text 6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1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Sürat ve hız:</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sürat, bir saniyede alınan yoldur (ör. 5 m/s). Hız ise sürata bir yön ekler: “doğuya doğru 5 m/s” gibi. Yön değişirse hız da değişmiş olur.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İvme:</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hızın her saniye ne kadar değiştiğidir; birimi m/s². Hız hiç değişmiyorsa ivme sıfırdır.</a:t>
            </a:r>
            <a:endParaRPr lang="en-US" sz="2000" dirty="0"/>
          </a:p>
        </p:txBody>
      </p:sp>
      <p:sp>
        <p:nvSpPr>
          <p:cNvPr id="14" name="Shape 12"/>
          <p:cNvSpPr/>
          <p:nvPr/>
        </p:nvSpPr>
        <p:spPr>
          <a:xfrm>
            <a:off x="640080" y="4779264"/>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914400" y="5233416"/>
            <a:ext cx="457200" cy="457200"/>
          </a:xfrm>
          <a:prstGeom prst="roundRect">
            <a:avLst>
              <a:gd name="adj" fmla="val 26000"/>
            </a:avLst>
          </a:prstGeom>
          <a:solidFill>
            <a:srgbClr val="3C8C21"/>
          </a:solidFill>
          <a:ln/>
        </p:spPr>
      </p:sp>
      <p:sp>
        <p:nvSpPr>
          <p:cNvPr id="16" name="Text 14"/>
          <p:cNvSpPr txBox="1"/>
          <p:nvPr/>
        </p:nvSpPr>
        <p:spPr>
          <a:xfrm>
            <a:off x="914400" y="5233416"/>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645920" y="4888992"/>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Newton'un yasaları:</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net kuvvet yoksa cisim düz bir çizgide sabit hızla gider. Net kuvvet varsa cisim ivmelenir: F = m · a.</a:t>
            </a:r>
            <a:endParaRPr lang="en-US" sz="2000" dirty="0"/>
          </a:p>
        </p:txBody>
      </p:sp>
      <p:sp>
        <p:nvSpPr>
          <p:cNvPr id="18" name="Shape 16"/>
          <p:cNvSpPr/>
          <p:nvPr/>
        </p:nvSpPr>
        <p:spPr>
          <a:xfrm>
            <a:off x="640080" y="6382512"/>
            <a:ext cx="128016" cy="128016"/>
          </a:xfrm>
          <a:prstGeom prst="roundRect">
            <a:avLst>
              <a:gd name="adj" fmla="val 28571"/>
            </a:avLst>
          </a:prstGeom>
          <a:solidFill>
            <a:srgbClr val="A9E648"/>
          </a:solidFill>
          <a:ln/>
        </p:spPr>
      </p:sp>
      <p:sp>
        <p:nvSpPr>
          <p:cNvPr id="19" name="Text 1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0" name="Text 1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Önce hatırlayalım · 2 / 2</a:t>
            </a:r>
            <a:endParaRPr lang="en-US" sz="3200" dirty="0"/>
          </a:p>
        </p:txBody>
      </p:sp>
      <p:sp>
        <p:nvSpPr>
          <p:cNvPr id="5" name="Text 3"/>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Bu konuya başlamadan önce bilmen gereken birkaç şey.</a:t>
            </a:r>
            <a:endParaRPr lang="en-US" sz="1450" dirty="0"/>
          </a:p>
        </p:txBody>
      </p:sp>
      <p:sp>
        <p:nvSpPr>
          <p:cNvPr id="6" name="Shape 4"/>
          <p:cNvSpPr/>
          <p:nvPr/>
        </p:nvSpPr>
        <p:spPr>
          <a:xfrm>
            <a:off x="640080" y="1645920"/>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914400" y="2100072"/>
            <a:ext cx="457200" cy="457200"/>
          </a:xfrm>
          <a:prstGeom prst="roundRect">
            <a:avLst>
              <a:gd name="adj" fmla="val 26000"/>
            </a:avLst>
          </a:prstGeom>
          <a:solidFill>
            <a:srgbClr val="3C8C21"/>
          </a:solidFill>
          <a:ln/>
        </p:spPr>
      </p:sp>
      <p:sp>
        <p:nvSpPr>
          <p:cNvPr id="8" name="Text 6"/>
          <p:cNvSpPr txBox="1"/>
          <p:nvPr/>
        </p:nvSpPr>
        <p:spPr>
          <a:xfrm>
            <a:off x="914400" y="2100072"/>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9" name="Text 7"/>
          <p:cNvSpPr txBox="1"/>
          <p:nvPr/>
        </p:nvSpPr>
        <p:spPr>
          <a:xfrm>
            <a:off x="1645920" y="1755648"/>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Çember:</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merkezden aynı uzaklıktaki noktaların oluşturduğu eğridir; bu uzaklığa yarıçap (r) denir. Çemberin çevresi 2 · π · r'dir; π ≈ 3,14, sorularda çoğu zaman 3 alınır.</a:t>
            </a:r>
            <a:endParaRPr lang="en-US" sz="2000" dirty="0"/>
          </a:p>
        </p:txBody>
      </p:sp>
      <p:sp>
        <p:nvSpPr>
          <p:cNvPr id="10" name="Shape 8"/>
          <p:cNvSpPr/>
          <p:nvPr/>
        </p:nvSpPr>
        <p:spPr>
          <a:xfrm>
            <a:off x="640080" y="3212592"/>
            <a:ext cx="10911535" cy="1365504"/>
          </a:xfrm>
          <a:prstGeom prst="roundRect">
            <a:avLst>
              <a:gd name="adj" fmla="val 10714"/>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1" name="Shape 9"/>
          <p:cNvSpPr/>
          <p:nvPr/>
        </p:nvSpPr>
        <p:spPr>
          <a:xfrm>
            <a:off x="914400" y="3666744"/>
            <a:ext cx="457200" cy="457200"/>
          </a:xfrm>
          <a:prstGeom prst="roundRect">
            <a:avLst>
              <a:gd name="adj" fmla="val 26000"/>
            </a:avLst>
          </a:prstGeom>
          <a:solidFill>
            <a:srgbClr val="3C8C21"/>
          </a:solidFill>
          <a:ln/>
        </p:spPr>
      </p:sp>
      <p:sp>
        <p:nvSpPr>
          <p:cNvPr id="12" name="Text 10"/>
          <p:cNvSpPr txBox="1"/>
          <p:nvPr/>
        </p:nvSpPr>
        <p:spPr>
          <a:xfrm>
            <a:off x="914400" y="3666744"/>
            <a:ext cx="457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3" name="Text 11"/>
          <p:cNvSpPr txBox="1"/>
          <p:nvPr/>
        </p:nvSpPr>
        <p:spPr>
          <a:xfrm>
            <a:off x="1645920" y="3322320"/>
            <a:ext cx="9631375" cy="1146048"/>
          </a:xfrm>
          <a:prstGeom prst="rect">
            <a:avLst/>
          </a:prstGeom>
          <a:noFill/>
          <a:ln/>
        </p:spPr>
        <p:txBody>
          <a:bodyPr wrap="square" lIns="0" tIns="0" rIns="0" bIns="0" rtlCol="0" anchor="ctr"/>
          <a:lstStyle/>
          <a:p>
            <a:pPr indent="0" marL="0">
              <a:lnSpc>
                <a:spcPct val="115000"/>
              </a:lnSpc>
              <a:buNone/>
            </a:pPr>
            <a:r>
              <a:rPr lang="en-US" sz="2000" b="1" dirty="0">
                <a:solidFill>
                  <a:srgbClr val="0E1426"/>
                </a:solidFill>
                <a:latin typeface="Calibri" pitchFamily="34" charset="0"/>
                <a:ea typeface="Calibri" pitchFamily="34" charset="-122"/>
                <a:cs typeface="Calibri" pitchFamily="34" charset="-120"/>
              </a:rPr>
              <a:t>Kare ve karekök:</a:t>
            </a:r>
            <a:pPr indent="0" marL="0">
              <a:lnSpc>
                <a:spcPct val="115000"/>
              </a:lnSpc>
              <a:buNone/>
            </a:pPr>
            <a:r>
              <a:rPr lang="en-US" sz="2000" dirty="0">
                <a:solidFill>
                  <a:srgbClr val="4A5470"/>
                </a:solidFill>
                <a:latin typeface="Calibri" pitchFamily="34" charset="0"/>
                <a:ea typeface="Calibri" pitchFamily="34" charset="-122"/>
                <a:cs typeface="Calibri" pitchFamily="34" charset="-120"/>
              </a:rPr>
              <a:t> 4² = 4 · 4 = 16 ve √16 = 4. Bir sayı 2 katına çıkınca karesi 4 katına çıkar.</a:t>
            </a:r>
            <a:endParaRPr lang="en-US" sz="2000" dirty="0"/>
          </a:p>
        </p:txBody>
      </p:sp>
      <p:sp>
        <p:nvSpPr>
          <p:cNvPr id="14" name="Shape 12"/>
          <p:cNvSpPr/>
          <p:nvPr/>
        </p:nvSpPr>
        <p:spPr>
          <a:xfrm>
            <a:off x="640080" y="6382512"/>
            <a:ext cx="128016" cy="128016"/>
          </a:xfrm>
          <a:prstGeom prst="roundRect">
            <a:avLst>
              <a:gd name="adj" fmla="val 28571"/>
            </a:avLst>
          </a:prstGeom>
          <a:solidFill>
            <a:srgbClr val="A9E648"/>
          </a:solidFill>
          <a:ln/>
        </p:spPr>
      </p:sp>
      <p:sp>
        <p:nvSpPr>
          <p:cNvPr id="15" name="Text 13"/>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6" name="Text 14"/>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C6F36B"/>
                </a:solidFill>
                <a:latin typeface="Cambria" pitchFamily="34" charset="0"/>
                <a:ea typeface="Cambria" pitchFamily="34" charset="-122"/>
                <a:cs typeface="Cambria" pitchFamily="34" charset="-120"/>
              </a:rPr>
              <a:t>1</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C6F36B"/>
                </a:solidFill>
                <a:latin typeface="Calibri" pitchFamily="34" charset="0"/>
                <a:ea typeface="Calibri" pitchFamily="34" charset="-122"/>
                <a:cs typeface="Calibri" pitchFamily="34" charset="-120"/>
              </a:rPr>
              <a:t>BASAMAK 1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Temel</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Önce sezgi: dönen bir cisme bak, neyin sabit kalıp neyin değiştiğini gör ve adını koy. Bu basamakta hesap yok denecek kadar az.</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01   </a:t>
            </a:r>
            <a:pPr indent="0" marL="0">
              <a:buNone/>
            </a:pPr>
            <a:r>
              <a:rPr lang="en-US" sz="1300" dirty="0">
                <a:solidFill>
                  <a:srgbClr val="FFFFFF"/>
                </a:solidFill>
                <a:latin typeface="Calibri" pitchFamily="34" charset="0"/>
                <a:ea typeface="Calibri" pitchFamily="34" charset="-122"/>
                <a:cs typeface="Calibri" pitchFamily="34" charset="-120"/>
              </a:rPr>
              <a:t>Önce gözlemle: virajı dönen bir arabada ne olur?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02   </a:t>
            </a:r>
            <a:pPr indent="0" marL="0">
              <a:buNone/>
            </a:pPr>
            <a:r>
              <a:rPr lang="en-US" sz="1300" dirty="0">
                <a:solidFill>
                  <a:srgbClr val="FFFFFF"/>
                </a:solidFill>
                <a:latin typeface="Calibri" pitchFamily="34" charset="0"/>
                <a:ea typeface="Calibri" pitchFamily="34" charset="-122"/>
                <a:cs typeface="Calibri" pitchFamily="34" charset="-120"/>
              </a:rPr>
              <a:t>Düzgün çembersel hareket nedir?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03   </a:t>
            </a:r>
            <a:pPr indent="0" marL="0">
              <a:buNone/>
            </a:pPr>
            <a:r>
              <a:rPr lang="en-US" sz="1300" dirty="0">
                <a:solidFill>
                  <a:srgbClr val="FFFFFF"/>
                </a:solidFill>
                <a:latin typeface="Calibri" pitchFamily="34" charset="0"/>
                <a:ea typeface="Calibri" pitchFamily="34" charset="-122"/>
                <a:cs typeface="Calibri" pitchFamily="34" charset="-120"/>
              </a:rPr>
              <a:t>Periyot ve frekans: dönmeyi saymak</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C6F36B"/>
                </a:solidFill>
                <a:latin typeface="Calibri" pitchFamily="34" charset="0"/>
                <a:ea typeface="Calibri" pitchFamily="34" charset="-122"/>
                <a:cs typeface="Calibri" pitchFamily="34" charset="-120"/>
              </a:rPr>
              <a:t>04   </a:t>
            </a:r>
            <a:pPr indent="0" marL="0">
              <a:buNone/>
            </a:pPr>
            <a:r>
              <a:rPr lang="en-US" sz="1300" dirty="0">
                <a:solidFill>
                  <a:srgbClr val="FFFFFF"/>
                </a:solidFill>
                <a:latin typeface="Calibri" pitchFamily="34" charset="0"/>
                <a:ea typeface="Calibri" pitchFamily="34" charset="-122"/>
                <a:cs typeface="Calibri" pitchFamily="34" charset="-120"/>
              </a:rPr>
              <a:t>Çemberde kalmak için neden kuvvet gerekir?</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10/sek/cembersel-hareket-gunluk-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Virajı dönen bir otomobil, çembersel hareketin en tanıdık hâlidir. Asfalttaki lastik izleri yolun eğrisini izliyor: araba her an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yön değiştiriyor</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Bunu sağlayan, lastiklerle yol arasındaki tutunmadır. Bariyerin virajın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dış</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kenarında durması da tutunma kaybolursa aracın nereye gideceğini söylüyor: düz ileri, eğrinin dışına.</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dersler.perinet.org/cembersel-hareket.html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06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Önce gözlemle: virajı dönen bir arabada ne olur?</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dağ yolunda arabayla ilerlediğini düşün.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Sürücü gaza da frene de dokunmuyor; gösterge hep 50 km/h'yi gösterirken keskin bir virajı dönüyor.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Göstergeye bakan biri “hiçbir şey değişmiyor” der; oysa sen kapıya doğru kaydığını, arka koltuktaki çantanın devrildiğini hissedersin.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Hareketin bir şeyi değişiyor olmalı — ama ne?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Önce gözlemle: virajı dönen bir arabada ne olur?</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4</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Değişen şey arabanın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gittiği yöndür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Virajın başında burnu bir yöne bakan araba, sonunda bambaşka bir yöne bakar.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Fizik günlük dildeki “hız”ı ikiye ayırır: ne kadar hızlı gittiğin ve hangi yöne gittiğin.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Virajda birincisi sabit kalabilir, ikincisi asla.</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Önce gözlemle: virajı dönen bir arabada ne olur?</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4</a:t>
            </a:r>
            <a:endParaRPr lang="en-US" sz="950" dirty="0"/>
          </a:p>
        </p:txBody>
      </p:sp>
      <p:sp>
        <p:nvSpPr>
          <p:cNvPr id="6" name="Text 4"/>
          <p:cNvSpPr txBox="1"/>
          <p:nvPr/>
        </p:nvSpPr>
        <p:spPr>
          <a:xfrm>
            <a:off x="640080" y="1325880"/>
            <a:ext cx="10911535" cy="47701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Virajı dönen her araçta, sürat sabit kalsa bile, aynı üç şey gözlenir:</a:t>
            </a:r>
            <a:endParaRPr lang="en-US" sz="2200" dirty="0"/>
          </a:p>
        </p:txBody>
      </p:sp>
      <p:sp>
        <p:nvSpPr>
          <p:cNvPr id="7" name="Text 5"/>
          <p:cNvSpPr txBox="1"/>
          <p:nvPr/>
        </p:nvSpPr>
        <p:spPr>
          <a:xfrm>
            <a:off x="640080" y="2004060"/>
            <a:ext cx="10911535" cy="211455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Yön sürekli değişir: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arabanın burnu virajın her noktasında başka bir yöne bakar.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Bir tutunma gerekir: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lastikler yolu kavramazsa araba virajı dönemez, düz gider.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İçerideki her şey dışa kayar gibi olur: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yolcu kapıya, çanta yana yaslanır.</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09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Önce gözlemle: virajı dönen bir arabada ne olur?</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4</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Üçüncü madde en aldatıcı olanıdır: sanki bir el seni dışarı itiyor gibi gelir.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İleride göreceğiz ki seni dışarı iten bir şey yoktur; araba seni içeri doğru çevirmektedir.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Önce gözlemle: virajı dönen bir arabada ne olur?</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Virajı dönen araba sürati sabit kalsa bile sürekli yön değiştirir. Yön değiştirmek için yolun arabayı yana doğru tutması gerekir; tutunma kaybolursa araba düz gider.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Buzlu bir virajda direksiyonu çevirsen de araba neden dümdüz kaymaya devam eder?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01 · Önce gözlemle: virajı dönen bir arabada ne olur?</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Buzlu bir virajda direksiyonu çevirsen de araba neden dümdüz kaymaya devam eder?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Arabayı virajda döndüren, lastiklerle yol arasındaki tutunmadır. Buz bu tutunmayı neredeyse yok eder; yana doğru bir kuvvet kalmayınca araba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o andaki doğrultusunda</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gitmeyi sürdürür. Tekerlekleri çevirmek yetmez, yolun arabayı yana itebilmesi gerekir.</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çembersel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 cisim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sabit süratle çembersel bir yörüngede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dolanıyorsa bu harekete düzgün çembersel hareket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"Düzgün" kelimesi süratin sabitliğini anlatır —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hızın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sabitliğini değil.</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çembersel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ayrım konunun kalbidir.</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Sürat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birim zamanda alınan yoldur ve yalnızca bir büyüklüğü vardır (örneğin 5 m/s).</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Hız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ise bir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vektördür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büyüklüğünün yanında bir de yönü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 hızın eşit sayılması için hem büyüklüklerinin hem yönlerinin aynı olması gerekir.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çembersel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bir vektördür ve çembersel harekette yönü her an değişir: hız daima yörüngeye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teğettir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Teğet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çembere tek noktada dokunan ve o noktadaki yarıçapa dik olan doğrudur.) Yönü değişen bir vektör, büyüklüğü sabit olsa bile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değişiyor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Değişen hız ise ivme demektir.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çembersel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Shape 4"/>
          <p:cNvSpPr/>
          <p:nvPr/>
        </p:nvSpPr>
        <p:spPr>
          <a:xfrm>
            <a:off x="640080" y="1325880"/>
            <a:ext cx="10911535" cy="1033272"/>
          </a:xfrm>
          <a:prstGeom prst="roundRect">
            <a:avLst>
              <a:gd name="adj" fmla="val 12389"/>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704088"/>
          </a:xfrm>
          <a:prstGeom prst="rect">
            <a:avLst/>
          </a:prstGeom>
          <a:solidFill>
            <a:srgbClr val="3C8C21"/>
          </a:solidFill>
          <a:ln/>
        </p:spPr>
      </p:sp>
      <p:sp>
        <p:nvSpPr>
          <p:cNvPr id="8" name="Text 6"/>
          <p:cNvSpPr txBox="1"/>
          <p:nvPr/>
        </p:nvSpPr>
        <p:spPr>
          <a:xfrm>
            <a:off x="950976" y="1453896"/>
            <a:ext cx="10399471" cy="777240"/>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Anahtar cümle:</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Düzgün çembersel hareket,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sabit süratli ama ivmeli</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bir harekettir. İvmenin işi hızı büyütmek değil,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yönünü çevirmektir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çembersel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Shape 4"/>
          <p:cNvSpPr/>
          <p:nvPr/>
        </p:nvSpPr>
        <p:spPr>
          <a:xfrm>
            <a:off x="2106818" y="1234440"/>
            <a:ext cx="797805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01.png">    </p:cNvPr>
          <p:cNvPicPr>
            <a:picLocks noChangeAspect="1"/>
          </p:cNvPicPr>
          <p:nvPr/>
        </p:nvPicPr>
        <p:blipFill>
          <a:blip r:embed="rId1"/>
          <a:stretch>
            <a:fillRect/>
          </a:stretch>
        </p:blipFill>
        <p:spPr>
          <a:xfrm>
            <a:off x="2335418" y="1325880"/>
            <a:ext cx="752085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Düzgün çembersel harekette hız vektörü her noktada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yörüngeye teğettir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Altı okun boyu birbirinin aynı — sürat değişmiyor. Ama yönleri farklı, yani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hız değişiyor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Hız değişiyorsa ivme vardır; ivme varsa bir kuvvet vardır. Konunun tamamı bu zincirden çıkar.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18</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çembersel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Düzenli dönen saat ibresinin ucu, sabit süratle dönen atlıkarınca ve çembere yakın yörüngedeki bir uydu bu harekete iyi örneklerdir.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Virajda gaza basan ya da fren yapan araba ise düzgün çembersel hareket yapmaz; onun hem yönü hem sürati değişir.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19</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Düzgün çembersel hareket nedir?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Düzgün çembersel harekette sürat sabittir, ama hız yörüngeye teğet olduğu için yönü her an değişir. Yönü değişen hız, ivmeli hareket demektir.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Periyot ve frekans: dönmeyi saymak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Periyot (T)</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cismin bir tam turu tamamlama süresidir; birimi saniyedir.</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Frekans (f)</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ise birim zamandaki tur sayısıdır; birimi hertz (1/s).</a:t>
            </a:r>
            <a:endParaRPr lang="en-US" sz="2200" dirty="0"/>
          </a:p>
        </p:txBody>
      </p:sp>
      <p:sp>
        <p:nvSpPr>
          <p:cNvPr id="7" name="Shape 5"/>
          <p:cNvSpPr/>
          <p:nvPr/>
        </p:nvSpPr>
        <p:spPr>
          <a:xfrm>
            <a:off x="640080" y="2481072"/>
            <a:ext cx="1799539"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481072"/>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 = 1 / f</a:t>
            </a:r>
            <a:endParaRPr lang="en-US" sz="1800" dirty="0"/>
          </a:p>
        </p:txBody>
      </p:sp>
      <p:sp>
        <p:nvSpPr>
          <p:cNvPr id="9" name="Shape 7"/>
          <p:cNvSpPr/>
          <p:nvPr/>
        </p:nvSpPr>
        <p:spPr>
          <a:xfrm>
            <a:off x="2585923" y="2481072"/>
            <a:ext cx="1799539"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585923" y="2481072"/>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1 / T</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21</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Periyot ve frekans: dönmeyi saymak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İkisi aynı bilginin iki okunuşudur.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Saniyede 4 tur atan cisim (f = 4 Hz) her turu 0,25 saniyede tamamlar; bir turu 2 saniyede atan cisim saniyede yarım tur atar (f = 0,5 Hz).</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Makinelerde dönme çoğunlukla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devir/dakika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ile verilir; hertz'e çevirmek için 60'a bölmek yeter.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22</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Periyot ve frekans: dönmeyi saymak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5807753"/>
                <a:gridCol w="2463895"/>
                <a:gridCol w="263988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Dönen şey</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Periyot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Frekans</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Saatin saniye ibresi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60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1/60 ≈ 0,017 Hz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Atlıkarınca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yaklaşık 10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0,1 Hz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Çamaşır tamburu (1200 devir/dk)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0,05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Hz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Dünya'nın kendi ekseni çevresinde</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yaklaşık 1 gün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günde 1 tur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23</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Periyot ve frekans: dönmeyi saymak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Katı bir cisim (disk, tekerlek, atlıkarınca) döndüğünde üzerindeki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bütün noktaların periyodu aynıdır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 merkeze yakın da olsalar, uzak da.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Atlıkarıncanın iç sırasındaki at da dış sırasındaki at da turu aynı anda tamamlar.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24</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Periyot ve frekans: dönmeyi saymak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1339457" y="1234440"/>
            <a:ext cx="9512781"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02.png">    </p:cNvPr>
          <p:cNvPicPr>
            <a:picLocks noChangeAspect="1"/>
          </p:cNvPicPr>
          <p:nvPr/>
        </p:nvPicPr>
        <p:blipFill>
          <a:blip r:embed="rId1"/>
          <a:stretch>
            <a:fillRect/>
          </a:stretch>
        </p:blipFill>
        <p:spPr>
          <a:xfrm>
            <a:off x="1568057" y="1325880"/>
            <a:ext cx="9055581"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Periyot (T)</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bir tam turun kaç saniye sürdüğü,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frekans (f)</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ise bir saniyede kaç tur atıldığıdır. İkisi aynı bilginin iki okunuşu olduğu için birbirinin tersidir: T = 1/f. Saniyede 4 tur atan bir cisim, her turu 0,25 saniyede tamamlar.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25</a:t>
            </a:r>
            <a:endParaRPr lang="en-US" sz="10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Periyot ve frekans: dönmeyi saymak</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Periyot bir turun süresi, frekans bir saniyedeki tur sayısıdır ve T = 1/f. Dönen katı bir cismin bütün noktaları aynı periyotla döner.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26</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Dakikada 120 tur atan bir tekerlek bir turu kaç saniyede tamamlar?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03 · Periyot ve frekans: dönmeyi saymak</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27</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Dakikada 120 tur atan bir tekerlek bir turu kaç saniyede tamamlar?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Önce hertz'e çevir: 120 / 60 = saniyede 2 tur, yani f = 2 Hz. Periyot bunun tersidir: T = 1/2 =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0,5 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Kontrol: her tur 0,5 saniye sürüyorsa 60 saniyede 120 tur atılır ✓.</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28</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Çemberde kalmak için neden kuvvet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Newton'un birinci yasasına göre net kuvvet etki etmeyen bir cisim ya durgun kalır ya da düz bir çizgide sabit hızla gider.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Cisimlerin hareket durumunu koruma eğilimine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eylemsizlik</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Yön değiştirmek de bir hareket değişikliğidir; bu yüzden çembersel hareket kendiliğinden olmaz, cismi her an düz yolundan saptıran bir kuvvet gerekir.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29</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Çemberde kalmak için neden kuvvet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İpin ucuna bağladığın bir silgiyi başının üstünde döndür.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Elin ipi hep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merkeze doğru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çeker; silgi ise her an teğet doğrultuda gitmek ister ve ip onu durmadan içeri büker.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Kuvvet hıza dik kaldığı için süratini değiştirmez, yalnızca yönünü çevirir.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İpi bıraktığın an silgi o anki hız doğrultusunda,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teğet boyunca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gider.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30</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Çemberde kalmak için neden kuvvet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3C8C21"/>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Test:</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İpi kesersen cisim dışarı doğru mu fırlar? Hayır —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teğet doğrultuda</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gider. Dışarı iten bir kuvvet olsaydı yörünge merkezden uzaklaşan bir doğru olurdu. Sayfadaki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02</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numaralı deney bunu gösteriyor.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31</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Çemberde kalmak için neden kuvvet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2008716" y="1234440"/>
            <a:ext cx="8174263"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03.png">    </p:cNvPr>
          <p:cNvPicPr>
            <a:picLocks noChangeAspect="1"/>
          </p:cNvPicPr>
          <p:nvPr/>
        </p:nvPicPr>
        <p:blipFill>
          <a:blip r:embed="rId1"/>
          <a:stretch>
            <a:fillRect/>
          </a:stretch>
        </p:blipFill>
        <p:spPr>
          <a:xfrm>
            <a:off x="2237316" y="1325880"/>
            <a:ext cx="7717063"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İp kesildiği anda cisme etki eden kuvvet kalmaz; 1. yasa gereği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 anki hız doğrultusunda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yani teğet boyunca düz bir çizgide gider. "Dışarı doğru fırlama" hissi, dönen sistemin içinde bulunan gözlemcinin eylemsizliği kuvvet sanmasından doğar. Gerçek kuvvet, cismi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içeri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çeken merkezcil kuvvettir.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32</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Çemberde kalmak için neden kuvvet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2482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Çekiç atma:</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atlet dönerken teli içeri çeker; bıraktığı an çekiç teğet doğrultuda uçar.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Islak şemsiye: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döndürülen şemsiyenin kenarından kopan damlalar teğet doğrultuda saçılır.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Taşlama makinesi: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dönen taştan kopan kıvılcımlar teğet boyunca düz çizgiler hâlinde fışkırır.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33</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3C8C21"/>
          </a:solidFill>
          <a:ln/>
          <a:effectLst>
            <a:outerShdw sx="100000" sy="100000" kx="0" ky="0" algn="bl" rotWithShape="0" blurRad="101600" dist="25400" dir="5400000">
              <a:srgbClr val="3C8C21">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Çemberde kalmak için neden kuvvet gerekir?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1 / 4  </a:t>
            </a:r>
            <a:pPr algn="r" indent="0" marL="0">
              <a:buNone/>
            </a:pPr>
            <a:r>
              <a:rPr lang="en-US" sz="950" b="1" spc="200" kern="0" dirty="0">
                <a:solidFill>
                  <a:srgbClr val="3C8C21"/>
                </a:solidFill>
                <a:latin typeface="Calibri" pitchFamily="34" charset="0"/>
                <a:ea typeface="Calibri" pitchFamily="34" charset="-122"/>
                <a:cs typeface="Calibri" pitchFamily="34" charset="-120"/>
              </a:rPr>
              <a:t>TEMEL</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3C8C21"/>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3C8C21"/>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Eylemsizlik yüzünden cisim hep düz gitmek ister; onu çemberde tutmak için her an merkeze doğru bir kuvvet gerekir. Bu kuvvet kalkarsa cisim teğet doğrultuda gider.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34</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82AAFF"/>
                </a:solidFill>
                <a:latin typeface="Cambria" pitchFamily="34" charset="0"/>
                <a:ea typeface="Cambria" pitchFamily="34" charset="-122"/>
                <a:cs typeface="Cambria" pitchFamily="34" charset="-120"/>
              </a:rPr>
              <a:t>2</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82AAFF"/>
                </a:solidFill>
                <a:latin typeface="Calibri" pitchFamily="34" charset="0"/>
                <a:ea typeface="Calibri" pitchFamily="34" charset="-122"/>
                <a:cs typeface="Calibri" pitchFamily="34" charset="-120"/>
              </a:rPr>
              <a:t>BASAMAK 2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Orta</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Bağıntılar: hızı, ivmeyi ve kuvveti adım adım türet, sonra gerçek sayılarla hisset.</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05   </a:t>
            </a:r>
            <a:pPr indent="0" marL="0">
              <a:buNone/>
            </a:pPr>
            <a:r>
              <a:rPr lang="en-US" sz="1300" dirty="0">
                <a:solidFill>
                  <a:srgbClr val="FFFFFF"/>
                </a:solidFill>
                <a:latin typeface="Calibri" pitchFamily="34" charset="0"/>
                <a:ea typeface="Calibri" pitchFamily="34" charset="-122"/>
                <a:cs typeface="Calibri" pitchFamily="34" charset="-120"/>
              </a:rPr>
              <a:t>Çizgisel hız ve açısal hız</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06   </a:t>
            </a:r>
            <a:pPr indent="0" marL="0">
              <a:buNone/>
            </a:pPr>
            <a:r>
              <a:rPr lang="en-US" sz="1300" dirty="0">
                <a:solidFill>
                  <a:srgbClr val="FFFFFF"/>
                </a:solidFill>
                <a:latin typeface="Calibri" pitchFamily="34" charset="0"/>
                <a:ea typeface="Calibri" pitchFamily="34" charset="-122"/>
                <a:cs typeface="Calibri" pitchFamily="34" charset="-120"/>
              </a:rPr>
              <a:t>Merkezcil ivme: v²/r nereden geliyor?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07   </a:t>
            </a:r>
            <a:pPr indent="0" marL="0">
              <a:buNone/>
            </a:pPr>
            <a:r>
              <a:rPr lang="en-US" sz="1300" dirty="0">
                <a:solidFill>
                  <a:srgbClr val="FFFFFF"/>
                </a:solidFill>
                <a:latin typeface="Calibri" pitchFamily="34" charset="0"/>
                <a:ea typeface="Calibri" pitchFamily="34" charset="-122"/>
                <a:cs typeface="Calibri" pitchFamily="34" charset="-120"/>
              </a:rPr>
              <a:t>Merkezcil kuvvet: bu görevi kim üstleniyor?</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82AAFF"/>
                </a:solidFill>
                <a:latin typeface="Calibri" pitchFamily="34" charset="0"/>
                <a:ea typeface="Calibri" pitchFamily="34" charset="-122"/>
                <a:cs typeface="Calibri" pitchFamily="34" charset="-120"/>
              </a:rPr>
              <a:t>08   </a:t>
            </a:r>
            <a:pPr indent="0" marL="0">
              <a:buNone/>
            </a:pPr>
            <a:r>
              <a:rPr lang="en-US" sz="1300" dirty="0">
                <a:solidFill>
                  <a:srgbClr val="FFFFFF"/>
                </a:solidFill>
                <a:latin typeface="Calibri" pitchFamily="34" charset="0"/>
                <a:ea typeface="Calibri" pitchFamily="34" charset="-122"/>
                <a:cs typeface="Calibri" pitchFamily="34" charset="-120"/>
              </a:rPr>
              <a:t>Sayılarla hisset: ne kadar hızlı, ne kadar ivme?</a:t>
            </a:r>
            <a:endParaRPr lang="en-US" sz="1300" dirty="0"/>
          </a:p>
        </p:txBody>
      </p:sp>
      <p:sp>
        <p:nvSpPr>
          <p:cNvPr id="10" name="Text 8"/>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1" name="Shape 9"/>
          <p:cNvSpPr/>
          <p:nvPr/>
        </p:nvSpPr>
        <p:spPr>
          <a:xfrm>
            <a:off x="6172200" y="1481328"/>
            <a:ext cx="5379415" cy="731520"/>
          </a:xfrm>
          <a:prstGeom prst="roundRect">
            <a:avLst>
              <a:gd name="adj" fmla="val 12500"/>
            </a:avLst>
          </a:prstGeom>
          <a:solidFill>
            <a:srgbClr val="1C2542"/>
          </a:solidFill>
          <a:ln w="9525">
            <a:solidFill>
              <a:srgbClr val="2C3860"/>
            </a:solidFill>
            <a:prstDash val="solid"/>
          </a:ln>
        </p:spPr>
      </p:sp>
      <p:sp>
        <p:nvSpPr>
          <p:cNvPr id="12" name="Text 10"/>
          <p:cNvSpPr txBox="1"/>
          <p:nvPr/>
        </p:nvSpPr>
        <p:spPr>
          <a:xfrm>
            <a:off x="6400800" y="148132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v = 2πr / T = ω·r</a:t>
            </a:r>
            <a:endParaRPr lang="en-US" sz="1500" dirty="0"/>
          </a:p>
        </p:txBody>
      </p:sp>
      <p:sp>
        <p:nvSpPr>
          <p:cNvPr id="13" name="Text 11"/>
          <p:cNvSpPr txBox="1"/>
          <p:nvPr/>
        </p:nvSpPr>
        <p:spPr>
          <a:xfrm>
            <a:off x="8787384" y="148132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çizgisel hız</a:t>
            </a:r>
            <a:endParaRPr lang="en-US" sz="1200" dirty="0"/>
          </a:p>
        </p:txBody>
      </p:sp>
      <p:sp>
        <p:nvSpPr>
          <p:cNvPr id="14" name="Shape 12"/>
          <p:cNvSpPr/>
          <p:nvPr/>
        </p:nvSpPr>
        <p:spPr>
          <a:xfrm>
            <a:off x="6172200" y="2350008"/>
            <a:ext cx="5379415" cy="731520"/>
          </a:xfrm>
          <a:prstGeom prst="roundRect">
            <a:avLst>
              <a:gd name="adj" fmla="val 12500"/>
            </a:avLst>
          </a:prstGeom>
          <a:solidFill>
            <a:srgbClr val="1C2542"/>
          </a:solidFill>
          <a:ln w="9525">
            <a:solidFill>
              <a:srgbClr val="2C3860"/>
            </a:solidFill>
            <a:prstDash val="solid"/>
          </a:ln>
        </p:spPr>
      </p:sp>
      <p:sp>
        <p:nvSpPr>
          <p:cNvPr id="15" name="Text 13"/>
          <p:cNvSpPr txBox="1"/>
          <p:nvPr/>
        </p:nvSpPr>
        <p:spPr>
          <a:xfrm>
            <a:off x="6400800" y="235000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ω = 2π / T = 2π·f</a:t>
            </a:r>
            <a:endParaRPr lang="en-US" sz="1500" dirty="0"/>
          </a:p>
        </p:txBody>
      </p:sp>
      <p:sp>
        <p:nvSpPr>
          <p:cNvPr id="16" name="Text 14"/>
          <p:cNvSpPr txBox="1"/>
          <p:nvPr/>
        </p:nvSpPr>
        <p:spPr>
          <a:xfrm>
            <a:off x="8787384" y="235000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açısal hız</a:t>
            </a:r>
            <a:endParaRPr lang="en-US" sz="1200" dirty="0"/>
          </a:p>
        </p:txBody>
      </p:sp>
      <p:sp>
        <p:nvSpPr>
          <p:cNvPr id="17" name="Shape 15"/>
          <p:cNvSpPr/>
          <p:nvPr/>
        </p:nvSpPr>
        <p:spPr>
          <a:xfrm>
            <a:off x="6172200" y="3218688"/>
            <a:ext cx="5379415" cy="731520"/>
          </a:xfrm>
          <a:prstGeom prst="roundRect">
            <a:avLst>
              <a:gd name="adj" fmla="val 12500"/>
            </a:avLst>
          </a:prstGeom>
          <a:solidFill>
            <a:srgbClr val="1C2542"/>
          </a:solidFill>
          <a:ln w="9525">
            <a:solidFill>
              <a:srgbClr val="2C3860"/>
            </a:solidFill>
            <a:prstDash val="solid"/>
          </a:ln>
        </p:spPr>
      </p:sp>
      <p:sp>
        <p:nvSpPr>
          <p:cNvPr id="18" name="Text 16"/>
          <p:cNvSpPr txBox="1"/>
          <p:nvPr/>
        </p:nvSpPr>
        <p:spPr>
          <a:xfrm>
            <a:off x="6400800" y="3218688"/>
            <a:ext cx="229514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a = v² / r = ω²·r</a:t>
            </a:r>
            <a:endParaRPr lang="en-US" sz="1500" dirty="0"/>
          </a:p>
        </p:txBody>
      </p:sp>
      <p:sp>
        <p:nvSpPr>
          <p:cNvPr id="19" name="Text 17"/>
          <p:cNvSpPr txBox="1"/>
          <p:nvPr/>
        </p:nvSpPr>
        <p:spPr>
          <a:xfrm>
            <a:off x="8787384" y="3218688"/>
            <a:ext cx="258135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merkezcil ivme</a:t>
            </a:r>
            <a:endParaRPr lang="en-US" sz="1200" dirty="0"/>
          </a:p>
        </p:txBody>
      </p:sp>
      <p:sp>
        <p:nvSpPr>
          <p:cNvPr id="20" name="Shape 18"/>
          <p:cNvSpPr/>
          <p:nvPr/>
        </p:nvSpPr>
        <p:spPr>
          <a:xfrm>
            <a:off x="6172200" y="4087368"/>
            <a:ext cx="5379415" cy="731520"/>
          </a:xfrm>
          <a:prstGeom prst="roundRect">
            <a:avLst>
              <a:gd name="adj" fmla="val 12500"/>
            </a:avLst>
          </a:prstGeom>
          <a:solidFill>
            <a:srgbClr val="1C2542"/>
          </a:solidFill>
          <a:ln w="9525">
            <a:solidFill>
              <a:srgbClr val="2C3860"/>
            </a:solidFill>
            <a:prstDash val="solid"/>
          </a:ln>
        </p:spPr>
      </p:sp>
      <p:sp>
        <p:nvSpPr>
          <p:cNvPr id="21" name="Text 19"/>
          <p:cNvSpPr txBox="1"/>
          <p:nvPr/>
        </p:nvSpPr>
        <p:spPr>
          <a:xfrm>
            <a:off x="6400800" y="4087368"/>
            <a:ext cx="1700784" cy="731520"/>
          </a:xfrm>
          <a:prstGeom prst="rect">
            <a:avLst/>
          </a:prstGeom>
          <a:noFill/>
          <a:ln/>
        </p:spPr>
        <p:txBody>
          <a:bodyPr wrap="square" lIns="0" tIns="0" rIns="0" bIns="0" rtlCol="0" anchor="ctr"/>
          <a:lstStyle/>
          <a:p>
            <a:pPr indent="0" marL="0">
              <a:buNone/>
            </a:pPr>
            <a:r>
              <a:rPr lang="en-US" sz="1500" b="1" dirty="0">
                <a:solidFill>
                  <a:srgbClr val="82AAFF"/>
                </a:solidFill>
                <a:latin typeface="Courier New" pitchFamily="34" charset="0"/>
                <a:ea typeface="Courier New" pitchFamily="34" charset="-122"/>
                <a:cs typeface="Courier New" pitchFamily="34" charset="-120"/>
              </a:rPr>
              <a:t>F = m·v² / r</a:t>
            </a:r>
            <a:endParaRPr lang="en-US" sz="1500" dirty="0"/>
          </a:p>
        </p:txBody>
      </p:sp>
      <p:sp>
        <p:nvSpPr>
          <p:cNvPr id="22" name="Text 20"/>
          <p:cNvSpPr txBox="1"/>
          <p:nvPr/>
        </p:nvSpPr>
        <p:spPr>
          <a:xfrm>
            <a:off x="8193024" y="4087368"/>
            <a:ext cx="3175711" cy="731520"/>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merkezcil kuvvet</a:t>
            </a:r>
            <a:endParaRPr lang="en-US" sz="1200" dirty="0"/>
          </a:p>
        </p:txBody>
      </p:sp>
      <p:sp>
        <p:nvSpPr>
          <p:cNvPr id="23" name="Shape 21"/>
          <p:cNvSpPr/>
          <p:nvPr/>
        </p:nvSpPr>
        <p:spPr>
          <a:xfrm>
            <a:off x="640080" y="6382512"/>
            <a:ext cx="128016" cy="128016"/>
          </a:xfrm>
          <a:prstGeom prst="roundRect">
            <a:avLst>
              <a:gd name="adj" fmla="val 28571"/>
            </a:avLst>
          </a:prstGeom>
          <a:solidFill>
            <a:srgbClr val="C6F36B"/>
          </a:solidFill>
          <a:ln/>
        </p:spPr>
      </p:sp>
      <p:sp>
        <p:nvSpPr>
          <p:cNvPr id="24" name="Text 2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dersler.perinet.org/cembersel-hareket.html</a:t>
            </a:r>
            <a:endParaRPr lang="en-US" sz="1050" dirty="0"/>
          </a:p>
        </p:txBody>
      </p:sp>
      <p:sp>
        <p:nvSpPr>
          <p:cNvPr id="25" name="Text 2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35</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Çizgisel hız ve açısal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bir turda 2πr uzunluğunda yol alır ve bunu T sürede yapar.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Buradan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çizgisel hız</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7" name="Shape 5"/>
          <p:cNvSpPr/>
          <p:nvPr/>
        </p:nvSpPr>
        <p:spPr>
          <a:xfrm>
            <a:off x="640080" y="2481072"/>
            <a:ext cx="2077517"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481072"/>
            <a:ext cx="2077517"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2πr / T</a:t>
            </a:r>
            <a:endParaRPr lang="en-US" sz="1800" dirty="0"/>
          </a:p>
        </p:txBody>
      </p:sp>
      <p:sp>
        <p:nvSpPr>
          <p:cNvPr id="9" name="Shape 7"/>
          <p:cNvSpPr/>
          <p:nvPr/>
        </p:nvSpPr>
        <p:spPr>
          <a:xfrm>
            <a:off x="2863901" y="2481072"/>
            <a:ext cx="2911450"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863901" y="2481072"/>
            <a:ext cx="2911450"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ω = 2π / T = 2π·f</a:t>
            </a:r>
            <a:endParaRPr lang="en-US" sz="1800" dirty="0"/>
          </a:p>
        </p:txBody>
      </p:sp>
      <p:sp>
        <p:nvSpPr>
          <p:cNvPr id="11" name="Shape 9"/>
          <p:cNvSpPr/>
          <p:nvPr/>
        </p:nvSpPr>
        <p:spPr>
          <a:xfrm>
            <a:off x="5921654" y="2481072"/>
            <a:ext cx="1799539"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5921654" y="2481072"/>
            <a:ext cx="1799539"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 = ω · r</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36</a:t>
            </a:r>
            <a:endParaRPr lang="en-US" sz="10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Çizgisel hız ve açısal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Shape 4"/>
          <p:cNvSpPr/>
          <p:nvPr/>
        </p:nvSpPr>
        <p:spPr>
          <a:xfrm>
            <a:off x="640080" y="1399032"/>
            <a:ext cx="64008" cy="310896"/>
          </a:xfrm>
          <a:prstGeom prst="rect">
            <a:avLst/>
          </a:prstGeom>
          <a:solidFill>
            <a:srgbClr val="2957D4"/>
          </a:solidFill>
          <a:ln/>
        </p:spPr>
      </p:sp>
      <p:sp>
        <p:nvSpPr>
          <p:cNvPr id="7" name="Text 5"/>
          <p:cNvSpPr txBox="1"/>
          <p:nvPr/>
        </p:nvSpPr>
        <p:spPr>
          <a:xfrm>
            <a:off x="822960" y="1325880"/>
            <a:ext cx="10728655" cy="457200"/>
          </a:xfrm>
          <a:prstGeom prst="rect">
            <a:avLst/>
          </a:prstGeom>
          <a:noFill/>
          <a:ln/>
        </p:spPr>
        <p:txBody>
          <a:bodyPr wrap="square" lIns="0" tIns="0" rIns="0" bIns="0" rtlCol="0" anchor="ctr"/>
          <a:lstStyle/>
          <a:p>
            <a:pPr indent="0" marL="0">
              <a:buNone/>
            </a:pPr>
            <a:r>
              <a:rPr lang="en-US" sz="2200" b="1" dirty="0">
                <a:solidFill>
                  <a:srgbClr val="0E1426"/>
                </a:solidFill>
                <a:latin typeface="Cambria" pitchFamily="34" charset="0"/>
                <a:ea typeface="Cambria" pitchFamily="34" charset="-122"/>
                <a:cs typeface="Cambria" pitchFamily="34" charset="-120"/>
              </a:rPr>
              <a:t>Formüldeki harfler ne anlama geliyor?</a:t>
            </a:r>
            <a:endParaRPr lang="en-US" sz="22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640080" y="1892808"/>
          <a:ext cx="10911535" cy="914400"/>
        </p:xfrm>
        <a:graphic>
          <a:graphicData uri="http://schemas.openxmlformats.org/drawingml/2006/table">
            <a:tbl>
              <a:tblPr/>
              <a:tblGrid>
                <a:gridCol w="1212393"/>
                <a:gridCol w="8082619"/>
                <a:gridCol w="1616524"/>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Sembol</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Anlamı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Birimi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çizgisel hız: cismin çember boyunca sürati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yarıçap: merkezle cisim arasındaki uzaklık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periyot: bir tam turun süresi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f</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frekans: bir saniyedeki tur sayısı</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Hz (1/s)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ω</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açısal hız: bir saniyede taranan açı (okunuşu “omega”)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rad/s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π</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pi sayısı, yaklaşık 3,14; 2πr bir turda alınan yol, yani çemberin çevresi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37</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Çizgisel hız ve açısal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Açısal hız (ω)</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birim zamanda taranan açıdır; birimi rad/s'dir.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Aynı disk üzerindeki noktaların ω'sı ortaktır, ama v = ω·r olduğu için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yarıçapı büyük olanın çizgisel hızı büyüktür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Sayfadaki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03</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numaralı bölüm tam olarak bunu gösteriyor.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38</a:t>
            </a:r>
            <a:endParaRPr lang="en-US" sz="10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Çizgisel hız ve açısal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Açıyı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radyanla</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ölçmek hesabı sadeleştirir: açı = yay / yarıçap.</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Yay yarıçapa eşitse açı 1 radyandır; çevre 2πr olduğundan bir tam tur 2π rad (≈ 6,28 rad, yani 360°)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Üç bağıntı da bu tanımlardan çıkar: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39</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Çizgisel hız ve açısal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114550"/>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Çizgisel hız: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turda alınan yol çevre kadardır (2πr), süresi T'dir: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 = 2πr/T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Açısal hız:</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bir turda taranan açı 2π radyandır: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ω = 2π/T</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T = 1/f olduğundan ω = 2π·f.</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İkisini bağlamak: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 = (2π/T)·r diye yazarsan parantezin içi ω'dır: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 = ω·r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a:t>
            </a:r>
            <a:endParaRPr lang="en-US" sz="2100" dirty="0"/>
          </a:p>
        </p:txBody>
      </p:sp>
      <p:sp>
        <p:nvSpPr>
          <p:cNvPr id="7" name="Text 5"/>
          <p:cNvSpPr txBox="1"/>
          <p:nvPr/>
        </p:nvSpPr>
        <p:spPr>
          <a:xfrm>
            <a:off x="640080" y="3641598"/>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 kontrolü: radyan iki uzunluğun oranı olduğu için birimsizdir; ω·r için (rad/s)·m = m/s çıkar, bu bir hızdır ✓.</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40</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Çizgisel hız ve açısal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Shape 4"/>
          <p:cNvSpPr/>
          <p:nvPr/>
        </p:nvSpPr>
        <p:spPr>
          <a:xfrm>
            <a:off x="1758798" y="1234440"/>
            <a:ext cx="8674100"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04.png">    </p:cNvPr>
          <p:cNvPicPr>
            <a:picLocks noChangeAspect="1"/>
          </p:cNvPicPr>
          <p:nvPr/>
        </p:nvPicPr>
        <p:blipFill>
          <a:blip r:embed="rId1"/>
          <a:stretch>
            <a:fillRect/>
          </a:stretch>
        </p:blipFill>
        <p:spPr>
          <a:xfrm>
            <a:off x="1987398" y="1325880"/>
            <a:ext cx="8216900"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Bir diskin üzerindeki bütün noktalar aynı sürede bir tur atar; yani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periyotları ve açısal hızları aynıdır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Ama kenardaki nokta aynı sürede daha uzun bir yay katettiği için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çizgisel hızı büyüktür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v = ω·r bağıntısı tam olarak bunu söyler: ω ortak, v yarıçapla orantılı.</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41</a:t>
            </a:r>
            <a:endParaRPr lang="en-US" sz="10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Çizgisel hız ve açısal hız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Çizgisel hız v = 2πr/T, açısal hız ω = 2π/T'dir ve v = ω·r. Dönen bir diskte ω her noktada aynıdır; çizgisel hız ise merkezden uzaklıkla doğru orantılı artar.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42</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Atlıkarıncada dış sıradaki at iç sıradakinden merkeze iki kat uzaksa, hangisi kaç kat hızlıdır?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05 · Çizgisel hız ve açısal hız</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43</a:t>
            </a:r>
            <a:endParaRPr lang="en-US" sz="10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Atlıkarıncada dış sıradaki at iç sıradakinden merkeze iki kat uzaksa, hangisi kaç kat hızlıdır?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İkisinin periyodu ve açısal hızı aynıdır. Ama dış at aynı sürede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iki kat uzun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bir çember çizer, bu yüzden çizgisel hızı iki kat büyüktür. v = ω·r de aynı sonucu verir: ω ortak, r iki kat, v iki kat.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44</a:t>
            </a:r>
            <a:endParaRPr lang="en-US" sz="10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ivme: v²/r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Hızın yönünü çeviren ivmenin yönü, hız vektörüne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diktir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daima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çemberin merkezine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doğrudur.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adına merkezcil (merkeze doğru) ivme denir.</a:t>
            </a:r>
            <a:endParaRPr lang="en-US" sz="2200" dirty="0"/>
          </a:p>
        </p:txBody>
      </p:sp>
      <p:sp>
        <p:nvSpPr>
          <p:cNvPr id="7" name="Shape 5"/>
          <p:cNvSpPr/>
          <p:nvPr/>
        </p:nvSpPr>
        <p:spPr>
          <a:xfrm>
            <a:off x="640080" y="2866644"/>
            <a:ext cx="193852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866644"/>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 = v² / r</a:t>
            </a:r>
            <a:endParaRPr lang="en-US" sz="1800" dirty="0"/>
          </a:p>
        </p:txBody>
      </p:sp>
      <p:sp>
        <p:nvSpPr>
          <p:cNvPr id="9" name="Shape 7"/>
          <p:cNvSpPr/>
          <p:nvPr/>
        </p:nvSpPr>
        <p:spPr>
          <a:xfrm>
            <a:off x="2724912" y="2866644"/>
            <a:ext cx="1938528"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2724912" y="2866644"/>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 = ω² · r</a:t>
            </a:r>
            <a:endParaRPr lang="en-US" sz="1800" dirty="0"/>
          </a:p>
        </p:txBody>
      </p:sp>
      <p:sp>
        <p:nvSpPr>
          <p:cNvPr id="11" name="Shape 9"/>
          <p:cNvSpPr/>
          <p:nvPr/>
        </p:nvSpPr>
        <p:spPr>
          <a:xfrm>
            <a:off x="4809744" y="2866644"/>
            <a:ext cx="2355494"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4809744" y="2866644"/>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 = 4π²r / T²</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45</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ivme: v²/r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Shape 4"/>
          <p:cNvSpPr/>
          <p:nvPr/>
        </p:nvSpPr>
        <p:spPr>
          <a:xfrm>
            <a:off x="2091524" y="1234440"/>
            <a:ext cx="8008646" cy="3643884"/>
          </a:xfrm>
          <a:prstGeom prst="roundRect">
            <a:avLst>
              <a:gd name="adj" fmla="val 401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05.png">    </p:cNvPr>
          <p:cNvPicPr>
            <a:picLocks noChangeAspect="1"/>
          </p:cNvPicPr>
          <p:nvPr/>
        </p:nvPicPr>
        <p:blipFill>
          <a:blip r:embed="rId1"/>
          <a:stretch>
            <a:fillRect/>
          </a:stretch>
        </p:blipFill>
        <p:spPr>
          <a:xfrm>
            <a:off x="2320124" y="1325880"/>
            <a:ext cx="7551446" cy="3461004"/>
          </a:xfrm>
          <a:prstGeom prst="rect">
            <a:avLst/>
          </a:prstGeom>
        </p:spPr>
      </p:pic>
      <p:sp>
        <p:nvSpPr>
          <p:cNvPr id="8" name="Text 5"/>
          <p:cNvSpPr txBox="1"/>
          <p:nvPr/>
        </p:nvSpPr>
        <p:spPr>
          <a:xfrm>
            <a:off x="1249528" y="5061204"/>
            <a:ext cx="9692640" cy="1083564"/>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Çok kısa bir süre içinde hız vektörü v₁'den v₂'ye döner. İkisini kuyruk kuyruğa koyduğumuzda aradaki fark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Δv</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ortaya çıkar ve iki nokta birbirine yaklaştıkça bu fark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tam olarak merkeze doğru</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bakar. İvme Δv yönünde olduğu için merkezcil ivme adını alır; büyüklüğü v²/r'dir. Sürat büyüdükçe ivme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karesiyle</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artar, yarıçap büyüdükçe azalır.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46</a:t>
            </a:r>
            <a:endParaRPr lang="en-US" sz="10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ivme: v²/r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Cisim çok kısa bir Δt süresinde çember üzerinde Δs kadar yol alsın.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sürede yarıçap küçük bir açı kadar döner; hız vektörü yarıçapa hep dik olduğu için o da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aynı açı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kadar döner.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Gerisi iki üçgeni karşılaştırmaktır: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47</a:t>
            </a:r>
            <a:endParaRPr lang="en-US" sz="10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ivme: v²/r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2942082"/>
          </a:xfrm>
          <a:prstGeom prst="rect">
            <a:avLst/>
          </a:prstGeom>
          <a:noFill/>
          <a:ln/>
        </p:spPr>
        <p:txBody>
          <a:bodyPr wrap="square" lIns="0" tIns="0" rIns="0" bIns="0" rtlCol="0" anchor="t"/>
          <a:lstStyle/>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İki üçgen:</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 yakın konumu merkeze bağlayan yarıçaplar (r, r) ile iki hız vektörü (v₁, v₂) aynı açıyı yapar.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Benzerlik:</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ikisi de ikizkenar ve tepe açıları eşit, yani benzer üçgenler: Δv / v = Δs / 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Hız değişimi: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kısa sürede alınan yol Δs = v·Δt olduğundan Δv = v·(v·Δt)/r = v²·Δt/r.</a:t>
            </a:r>
            <a:endParaRPr lang="en-US" sz="2100" dirty="0"/>
          </a:p>
          <a:p>
            <a:pPr marL="228600" indent="-228600">
              <a:lnSpc>
                <a:spcPct val="115000"/>
              </a:lnSpc>
              <a:spcAft>
                <a:spcPts val="800"/>
              </a:spcAft>
              <a:buSzPct val="100000"/>
              <a:buFont typeface="+mj-lt"/>
              <a:buAutoNum type="arabicPeriod" startAt="1"/>
            </a:pPr>
            <a:r>
              <a:rPr lang="en-US" sz="2100" b="1" dirty="0">
                <a:solidFill>
                  <a:srgbClr val="0E1426"/>
                </a:solidFill>
                <a:latin typeface="Calibri" pitchFamily="34" charset="0"/>
                <a:ea typeface="Calibri" pitchFamily="34" charset="-122"/>
                <a:cs typeface="Calibri" pitchFamily="34" charset="-120"/>
              </a:rPr>
              <a:t>İvme:</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a = Δv/Δt = </a:t>
            </a:r>
            <a:pPr indent="0" marL="0">
              <a:lnSpc>
                <a:spcPct val="115000"/>
              </a:lnSpc>
              <a:buNone/>
            </a:pPr>
            <a:r>
              <a:rPr lang="en-US" sz="2100" b="1" dirty="0">
                <a:solidFill>
                  <a:srgbClr val="0E1426"/>
                </a:solidFill>
                <a:latin typeface="Calibri" pitchFamily="34" charset="0"/>
                <a:ea typeface="Calibri" pitchFamily="34" charset="-122"/>
                <a:cs typeface="Calibri" pitchFamily="34" charset="-120"/>
              </a:rPr>
              <a:t>v²/r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Δt küçüldükçe Δv tam olarak merkeze bakar.</a:t>
            </a:r>
            <a:endParaRPr lang="en-US" sz="2100" dirty="0"/>
          </a:p>
        </p:txBody>
      </p:sp>
      <p:sp>
        <p:nvSpPr>
          <p:cNvPr id="7" name="Text 5"/>
          <p:cNvSpPr txBox="1"/>
          <p:nvPr/>
        </p:nvSpPr>
        <p:spPr>
          <a:xfrm>
            <a:off x="640080" y="4469130"/>
            <a:ext cx="10911535" cy="459486"/>
          </a:xfrm>
          <a:prstGeom prst="rect">
            <a:avLst/>
          </a:prstGeom>
          <a:noFill/>
          <a:ln/>
        </p:spPr>
        <p:txBody>
          <a:bodyPr wrap="square" lIns="0" tIns="0" rIns="0" bIns="0" rtlCol="0" anchor="t"/>
          <a:lstStyle/>
          <a:p>
            <a:pPr marL="279400" indent="-279400">
              <a:lnSpc>
                <a:spcPct val="115000"/>
              </a:lnSpc>
              <a:spcAft>
                <a:spcPts val="800"/>
              </a:spcAft>
              <a:buSzPct val="100000"/>
              <a:buFont typeface="+mj-lt"/>
              <a:buAutoNum type="arabicPeriod" startAt="5"/>
            </a:pPr>
            <a:r>
              <a:rPr lang="en-US" sz="2100" b="1" dirty="0">
                <a:solidFill>
                  <a:srgbClr val="0E1426"/>
                </a:solidFill>
                <a:latin typeface="Calibri" pitchFamily="34" charset="0"/>
                <a:ea typeface="Calibri" pitchFamily="34" charset="-122"/>
                <a:cs typeface="Calibri" pitchFamily="34" charset="-120"/>
              </a:rPr>
              <a:t>Öteki biçimler: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v = ω·r koyarsan a = ω²·r; v = 2πr/T koyarsan a = 4π²r/T².</a:t>
            </a:r>
            <a:endParaRPr lang="en-US" sz="21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48</a:t>
            </a:r>
            <a:endParaRPr lang="en-US" sz="10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ivme: v²/r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306476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Birim kontrolü: (m/s)² / m = m/s² ✓; “a = v/r” yazsaydın 1/s çıkardı, hatanı birim yakalar.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Bağıntıya iki yönden bakmak gerekir: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yarıçap sabitken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hız iki katına çıkarsa ivme dört katına çıkar (v²).</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Hız sabitken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yarıçap büyüdükçe ivme azalır (1/r): geniş viraj, yumuşak dönüş demektir.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01 numaralı laboratuvarındaki iki grafik bu iki bakışı çiziyor.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49</a:t>
            </a:r>
            <a:endParaRPr lang="en-US" sz="10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ivme: v²/r nereden geliyor?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Merkezcil ivme hıza dik ve merkeze doğrudur; büyüklüğü a = v²/r = ω²·r'dir. Sürat iki katına çıkarsa ivme dört katına çıkar; aynı süratte geniş yarıçap küçük ivme demektir.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50</a:t>
            </a:r>
            <a:endParaRPr lang="en-US" sz="10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kuvvet: bu görevi kim üstleniyor?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9540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Newton'un 2. yasası gereği ivme varsa net kuvvet de vardır.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Çembersel harekette net kuvvet merkeze doğrudur ve büyüklüğü:</a:t>
            </a:r>
            <a:endParaRPr lang="en-US" sz="2200" dirty="0"/>
          </a:p>
        </p:txBody>
      </p:sp>
      <p:sp>
        <p:nvSpPr>
          <p:cNvPr id="7" name="Shape 5"/>
          <p:cNvSpPr/>
          <p:nvPr/>
        </p:nvSpPr>
        <p:spPr>
          <a:xfrm>
            <a:off x="640080" y="2481072"/>
            <a:ext cx="3050438"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2481072"/>
            <a:ext cx="305043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m·a = m·v² / r</a:t>
            </a:r>
            <a:endParaRPr lang="en-US" sz="1800" dirty="0"/>
          </a:p>
        </p:txBody>
      </p:sp>
      <p:sp>
        <p:nvSpPr>
          <p:cNvPr id="9" name="Shape 7"/>
          <p:cNvSpPr/>
          <p:nvPr/>
        </p:nvSpPr>
        <p:spPr>
          <a:xfrm>
            <a:off x="3836822" y="2481072"/>
            <a:ext cx="1938528"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3836822" y="2481072"/>
            <a:ext cx="1938528"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F = m·ω²·r</a:t>
            </a:r>
            <a:endParaRPr lang="en-US" sz="1800" dirty="0"/>
          </a:p>
        </p:txBody>
      </p:sp>
      <p:sp>
        <p:nvSpPr>
          <p:cNvPr id="12" name="Shape 9"/>
          <p:cNvSpPr/>
          <p:nvPr/>
        </p:nvSpPr>
        <p:spPr>
          <a:xfrm>
            <a:off x="640080" y="6382512"/>
            <a:ext cx="128016" cy="128016"/>
          </a:xfrm>
          <a:prstGeom prst="roundRect">
            <a:avLst>
              <a:gd name="adj" fmla="val 28571"/>
            </a:avLst>
          </a:prstGeom>
          <a:solidFill>
            <a:srgbClr val="A9E648"/>
          </a:solidFill>
          <a:ln/>
        </p:spPr>
      </p:sp>
      <p:sp>
        <p:nvSpPr>
          <p:cNvPr id="13" name="Text 10"/>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4" name="Text 11"/>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51</a:t>
            </a:r>
            <a:endParaRPr lang="en-US" sz="10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kuvvet: bu görevi kim üstleniyor?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Laboratuvarın başlangıç ayarında (r = 1 m, T = 4 s, m = 2 kg) ekranda v ≈ 1,57 m/s, a ≈ 2,47 m/s² ve F ≈ 4,9 N okunur; bunları kendin hesaplayıp karşılaştırabilirsin.</a:t>
            </a:r>
            <a:endParaRPr lang="en-US" sz="2200" dirty="0"/>
          </a:p>
          <a:p>
            <a:pPr marL="203200" indent="-203200">
              <a:lnSpc>
                <a:spcPct val="115000"/>
              </a:lnSpc>
              <a:spcAft>
                <a:spcPts val="800"/>
              </a:spcAft>
              <a:buSzPct val="100000"/>
              <a:buChar char="▪"/>
            </a:pPr>
            <a:r>
              <a:rPr lang="en-US" sz="2200" b="1" dirty="0">
                <a:solidFill>
                  <a:srgbClr val="0E1426"/>
                </a:solidFill>
                <a:latin typeface="Calibri" pitchFamily="34" charset="0"/>
                <a:ea typeface="Calibri" pitchFamily="34" charset="-122"/>
                <a:cs typeface="Calibri" pitchFamily="34" charset="-120"/>
              </a:rPr>
              <a:t>Kütle 3 katı</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düğmesine bastığında ivme değişmez, kuvvet üç katına çıkar.</a:t>
            </a:r>
            <a:endParaRPr lang="en-US" sz="2200" dirty="0"/>
          </a:p>
        </p:txBody>
      </p:sp>
      <p:sp>
        <p:nvSpPr>
          <p:cNvPr id="7" name="Shape 5"/>
          <p:cNvSpPr/>
          <p:nvPr/>
        </p:nvSpPr>
        <p:spPr>
          <a:xfrm>
            <a:off x="640080" y="3252216"/>
            <a:ext cx="10911535" cy="1664208"/>
          </a:xfrm>
          <a:prstGeom prst="roundRect">
            <a:avLst>
              <a:gd name="adj" fmla="val 76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58368" y="3416808"/>
            <a:ext cx="54864" cy="1335024"/>
          </a:xfrm>
          <a:prstGeom prst="rect">
            <a:avLst/>
          </a:prstGeom>
          <a:solidFill>
            <a:srgbClr val="A56209"/>
          </a:solidFill>
          <a:ln/>
        </p:spPr>
      </p:sp>
      <p:sp>
        <p:nvSpPr>
          <p:cNvPr id="9" name="Text 7"/>
          <p:cNvSpPr txBox="1"/>
          <p:nvPr/>
        </p:nvSpPr>
        <p:spPr>
          <a:xfrm>
            <a:off x="950976" y="3380232"/>
            <a:ext cx="10399471" cy="1408176"/>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Merkezcil kuvvet yeni bir kuvvet türü değildir.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O, mevcut kuvvetlerden birinin (ya da bileşkesinin) üstlendiği bir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roldür</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ipteki gerilme, virajda sürtünme, Ay için yerçekimi, elektronu tutan elektriksel çekim. "Serbest cisim diyagramına merkezcil kuvvet eklenmez"; hangi kuvvetin bu rolü üstlendiği bulunur.</a:t>
            </a:r>
            <a:endParaRPr lang="en-US" sz="1800" dirty="0"/>
          </a:p>
        </p:txBody>
      </p:sp>
      <p:sp>
        <p:nvSpPr>
          <p:cNvPr id="11" name="Shape 8"/>
          <p:cNvSpPr/>
          <p:nvPr/>
        </p:nvSpPr>
        <p:spPr>
          <a:xfrm>
            <a:off x="640080" y="6382512"/>
            <a:ext cx="128016" cy="128016"/>
          </a:xfrm>
          <a:prstGeom prst="roundRect">
            <a:avLst>
              <a:gd name="adj" fmla="val 28571"/>
            </a:avLst>
          </a:prstGeom>
          <a:solidFill>
            <a:srgbClr val="A9E648"/>
          </a:solidFill>
          <a:ln/>
        </p:spPr>
      </p:sp>
      <p:sp>
        <p:nvSpPr>
          <p:cNvPr id="12"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3"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52</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kuvvet: bu görevi kim üstleniyor?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Shape 4"/>
          <p:cNvSpPr/>
          <p:nvPr/>
        </p:nvSpPr>
        <p:spPr>
          <a:xfrm>
            <a:off x="2604540" y="1234440"/>
            <a:ext cx="6982616"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06.png">    </p:cNvPr>
          <p:cNvPicPr>
            <a:picLocks noChangeAspect="1"/>
          </p:cNvPicPr>
          <p:nvPr/>
        </p:nvPicPr>
        <p:blipFill>
          <a:blip r:embed="rId1"/>
          <a:stretch>
            <a:fillRect/>
          </a:stretch>
        </p:blipFill>
        <p:spPr>
          <a:xfrm>
            <a:off x="2833140" y="1325880"/>
            <a:ext cx="6525416"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"Merkezcil kuvvet" diye ayrı bir kuvvet türü yoktur; bu,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bir kuvvetin üstlendiği görevin adıdır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Dönen taşta bu görevi ip gerilmesi, virajdaki arabada lastik sürtünmesi, uyduda yerçekimi, çamaşır makinesinde tambur duvarı üstlenir. Hepsinde yeşil ok merkeze bakar, mavi ok (hız) ise teğettir.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53</a:t>
            </a:r>
            <a:endParaRPr lang="en-US" sz="10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kuvvet: bu görevi kim üstleniyor?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3802505"/>
                <a:gridCol w="4794462"/>
                <a:gridCol w="2314568"/>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Durum</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Merkezcil kuvveti sağlayan</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Bağıntı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İpin ucunda dönen taş</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İpteki gerilme kuvveti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 = mv²/r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Virajı alan araç</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Yol–lastik sürtünmesi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μmg ≥ mv²/r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Dünya çevresindeki uydu</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Yerçekimi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GMm/r² = mv²/r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Çamaşır makinesi sıkma</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Tambur duvarı (normal kuvvet)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N = mv²/r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54</a:t>
            </a:r>
            <a:endParaRPr lang="en-US" sz="10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kuvvet: bu görevi kim üstleniyor?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Tablodaki T ipteki gerilme kuvvetidir; periyotla karıştırma.</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Soruları hep aynı sırayla çöz: önce gerçek kuvvetleri çiz (ayrıca “merkezcil kuvvet” oku ekleme), sonra merkeze bakanları artı, dışa bakanları eksi alarak topla, en sonda bu toplamı m·v²/r'ye eşitle.</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55</a:t>
            </a:r>
            <a:endParaRPr lang="en-US" sz="10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07</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Merkezcil kuvvet: bu görevi kim üstleniyor?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Çembersel harekette net kuvvet merkeze doğrudur ve F = m·v²/r. Bu yeni bir kuvvet değildir; ip gerilmesi, sürtünme, yerçekimi ya da normal kuvvet bu görevi üstlenir.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56</a:t>
            </a:r>
            <a:endParaRPr lang="en-US" sz="10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Sayılarla hisset: ne kadar hızlı, ne kadar ivme?</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Formüller soyut kalmasın; tanıdık dönen sistemlerin hızına ve merkezcil ivmesine bakalım (değerler yuvarlatılmış, parantezde g'nin kaç katı olduğu yazılı):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57</a:t>
            </a:r>
            <a:endParaRPr lang="en-US" sz="10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Sayılarla hisset: ne kadar hızlı, ne kadar ivme?</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6235163"/>
                <a:gridCol w="1870549"/>
                <a:gridCol w="2805823"/>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Dönen (yarıçap, periyot)</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Çizgisel hız</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Merkezcil ivme</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Atlıkarınca, dış sıra (5 m, 10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3,1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m/s² (0,2 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Çamaşır tamburu (0,25 m, 0,05 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31 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3 900 m/s² (400 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Uzay istasyonu (6 770 km, 92 dk)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7,7 km/s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8,7 m/s² (0,9 g)</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Ay (384 000 km, 27,3 gün)</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km/s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0,0027 m/s²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Dünya, Güneş çevresinde (150 milyon km, 1 yıl)</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30 km/s</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0,006 m/s²</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58</a:t>
            </a:r>
            <a:endParaRPr lang="en-US" sz="10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Sayılarla hisset: ne kadar hızlı, ne kadar ivme?</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İlk düzen: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en hızlı olan en ivmeli değildir.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Çamaşır tamburu saniyede ancak 31 m yol alır, ama yarıçapı çok küçük olduğu için ivmesi yerçekiminin yaklaşık 400 katıdır.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Ay saniyede 1 km gider, ama öyle geniş bir çember çizer ki yönü çok ağır değişir.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Belirleyici olan v tek başına değil,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v²/r oranıdır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59</a:t>
            </a:r>
            <a:endParaRPr lang="en-US" sz="10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2957D4"/>
          </a:solidFill>
          <a:ln/>
          <a:effectLst>
            <a:outerShdw sx="100000" sy="100000" kx="0" ky="0" algn="bl" rotWithShape="0" blurRad="101600" dist="25400" dir="5400000">
              <a:srgbClr val="2957D4">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08</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2900" b="1" spc="-50" kern="0" dirty="0">
                <a:solidFill>
                  <a:srgbClr val="0E1426"/>
                </a:solidFill>
                <a:latin typeface="Cambria" pitchFamily="34" charset="0"/>
                <a:ea typeface="Cambria" pitchFamily="34" charset="-122"/>
                <a:cs typeface="Cambria" pitchFamily="34" charset="-120"/>
              </a:rPr>
              <a:t>Sayılarla hisset: ne kadar hızlı, ne kadar ivme?</a:t>
            </a:r>
            <a:endParaRPr lang="en-US" sz="29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2957D4"/>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2957D4"/>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Merkezcil ivmeyi sürat tek başına belirlemez, v²/r oranı belirler. Küçük yarıçaplı çamaşır tamburu yaklaşık 400 g'ye ulaşırken saniyede 1 km giden Ay'ın ivmesi yalnızca 0,0027 m/s²'dir.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60</a:t>
            </a:r>
            <a:endParaRPr lang="en-US" sz="10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Uzay istasyonu Ay'dan yaklaşık 7,5 kat hızlı gidiyor; ivmesi neden binlerce kat büyük?</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08 · Sayılarla hisset: ne kadar hızlı, ne kadar ivme?</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61</a:t>
            </a:r>
            <a:endParaRPr lang="en-US" sz="10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2 / 4  </a:t>
            </a:r>
            <a:pPr algn="r" indent="0" marL="0">
              <a:buNone/>
            </a:pPr>
            <a:r>
              <a:rPr lang="en-US" sz="950" b="1" spc="200" kern="0" dirty="0">
                <a:solidFill>
                  <a:srgbClr val="2957D4"/>
                </a:solidFill>
                <a:latin typeface="Calibri" pitchFamily="34" charset="0"/>
                <a:ea typeface="Calibri" pitchFamily="34" charset="-122"/>
                <a:cs typeface="Calibri" pitchFamily="34" charset="-120"/>
              </a:rPr>
              <a:t>ORTA</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Uzay istasyonu Ay'dan yaklaşık 7,5 kat hızlı gidiyor; ivmesi neden binlerce kat büyük?</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Çünkü ivme hızın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karesiyle</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büyür, yarıçapla küçülür. Hız 7,5 kat olunca v² yaklaşık 56 kat büyür; istasyonun yörünge yarıçapı ise Ay'ınkinden yaklaşık 57 kat küçüktür. İkisi çarpılınca 56 · 57 ≈ 3 200 kat çıkar: 0,0027 m/s² yerine 8,7 m/s².</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62</a:t>
            </a:r>
            <a:endParaRPr lang="en-US" sz="10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A093FF"/>
                </a:solidFill>
                <a:latin typeface="Cambria" pitchFamily="34" charset="0"/>
                <a:ea typeface="Cambria" pitchFamily="34" charset="-122"/>
                <a:cs typeface="Cambria" pitchFamily="34" charset="-120"/>
              </a:rPr>
              <a:t>3</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A093FF"/>
                </a:solidFill>
                <a:latin typeface="Calibri" pitchFamily="34" charset="0"/>
                <a:ea typeface="Calibri" pitchFamily="34" charset="-122"/>
                <a:cs typeface="Calibri" pitchFamily="34" charset="-120"/>
              </a:rPr>
              <a:t>BASAMAK 3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İleri</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Derinleşme: dönen sistemin içinden bakınca, eğimli virajlarda, düşey çemberde ve yörüngede ne olur?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09   </a:t>
            </a:r>
            <a:pPr indent="0" marL="0">
              <a:buNone/>
            </a:pPr>
            <a:r>
              <a:rPr lang="en-US" sz="1300" dirty="0">
                <a:solidFill>
                  <a:srgbClr val="FFFFFF"/>
                </a:solidFill>
                <a:latin typeface="Calibri" pitchFamily="34" charset="0"/>
                <a:ea typeface="Calibri" pitchFamily="34" charset="-122"/>
                <a:cs typeface="Calibri" pitchFamily="34" charset="-120"/>
              </a:rPr>
              <a:t>Merkezkaç kuvveti yanılgısı</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10   </a:t>
            </a:r>
            <a:pPr indent="0" marL="0">
              <a:buNone/>
            </a:pPr>
            <a:r>
              <a:rPr lang="en-US" sz="1300" dirty="0">
                <a:solidFill>
                  <a:srgbClr val="FFFFFF"/>
                </a:solidFill>
                <a:latin typeface="Calibri" pitchFamily="34" charset="0"/>
                <a:ea typeface="Calibri" pitchFamily="34" charset="-122"/>
                <a:cs typeface="Calibri" pitchFamily="34" charset="-120"/>
              </a:rPr>
              <a:t>Virajda savrulma sınırı ve eğimli yollar</a:t>
            </a:r>
            <a:endParaRPr lang="en-US" sz="1300" dirty="0"/>
          </a:p>
        </p:txBody>
      </p:sp>
      <p:sp>
        <p:nvSpPr>
          <p:cNvPr id="8" name="Text 6"/>
          <p:cNvSpPr txBox="1"/>
          <p:nvPr/>
        </p:nvSpPr>
        <p:spPr>
          <a:xfrm>
            <a:off x="731520" y="5230368"/>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11   </a:t>
            </a:r>
            <a:pPr indent="0" marL="0">
              <a:buNone/>
            </a:pPr>
            <a:r>
              <a:rPr lang="en-US" sz="1300" dirty="0">
                <a:solidFill>
                  <a:srgbClr val="FFFFFF"/>
                </a:solidFill>
                <a:latin typeface="Calibri" pitchFamily="34" charset="0"/>
                <a:ea typeface="Calibri" pitchFamily="34" charset="-122"/>
                <a:cs typeface="Calibri" pitchFamily="34" charset="-120"/>
              </a:rPr>
              <a:t>Düşey çember: kova neden dökülmez?</a:t>
            </a:r>
            <a:endParaRPr lang="en-US" sz="1300" dirty="0"/>
          </a:p>
        </p:txBody>
      </p:sp>
      <p:sp>
        <p:nvSpPr>
          <p:cNvPr id="9" name="Text 7"/>
          <p:cNvSpPr txBox="1"/>
          <p:nvPr/>
        </p:nvSpPr>
        <p:spPr>
          <a:xfrm>
            <a:off x="731520" y="5559552"/>
            <a:ext cx="5120640" cy="329184"/>
          </a:xfrm>
          <a:prstGeom prst="rect">
            <a:avLst/>
          </a:prstGeom>
          <a:noFill/>
          <a:ln/>
        </p:spPr>
        <p:txBody>
          <a:bodyPr wrap="square" lIns="0" tIns="0" rIns="0" bIns="0" rtlCol="0" anchor="ctr"/>
          <a:lstStyle/>
          <a:p>
            <a:pPr indent="0" marL="0">
              <a:buNone/>
            </a:pPr>
            <a:r>
              <a:rPr lang="en-US" sz="1300" b="1" dirty="0">
                <a:solidFill>
                  <a:srgbClr val="A093FF"/>
                </a:solidFill>
                <a:latin typeface="Calibri" pitchFamily="34" charset="0"/>
                <a:ea typeface="Calibri" pitchFamily="34" charset="-122"/>
                <a:cs typeface="Calibri" pitchFamily="34" charset="-120"/>
              </a:rPr>
              <a:t>12   </a:t>
            </a:r>
            <a:pPr indent="0" marL="0">
              <a:buNone/>
            </a:pPr>
            <a:r>
              <a:rPr lang="en-US" sz="1300" dirty="0">
                <a:solidFill>
                  <a:srgbClr val="FFFFFF"/>
                </a:solidFill>
                <a:latin typeface="Calibri" pitchFamily="34" charset="0"/>
                <a:ea typeface="Calibri" pitchFamily="34" charset="-122"/>
                <a:cs typeface="Calibri" pitchFamily="34" charset="-120"/>
              </a:rPr>
              <a:t>Çembersel hareket gerçek dünyada</a:t>
            </a:r>
            <a:endParaRPr lang="en-US" sz="1300" dirty="0"/>
          </a:p>
        </p:txBody>
      </p:sp>
      <p:sp>
        <p:nvSpPr>
          <p:cNvPr id="10" name="Shape 8"/>
          <p:cNvSpPr/>
          <p:nvPr/>
        </p:nvSpPr>
        <p:spPr>
          <a:xfrm>
            <a:off x="6117336" y="905256"/>
            <a:ext cx="5489143" cy="3696005"/>
          </a:xfrm>
          <a:prstGeom prst="roundRect">
            <a:avLst>
              <a:gd name="adj" fmla="val 3464"/>
            </a:avLst>
          </a:prstGeom>
          <a:solidFill>
            <a:srgbClr val="1C2542"/>
          </a:solidFill>
          <a:ln w="9525">
            <a:solidFill>
              <a:srgbClr val="2C3860"/>
            </a:solidFill>
            <a:prstDash val="solid"/>
          </a:ln>
        </p:spPr>
      </p:sp>
      <p:pic>
        <p:nvPicPr>
          <p:cNvPr id="11" name="Image 0" descr="/tmp/claude-1000/-opt-dersler/8a8328c3-841c-44fa-b76f-82572d338d3d/scratchpad/d10/sek/cembersel-hareket-uygulama-kart.jpg">    </p:cNvPr>
          <p:cNvPicPr>
            <a:picLocks noChangeAspect="1"/>
          </p:cNvPicPr>
          <p:nvPr/>
        </p:nvPicPr>
        <p:blipFill>
          <a:blip r:embed="rId1"/>
          <a:stretch>
            <a:fillRect/>
          </a:stretch>
        </p:blipFill>
        <p:spPr>
          <a:xfrm>
            <a:off x="6172200" y="960120"/>
            <a:ext cx="5379415" cy="3586277"/>
          </a:xfrm>
          <a:prstGeom prst="rect">
            <a:avLst/>
          </a:prstGeom>
        </p:spPr>
      </p:pic>
      <p:sp>
        <p:nvSpPr>
          <p:cNvPr id="12" name="Text 9"/>
          <p:cNvSpPr txBox="1"/>
          <p:nvPr/>
        </p:nvSpPr>
        <p:spPr>
          <a:xfrm>
            <a:off x="6172200" y="4774997"/>
            <a:ext cx="5379415" cy="1214323"/>
          </a:xfrm>
          <a:prstGeom prst="rect">
            <a:avLst/>
          </a:prstGeom>
          <a:noFill/>
          <a:ln/>
        </p:spPr>
        <p:txBody>
          <a:bodyPr wrap="square" lIns="0" tIns="0" rIns="0" bIns="0" rtlCol="0" anchor="t"/>
          <a:lstStyle/>
          <a:p>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Yörüngedeki bir uyduyu çemberde tutan ne ip ne raydır: merkezcil kuvvet görevini </a:t>
            </a:r>
            <a:pPr indent="0" marL="0">
              <a:lnSpc>
                <a:spcPct val="115000"/>
              </a:lnSpc>
              <a:buNone/>
            </a:pPr>
            <a:r>
              <a:rPr lang="en-US" sz="1150" b="1" dirty="0">
                <a:solidFill>
                  <a:srgbClr val="FFFFFF"/>
                </a:solidFill>
                <a:latin typeface="Calibri" pitchFamily="34" charset="0"/>
                <a:ea typeface="Calibri" pitchFamily="34" charset="-122"/>
                <a:cs typeface="Calibri" pitchFamily="34" charset="-120"/>
              </a:rPr>
              <a:t>yerçekimi</a:t>
            </a:r>
            <a:pPr indent="0" marL="0">
              <a:lnSpc>
                <a:spcPct val="115000"/>
              </a:lnSpc>
              <a:buNone/>
            </a:pPr>
            <a:r>
              <a:rPr lang="en-US" sz="1150" dirty="0">
                <a:solidFill>
                  <a:srgbClr val="C3CEE8"/>
                </a:solidFill>
                <a:latin typeface="Calibri" pitchFamily="34" charset="0"/>
                <a:ea typeface="Calibri" pitchFamily="34" charset="-122"/>
                <a:cs typeface="Calibri" pitchFamily="34" charset="-120"/>
              </a:rPr>
              <a:t> üstlenir. Uzay istasyonunun bulunduğu yaklaşık 400 km yükseklikte dolanan bir araç saniyede yaklaşık 7,7 km yol alır ve Dünya'nın çevresini yaklaşık 92 dakikada bir dolanır.</a:t>
            </a:r>
            <a:endParaRPr lang="en-US" sz="1150" dirty="0"/>
          </a:p>
        </p:txBody>
      </p:sp>
      <p:sp>
        <p:nvSpPr>
          <p:cNvPr id="13" name="Shape 10"/>
          <p:cNvSpPr/>
          <p:nvPr/>
        </p:nvSpPr>
        <p:spPr>
          <a:xfrm>
            <a:off x="640080" y="6382512"/>
            <a:ext cx="128016" cy="128016"/>
          </a:xfrm>
          <a:prstGeom prst="roundRect">
            <a:avLst>
              <a:gd name="adj" fmla="val 28571"/>
            </a:avLst>
          </a:prstGeom>
          <a:solidFill>
            <a:srgbClr val="C6F36B"/>
          </a:solidFill>
          <a:ln/>
        </p:spPr>
      </p:sp>
      <p:sp>
        <p:nvSpPr>
          <p:cNvPr id="14" name="Text 11"/>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dersler.perinet.org/cembersel-hareket.html</a:t>
            </a:r>
            <a:endParaRPr lang="en-US" sz="1050" dirty="0"/>
          </a:p>
        </p:txBody>
      </p:sp>
      <p:sp>
        <p:nvSpPr>
          <p:cNvPr id="15" name="Text 12"/>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63</a:t>
            </a:r>
            <a:endParaRPr lang="en-US" sz="10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Merkezkaç kuvveti yanılgısı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81660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Virajı hızlı alan bir araçta kendini kapıya doğru itiliyor hissedersin.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Aslında seni dışarı iten bir kuvvet yoktur: sen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eylemsizliğin</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gereği doğrusal gitmek istersin, araç ise altından dönerek yön değiştirir.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Kapı sana çarpar ve seni çembere sokan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merkeze doğru</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kuvveti uygular.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64</a:t>
            </a:r>
            <a:endParaRPr lang="en-US" sz="10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Merkezkaç kuvveti yanılgısı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"Merkezkaç kuvveti" yalnızca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dönen bir referans sisteminde</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tanımlanan bir hayalî (eylemsizlik) kuvvettir.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Yerdeki bir gözlemci için böyle bir kuvvet yoktur.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Referans sistemi</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hareketi ölçtüğün bakış yeridir.) Arabadaki yolcu kendini hareketsiz sayar ve kapının itişini dengeleyecek dışa doğru bir kuvvet varsayar; ama bu kuvveti uygulayan bir ip, yüzey ya da cisim gösterilemez.</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65</a:t>
            </a:r>
            <a:endParaRPr lang="en-US" sz="10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Merkezkaç kuvveti yanılgısı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graphicFrame>
        <p:nvGraphicFramePr>
          <p:cNvPr id="67" name="Table 0"/>
          <p:cNvGraphicFramePr>
            <a:graphicFrameLocks noGrp="1"/>
          </p:cNvGraphicFramePr>
          <p:nvPr>
            <p:extLst>
              <p:ext uri="{D42A27DB-BD31-4B8C-83A1-F6EECF244321}">
                <p14:modId xmlns:p14="http://schemas.microsoft.com/office/powerpoint/2010/main" val="1579011935"/>
              </p:ext>
            </p:extLst>
          </p:nvPr>
        </p:nvGraphicFramePr>
        <p:xfrm>
          <a:off x="640080" y="1325880"/>
          <a:ext cx="10911535" cy="914400"/>
        </p:xfrm>
        <a:graphic>
          <a:graphicData uri="http://schemas.openxmlformats.org/drawingml/2006/table">
            <a:tbl>
              <a:tblPr/>
              <a:tblGrid>
                <a:gridCol w="2156931"/>
                <a:gridCol w="4186984"/>
                <a:gridCol w="4567619"/>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Soru</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Yerdeki gözlemci</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Arabadaki yolcu</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Yolcu ne yapıyor?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Araçla birlikte çember çiziyor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Yerinde duruyor, kapıya bastırılıyor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Kapının kuvveti</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Merkeze doğru; yolcuyu döndürüyor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“Dışa iten kuvveti” dengeliyor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690372">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Dışa doğru kuvvet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Yok; yalnızca eylemsizlik</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Var gibi görünüyor (hayalî)</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bl>
          </a:graphicData>
        </a:graphic>
      </p:graphicFrame>
      <p:sp>
        <p:nvSpPr>
          <p:cNvPr id="8" name="Shape 4"/>
          <p:cNvSpPr/>
          <p:nvPr/>
        </p:nvSpPr>
        <p:spPr>
          <a:xfrm>
            <a:off x="640080" y="6382512"/>
            <a:ext cx="128016" cy="128016"/>
          </a:xfrm>
          <a:prstGeom prst="roundRect">
            <a:avLst>
              <a:gd name="adj" fmla="val 28571"/>
            </a:avLst>
          </a:prstGeom>
          <a:solidFill>
            <a:srgbClr val="A9E648"/>
          </a:solidFill>
          <a:ln/>
        </p:spPr>
      </p:sp>
      <p:sp>
        <p:nvSpPr>
          <p:cNvPr id="9" name="Text 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66</a:t>
            </a:r>
            <a:endParaRPr lang="en-US" sz="10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Merkezkaç kuvveti yanılgısı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Text 4"/>
          <p:cNvSpPr txBox="1"/>
          <p:nvPr/>
        </p:nvSpPr>
        <p:spPr>
          <a:xfrm>
            <a:off x="640080" y="1325880"/>
            <a:ext cx="10911535" cy="124815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Girişteki zincirli salıncağa da böyle bak: yerden bakınca eğik zincirin çekişinin bir parçası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merkeze doğrudur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koltuğu çemberde tutar; koltuktaki kişi ise kendini dışarı savruluyor hisseder.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67</a:t>
            </a:r>
            <a:endParaRPr lang="en-US" sz="10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Merkezkaç kuvveti yanılgısı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267780" y="1271016"/>
            <a:ext cx="5656136" cy="3807333"/>
          </a:xfrm>
          <a:prstGeom prst="roundRect">
            <a:avLst>
              <a:gd name="adj" fmla="val 336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ek1-genis.jpg">    </p:cNvPr>
          <p:cNvPicPr>
            <a:picLocks noChangeAspect="1"/>
          </p:cNvPicPr>
          <p:nvPr/>
        </p:nvPicPr>
        <p:blipFill>
          <a:blip r:embed="rId1"/>
          <a:stretch>
            <a:fillRect/>
          </a:stretch>
        </p:blipFill>
        <p:spPr>
          <a:xfrm>
            <a:off x="3322644" y="1325880"/>
            <a:ext cx="5546408" cy="3697605"/>
          </a:xfrm>
          <a:prstGeom prst="rect">
            <a:avLst/>
          </a:prstGeom>
        </p:spPr>
      </p:pic>
      <p:sp>
        <p:nvSpPr>
          <p:cNvPr id="8" name="Text 5"/>
          <p:cNvSpPr txBox="1"/>
          <p:nvPr/>
        </p:nvSpPr>
        <p:spPr>
          <a:xfrm>
            <a:off x="1249528" y="5261229"/>
            <a:ext cx="9692640" cy="883539"/>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Otobüs sola dönerken</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ayaktaki yolcuların gövdeleri sağa, virajın dışına doğru yatar. Onları dışarı iten bir kuvvet yoktur: gövdeleri eylemsizlikle düz gitmeyi sürdürürken otobüs altlarından döner. Yolcuları dönüşe katan, tutamağın ve tabanın onlara uyguladığı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içeri doğru</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kuvvettir.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68</a:t>
            </a:r>
            <a:endParaRPr lang="en-US" sz="10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09</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Merkezkaç kuvveti yanılgısı</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Merkezkaç kuvveti yalnızca dönen sistemin içindeki gözlemcinin kullandığı hayalî bir kuvvettir; uygulayıcısı yoktur. Yerden bakınca yalnızca merkeze doğru gerçek bir kuvvet ve eylemsizlik vardır.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69</a:t>
            </a:r>
            <a:endParaRPr lang="en-US" sz="10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Dönen bir platformun kenarında tuttuğun topu bırakırsan, yerdeki biri topu nasıl bir yolda görür?</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09 · Merkezkaç kuvveti yanılgısı</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70</a:t>
            </a:r>
            <a:endParaRPr lang="en-US" sz="10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Dönen bir platformun kenarında tuttuğun topu bırakırsan, yerdeki biri topu nasıl bir yolda görür?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Yerdeki gözlemci topun bırakıldığı andaki hız doğrultusunda, yani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teğet boyunca düz</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gittiğini görür. Platformdaki sen ise dönmeye devam ettiğin için topu eğri bir yol çizerek uzaklaşıyor görürsün. Hareket iki referans sisteminde farklı görünür, ama topa yatay bir kuvvet etki etmez.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71</a:t>
            </a:r>
            <a:endParaRPr lang="en-US" sz="10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Virajda savrulma sınırı ve eğimli yollar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6</a:t>
            </a:r>
            <a:endParaRPr lang="en-US" sz="950" dirty="0"/>
          </a:p>
        </p:txBody>
      </p:sp>
      <p:sp>
        <p:nvSpPr>
          <p:cNvPr id="6" name="Text 4"/>
          <p:cNvSpPr txBox="1"/>
          <p:nvPr/>
        </p:nvSpPr>
        <p:spPr>
          <a:xfrm>
            <a:off x="640080" y="1325880"/>
            <a:ext cx="10911535" cy="220218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Düz bir virajda arabayı çemberde tutan tek yatay kuvvet sürtünmedir.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Gereken kuvvet mv²/r, yolun sağlayabildiği en büyük sürtünme ise μmg'dir (μ: lastik–yol sürtünme katsayısı).</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Araç yol tutuyorsa m·v²/r ≤ μ·m·g olmalıdır; kütle iki yanda da bulunduğu için sadeleşir ve sınır hız ortaya çıkar:</a:t>
            </a:r>
            <a:endParaRPr lang="en-US" sz="2200" dirty="0"/>
          </a:p>
        </p:txBody>
      </p:sp>
      <p:sp>
        <p:nvSpPr>
          <p:cNvPr id="7" name="Shape 5"/>
          <p:cNvSpPr/>
          <p:nvPr/>
        </p:nvSpPr>
        <p:spPr>
          <a:xfrm>
            <a:off x="640080" y="3729228"/>
            <a:ext cx="2772461"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3729228"/>
            <a:ext cx="2772461"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vmaks = √(μ·g·r)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72</a:t>
            </a:r>
            <a:endParaRPr lang="en-US" sz="10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Virajda savrulma sınırı ve eğimli yollar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6</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Yol ıslanınca μ yarıya inerse sınır hız √2 kat (yaklaşık %30) düşer.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Virajın yarıçapı dört katına çıkarsa sınır hız iki katına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Bu yüzden otoyol virajları geniş yarıçaplı yapılır ve yol yüzeyi eğimlendirilir.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Sayfanın 04 numaralı bölümünde yol durumunu değiştirip sınırın nasıl düştüğünü izleyebilirsin.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73</a:t>
            </a:r>
            <a:endParaRPr lang="en-US" sz="10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Virajda savrulma sınırı ve eğimli yollar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6</a:t>
            </a:r>
            <a:endParaRPr lang="en-US" sz="950" dirty="0"/>
          </a:p>
        </p:txBody>
      </p:sp>
      <p:sp>
        <p:nvSpPr>
          <p:cNvPr id="6" name="Shape 4"/>
          <p:cNvSpPr/>
          <p:nvPr/>
        </p:nvSpPr>
        <p:spPr>
          <a:xfrm>
            <a:off x="1905358" y="1234440"/>
            <a:ext cx="8380979" cy="3880485"/>
          </a:xfrm>
          <a:prstGeom prst="roundRect">
            <a:avLst>
              <a:gd name="adj" fmla="val 3770"/>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07.png">    </p:cNvPr>
          <p:cNvPicPr>
            <a:picLocks noChangeAspect="1"/>
          </p:cNvPicPr>
          <p:nvPr/>
        </p:nvPicPr>
        <p:blipFill>
          <a:blip r:embed="rId1"/>
          <a:stretch>
            <a:fillRect/>
          </a:stretch>
        </p:blipFill>
        <p:spPr>
          <a:xfrm>
            <a:off x="2133958" y="1325880"/>
            <a:ext cx="7923779" cy="3697605"/>
          </a:xfrm>
          <a:prstGeom prst="rect">
            <a:avLst/>
          </a:prstGeom>
        </p:spPr>
      </p:pic>
      <p:sp>
        <p:nvSpPr>
          <p:cNvPr id="8" name="Text 5"/>
          <p:cNvSpPr txBox="1"/>
          <p:nvPr/>
        </p:nvSpPr>
        <p:spPr>
          <a:xfrm>
            <a:off x="1249528" y="5297805"/>
            <a:ext cx="9692640" cy="846963"/>
          </a:xfrm>
          <a:prstGeom prst="rect">
            <a:avLst/>
          </a:prstGeom>
          <a:noFill/>
          <a:ln/>
        </p:spPr>
        <p:txBody>
          <a:bodyPr wrap="square" lIns="0" tIns="0" rIns="0" bIns="0" rtlCol="0" anchor="t"/>
          <a:lstStyle/>
          <a:p>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Virajda merkezcil kuvveti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lastik sürtünmesi</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sağlar ve bu kuvvetin bir üst sınırı vardır: μ·m·g. Gereken kuvvet mv²/r hızın karesiyle büyüdüğü için, belli bir hızdan sonra sürtünme yetişemez ve araç savrulur. Sınır hız </a:t>
            </a:r>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√(μgr)</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'dir: yarıçapı küçük (keskin) virajlarda ve ıslak yolda (μ küçükken) çok daha düşüktür.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74</a:t>
            </a:r>
            <a:endParaRPr lang="en-US" sz="10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Virajda savrulma sınırı ve eğimli yollar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6</a:t>
            </a:r>
            <a:endParaRPr lang="en-US" sz="950" dirty="0"/>
          </a:p>
        </p:txBody>
      </p:sp>
      <p:sp>
        <p:nvSpPr>
          <p:cNvPr id="6" name="Text 4"/>
          <p:cNvSpPr txBox="1"/>
          <p:nvPr/>
        </p:nvSpPr>
        <p:spPr>
          <a:xfrm>
            <a:off x="640080" y="1325880"/>
            <a:ext cx="10911535" cy="86258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50 m yarıçaplı bir virajda (g = 10 m/s²) yol durumu sınır hızı şöyle değiştirir:</a:t>
            </a:r>
            <a:endParaRPr lang="en-US" sz="2200" dirty="0"/>
          </a:p>
        </p:txBody>
      </p:sp>
      <p:graphicFrame>
        <p:nvGraphicFramePr>
          <p:cNvPr id="76" name="Table 0"/>
          <p:cNvGraphicFramePr>
            <a:graphicFrameLocks noGrp="1"/>
          </p:cNvGraphicFramePr>
          <p:nvPr>
            <p:extLst>
              <p:ext uri="{D42A27DB-BD31-4B8C-83A1-F6EECF244321}">
                <p14:modId xmlns:p14="http://schemas.microsoft.com/office/powerpoint/2010/main" val="1579011935"/>
              </p:ext>
            </p:extLst>
          </p:nvPr>
        </p:nvGraphicFramePr>
        <p:xfrm>
          <a:off x="640080" y="2389632"/>
          <a:ext cx="10911535" cy="914400"/>
        </p:xfrm>
        <a:graphic>
          <a:graphicData uri="http://schemas.openxmlformats.org/drawingml/2006/table">
            <a:tbl>
              <a:tblPr/>
              <a:tblGrid>
                <a:gridCol w="2727884"/>
                <a:gridCol w="4091826"/>
                <a:gridCol w="4091826"/>
              </a:tblGrid>
              <a:tr h="418338">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Yol durumu</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Sürtünme katsayısı</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c>
                  <a:txBody>
                    <a:bodyPr/>
                    <a:lstStyle/>
                    <a:p>
                      <a:pPr indent="0" marL="0">
                        <a:buNone/>
                      </a:pPr>
                      <a:r>
                        <a:rPr lang="en-US" sz="1400" b="1" dirty="0">
                          <a:solidFill>
                            <a:srgbClr val="7B849E"/>
                          </a:solidFill>
                          <a:latin typeface="Calibri" pitchFamily="34" charset="0"/>
                          <a:ea typeface="Calibri" pitchFamily="34" charset="-122"/>
                          <a:cs typeface="Calibri" pitchFamily="34" charset="-120"/>
                        </a:rPr>
                        <a:t>Sınır hız</a:t>
                      </a:r>
                      <a:endParaRPr lang="en-US" sz="14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8F9FC"/>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Kuru asfalt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0,8</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20 m/s (72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Islak asfalt</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0,5</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15,8 m/s (57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Kar</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0,2</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10 m/s (36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FFFFF"/>
                    </a:solidFill>
                  </a:tcPr>
                </a:tc>
              </a:tr>
              <a:tr h="418338">
                <a:tc>
                  <a:txBody>
                    <a:bodyPr/>
                    <a:lstStyle/>
                    <a:p>
                      <a:pPr indent="0" marL="0">
                        <a:buNone/>
                      </a:pPr>
                      <a:r>
                        <a:rPr lang="en-US" sz="1700" b="1" dirty="0">
                          <a:solidFill>
                            <a:srgbClr val="0E1426"/>
                          </a:solidFill>
                          <a:latin typeface="Calibri" pitchFamily="34" charset="0"/>
                          <a:ea typeface="Calibri" pitchFamily="34" charset="-122"/>
                          <a:cs typeface="Calibri" pitchFamily="34" charset="-120"/>
                        </a:rPr>
                        <a:t>Buz</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 0,1</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c>
                  <a:txBody>
                    <a:bodyPr/>
                    <a:lstStyle/>
                    <a:p>
                      <a:pPr indent="0" marL="0">
                        <a:buNone/>
                      </a:pPr>
                      <a:r>
                        <a:rPr lang="en-US" sz="1700" dirty="0">
                          <a:solidFill>
                            <a:srgbClr val="4A5470"/>
                          </a:solidFill>
                          <a:latin typeface="Calibri" pitchFamily="34" charset="0"/>
                          <a:ea typeface="Calibri" pitchFamily="34" charset="-122"/>
                          <a:cs typeface="Calibri" pitchFamily="34" charset="-120"/>
                        </a:rPr>
                        <a:t>7,1 m/s (25 km/h)</a:t>
                      </a:r>
                      <a:endParaRPr lang="en-US" sz="1700" dirty="0">
                        <a:latin typeface="Calibri" charset="0"/>
                        <a:ea typeface="Calibri" charset="0"/>
                        <a:cs typeface="Calibri" charset="0"/>
                      </a:endParaRPr>
                    </a:p>
                  </a:txBody>
                  <a:tcPr marL="114300" marR="114300" marT="63500" marB="63500" anchor="ctr">
                    <a:lnL w="9525" cap="flat" cmpd="sng" algn="ctr">
                      <a:solidFill>
                        <a:srgbClr val="E1E5EE"/>
                      </a:solidFill>
                      <a:prstDash val="solid"/>
                      <a:round/>
                      <a:headEnd type="none" w="med" len="med"/>
                      <a:tailEnd type="none" w="med" len="med"/>
                    </a:lnL>
                    <a:lnR w="9525" cap="flat" cmpd="sng" algn="ctr">
                      <a:solidFill>
                        <a:srgbClr val="E1E5EE"/>
                      </a:solidFill>
                      <a:prstDash val="solid"/>
                      <a:round/>
                      <a:headEnd type="none" w="med" len="med"/>
                      <a:tailEnd type="none" w="med" len="med"/>
                    </a:lnR>
                    <a:lnT w="9525" cap="flat" cmpd="sng" algn="ctr">
                      <a:solidFill>
                        <a:srgbClr val="E1E5EE"/>
                      </a:solidFill>
                      <a:prstDash val="solid"/>
                      <a:round/>
                      <a:headEnd type="none" w="med" len="med"/>
                      <a:tailEnd type="none" w="med" len="med"/>
                    </a:lnT>
                    <a:lnB w="9525" cap="flat" cmpd="sng" algn="ctr">
                      <a:solidFill>
                        <a:srgbClr val="E1E5EE"/>
                      </a:solidFill>
                      <a:prstDash val="solid"/>
                      <a:round/>
                      <a:headEnd type="none" w="med" len="med"/>
                      <a:tailEnd type="none" w="med" len="med"/>
                    </a:lnB>
                    <a:solidFill>
                      <a:srgbClr val="FBFCFE"/>
                    </a:solidFill>
                  </a:tcPr>
                </a:tc>
              </a:tr>
            </a:tbl>
          </a:graphicData>
        </a:graphic>
      </p:graphicFrame>
      <p:sp>
        <p:nvSpPr>
          <p:cNvPr id="9" name="Shape 5"/>
          <p:cNvSpPr/>
          <p:nvPr/>
        </p:nvSpPr>
        <p:spPr>
          <a:xfrm>
            <a:off x="640080" y="6382512"/>
            <a:ext cx="128016" cy="128016"/>
          </a:xfrm>
          <a:prstGeom prst="roundRect">
            <a:avLst>
              <a:gd name="adj" fmla="val 28571"/>
            </a:avLst>
          </a:prstGeom>
          <a:solidFill>
            <a:srgbClr val="A9E648"/>
          </a:solidFill>
          <a:ln/>
        </p:spPr>
      </p:sp>
      <p:sp>
        <p:nvSpPr>
          <p:cNvPr id="10"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1"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75</a:t>
            </a:r>
            <a:endParaRPr lang="en-US" sz="10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Virajda savrulma sınırı ve eğimli yollar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6</a:t>
            </a:r>
            <a:endParaRPr lang="en-US" sz="950" dirty="0"/>
          </a:p>
        </p:txBody>
      </p:sp>
      <p:sp>
        <p:nvSpPr>
          <p:cNvPr id="6" name="Text 4"/>
          <p:cNvSpPr txBox="1"/>
          <p:nvPr/>
        </p:nvSpPr>
        <p:spPr>
          <a:xfrm>
            <a:off x="640080" y="13258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Eğimlendirme, virajın dış kenarını iç kenarından biraz yüksek yapmaktır; buna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dever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denir.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Eğimli yolda normal kuvvet biraz merkeze doğru yatar ve yatay bileşeni aracı çevirmeye yardım eder.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Düşeyde N·cos θ = m·g, yatayda N·sin θ = m·v²/r yazıp taraf tarafa bölersen sürtünmesiz ideal hızı veren bağıntı çıkar:</a:t>
            </a:r>
            <a:endParaRPr lang="en-US" sz="2200" dirty="0"/>
          </a:p>
        </p:txBody>
      </p:sp>
      <p:sp>
        <p:nvSpPr>
          <p:cNvPr id="7" name="Shape 5"/>
          <p:cNvSpPr/>
          <p:nvPr/>
        </p:nvSpPr>
        <p:spPr>
          <a:xfrm>
            <a:off x="640080" y="4114800"/>
            <a:ext cx="3328416"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114800"/>
            <a:ext cx="3328416"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tan θ = v² / (g · 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76</a:t>
            </a:r>
            <a:endParaRPr lang="en-US" sz="10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Virajda savrulma sınırı ve eğimli yollar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6 / 6</a:t>
            </a:r>
            <a:endParaRPr lang="en-US" sz="950" dirty="0"/>
          </a:p>
        </p:txBody>
      </p:sp>
      <p:sp>
        <p:nvSpPr>
          <p:cNvPr id="6" name="Text 4"/>
          <p:cNvSpPr txBox="1"/>
          <p:nvPr/>
        </p:nvSpPr>
        <p:spPr>
          <a:xfrm>
            <a:off x="640080" y="1325880"/>
            <a:ext cx="10911535" cy="2110740"/>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100 m yarıçaplı virajda 20 m/s (72 km/h) için tan θ = 0,4, yani θ ≈ 22° gerekir; gerçek yollarda dever birkaç derecedir, gerisini sürtünme karşılar.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Zincirli salıncakta zincirin düşeyle yaptığı açı da aynı bağıntıya uyar ve kütleye bağlı değildir.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77</a:t>
            </a:r>
            <a:endParaRPr lang="en-US" sz="10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Virajda savrulma sınırı ve eğimli yollar</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Düz virajda sınır hız v</a:t>
            </a:r>
            <a:pPr indent="0" marL="0">
              <a:lnSpc>
                <a:spcPct val="125000"/>
              </a:lnSpc>
              <a:buNone/>
            </a:pPr>
            <a:r>
              <a:rPr lang="en-US" sz="2800" baseline="-40000" dirty="0">
                <a:solidFill>
                  <a:srgbClr val="0E1426"/>
                </a:solidFill>
                <a:latin typeface="Cambria" pitchFamily="34" charset="0"/>
                <a:ea typeface="Cambria" pitchFamily="34" charset="-122"/>
                <a:cs typeface="Cambria" pitchFamily="34" charset="-120"/>
              </a:rPr>
              <a:t>maks</a:t>
            </a:r>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 = √(μ·g·r)'dir ve kütleden bağımsızdır. Eğimli yolda normal kuvvetin yatay bileşeni de yardım eder; sürtünmesiz ideal hız tan θ = v²/(g·r) ile bulunur.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78</a:t>
            </a:r>
            <a:endParaRPr lang="en-US" sz="10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çember: kova neden dökülmez?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5</a:t>
            </a:r>
            <a:endParaRPr lang="en-US" sz="950" dirty="0"/>
          </a:p>
        </p:txBody>
      </p:sp>
      <p:sp>
        <p:nvSpPr>
          <p:cNvPr id="6" name="Text 4"/>
          <p:cNvSpPr txBox="1"/>
          <p:nvPr/>
        </p:nvSpPr>
        <p:spPr>
          <a:xfrm>
            <a:off x="640080" y="1325880"/>
            <a:ext cx="10911535" cy="172516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Su dolu bir kovayı düşey bir çemberde hızla döndürürsen, kovanın baş aşağı durduğu tepe noktasında bile su dökülmez; yavaş döndürürsen başından aşağı boşalır.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Neden?</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79</a:t>
            </a:r>
            <a:endParaRPr lang="en-US" sz="105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çember: kova neden dökülmez?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5</a:t>
            </a:r>
            <a:endParaRPr lang="en-US" sz="950" dirty="0"/>
          </a:p>
        </p:txBody>
      </p:sp>
      <p:sp>
        <p:nvSpPr>
          <p:cNvPr id="6" name="Text 4"/>
          <p:cNvSpPr txBox="1"/>
          <p:nvPr/>
        </p:nvSpPr>
        <p:spPr>
          <a:xfrm>
            <a:off x="640080" y="1325880"/>
            <a:ext cx="10911535" cy="267919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Tepe noktada suya etki eden iki kuvvet de aşağı, yani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merkeze doğrudur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ağırlık (m·g) ve kovanın dibinin uyguladığı normal kuvvet (N).</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İkisi birlikte merkezcil kuvvet görevini üstlenir.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Kovanın dibi suyu itebilir ama çekemez; N en az sıfır olabilir.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Hız √(g·r)'nin altına düşerse ağırlık gerekenden büyük kalır, su çemberin içine doğru sapar ve kovadan ayrılır.</a:t>
            </a:r>
            <a:endParaRPr lang="en-US" sz="2200" dirty="0"/>
          </a:p>
        </p:txBody>
      </p:sp>
      <p:sp>
        <p:nvSpPr>
          <p:cNvPr id="7" name="Shape 5"/>
          <p:cNvSpPr/>
          <p:nvPr/>
        </p:nvSpPr>
        <p:spPr>
          <a:xfrm>
            <a:off x="640080" y="4206240"/>
            <a:ext cx="3606394" cy="585216"/>
          </a:xfrm>
          <a:prstGeom prst="roundRect">
            <a:avLst>
              <a:gd name="adj" fmla="val 18750"/>
            </a:avLst>
          </a:prstGeom>
          <a:solidFill>
            <a:srgbClr val="EEF2FC"/>
          </a:solidFill>
          <a:ln w="9525">
            <a:solidFill>
              <a:srgbClr val="CBD7F4"/>
            </a:solidFill>
            <a:prstDash val="solid"/>
          </a:ln>
        </p:spPr>
      </p:sp>
      <p:sp>
        <p:nvSpPr>
          <p:cNvPr id="8" name="Text 6"/>
          <p:cNvSpPr txBox="1"/>
          <p:nvPr/>
        </p:nvSpPr>
        <p:spPr>
          <a:xfrm>
            <a:off x="640080" y="4206240"/>
            <a:ext cx="36063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Tepe: N + m·g = m·v²/r</a:t>
            </a:r>
            <a:endParaRPr lang="en-US" sz="1800" dirty="0"/>
          </a:p>
        </p:txBody>
      </p:sp>
      <p:sp>
        <p:nvSpPr>
          <p:cNvPr id="9" name="Shape 7"/>
          <p:cNvSpPr/>
          <p:nvPr/>
        </p:nvSpPr>
        <p:spPr>
          <a:xfrm>
            <a:off x="4392778" y="4206240"/>
            <a:ext cx="3467405" cy="585216"/>
          </a:xfrm>
          <a:prstGeom prst="roundRect">
            <a:avLst>
              <a:gd name="adj" fmla="val 18750"/>
            </a:avLst>
          </a:prstGeom>
          <a:solidFill>
            <a:srgbClr val="EEF2FC"/>
          </a:solidFill>
          <a:ln w="9525">
            <a:solidFill>
              <a:srgbClr val="CBD7F4"/>
            </a:solidFill>
            <a:prstDash val="solid"/>
          </a:ln>
        </p:spPr>
      </p:sp>
      <p:sp>
        <p:nvSpPr>
          <p:cNvPr id="10" name="Text 8"/>
          <p:cNvSpPr txBox="1"/>
          <p:nvPr/>
        </p:nvSpPr>
        <p:spPr>
          <a:xfrm>
            <a:off x="4392778" y="4206240"/>
            <a:ext cx="3467405"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Alt: N − m·g = m·v²/r</a:t>
            </a:r>
            <a:endParaRPr lang="en-US" sz="1800" dirty="0"/>
          </a:p>
        </p:txBody>
      </p:sp>
      <p:sp>
        <p:nvSpPr>
          <p:cNvPr id="11" name="Shape 9"/>
          <p:cNvSpPr/>
          <p:nvPr/>
        </p:nvSpPr>
        <p:spPr>
          <a:xfrm>
            <a:off x="8006486" y="4206240"/>
            <a:ext cx="2355494" cy="585216"/>
          </a:xfrm>
          <a:prstGeom prst="roundRect">
            <a:avLst>
              <a:gd name="adj" fmla="val 18750"/>
            </a:avLst>
          </a:prstGeom>
          <a:solidFill>
            <a:srgbClr val="EEF2FC"/>
          </a:solidFill>
          <a:ln w="9525">
            <a:solidFill>
              <a:srgbClr val="CBD7F4"/>
            </a:solidFill>
            <a:prstDash val="solid"/>
          </a:ln>
        </p:spPr>
      </p:sp>
      <p:sp>
        <p:nvSpPr>
          <p:cNvPr id="12" name="Text 10"/>
          <p:cNvSpPr txBox="1"/>
          <p:nvPr/>
        </p:nvSpPr>
        <p:spPr>
          <a:xfrm>
            <a:off x="8006486" y="4206240"/>
            <a:ext cx="2355494" cy="585216"/>
          </a:xfrm>
          <a:prstGeom prst="rect">
            <a:avLst/>
          </a:prstGeom>
          <a:noFill/>
          <a:ln/>
        </p:spPr>
        <p:txBody>
          <a:bodyPr wrap="square" lIns="0" tIns="0" rIns="0" bIns="0" rtlCol="0" anchor="ctr"/>
          <a:lstStyle/>
          <a:p>
            <a:pPr algn="ctr" indent="0" marL="0">
              <a:buNone/>
            </a:pPr>
            <a:r>
              <a:rPr lang="en-US" sz="1800" b="1" dirty="0">
                <a:solidFill>
                  <a:srgbClr val="2957D4"/>
                </a:solidFill>
                <a:latin typeface="Courier New" pitchFamily="34" charset="0"/>
                <a:ea typeface="Courier New" pitchFamily="34" charset="-122"/>
                <a:cs typeface="Courier New" pitchFamily="34" charset="-120"/>
              </a:rPr>
              <a:t>vmin = √(g·r)</a:t>
            </a:r>
            <a:endParaRPr lang="en-US" sz="1800" dirty="0"/>
          </a:p>
        </p:txBody>
      </p:sp>
      <p:sp>
        <p:nvSpPr>
          <p:cNvPr id="14" name="Shape 11"/>
          <p:cNvSpPr/>
          <p:nvPr/>
        </p:nvSpPr>
        <p:spPr>
          <a:xfrm>
            <a:off x="640080" y="6382512"/>
            <a:ext cx="128016" cy="128016"/>
          </a:xfrm>
          <a:prstGeom prst="roundRect">
            <a:avLst>
              <a:gd name="adj" fmla="val 28571"/>
            </a:avLst>
          </a:prstGeom>
          <a:solidFill>
            <a:srgbClr val="A9E648"/>
          </a:solidFill>
          <a:ln/>
        </p:spPr>
      </p:sp>
      <p:sp>
        <p:nvSpPr>
          <p:cNvPr id="15" name="Text 12"/>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6" name="Text 13"/>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80</a:t>
            </a:r>
            <a:endParaRPr lang="en-US" sz="10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çember: kova neden dökülmez?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5</a:t>
            </a:r>
            <a:endParaRPr lang="en-US" sz="950" dirty="0"/>
          </a:p>
        </p:txBody>
      </p:sp>
      <p:sp>
        <p:nvSpPr>
          <p:cNvPr id="6" name="Text 4"/>
          <p:cNvSpPr txBox="1"/>
          <p:nvPr/>
        </p:nvSpPr>
        <p:spPr>
          <a:xfrm>
            <a:off x="640080" y="1325880"/>
            <a:ext cx="10911535" cy="2973324"/>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Kol boyu yaklaşık 1 m ise en küçük hız √10 ≈ 3,2 m/s'dir; bir tur en fazla yaklaşık 2 saniye sürmelidir.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10 m yarıçaplı bir lunapark döngüsünde yolcuların emniyet barına asılı kalmaması için vagon tepe noktadan en az 10 m/s (36 km/h) hızla geçmelidir.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En alt noktada ise ağırlık dışa bakar; ip ya da ray en çok orada zorlanır.</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81</a:t>
            </a:r>
            <a:endParaRPr lang="en-US" sz="10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çember: kova neden dökülmez?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4 / 5</a:t>
            </a:r>
            <a:endParaRPr lang="en-US" sz="950" dirty="0"/>
          </a:p>
        </p:txBody>
      </p:sp>
      <p:sp>
        <p:nvSpPr>
          <p:cNvPr id="6" name="Shape 4"/>
          <p:cNvSpPr/>
          <p:nvPr/>
        </p:nvSpPr>
        <p:spPr>
          <a:xfrm>
            <a:off x="640080" y="1325880"/>
            <a:ext cx="10911535" cy="1348740"/>
          </a:xfrm>
          <a:prstGeom prst="roundRect">
            <a:avLst>
              <a:gd name="adj" fmla="val 949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658368" y="1490472"/>
            <a:ext cx="54864" cy="1019556"/>
          </a:xfrm>
          <a:prstGeom prst="rect">
            <a:avLst/>
          </a:prstGeom>
          <a:solidFill>
            <a:srgbClr val="A56209"/>
          </a:solidFill>
          <a:ln/>
        </p:spPr>
      </p:sp>
      <p:sp>
        <p:nvSpPr>
          <p:cNvPr id="8" name="Text 6"/>
          <p:cNvSpPr txBox="1"/>
          <p:nvPr/>
        </p:nvSpPr>
        <p:spPr>
          <a:xfrm>
            <a:off x="950976" y="1453896"/>
            <a:ext cx="10399471" cy="1092708"/>
          </a:xfrm>
          <a:prstGeom prst="rect">
            <a:avLst/>
          </a:prstGeom>
          <a:noFill/>
          <a:ln/>
        </p:spPr>
        <p:txBody>
          <a:bodyPr wrap="square" lIns="0" tIns="0" rIns="0" bIns="0" rtlCol="0" anchor="ctr"/>
          <a:lstStyle/>
          <a:p>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Modelin sınırı:</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Yerçekimi düşey çemberde cismi inerken hızlandırır, çıkarken yavaşlatır; sürat kendiliğinden sabit kalmaz ve hareket artık </a:t>
            </a:r>
            <a:pPr indent="0" marL="0">
              <a:lnSpc>
                <a:spcPct val="114000"/>
              </a:lnSpc>
              <a:buNone/>
            </a:pPr>
            <a:r>
              <a:rPr lang="en-US" sz="1800" b="1" dirty="0">
                <a:solidFill>
                  <a:srgbClr val="0E1426"/>
                </a:solidFill>
                <a:latin typeface="Calibri" pitchFamily="34" charset="0"/>
                <a:ea typeface="Calibri" pitchFamily="34" charset="-122"/>
                <a:cs typeface="Calibri" pitchFamily="34" charset="-120"/>
              </a:rPr>
              <a:t>düzgün</a:t>
            </a:r>
            <a:pPr indent="0" marL="0">
              <a:lnSpc>
                <a:spcPct val="114000"/>
              </a:lnSpc>
              <a:buNone/>
            </a:pPr>
            <a:r>
              <a:rPr lang="en-US" sz="1800" dirty="0">
                <a:solidFill>
                  <a:srgbClr val="0E1426"/>
                </a:solidFill>
                <a:latin typeface="Calibri" pitchFamily="34" charset="0"/>
                <a:ea typeface="Calibri" pitchFamily="34" charset="-122"/>
                <a:cs typeface="Calibri" pitchFamily="34" charset="-120"/>
              </a:rPr>
              <a:t> değildir. Yine de merkeze doğru bileşen için a = v²/r her an geçerlidir; v yerine o andaki sürat konur.</a:t>
            </a:r>
            <a:endParaRPr lang="en-US" sz="1800" dirty="0"/>
          </a:p>
        </p:txBody>
      </p:sp>
      <p:sp>
        <p:nvSpPr>
          <p:cNvPr id="10" name="Shape 7"/>
          <p:cNvSpPr/>
          <p:nvPr/>
        </p:nvSpPr>
        <p:spPr>
          <a:xfrm>
            <a:off x="640080" y="6382512"/>
            <a:ext cx="128016" cy="128016"/>
          </a:xfrm>
          <a:prstGeom prst="roundRect">
            <a:avLst>
              <a:gd name="adj" fmla="val 28571"/>
            </a:avLst>
          </a:prstGeom>
          <a:solidFill>
            <a:srgbClr val="A9E648"/>
          </a:solidFill>
          <a:ln/>
        </p:spPr>
      </p:sp>
      <p:sp>
        <p:nvSpPr>
          <p:cNvPr id="11" name="Text 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82</a:t>
            </a:r>
            <a:endParaRPr lang="en-US" sz="10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çember: kova neden dökülmez?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5 / 5</a:t>
            </a:r>
            <a:endParaRPr lang="en-US" sz="950" dirty="0"/>
          </a:p>
        </p:txBody>
      </p:sp>
      <p:sp>
        <p:nvSpPr>
          <p:cNvPr id="6" name="Shape 4"/>
          <p:cNvSpPr/>
          <p:nvPr/>
        </p:nvSpPr>
        <p:spPr>
          <a:xfrm>
            <a:off x="3445231" y="1271016"/>
            <a:ext cx="5301234" cy="3570732"/>
          </a:xfrm>
          <a:prstGeom prst="roundRect">
            <a:avLst>
              <a:gd name="adj" fmla="val 358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pic>
        <p:nvPicPr>
          <p:cNvPr id="7" name="Image 0" descr="/tmp/claude-1000/-opt-dersler/8a8328c3-841c-44fa-b76f-82572d338d3d/scratchpad/d10/sek/cembersel-hareket-ek2-genis.jpg">    </p:cNvPr>
          <p:cNvPicPr>
            <a:picLocks noChangeAspect="1"/>
          </p:cNvPicPr>
          <p:nvPr/>
        </p:nvPicPr>
        <p:blipFill>
          <a:blip r:embed="rId1"/>
          <a:stretch>
            <a:fillRect/>
          </a:stretch>
        </p:blipFill>
        <p:spPr>
          <a:xfrm>
            <a:off x="3500095" y="1325880"/>
            <a:ext cx="5191506" cy="3461004"/>
          </a:xfrm>
          <a:prstGeom prst="rect">
            <a:avLst/>
          </a:prstGeom>
        </p:spPr>
      </p:pic>
      <p:sp>
        <p:nvSpPr>
          <p:cNvPr id="8" name="Text 5"/>
          <p:cNvSpPr txBox="1"/>
          <p:nvPr/>
        </p:nvSpPr>
        <p:spPr>
          <a:xfrm>
            <a:off x="1249528" y="5024628"/>
            <a:ext cx="9692640" cy="1120140"/>
          </a:xfrm>
          <a:prstGeom prst="rect">
            <a:avLst/>
          </a:prstGeom>
          <a:noFill/>
          <a:ln/>
        </p:spPr>
        <p:txBody>
          <a:bodyPr wrap="square" lIns="0" tIns="0" rIns="0" bIns="0" rtlCol="0" anchor="t"/>
          <a:lstStyle/>
          <a:p>
            <a:pPr algn="ctr" indent="0" marL="0">
              <a:lnSpc>
                <a:spcPct val="115000"/>
              </a:lnSpc>
              <a:buNone/>
            </a:pPr>
            <a:r>
              <a:rPr lang="en-US" sz="1350" b="1" dirty="0">
                <a:solidFill>
                  <a:srgbClr val="0E1426"/>
                </a:solidFill>
                <a:latin typeface="Calibri" pitchFamily="34" charset="0"/>
                <a:ea typeface="Calibri" pitchFamily="34" charset="-122"/>
                <a:cs typeface="Calibri" pitchFamily="34" charset="-120"/>
              </a:rPr>
              <a:t>Kovanın baş aşağı durduğu tepe noktada</a:t>
            </a:r>
            <a:pPr algn="ctr" indent="0" marL="0">
              <a:lnSpc>
                <a:spcPct val="115000"/>
              </a:lnSpc>
              <a:buNone/>
            </a:pPr>
            <a:r>
              <a:rPr lang="en-US" sz="1350" dirty="0">
                <a:solidFill>
                  <a:srgbClr val="4A5470"/>
                </a:solidFill>
                <a:latin typeface="Calibri" pitchFamily="34" charset="0"/>
                <a:ea typeface="Calibri" pitchFamily="34" charset="-122"/>
                <a:cs typeface="Calibri" pitchFamily="34" charset="-120"/>
              </a:rPr>
              <a:t> suya etki eden ağırlık da kovanın dibinin itişi de aşağıya, çemberin merkezine bakar; ikisi birlikte suyu çemberde tutar. Kova yeterince hızlı dönüyorsa ağırlık tek başına yetmez, kovanın dibi de suyu iter ve su dibe bastırılmış kalır. Hız √(g·r)'nin altına düşerse ağırlık gerekenden büyük gelir ve su kovadan ayrılır.</a:t>
            </a:r>
            <a:endParaRPr lang="en-US" sz="1350" dirty="0"/>
          </a:p>
        </p:txBody>
      </p:sp>
      <p:sp>
        <p:nvSpPr>
          <p:cNvPr id="10" name="Shape 6"/>
          <p:cNvSpPr/>
          <p:nvPr/>
        </p:nvSpPr>
        <p:spPr>
          <a:xfrm>
            <a:off x="640080" y="6382512"/>
            <a:ext cx="128016" cy="128016"/>
          </a:xfrm>
          <a:prstGeom prst="roundRect">
            <a:avLst>
              <a:gd name="adj" fmla="val 28571"/>
            </a:avLst>
          </a:prstGeom>
          <a:solidFill>
            <a:srgbClr val="A9E648"/>
          </a:solidFill>
          <a:ln/>
        </p:spPr>
      </p:sp>
      <p:sp>
        <p:nvSpPr>
          <p:cNvPr id="11"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83</a:t>
            </a:r>
            <a:endParaRPr lang="en-US" sz="10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Düşey çember: kova neden dökülmez?</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Düşey çemberin tepesinde ağırlık ve normal kuvvet birlikte merkeze bakar; cismin çemberde kalması için orada v ≥ √(g·r) olmalıdır. İp ya da ray en çok en alt noktada zorlanır.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84</a:t>
            </a:r>
            <a:endParaRPr lang="en-US" sz="10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Çembersel hareket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1 / 3</a:t>
            </a:r>
            <a:endParaRPr lang="en-US" sz="950" dirty="0"/>
          </a:p>
        </p:txBody>
      </p:sp>
      <p:sp>
        <p:nvSpPr>
          <p:cNvPr id="6" name="Text 4"/>
          <p:cNvSpPr txBox="1"/>
          <p:nvPr/>
        </p:nvSpPr>
        <p:spPr>
          <a:xfrm>
            <a:off x="640080" y="1325880"/>
            <a:ext cx="10911535" cy="1339596"/>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Çembersel hareket lunaparktan uzaya kadar her yerde karşına çıkar.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Her durumda sorulacak soru aynıdır: </a:t>
            </a:r>
            <a:pPr indent="0" marL="0">
              <a:lnSpc>
                <a:spcPct val="115000"/>
              </a:lnSpc>
              <a:buNone/>
            </a:pPr>
            <a:r>
              <a:rPr lang="en-US" sz="2200" b="1" dirty="0">
                <a:solidFill>
                  <a:srgbClr val="0E1426"/>
                </a:solidFill>
                <a:latin typeface="Calibri" pitchFamily="34" charset="0"/>
                <a:ea typeface="Calibri" pitchFamily="34" charset="-122"/>
                <a:cs typeface="Calibri" pitchFamily="34" charset="-120"/>
              </a:rPr>
              <a:t>merkezcil kuvvet görevini kim üstleniyor</a:t>
            </a:r>
            <a:pPr indent="0" marL="0">
              <a:lnSpc>
                <a:spcPct val="115000"/>
              </a:lnSpc>
              <a:buNone/>
            </a:pPr>
            <a:r>
              <a:rPr lang="en-US" sz="2200" dirty="0">
                <a:solidFill>
                  <a:srgbClr val="0E1426"/>
                </a:solidFill>
                <a:latin typeface="Calibri" pitchFamily="34" charset="0"/>
                <a:ea typeface="Calibri" pitchFamily="34" charset="-122"/>
                <a:cs typeface="Calibri" pitchFamily="34" charset="-120"/>
              </a:rPr>
              <a:t> ve ne kadar büyük olmalı?</a:t>
            </a:r>
            <a:endParaRPr lang="en-US" sz="22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85</a:t>
            </a:r>
            <a:endParaRPr lang="en-US" sz="10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Çembersel hareket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2 / 3</a:t>
            </a:r>
            <a:endParaRPr lang="en-US" sz="950" dirty="0"/>
          </a:p>
        </p:txBody>
      </p:sp>
      <p:sp>
        <p:nvSpPr>
          <p:cNvPr id="6" name="Text 4"/>
          <p:cNvSpPr txBox="1"/>
          <p:nvPr/>
        </p:nvSpPr>
        <p:spPr>
          <a:xfrm>
            <a:off x="640080" y="1325880"/>
            <a:ext cx="10911535" cy="3310128"/>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Uydular: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m·g = m·v²/r eşitliğinden v = √(g·r) çıkar; 400 km'de (r ≈ 6 770 km) g ≈ 8,7 m/s² olduğundan hız ≈ 7,7 km/s olur.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Yerdurağan uydular:</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yaklaşık 36 000 km yükseklikte bir tur, Dünya'nın kendi dönüşü kadar sürer; uydu gökte hep aynı yerde durur.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Santrifüj:</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binlerce devir/dakika ile dönen tüplerde kanın yoğun bileşenleri tüpün dibinde toplanır.</a:t>
            </a:r>
            <a:endParaRPr lang="en-US" sz="2100" dirty="0"/>
          </a:p>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Çamaşır makinesi:</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sıkmada tambur çamaşırı yaklaşık 400 g'lik ivmeyle döndürür; deliklere gelen su teğet doğrultuda kaçar.</a:t>
            </a:r>
            <a:endParaRPr lang="en-US" sz="2100" dirty="0"/>
          </a:p>
        </p:txBody>
      </p:sp>
      <p:sp>
        <p:nvSpPr>
          <p:cNvPr id="8" name="Shape 5"/>
          <p:cNvSpPr/>
          <p:nvPr/>
        </p:nvSpPr>
        <p:spPr>
          <a:xfrm>
            <a:off x="640080" y="6382512"/>
            <a:ext cx="128016" cy="128016"/>
          </a:xfrm>
          <a:prstGeom prst="roundRect">
            <a:avLst>
              <a:gd name="adj" fmla="val 28571"/>
            </a:avLst>
          </a:prstGeom>
          <a:solidFill>
            <a:srgbClr val="A9E648"/>
          </a:solidFill>
          <a:ln/>
        </p:spPr>
      </p:sp>
      <p:sp>
        <p:nvSpPr>
          <p:cNvPr id="9" name="Text 6"/>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7"/>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86</a:t>
            </a:r>
            <a:endParaRPr lang="en-US" sz="10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Çembersel hareket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pPr algn="r" indent="0" marL="0">
              <a:buNone/>
            </a:pPr>
            <a:r>
              <a:rPr lang="en-US" sz="950" b="1" spc="200" kern="0" dirty="0">
                <a:solidFill>
                  <a:srgbClr val="7B849E"/>
                </a:solidFill>
                <a:latin typeface="Calibri" pitchFamily="34" charset="0"/>
                <a:ea typeface="Calibri" pitchFamily="34" charset="-122"/>
                <a:cs typeface="Calibri" pitchFamily="34" charset="-120"/>
              </a:rPr>
              <a:t>   ·   ADIM 3 / 3</a:t>
            </a:r>
            <a:endParaRPr lang="en-US" sz="950" dirty="0"/>
          </a:p>
        </p:txBody>
      </p:sp>
      <p:sp>
        <p:nvSpPr>
          <p:cNvPr id="6" name="Text 4"/>
          <p:cNvSpPr txBox="1"/>
          <p:nvPr/>
        </p:nvSpPr>
        <p:spPr>
          <a:xfrm>
            <a:off x="640080" y="1325880"/>
            <a:ext cx="10911535" cy="82753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100" b="1" dirty="0">
                <a:solidFill>
                  <a:srgbClr val="0E1426"/>
                </a:solidFill>
                <a:latin typeface="Calibri" pitchFamily="34" charset="0"/>
                <a:ea typeface="Calibri" pitchFamily="34" charset="-122"/>
                <a:cs typeface="Calibri" pitchFamily="34" charset="-120"/>
              </a:rPr>
              <a:t>Dünya'nın dönüşü:</a:t>
            </a:r>
            <a:pPr indent="0" marL="0">
              <a:lnSpc>
                <a:spcPct val="115000"/>
              </a:lnSpc>
              <a:buNone/>
            </a:pPr>
            <a:r>
              <a:rPr lang="en-US" sz="2100" dirty="0">
                <a:solidFill>
                  <a:srgbClr val="0E1426"/>
                </a:solidFill>
                <a:latin typeface="Calibri" pitchFamily="34" charset="0"/>
                <a:ea typeface="Calibri" pitchFamily="34" charset="-122"/>
                <a:cs typeface="Calibri" pitchFamily="34" charset="-120"/>
              </a:rPr>
              <a:t> ekvatordaki bir nokta 465 m/s ile döner; bu dönme ekvatorda tartıların yaklaşık binde 3,5 az göstermesine yol açar.</a:t>
            </a:r>
            <a:endParaRPr lang="en-US" sz="2100" dirty="0"/>
          </a:p>
        </p:txBody>
      </p:sp>
      <p:sp>
        <p:nvSpPr>
          <p:cNvPr id="7" name="Text 5"/>
          <p:cNvSpPr txBox="1"/>
          <p:nvPr/>
        </p:nvSpPr>
        <p:spPr>
          <a:xfrm>
            <a:off x="640080" y="2354580"/>
            <a:ext cx="10911535" cy="2587752"/>
          </a:xfrm>
          <a:prstGeom prst="rect">
            <a:avLst/>
          </a:prstGeom>
          <a:noFill/>
          <a:ln/>
        </p:spPr>
        <p:txBody>
          <a:bodyPr wrap="square" lIns="0" tIns="0" rIns="0" bIns="0" rtlCol="0" anchor="t"/>
          <a:lstStyle/>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Uydu bağıntısında kütle yine sadeleşir: küçük bir uydu ile dev uzay istasyonu aynı yükseklikte aynı hızla dolanır.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Daha yavaş giden bir uydu için yerçekimi gerekenden büyük kalır ve uydu alçalır; daha hızlı giden uydu ise yükselir.</a:t>
            </a:r>
            <a:endParaRPr lang="en-US" sz="2200" dirty="0"/>
          </a:p>
          <a:p>
            <a:pPr marL="203200" indent="-203200">
              <a:lnSpc>
                <a:spcPct val="115000"/>
              </a:lnSpc>
              <a:spcAft>
                <a:spcPts val="800"/>
              </a:spcAft>
              <a:buSzPct val="100000"/>
              <a:buChar char="▪"/>
            </a:pPr>
            <a:r>
              <a:rPr lang="en-US" sz="2200" dirty="0">
                <a:solidFill>
                  <a:srgbClr val="0E1426"/>
                </a:solidFill>
                <a:latin typeface="Calibri" pitchFamily="34" charset="0"/>
                <a:ea typeface="Calibri" pitchFamily="34" charset="-122"/>
                <a:cs typeface="Calibri" pitchFamily="34" charset="-120"/>
              </a:rPr>
              <a:t>Yerdurağan uydular gökte kıpırdamadığı için çanak antenler bir kez ayarlanıp sabit bırakılabilir.</a:t>
            </a:r>
            <a:endParaRPr lang="en-US" sz="2200" dirty="0"/>
          </a:p>
        </p:txBody>
      </p:sp>
      <p:sp>
        <p:nvSpPr>
          <p:cNvPr id="9" name="Shape 6"/>
          <p:cNvSpPr/>
          <p:nvPr/>
        </p:nvSpPr>
        <p:spPr>
          <a:xfrm>
            <a:off x="640080" y="6382512"/>
            <a:ext cx="128016" cy="128016"/>
          </a:xfrm>
          <a:prstGeom prst="roundRect">
            <a:avLst>
              <a:gd name="adj" fmla="val 28571"/>
            </a:avLst>
          </a:prstGeom>
          <a:solidFill>
            <a:srgbClr val="A9E648"/>
          </a:solidFill>
          <a:ln/>
        </p:spPr>
      </p:sp>
      <p:sp>
        <p:nvSpPr>
          <p:cNvPr id="10"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1"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87</a:t>
            </a:r>
            <a:endParaRPr lang="en-US" sz="10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5F4BD8"/>
          </a:solidFill>
          <a:ln/>
          <a:effectLst>
            <a:outerShdw sx="100000" sy="100000" kx="0" ky="0" algn="bl" rotWithShape="0" blurRad="101600" dist="25400" dir="5400000">
              <a:srgbClr val="5F4BD8">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Çembersel hareket gerçek dünyada</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6" name="Shape 4"/>
          <p:cNvSpPr/>
          <p:nvPr/>
        </p:nvSpPr>
        <p:spPr>
          <a:xfrm>
            <a:off x="1005840" y="1691640"/>
            <a:ext cx="10180015" cy="3840480"/>
          </a:xfrm>
          <a:prstGeom prst="roundRect">
            <a:avLst>
              <a:gd name="adj" fmla="val 523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7" name="Shape 5"/>
          <p:cNvSpPr/>
          <p:nvPr/>
        </p:nvSpPr>
        <p:spPr>
          <a:xfrm>
            <a:off x="1042416" y="2148840"/>
            <a:ext cx="73152" cy="2926080"/>
          </a:xfrm>
          <a:prstGeom prst="rect">
            <a:avLst/>
          </a:prstGeom>
          <a:solidFill>
            <a:srgbClr val="5F4BD8"/>
          </a:solidFill>
          <a:ln/>
        </p:spPr>
      </p:sp>
      <p:sp>
        <p:nvSpPr>
          <p:cNvPr id="8" name="Text 6"/>
          <p:cNvSpPr txBox="1"/>
          <p:nvPr/>
        </p:nvSpPr>
        <p:spPr>
          <a:xfrm>
            <a:off x="1554480" y="1984248"/>
            <a:ext cx="9082735" cy="292608"/>
          </a:xfrm>
          <a:prstGeom prst="rect">
            <a:avLst/>
          </a:prstGeom>
          <a:noFill/>
          <a:ln/>
        </p:spPr>
        <p:txBody>
          <a:bodyPr wrap="square" lIns="0" tIns="0" rIns="0" bIns="0" rtlCol="0" anchor="ctr"/>
          <a:lstStyle/>
          <a:p>
            <a:pPr indent="0" marL="0">
              <a:buNone/>
            </a:pPr>
            <a:r>
              <a:rPr lang="en-US" sz="1200" b="1" spc="300" kern="0" dirty="0">
                <a:solidFill>
                  <a:srgbClr val="5F4BD8"/>
                </a:solidFill>
                <a:latin typeface="Calibri" pitchFamily="34" charset="0"/>
                <a:ea typeface="Calibri" pitchFamily="34" charset="-122"/>
                <a:cs typeface="Calibri" pitchFamily="34" charset="-120"/>
              </a:rPr>
              <a:t>KISACA  ·  BU BÖLÜMDE ÖĞRENDİK</a:t>
            </a:r>
            <a:endParaRPr lang="en-US" sz="1200" dirty="0"/>
          </a:p>
        </p:txBody>
      </p:sp>
      <p:sp>
        <p:nvSpPr>
          <p:cNvPr id="9" name="Text 7"/>
          <p:cNvSpPr txBox="1"/>
          <p:nvPr/>
        </p:nvSpPr>
        <p:spPr>
          <a:xfrm>
            <a:off x="1554480" y="2423160"/>
            <a:ext cx="9082735" cy="2743200"/>
          </a:xfrm>
          <a:prstGeom prst="rect">
            <a:avLst/>
          </a:prstGeom>
          <a:noFill/>
          <a:ln/>
        </p:spPr>
        <p:txBody>
          <a:bodyPr wrap="square" lIns="0" tIns="0" rIns="0" bIns="0" rtlCol="0" anchor="ctr"/>
          <a:lstStyle/>
          <a:p>
            <a:pPr indent="0" marL="0">
              <a:lnSpc>
                <a:spcPct val="125000"/>
              </a:lnSpc>
              <a:buNone/>
            </a:pPr>
            <a:r>
              <a:rPr lang="en-US" sz="2800" dirty="0">
                <a:solidFill>
                  <a:srgbClr val="0E1426"/>
                </a:solidFill>
                <a:latin typeface="Cambria" pitchFamily="34" charset="0"/>
                <a:ea typeface="Cambria" pitchFamily="34" charset="-122"/>
                <a:cs typeface="Cambria" pitchFamily="34" charset="-120"/>
              </a:rPr>
              <a:t>Uydularda yerçekimi, santrifüjde ve çamaşır makinesinde tambur duvarı merkezcil kuvvet görevini üstlenir. Uydunun hızı v = √(g·r) ile bulunur ve kütlesine bağlı değildir.</a:t>
            </a:r>
            <a:endParaRPr lang="en-US" sz="28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88</a:t>
            </a:r>
            <a:endParaRPr lang="en-US" sz="10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7F6F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822960" y="2011680"/>
            <a:ext cx="1554480" cy="1554480"/>
          </a:xfrm>
          <a:prstGeom prst="ellipse">
            <a:avLst/>
          </a:prstGeom>
          <a:solidFill>
            <a:srgbClr val="5F4BD8"/>
          </a:solidFill>
          <a:ln/>
          <a:effectLst>
            <a:outerShdw sx="100000" sy="100000" kx="0" ky="0" algn="bl" rotWithShape="0" blurRad="177800" dist="50800" dir="5400000">
              <a:srgbClr val="5F4BD8">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8000" b="1" dirty="0">
                <a:solidFill>
                  <a:srgbClr val="FFFFFF"/>
                </a:solidFill>
                <a:latin typeface="Cambria" pitchFamily="34" charset="0"/>
                <a:ea typeface="Cambria" pitchFamily="34" charset="-122"/>
                <a:cs typeface="Cambria" pitchFamily="34" charset="-120"/>
              </a:rPr>
              <a:t>?</a:t>
            </a:r>
            <a:endParaRPr lang="en-US" sz="8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5F4BD8"/>
                </a:solidFill>
                <a:latin typeface="Calibri" pitchFamily="34" charset="0"/>
                <a:ea typeface="Calibri" pitchFamily="34" charset="-122"/>
                <a:cs typeface="Calibri" pitchFamily="34" charset="-120"/>
              </a:rPr>
              <a:t>DÜŞÜN</a:t>
            </a:r>
            <a:endParaRPr lang="en-US" sz="1300" dirty="0"/>
          </a:p>
        </p:txBody>
      </p:sp>
      <p:sp>
        <p:nvSpPr>
          <p:cNvPr id="6" name="Text 4"/>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Uzay istasyonundaki astronotlar süzülüyorsa, üzerlerinde yerçekimi yok mu?</a:t>
            </a:r>
            <a:endParaRPr lang="en-US" sz="3200" dirty="0"/>
          </a:p>
        </p:txBody>
      </p:sp>
      <p:sp>
        <p:nvSpPr>
          <p:cNvPr id="7" name="Text 5"/>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12 · Çembersel hareket gerçek dünyada</a:t>
            </a:r>
            <a:pPr indent="0" marL="0">
              <a:buNone/>
            </a:pPr>
            <a:r>
              <a:rPr lang="en-US" sz="1200" b="1" dirty="0">
                <a:solidFill>
                  <a:srgbClr val="5F4BD8"/>
                </a:solidFill>
                <a:latin typeface="Calibri" pitchFamily="34" charset="0"/>
                <a:ea typeface="Calibri" pitchFamily="34" charset="-122"/>
                <a:cs typeface="Calibri" pitchFamily="34" charset="-120"/>
              </a:rPr>
              <a:t>     Cevap bir sonraki slaytta</a:t>
            </a:r>
            <a:endParaRPr lang="en-US" sz="1200" dirty="0"/>
          </a:p>
        </p:txBody>
      </p:sp>
      <p:sp>
        <p:nvSpPr>
          <p:cNvPr id="8" name="Shape 6"/>
          <p:cNvSpPr/>
          <p:nvPr/>
        </p:nvSpPr>
        <p:spPr>
          <a:xfrm>
            <a:off x="640080" y="6382512"/>
            <a:ext cx="128016" cy="128016"/>
          </a:xfrm>
          <a:prstGeom prst="roundRect">
            <a:avLst>
              <a:gd name="adj" fmla="val 28571"/>
            </a:avLst>
          </a:prstGeom>
          <a:solidFill>
            <a:srgbClr val="A9E648"/>
          </a:solidFill>
          <a:ln/>
        </p:spPr>
      </p:sp>
      <p:sp>
        <p:nvSpPr>
          <p:cNvPr id="9" name="Text 7"/>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0" name="Text 8"/>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89</a:t>
            </a:r>
            <a:endParaRPr lang="en-US" sz="10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3 / 4  </a:t>
            </a:r>
            <a:pPr algn="r" indent="0" marL="0">
              <a:buNone/>
            </a:pPr>
            <a:r>
              <a:rPr lang="en-US" sz="950" b="1" spc="200" kern="0" dirty="0">
                <a:solidFill>
                  <a:srgbClr val="5F4BD8"/>
                </a:solidFill>
                <a:latin typeface="Calibri" pitchFamily="34" charset="0"/>
                <a:ea typeface="Calibri" pitchFamily="34" charset="-122"/>
                <a:cs typeface="Calibri" pitchFamily="34" charset="-120"/>
              </a:rPr>
              <a:t>İLERİ</a:t>
            </a:r>
            <a:endParaRPr lang="en-US" sz="950" dirty="0"/>
          </a:p>
        </p:txBody>
      </p:sp>
      <p:sp>
        <p:nvSpPr>
          <p:cNvPr id="3" name="Shape 1"/>
          <p:cNvSpPr/>
          <p:nvPr/>
        </p:nvSpPr>
        <p:spPr>
          <a:xfrm>
            <a:off x="640080" y="457200"/>
            <a:ext cx="493776" cy="493776"/>
          </a:xfrm>
          <a:prstGeom prst="roundRect">
            <a:avLst>
              <a:gd name="adj" fmla="val 25926"/>
            </a:avLst>
          </a:prstGeom>
          <a:solidFill>
            <a:srgbClr val="5F4BD8"/>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Uzay istasyonundaki astronotlar süzülüyorsa, üzerlerinde yerçekimi yok mu?</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5F4BD8"/>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Var: 400 km yükseklikte yerçekimi ivmesi yaklaşık 8,7 m/s², yani yerdekinin %89'u kadardır. Yerçekimi astronotu da istasyonu da aynı ivmeyle çemberde tutar; ikisi </a:t>
            </a:r>
            <a:pPr indent="0" marL="0">
              <a:lnSpc>
                <a:spcPct val="125000"/>
              </a:lnSpc>
              <a:buNone/>
            </a:pPr>
            <a:r>
              <a:rPr lang="en-US" sz="2400" b="1" dirty="0">
                <a:solidFill>
                  <a:srgbClr val="5F4BD8"/>
                </a:solidFill>
                <a:latin typeface="Calibri" pitchFamily="34" charset="0"/>
                <a:ea typeface="Calibri" pitchFamily="34" charset="-122"/>
                <a:cs typeface="Calibri" pitchFamily="34" charset="-120"/>
              </a:rPr>
              <a:t>birlikte düşer</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bu yüzden istasyonun tabanı astronota bastırmaz.</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90</a:t>
            </a:r>
            <a:endParaRPr lang="en-US" sz="10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0E1426"/>
        </a:solidFill>
      </p:bgPr>
    </p:bg>
    <p:spTree>
      <p:nvGrpSpPr>
        <p:cNvPr id="1" name=""/>
        <p:cNvGrpSpPr/>
        <p:nvPr/>
      </p:nvGrpSpPr>
      <p:grpSpPr>
        <a:xfrm>
          <a:off x="0" y="0"/>
          <a:ext cx="0" cy="0"/>
          <a:chOff x="0" y="0"/>
          <a:chExt cx="0" cy="0"/>
        </a:xfrm>
      </p:grpSpPr>
      <p:sp>
        <p:nvSpPr>
          <p:cNvPr id="2" name="Text 0"/>
          <p:cNvSpPr txBox="1"/>
          <p:nvPr/>
        </p:nvSpPr>
        <p:spPr>
          <a:xfrm>
            <a:off x="685800" y="365760"/>
            <a:ext cx="1828800" cy="1874520"/>
          </a:xfrm>
          <a:prstGeom prst="rect">
            <a:avLst/>
          </a:prstGeom>
          <a:noFill/>
          <a:ln/>
        </p:spPr>
        <p:txBody>
          <a:bodyPr wrap="square" lIns="0" tIns="0" rIns="0" bIns="0" rtlCol="0" anchor="ctr"/>
          <a:lstStyle/>
          <a:p>
            <a:pPr indent="0" marL="0">
              <a:buNone/>
            </a:pPr>
            <a:r>
              <a:rPr lang="en-US" sz="11600" b="1" dirty="0">
                <a:solidFill>
                  <a:srgbClr val="FFCB6B"/>
                </a:solidFill>
                <a:latin typeface="Cambria" pitchFamily="34" charset="0"/>
                <a:ea typeface="Cambria" pitchFamily="34" charset="-122"/>
                <a:cs typeface="Cambria" pitchFamily="34" charset="-120"/>
              </a:rPr>
              <a:t>4</a:t>
            </a:r>
            <a:endParaRPr lang="en-US" sz="11600" dirty="0"/>
          </a:p>
        </p:txBody>
      </p:sp>
      <p:sp>
        <p:nvSpPr>
          <p:cNvPr id="3" name="Text 1"/>
          <p:cNvSpPr txBox="1"/>
          <p:nvPr/>
        </p:nvSpPr>
        <p:spPr>
          <a:xfrm>
            <a:off x="731520" y="2286000"/>
            <a:ext cx="4572000" cy="292608"/>
          </a:xfrm>
          <a:prstGeom prst="rect">
            <a:avLst/>
          </a:prstGeom>
          <a:noFill/>
          <a:ln/>
        </p:spPr>
        <p:txBody>
          <a:bodyPr wrap="square" lIns="0" tIns="0" rIns="0" bIns="0" rtlCol="0" anchor="ctr"/>
          <a:lstStyle/>
          <a:p>
            <a:pPr indent="0" marL="0">
              <a:buNone/>
            </a:pPr>
            <a:r>
              <a:rPr lang="en-US" sz="1200" b="1" spc="300" kern="0" dirty="0">
                <a:solidFill>
                  <a:srgbClr val="FFCB6B"/>
                </a:solidFill>
                <a:latin typeface="Calibri" pitchFamily="34" charset="0"/>
                <a:ea typeface="Calibri" pitchFamily="34" charset="-122"/>
                <a:cs typeface="Calibri" pitchFamily="34" charset="-120"/>
              </a:rPr>
              <a:t>BASAMAK 4 / 4</a:t>
            </a:r>
            <a:endParaRPr lang="en-US" sz="1200" dirty="0"/>
          </a:p>
        </p:txBody>
      </p:sp>
      <p:sp>
        <p:nvSpPr>
          <p:cNvPr id="4" name="Text 2"/>
          <p:cNvSpPr txBox="1"/>
          <p:nvPr/>
        </p:nvSpPr>
        <p:spPr>
          <a:xfrm>
            <a:off x="685800" y="2578608"/>
            <a:ext cx="5120640" cy="822960"/>
          </a:xfrm>
          <a:prstGeom prst="rect">
            <a:avLst/>
          </a:prstGeom>
          <a:noFill/>
          <a:ln/>
        </p:spPr>
        <p:txBody>
          <a:bodyPr wrap="square" lIns="0" tIns="0" rIns="0" bIns="0" rtlCol="0" anchor="ctr"/>
          <a:lstStyle/>
          <a:p>
            <a:pPr indent="0" marL="0">
              <a:buNone/>
            </a:pPr>
            <a:r>
              <a:rPr lang="en-US" sz="4600" b="1" spc="-100" kern="0" dirty="0">
                <a:solidFill>
                  <a:srgbClr val="FFFFFF"/>
                </a:solidFill>
                <a:latin typeface="Cambria" pitchFamily="34" charset="0"/>
                <a:ea typeface="Cambria" pitchFamily="34" charset="-122"/>
                <a:cs typeface="Cambria" pitchFamily="34" charset="-120"/>
              </a:rPr>
              <a:t>Pekiştir</a:t>
            </a:r>
            <a:endParaRPr lang="en-US" sz="4600" dirty="0"/>
          </a:p>
        </p:txBody>
      </p:sp>
      <p:sp>
        <p:nvSpPr>
          <p:cNvPr id="5" name="Text 3"/>
          <p:cNvSpPr txBox="1"/>
          <p:nvPr/>
        </p:nvSpPr>
        <p:spPr>
          <a:xfrm>
            <a:off x="731520" y="3474720"/>
            <a:ext cx="4846320" cy="914400"/>
          </a:xfrm>
          <a:prstGeom prst="rect">
            <a:avLst/>
          </a:prstGeom>
          <a:noFill/>
          <a:ln/>
        </p:spPr>
        <p:txBody>
          <a:bodyPr wrap="square" lIns="0" tIns="0" rIns="0" bIns="0" rtlCol="0" anchor="t"/>
          <a:lstStyle/>
          <a:p>
            <a:pPr indent="0" marL="0">
              <a:lnSpc>
                <a:spcPct val="120000"/>
              </a:lnSpc>
              <a:buNone/>
            </a:pPr>
            <a:r>
              <a:rPr lang="en-US" sz="1600" dirty="0">
                <a:solidFill>
                  <a:srgbClr val="C3CEE8"/>
                </a:solidFill>
                <a:latin typeface="Calibri" pitchFamily="34" charset="0"/>
                <a:ea typeface="Calibri" pitchFamily="34" charset="-122"/>
                <a:cs typeface="Calibri" pitchFamily="34" charset="-120"/>
              </a:rPr>
              <a:t>Kolaydan zora çözümlü örnekler ve çembersel harekette puan kaybettiren klasik hatalar.</a:t>
            </a:r>
            <a:endParaRPr lang="en-US" sz="1600" dirty="0"/>
          </a:p>
        </p:txBody>
      </p:sp>
      <p:sp>
        <p:nvSpPr>
          <p:cNvPr id="6" name="Text 4"/>
          <p:cNvSpPr txBox="1"/>
          <p:nvPr/>
        </p:nvSpPr>
        <p:spPr>
          <a:xfrm>
            <a:off x="731520" y="4572000"/>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13   </a:t>
            </a:r>
            <a:pPr indent="0" marL="0">
              <a:buNone/>
            </a:pPr>
            <a:r>
              <a:rPr lang="en-US" sz="1300" dirty="0">
                <a:solidFill>
                  <a:srgbClr val="FFFFFF"/>
                </a:solidFill>
                <a:latin typeface="Calibri" pitchFamily="34" charset="0"/>
                <a:ea typeface="Calibri" pitchFamily="34" charset="-122"/>
                <a:cs typeface="Calibri" pitchFamily="34" charset="-120"/>
              </a:rPr>
              <a:t>Çözümlü örnekler</a:t>
            </a:r>
            <a:endParaRPr lang="en-US" sz="1300" dirty="0"/>
          </a:p>
        </p:txBody>
      </p:sp>
      <p:sp>
        <p:nvSpPr>
          <p:cNvPr id="7" name="Text 5"/>
          <p:cNvSpPr txBox="1"/>
          <p:nvPr/>
        </p:nvSpPr>
        <p:spPr>
          <a:xfrm>
            <a:off x="731520" y="4901184"/>
            <a:ext cx="5120640" cy="329184"/>
          </a:xfrm>
          <a:prstGeom prst="rect">
            <a:avLst/>
          </a:prstGeom>
          <a:noFill/>
          <a:ln/>
        </p:spPr>
        <p:txBody>
          <a:bodyPr wrap="square" lIns="0" tIns="0" rIns="0" bIns="0" rtlCol="0" anchor="ctr"/>
          <a:lstStyle/>
          <a:p>
            <a:pPr indent="0" marL="0">
              <a:buNone/>
            </a:pPr>
            <a:r>
              <a:rPr lang="en-US" sz="1300" b="1" dirty="0">
                <a:solidFill>
                  <a:srgbClr val="FFCB6B"/>
                </a:solidFill>
                <a:latin typeface="Calibri" pitchFamily="34" charset="0"/>
                <a:ea typeface="Calibri" pitchFamily="34" charset="-122"/>
                <a:cs typeface="Calibri" pitchFamily="34" charset="-120"/>
              </a:rPr>
              <a:t>14   </a:t>
            </a:r>
            <a:pPr indent="0" marL="0">
              <a:buNone/>
            </a:pPr>
            <a:r>
              <a:rPr lang="en-US" sz="1300" dirty="0">
                <a:solidFill>
                  <a:srgbClr val="FFFFFF"/>
                </a:solidFill>
                <a:latin typeface="Calibri" pitchFamily="34" charset="0"/>
                <a:ea typeface="Calibri" pitchFamily="34" charset="-122"/>
                <a:cs typeface="Calibri" pitchFamily="34" charset="-120"/>
              </a:rPr>
              <a:t>Sık yapılan hatalar</a:t>
            </a:r>
            <a:endParaRPr lang="en-US" sz="1300" dirty="0"/>
          </a:p>
        </p:txBody>
      </p:sp>
      <p:sp>
        <p:nvSpPr>
          <p:cNvPr id="8" name="Text 6"/>
          <p:cNvSpPr txBox="1"/>
          <p:nvPr/>
        </p:nvSpPr>
        <p:spPr>
          <a:xfrm>
            <a:off x="6172200" y="1097280"/>
            <a:ext cx="5379415"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KOLAYDAN ZORA 7 ÇÖZÜMLÜ ÖRNEK</a:t>
            </a:r>
            <a:endParaRPr lang="en-US" sz="1050" dirty="0"/>
          </a:p>
        </p:txBody>
      </p:sp>
      <p:sp>
        <p:nvSpPr>
          <p:cNvPr id="9" name="Shape 7"/>
          <p:cNvSpPr/>
          <p:nvPr/>
        </p:nvSpPr>
        <p:spPr>
          <a:xfrm>
            <a:off x="6172200" y="1481328"/>
            <a:ext cx="5379415" cy="512064"/>
          </a:xfrm>
          <a:prstGeom prst="roundRect">
            <a:avLst>
              <a:gd name="adj" fmla="val 17857"/>
            </a:avLst>
          </a:prstGeom>
          <a:solidFill>
            <a:srgbClr val="1C2542"/>
          </a:solidFill>
          <a:ln w="9525">
            <a:solidFill>
              <a:srgbClr val="2C3860"/>
            </a:solidFill>
            <a:prstDash val="solid"/>
          </a:ln>
        </p:spPr>
      </p:sp>
      <p:sp>
        <p:nvSpPr>
          <p:cNvPr id="10" name="Text 8"/>
          <p:cNvSpPr txBox="1"/>
          <p:nvPr/>
        </p:nvSpPr>
        <p:spPr>
          <a:xfrm>
            <a:off x="6400800" y="148132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1   Temel büyüklükler</a:t>
            </a:r>
            <a:endParaRPr lang="en-US" sz="1300" dirty="0"/>
          </a:p>
        </p:txBody>
      </p:sp>
      <p:sp>
        <p:nvSpPr>
          <p:cNvPr id="11" name="Text 9"/>
          <p:cNvSpPr txBox="1"/>
          <p:nvPr/>
        </p:nvSpPr>
        <p:spPr>
          <a:xfrm>
            <a:off x="10362895" y="1481328"/>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2" name="Shape 10"/>
          <p:cNvSpPr/>
          <p:nvPr/>
        </p:nvSpPr>
        <p:spPr>
          <a:xfrm>
            <a:off x="6172200" y="2084832"/>
            <a:ext cx="5379415" cy="512064"/>
          </a:xfrm>
          <a:prstGeom prst="roundRect">
            <a:avLst>
              <a:gd name="adj" fmla="val 17857"/>
            </a:avLst>
          </a:prstGeom>
          <a:solidFill>
            <a:srgbClr val="1C2542"/>
          </a:solidFill>
          <a:ln w="9525">
            <a:solidFill>
              <a:srgbClr val="2C3860"/>
            </a:solidFill>
            <a:prstDash val="solid"/>
          </a:ln>
        </p:spPr>
      </p:sp>
      <p:sp>
        <p:nvSpPr>
          <p:cNvPr id="13" name="Text 11"/>
          <p:cNvSpPr txBox="1"/>
          <p:nvPr/>
        </p:nvSpPr>
        <p:spPr>
          <a:xfrm>
            <a:off x="6400800" y="208483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2   Aynı diskte iki nokta</a:t>
            </a:r>
            <a:endParaRPr lang="en-US" sz="1300" dirty="0"/>
          </a:p>
        </p:txBody>
      </p:sp>
      <p:sp>
        <p:nvSpPr>
          <p:cNvPr id="14" name="Text 12"/>
          <p:cNvSpPr txBox="1"/>
          <p:nvPr/>
        </p:nvSpPr>
        <p:spPr>
          <a:xfrm>
            <a:off x="10362895" y="2084832"/>
            <a:ext cx="1005840" cy="512064"/>
          </a:xfrm>
          <a:prstGeom prst="rect">
            <a:avLst/>
          </a:prstGeom>
          <a:noFill/>
          <a:ln/>
        </p:spPr>
        <p:txBody>
          <a:bodyPr wrap="square" lIns="0" tIns="0" rIns="0" bIns="0" rtlCol="0" anchor="ctr"/>
          <a:lstStyle/>
          <a:p>
            <a:pPr algn="r" indent="0" marL="0">
              <a:buNone/>
            </a:pPr>
            <a:r>
              <a:rPr lang="en-US" sz="1050" b="1" spc="200" kern="0" dirty="0">
                <a:solidFill>
                  <a:srgbClr val="C6F36B"/>
                </a:solidFill>
                <a:latin typeface="Calibri" pitchFamily="34" charset="0"/>
                <a:ea typeface="Calibri" pitchFamily="34" charset="-122"/>
                <a:cs typeface="Calibri" pitchFamily="34" charset="-120"/>
              </a:rPr>
              <a:t>KOLAY</a:t>
            </a:r>
            <a:endParaRPr lang="en-US" sz="1050" dirty="0"/>
          </a:p>
        </p:txBody>
      </p:sp>
      <p:sp>
        <p:nvSpPr>
          <p:cNvPr id="15" name="Shape 13"/>
          <p:cNvSpPr/>
          <p:nvPr/>
        </p:nvSpPr>
        <p:spPr>
          <a:xfrm>
            <a:off x="6172200" y="2688336"/>
            <a:ext cx="5379415" cy="512064"/>
          </a:xfrm>
          <a:prstGeom prst="roundRect">
            <a:avLst>
              <a:gd name="adj" fmla="val 17857"/>
            </a:avLst>
          </a:prstGeom>
          <a:solidFill>
            <a:srgbClr val="1C2542"/>
          </a:solidFill>
          <a:ln w="9525">
            <a:solidFill>
              <a:srgbClr val="2C3860"/>
            </a:solidFill>
            <a:prstDash val="solid"/>
          </a:ln>
        </p:spPr>
      </p:sp>
      <p:sp>
        <p:nvSpPr>
          <p:cNvPr id="16" name="Text 14"/>
          <p:cNvSpPr txBox="1"/>
          <p:nvPr/>
        </p:nvSpPr>
        <p:spPr>
          <a:xfrm>
            <a:off x="6400800" y="2688336"/>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3   Periyot değişirse</a:t>
            </a:r>
            <a:endParaRPr lang="en-US" sz="1300" dirty="0"/>
          </a:p>
        </p:txBody>
      </p:sp>
      <p:sp>
        <p:nvSpPr>
          <p:cNvPr id="17" name="Text 15"/>
          <p:cNvSpPr txBox="1"/>
          <p:nvPr/>
        </p:nvSpPr>
        <p:spPr>
          <a:xfrm>
            <a:off x="10362895" y="2688336"/>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18" name="Shape 16"/>
          <p:cNvSpPr/>
          <p:nvPr/>
        </p:nvSpPr>
        <p:spPr>
          <a:xfrm>
            <a:off x="6172200" y="3291840"/>
            <a:ext cx="5379415" cy="512064"/>
          </a:xfrm>
          <a:prstGeom prst="roundRect">
            <a:avLst>
              <a:gd name="adj" fmla="val 17857"/>
            </a:avLst>
          </a:prstGeom>
          <a:solidFill>
            <a:srgbClr val="1C2542"/>
          </a:solidFill>
          <a:ln w="9525">
            <a:solidFill>
              <a:srgbClr val="2C3860"/>
            </a:solidFill>
            <a:prstDash val="solid"/>
          </a:ln>
        </p:spPr>
      </p:sp>
      <p:sp>
        <p:nvSpPr>
          <p:cNvPr id="19" name="Text 17"/>
          <p:cNvSpPr txBox="1"/>
          <p:nvPr/>
        </p:nvSpPr>
        <p:spPr>
          <a:xfrm>
            <a:off x="6400800" y="3291840"/>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4   Virajda sınır hız</a:t>
            </a:r>
            <a:endParaRPr lang="en-US" sz="1300" dirty="0"/>
          </a:p>
        </p:txBody>
      </p:sp>
      <p:sp>
        <p:nvSpPr>
          <p:cNvPr id="20" name="Text 18"/>
          <p:cNvSpPr txBox="1"/>
          <p:nvPr/>
        </p:nvSpPr>
        <p:spPr>
          <a:xfrm>
            <a:off x="10362895" y="3291840"/>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1" name="Shape 19"/>
          <p:cNvSpPr/>
          <p:nvPr/>
        </p:nvSpPr>
        <p:spPr>
          <a:xfrm>
            <a:off x="6172200" y="3895344"/>
            <a:ext cx="5379415" cy="512064"/>
          </a:xfrm>
          <a:prstGeom prst="roundRect">
            <a:avLst>
              <a:gd name="adj" fmla="val 17857"/>
            </a:avLst>
          </a:prstGeom>
          <a:solidFill>
            <a:srgbClr val="1C2542"/>
          </a:solidFill>
          <a:ln w="9525">
            <a:solidFill>
              <a:srgbClr val="2C3860"/>
            </a:solidFill>
            <a:prstDash val="solid"/>
          </a:ln>
        </p:spPr>
      </p:sp>
      <p:sp>
        <p:nvSpPr>
          <p:cNvPr id="22" name="Text 20"/>
          <p:cNvSpPr txBox="1"/>
          <p:nvPr/>
        </p:nvSpPr>
        <p:spPr>
          <a:xfrm>
            <a:off x="6400800" y="3895344"/>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5   Çamaşır makinesinin sıkma programı</a:t>
            </a:r>
            <a:endParaRPr lang="en-US" sz="1300" dirty="0"/>
          </a:p>
        </p:txBody>
      </p:sp>
      <p:sp>
        <p:nvSpPr>
          <p:cNvPr id="23" name="Text 21"/>
          <p:cNvSpPr txBox="1"/>
          <p:nvPr/>
        </p:nvSpPr>
        <p:spPr>
          <a:xfrm>
            <a:off x="10362895" y="3895344"/>
            <a:ext cx="1005840" cy="512064"/>
          </a:xfrm>
          <a:prstGeom prst="rect">
            <a:avLst/>
          </a:prstGeom>
          <a:noFill/>
          <a:ln/>
        </p:spPr>
        <p:txBody>
          <a:bodyPr wrap="square" lIns="0" tIns="0" rIns="0" bIns="0" rtlCol="0" anchor="ctr"/>
          <a:lstStyle/>
          <a:p>
            <a:pPr algn="r" indent="0" marL="0">
              <a:buNone/>
            </a:pPr>
            <a:r>
              <a:rPr lang="en-US" sz="1050" b="1" spc="200" kern="0" dirty="0">
                <a:solidFill>
                  <a:srgbClr val="82AAFF"/>
                </a:solidFill>
                <a:latin typeface="Calibri" pitchFamily="34" charset="0"/>
                <a:ea typeface="Calibri" pitchFamily="34" charset="-122"/>
                <a:cs typeface="Calibri" pitchFamily="34" charset="-120"/>
              </a:rPr>
              <a:t>ORTA</a:t>
            </a:r>
            <a:endParaRPr lang="en-US" sz="1050" dirty="0"/>
          </a:p>
        </p:txBody>
      </p:sp>
      <p:sp>
        <p:nvSpPr>
          <p:cNvPr id="24" name="Shape 22"/>
          <p:cNvSpPr/>
          <p:nvPr/>
        </p:nvSpPr>
        <p:spPr>
          <a:xfrm>
            <a:off x="6172200" y="4498848"/>
            <a:ext cx="5379415" cy="512064"/>
          </a:xfrm>
          <a:prstGeom prst="roundRect">
            <a:avLst>
              <a:gd name="adj" fmla="val 17857"/>
            </a:avLst>
          </a:prstGeom>
          <a:solidFill>
            <a:srgbClr val="1C2542"/>
          </a:solidFill>
          <a:ln w="9525">
            <a:solidFill>
              <a:srgbClr val="2C3860"/>
            </a:solidFill>
            <a:prstDash val="solid"/>
          </a:ln>
        </p:spPr>
      </p:sp>
      <p:sp>
        <p:nvSpPr>
          <p:cNvPr id="25" name="Text 23"/>
          <p:cNvSpPr txBox="1"/>
          <p:nvPr/>
        </p:nvSpPr>
        <p:spPr>
          <a:xfrm>
            <a:off x="6400800" y="4498848"/>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6   Zincirli salıncakta zincirin açısı</a:t>
            </a:r>
            <a:endParaRPr lang="en-US" sz="1300" dirty="0"/>
          </a:p>
        </p:txBody>
      </p:sp>
      <p:sp>
        <p:nvSpPr>
          <p:cNvPr id="26" name="Text 24"/>
          <p:cNvSpPr txBox="1"/>
          <p:nvPr/>
        </p:nvSpPr>
        <p:spPr>
          <a:xfrm>
            <a:off x="10362895" y="4498848"/>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27" name="Shape 25"/>
          <p:cNvSpPr/>
          <p:nvPr/>
        </p:nvSpPr>
        <p:spPr>
          <a:xfrm>
            <a:off x="6172200" y="5102352"/>
            <a:ext cx="5379415" cy="512064"/>
          </a:xfrm>
          <a:prstGeom prst="roundRect">
            <a:avLst>
              <a:gd name="adj" fmla="val 17857"/>
            </a:avLst>
          </a:prstGeom>
          <a:solidFill>
            <a:srgbClr val="1C2542"/>
          </a:solidFill>
          <a:ln w="9525">
            <a:solidFill>
              <a:srgbClr val="2C3860"/>
            </a:solidFill>
            <a:prstDash val="solid"/>
          </a:ln>
        </p:spPr>
      </p:sp>
      <p:sp>
        <p:nvSpPr>
          <p:cNvPr id="28" name="Text 26"/>
          <p:cNvSpPr txBox="1"/>
          <p:nvPr/>
        </p:nvSpPr>
        <p:spPr>
          <a:xfrm>
            <a:off x="6400800" y="5102352"/>
            <a:ext cx="3916375" cy="512064"/>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7   Düşey çemberde ip gerilmesi</a:t>
            </a:r>
            <a:endParaRPr lang="en-US" sz="1300" dirty="0"/>
          </a:p>
        </p:txBody>
      </p:sp>
      <p:sp>
        <p:nvSpPr>
          <p:cNvPr id="29" name="Text 27"/>
          <p:cNvSpPr txBox="1"/>
          <p:nvPr/>
        </p:nvSpPr>
        <p:spPr>
          <a:xfrm>
            <a:off x="10362895" y="5102352"/>
            <a:ext cx="1005840" cy="512064"/>
          </a:xfrm>
          <a:prstGeom prst="rect">
            <a:avLst/>
          </a:prstGeom>
          <a:noFill/>
          <a:ln/>
        </p:spPr>
        <p:txBody>
          <a:bodyPr wrap="square" lIns="0" tIns="0" rIns="0" bIns="0" rtlCol="0" anchor="ctr"/>
          <a:lstStyle/>
          <a:p>
            <a:pPr algn="r" indent="0" marL="0">
              <a:buNone/>
            </a:pPr>
            <a:r>
              <a:rPr lang="en-US" sz="1050" b="1" spc="200" kern="0" dirty="0">
                <a:solidFill>
                  <a:srgbClr val="FF8FA3"/>
                </a:solidFill>
                <a:latin typeface="Calibri" pitchFamily="34" charset="0"/>
                <a:ea typeface="Calibri" pitchFamily="34" charset="-122"/>
                <a:cs typeface="Calibri" pitchFamily="34" charset="-120"/>
              </a:rPr>
              <a:t>ZOR</a:t>
            </a:r>
            <a:endParaRPr lang="en-US" sz="1050" dirty="0"/>
          </a:p>
        </p:txBody>
      </p:sp>
      <p:sp>
        <p:nvSpPr>
          <p:cNvPr id="30" name="Shape 28"/>
          <p:cNvSpPr/>
          <p:nvPr/>
        </p:nvSpPr>
        <p:spPr>
          <a:xfrm>
            <a:off x="640080" y="6382512"/>
            <a:ext cx="128016" cy="128016"/>
          </a:xfrm>
          <a:prstGeom prst="roundRect">
            <a:avLst>
              <a:gd name="adj" fmla="val 28571"/>
            </a:avLst>
          </a:prstGeom>
          <a:solidFill>
            <a:srgbClr val="C6F36B"/>
          </a:solidFill>
          <a:ln/>
        </p:spPr>
      </p:sp>
      <p:sp>
        <p:nvSpPr>
          <p:cNvPr id="31" name="Text 2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6A7798"/>
                </a:solidFill>
                <a:latin typeface="Calibri" pitchFamily="34" charset="0"/>
                <a:ea typeface="Calibri" pitchFamily="34" charset="-122"/>
                <a:cs typeface="Calibri" pitchFamily="34" charset="-120"/>
              </a:rPr>
              <a:t>dersler.perinet.org/cembersel-hareket.html</a:t>
            </a:r>
            <a:endParaRPr lang="en-US" sz="1050" dirty="0"/>
          </a:p>
        </p:txBody>
      </p:sp>
      <p:sp>
        <p:nvSpPr>
          <p:cNvPr id="32" name="Text 3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6A7798"/>
                </a:solidFill>
                <a:latin typeface="Calibri" pitchFamily="34" charset="0"/>
                <a:ea typeface="Calibri" pitchFamily="34" charset="-122"/>
                <a:cs typeface="Calibri" pitchFamily="34" charset="-120"/>
              </a:rPr>
              <a:t>91</a:t>
            </a:r>
            <a:endParaRPr lang="en-US" sz="10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Temel büyüklükler</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2 m yarıçaplı çember üzerinde dolanan 0,5 kg'lık bir cisim, 4 saniyede bir tur atıyor. Frekansını, çizgisel hızını, merkezcil ivmesini ve merkezcil kuvveti bulunuz. (π ≈ 3)</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2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 = 0,5 kg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T = 4 s (4 saniyede bir tur)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π ≈ 3</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frekans f</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çizgisel hız v</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merkezcil ivme 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merkezcil kuvvet F</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92</a:t>
            </a:r>
            <a:endParaRPr lang="en-US" sz="10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Temel büyüklükler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f = 1/T = 1/4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0,25 Hz</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v = 2πr/T = (2·3·2)/4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m/s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93</a:t>
            </a:r>
            <a:endParaRPr lang="en-US" sz="10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1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Temel büyüklükler</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 v²/r = 9/2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4,5 m/s²</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F = m·a = 0,5 · 4,5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2,25 N</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(merkeze doğru)</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94</a:t>
            </a:r>
            <a:endParaRPr lang="en-US" sz="105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diskte iki nokta</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Dönen bir diskin merkezinden 20 cm ve 60 cm uzaklıktaki iki noktası için periyot, çizgisel hız ve merkezcil ivme oranlarını karşılaştırınız.</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aynı disk, yani T ve ω ortak</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r₁ = 20 cm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r₂ = 60 cm</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periyotların, çizgisel hızların (v₂/v₁) ve merkezcil ivmelerin (a₂/a₁) karşılaştırması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95</a:t>
            </a:r>
            <a:endParaRPr lang="en-US" sz="10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diskte iki nokta</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Periyotlar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eşittir</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katı cismin her noktası aynı sürede bir tur atar (T₁ = T₂).</a:t>
            </a:r>
            <a:endParaRPr lang="en-US" sz="2000" dirty="0"/>
          </a:p>
        </p:txBody>
      </p:sp>
      <p:sp>
        <p:nvSpPr>
          <p:cNvPr id="12" name="Shape 10"/>
          <p:cNvSpPr/>
          <p:nvPr/>
        </p:nvSpPr>
        <p:spPr>
          <a:xfrm>
            <a:off x="640080" y="342961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755746"/>
            <a:ext cx="420624" cy="420624"/>
          </a:xfrm>
          <a:prstGeom prst="roundRect">
            <a:avLst>
              <a:gd name="adj" fmla="val 26000"/>
            </a:avLst>
          </a:prstGeom>
          <a:solidFill>
            <a:srgbClr val="A56209"/>
          </a:solidFill>
          <a:ln/>
        </p:spPr>
      </p:sp>
      <p:sp>
        <p:nvSpPr>
          <p:cNvPr id="14" name="Text 12"/>
          <p:cNvSpPr txBox="1"/>
          <p:nvPr/>
        </p:nvSpPr>
        <p:spPr>
          <a:xfrm>
            <a:off x="914400" y="37557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Açısal hızlar da eşittir: ω = 2π/T.</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96</a:t>
            </a:r>
            <a:endParaRPr lang="en-US" sz="10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2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AF7DC"/>
          </a:solidFill>
          <a:ln w="9525">
            <a:solidFill>
              <a:srgbClr val="3C8C21"/>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Aynı diskte iki nokta</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v = ω·r olduğundan v₂/v₁ = r₂/r₁ = 60/20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 ω²·r olduğundan a₂/a₁ = r₂/r₁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97</a:t>
            </a:r>
            <a:endParaRPr lang="en-US" sz="10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Periyot değişirse</a:t>
            </a:r>
            <a:endParaRPr lang="en-US" sz="1450" dirty="0"/>
          </a:p>
        </p:txBody>
      </p:sp>
      <p:sp>
        <p:nvSpPr>
          <p:cNvPr id="8" name="Shape 6"/>
          <p:cNvSpPr/>
          <p:nvPr/>
        </p:nvSpPr>
        <p:spPr>
          <a:xfrm>
            <a:off x="640080" y="1645920"/>
            <a:ext cx="10911535" cy="1405128"/>
          </a:xfrm>
          <a:prstGeom prst="roundRect">
            <a:avLst>
              <a:gd name="adj" fmla="val 10412"/>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856488"/>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Sabit yarıçaplı bir çemberde dolanan cismin periyodu yarıya indirilirse çizgisel hızı ve merkezcil ivmesi nasıl değişir?</a:t>
            </a:r>
            <a:endParaRPr lang="en-US" sz="2000" dirty="0"/>
          </a:p>
        </p:txBody>
      </p:sp>
      <p:sp>
        <p:nvSpPr>
          <p:cNvPr id="11" name="Shape 9"/>
          <p:cNvSpPr/>
          <p:nvPr/>
        </p:nvSpPr>
        <p:spPr>
          <a:xfrm>
            <a:off x="640080"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416808"/>
            <a:ext cx="54864" cy="2563368"/>
          </a:xfrm>
          <a:prstGeom prst="rect">
            <a:avLst/>
          </a:prstGeom>
          <a:solidFill>
            <a:srgbClr val="2957D4"/>
          </a:solidFill>
          <a:ln/>
        </p:spPr>
      </p:sp>
      <p:sp>
        <p:nvSpPr>
          <p:cNvPr id="13" name="Text 11"/>
          <p:cNvSpPr txBox="1"/>
          <p:nvPr/>
        </p:nvSpPr>
        <p:spPr>
          <a:xfrm>
            <a:off x="914400" y="3398520"/>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sabit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yeni periyot T₂ = T₁ / 2</a:t>
            </a:r>
            <a:endParaRPr lang="en-US" sz="1800" dirty="0"/>
          </a:p>
        </p:txBody>
      </p:sp>
      <p:sp>
        <p:nvSpPr>
          <p:cNvPr id="15" name="Shape 13"/>
          <p:cNvSpPr/>
          <p:nvPr/>
        </p:nvSpPr>
        <p:spPr>
          <a:xfrm>
            <a:off x="6233008" y="3252216"/>
            <a:ext cx="5318608" cy="2892552"/>
          </a:xfrm>
          <a:prstGeom prst="roundRect">
            <a:avLst>
              <a:gd name="adj" fmla="val 5058"/>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416808"/>
            <a:ext cx="54864" cy="2563368"/>
          </a:xfrm>
          <a:prstGeom prst="rect">
            <a:avLst/>
          </a:prstGeom>
          <a:solidFill>
            <a:srgbClr val="5F4BD8"/>
          </a:solidFill>
          <a:ln/>
        </p:spPr>
      </p:sp>
      <p:sp>
        <p:nvSpPr>
          <p:cNvPr id="17" name="Text 15"/>
          <p:cNvSpPr txBox="1"/>
          <p:nvPr/>
        </p:nvSpPr>
        <p:spPr>
          <a:xfrm>
            <a:off x="6507328" y="3398520"/>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3727704"/>
            <a:ext cx="4769968" cy="2289048"/>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çizgisel hızın ve merkezcil ivmenin kaç katına çıktığı</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98</a:t>
            </a:r>
            <a:endParaRPr lang="en-US" sz="10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Periyot değişirse</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v = 2πr/T → T yarıya inerse v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iki katına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çıkar.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 = v²/r → v iki katına çıkınca a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dört katına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çıkar.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99</a:t>
            </a:r>
            <a:endParaRPr lang="en-US" sz="10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3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Periyot değişirse</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Aynı sonuç a = 4π²r/T² bağıntısından da okunur: T yarıya inince a dört katına çıkar.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Merkezcil kuvvet de dört katına çıkar; bu yüzden hızlı dönen sistemlerde bağlantı elemanları çok daha güçlü seçilir.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100</a:t>
            </a:r>
            <a:endParaRPr lang="en-US" sz="10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Virajda sınır hız</a:t>
            </a:r>
            <a:endParaRPr lang="en-US" sz="1450" dirty="0"/>
          </a:p>
        </p:txBody>
      </p:sp>
      <p:sp>
        <p:nvSpPr>
          <p:cNvPr id="8" name="Shape 6"/>
          <p:cNvSpPr/>
          <p:nvPr/>
        </p:nvSpPr>
        <p:spPr>
          <a:xfrm>
            <a:off x="640080" y="1645920"/>
            <a:ext cx="10911535" cy="1764792"/>
          </a:xfrm>
          <a:prstGeom prst="roundRect">
            <a:avLst>
              <a:gd name="adj" fmla="val 8290"/>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216152"/>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Yarıçapı 50 m olan bir virajda lastik–yol sürtünme katsayısı 0,5'tir. Aracın savrulmadan alabileceği en büyük hız nedir? Yol karla kaplanıp μ 0,2'ye düşerse bu hız ne olur?</a:t>
            </a:r>
            <a:endParaRPr lang="en-US" sz="2000" dirty="0"/>
          </a:p>
        </p:txBody>
      </p:sp>
      <p:sp>
        <p:nvSpPr>
          <p:cNvPr id="11" name="Shape 9"/>
          <p:cNvSpPr/>
          <p:nvPr/>
        </p:nvSpPr>
        <p:spPr>
          <a:xfrm>
            <a:off x="640080"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3776472"/>
            <a:ext cx="54864" cy="2203704"/>
          </a:xfrm>
          <a:prstGeom prst="rect">
            <a:avLst/>
          </a:prstGeom>
          <a:solidFill>
            <a:srgbClr val="2957D4"/>
          </a:solidFill>
          <a:ln/>
        </p:spPr>
      </p:sp>
      <p:sp>
        <p:nvSpPr>
          <p:cNvPr id="13" name="Text 11"/>
          <p:cNvSpPr txBox="1"/>
          <p:nvPr/>
        </p:nvSpPr>
        <p:spPr>
          <a:xfrm>
            <a:off x="914400" y="3758184"/>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50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μ = 0,5</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karlı yolda μ = 0,2</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611880"/>
            <a:ext cx="5318608" cy="2532888"/>
          </a:xfrm>
          <a:prstGeom prst="roundRect">
            <a:avLst>
              <a:gd name="adj" fmla="val 5776"/>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3776472"/>
            <a:ext cx="54864" cy="2203704"/>
          </a:xfrm>
          <a:prstGeom prst="rect">
            <a:avLst/>
          </a:prstGeom>
          <a:solidFill>
            <a:srgbClr val="5F4BD8"/>
          </a:solidFill>
          <a:ln/>
        </p:spPr>
      </p:sp>
      <p:sp>
        <p:nvSpPr>
          <p:cNvPr id="17" name="Text 15"/>
          <p:cNvSpPr txBox="1"/>
          <p:nvPr/>
        </p:nvSpPr>
        <p:spPr>
          <a:xfrm>
            <a:off x="6507328" y="3758184"/>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087368"/>
            <a:ext cx="4769968" cy="1929384"/>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iki yol durumu için savrulmadan alınabilecek en büyük hız vmaks</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101</a:t>
            </a:r>
            <a:endParaRPr lang="en-US" sz="10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Virajda sınır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Gereken kuvvet mv²/r, sağlanabilen en büyük kuvvet μmg → v</a:t>
            </a:r>
            <a:pPr indent="0" marL="0">
              <a:lnSpc>
                <a:spcPct val="112000"/>
              </a:lnSpc>
              <a:buNone/>
            </a:pPr>
            <a:r>
              <a:rPr lang="en-US" sz="2000" baseline="-40000" dirty="0">
                <a:solidFill>
                  <a:srgbClr val="0E1426"/>
                </a:solidFill>
                <a:latin typeface="Calibri" pitchFamily="34" charset="0"/>
                <a:ea typeface="Calibri" pitchFamily="34" charset="-122"/>
                <a:cs typeface="Calibri" pitchFamily="34" charset="-120"/>
              </a:rPr>
              <a:t>maks</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 √(μgr)</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μ = 0,5: v = √(0,5 · 10 · 50) = √250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15,8 m/s ≈ 57 km/h</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102</a:t>
            </a:r>
            <a:endParaRPr lang="en-US" sz="10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4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Virajda sınır hız</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Karlı yol, μ = 0,2: v = √(0,2 · 10 · 50) = √100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10 m/s = 36 km/h</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Kütle hiçbir adımda kullanılmadı: kamyon da otomobil de aynı sınır hıza sahiptir.</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103</a:t>
            </a:r>
            <a:endParaRPr lang="en-US" sz="10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Çamaşır makinesinin sıkma programı</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Bir çamaşır makinesinin tamburu sıkmada dakikada 1200 devir yapıyor; tamburun yarıçapı 0,25 m. (a) Frekansı ve periyodu, (b) çepere yapışan çamaşırın çizgisel hızını, (c) merkezcil ivmesini, (d) 0,1 kg'lık ıslak bir çorabı çemberde tutan kuvveti bulunuz. (π ≈ 3)</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dakikada 1200 devir</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0,25 m</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çorabın kütlesi m = 0,1 kg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π ≈ 3</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frekans f ve periyot T</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çizgisel hız v</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merkezcil ivme a</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(d) çorabı tutan kuvvet F</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104</a:t>
            </a:r>
            <a:endParaRPr lang="en-US" sz="10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Çamaşır makinesinin sıkma programı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f = 1200 / 60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20 Hz</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 = 1/20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0,05 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v = 2πr/T = (2 · 3 · 0,25) / 0,05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30 m/s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105</a:t>
            </a:r>
            <a:endParaRPr lang="en-US" sz="10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5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E6EDFB"/>
          </a:solidFill>
          <a:ln w="9525">
            <a:solidFill>
              <a:srgbClr val="2957D4"/>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Çamaşır makinesinin sıkma programı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a = v²/r = 900 / 0,25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3 600 m/s²</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yani g'nin 360 katı</a:t>
            </a:r>
            <a:endParaRPr lang="en-US" sz="2000" dirty="0"/>
          </a:p>
        </p:txBody>
      </p:sp>
      <p:sp>
        <p:nvSpPr>
          <p:cNvPr id="12" name="Shape 10"/>
          <p:cNvSpPr/>
          <p:nvPr/>
        </p:nvSpPr>
        <p:spPr>
          <a:xfrm>
            <a:off x="640080" y="2883408"/>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482645"/>
            <a:ext cx="420624" cy="420624"/>
          </a:xfrm>
          <a:prstGeom prst="roundRect">
            <a:avLst>
              <a:gd name="adj" fmla="val 26000"/>
            </a:avLst>
          </a:prstGeom>
          <a:solidFill>
            <a:srgbClr val="A56209"/>
          </a:solidFill>
          <a:ln/>
        </p:spPr>
      </p:sp>
      <p:sp>
        <p:nvSpPr>
          <p:cNvPr id="14" name="Text 12"/>
          <p:cNvSpPr txBox="1"/>
          <p:nvPr/>
        </p:nvSpPr>
        <p:spPr>
          <a:xfrm>
            <a:off x="914400" y="3482645"/>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(d)</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F = m·a = 0,1 · 3 600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360 N</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bu kuvveti tambur duvarı (normal kuvvet) uygular.</a:t>
            </a:r>
            <a:endParaRPr lang="en-US" sz="2000" dirty="0"/>
          </a:p>
        </p:txBody>
      </p:sp>
      <p:sp>
        <p:nvSpPr>
          <p:cNvPr id="16" name="Shape 14"/>
          <p:cNvSpPr/>
          <p:nvPr/>
        </p:nvSpPr>
        <p:spPr>
          <a:xfrm>
            <a:off x="640080" y="5431536"/>
            <a:ext cx="10911535" cy="713232"/>
          </a:xfrm>
          <a:prstGeom prst="roundRect">
            <a:avLst>
              <a:gd name="adj" fmla="val 2051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559552"/>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797296"/>
            <a:ext cx="10271455" cy="256032"/>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Deliğe gelen su damlasını içeri itecek duvar yoktur; damla teğet doğrultuda kaçar.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106</a:t>
            </a:r>
            <a:endParaRPr lang="en-US" sz="10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Zincirli salıncakta zincirin açısı</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Zincirli bir salıncakta koltuk, yatay bir çember üzerinde 7,5 m yarıçapla dönüyor ve zincir düşeyle 37° açı yapıyor. Koltuk ve yolcunun toplam kütlesi 60 kg'dır. (a) Koltuğun süratini, (b) bir turun süresini, (c) zincirdeki kuvveti bulunuz. (tan 37° = 0,75, cos 37° = 0,8, π ≈ 3)</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r = 7,5 m</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zincirin düşeyle açısı 37°</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m = 60 kg</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tan 37° = 0,75</a:t>
            </a:r>
            <a:endParaRPr lang="en-US" sz="1550" dirty="0"/>
          </a:p>
        </p:txBody>
      </p:sp>
      <p:sp>
        <p:nvSpPr>
          <p:cNvPr id="15" name="Text 13"/>
          <p:cNvSpPr txBox="1"/>
          <p:nvPr/>
        </p:nvSpPr>
        <p:spPr>
          <a:xfrm>
            <a:off x="3381680" y="4447032"/>
            <a:ext cx="2339264"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cos 37° = 0,8</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π ≈ 3</a:t>
            </a:r>
            <a:endParaRPr lang="en-US" sz="1550" dirty="0"/>
          </a:p>
          <a:p>
            <a:pPr marL="203200" indent="-203200">
              <a:lnSpc>
                <a:spcPct val="110000"/>
              </a:lnSpc>
              <a:spcAft>
                <a:spcPts val="500"/>
              </a:spcAft>
              <a:buSzPct val="100000"/>
              <a:buChar char="▪"/>
            </a:pPr>
            <a:r>
              <a:rPr lang="en-US" sz="1550" dirty="0">
                <a:solidFill>
                  <a:srgbClr val="0E1426"/>
                </a:solidFill>
                <a:latin typeface="Calibri" pitchFamily="34" charset="0"/>
                <a:ea typeface="Calibri" pitchFamily="34" charset="-122"/>
                <a:cs typeface="Calibri" pitchFamily="34" charset="-120"/>
              </a:rPr>
              <a:t>g = 10 m/s²</a:t>
            </a:r>
            <a:endParaRPr lang="en-US" sz="1550" dirty="0"/>
          </a:p>
        </p:txBody>
      </p:sp>
      <p:sp>
        <p:nvSpPr>
          <p:cNvPr id="16" name="Shape 14"/>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Shape 15"/>
          <p:cNvSpPr/>
          <p:nvPr/>
        </p:nvSpPr>
        <p:spPr>
          <a:xfrm>
            <a:off x="6251296" y="4136136"/>
            <a:ext cx="54864" cy="1844040"/>
          </a:xfrm>
          <a:prstGeom prst="rect">
            <a:avLst/>
          </a:prstGeom>
          <a:solidFill>
            <a:srgbClr val="5F4BD8"/>
          </a:solidFill>
          <a:ln/>
        </p:spPr>
      </p:sp>
      <p:sp>
        <p:nvSpPr>
          <p:cNvPr id="18" name="Text 16"/>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9" name="Text 17"/>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koltuğun sürati v</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bir turun süresi</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(c) zincirdeki kuvvet F</a:t>
            </a:r>
            <a:endParaRPr lang="en-US" sz="1800" dirty="0"/>
          </a:p>
        </p:txBody>
      </p:sp>
      <p:sp>
        <p:nvSpPr>
          <p:cNvPr id="20" name="Shape 18"/>
          <p:cNvSpPr/>
          <p:nvPr/>
        </p:nvSpPr>
        <p:spPr>
          <a:xfrm>
            <a:off x="640080" y="6382512"/>
            <a:ext cx="128016" cy="128016"/>
          </a:xfrm>
          <a:prstGeom prst="roundRect">
            <a:avLst>
              <a:gd name="adj" fmla="val 28571"/>
            </a:avLst>
          </a:prstGeom>
          <a:solidFill>
            <a:srgbClr val="A9E648"/>
          </a:solidFill>
          <a:ln/>
        </p:spPr>
      </p:sp>
      <p:sp>
        <p:nvSpPr>
          <p:cNvPr id="21" name="Text 1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2" name="Text 2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107</a:t>
            </a:r>
            <a:endParaRPr lang="en-US" sz="10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Zincirli salıncakta zincirin açısı</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Kuvvetler: ağırlık (aşağı) ve zincir kuvveti F (zincir boyunca). Düşey: F·cos 37° = m·g; merkeze doğru: F·sin 37° = m·v²/r.</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Taraf tarafa bölersen tan 37° = v²/(g·r) → v² = 10 · 7,5 · 0,75 = 56,25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v = 7,5 m/s</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108</a:t>
            </a:r>
            <a:endParaRPr lang="en-US" sz="10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6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Zincirli salıncakta zincirin açısı</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Bir tur: 2πr/v = (2 · 3 · 7,5) / 7,5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6 s</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(c)</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F = m·g / cos 37° = 600 / 0,8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750 N</a:t>
            </a:r>
            <a:endParaRPr lang="en-US" sz="2000" dirty="0"/>
          </a:p>
        </p:txBody>
      </p:sp>
      <p:sp>
        <p:nvSpPr>
          <p:cNvPr id="16" name="Shape 14"/>
          <p:cNvSpPr/>
          <p:nvPr/>
        </p:nvSpPr>
        <p:spPr>
          <a:xfrm>
            <a:off x="640080" y="5175504"/>
            <a:ext cx="10911535" cy="969264"/>
          </a:xfrm>
          <a:prstGeom prst="roundRect">
            <a:avLst>
              <a:gd name="adj" fmla="val 15094"/>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303520"/>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541264"/>
            <a:ext cx="10271455" cy="512064"/>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(a) ve (b) şıklarında kütle sadeleşti: hafif çocuk da ağır yetişkin de aynı açıyla açılır. Kütleyle büyüyen tek şey zincirdeki kuvvettir.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109</a:t>
            </a:r>
            <a:endParaRPr lang="en-US" sz="10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7 · Soru</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Düşey çemberde ip gerilmesi</a:t>
            </a:r>
            <a:endParaRPr lang="en-US" sz="1450" dirty="0"/>
          </a:p>
        </p:txBody>
      </p:sp>
      <p:sp>
        <p:nvSpPr>
          <p:cNvPr id="8" name="Shape 6"/>
          <p:cNvSpPr/>
          <p:nvPr/>
        </p:nvSpPr>
        <p:spPr>
          <a:xfrm>
            <a:off x="640080" y="1645920"/>
            <a:ext cx="10911535" cy="2124456"/>
          </a:xfrm>
          <a:prstGeom prst="roundRect">
            <a:avLst>
              <a:gd name="adj" fmla="val 6887"/>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Text 7"/>
          <p:cNvSpPr txBox="1"/>
          <p:nvPr/>
        </p:nvSpPr>
        <p:spPr>
          <a:xfrm>
            <a:off x="960120" y="1810512"/>
            <a:ext cx="2743200" cy="256032"/>
          </a:xfrm>
          <a:prstGeom prst="rect">
            <a:avLst/>
          </a:prstGeom>
          <a:noFill/>
          <a:ln/>
        </p:spPr>
        <p:txBody>
          <a:bodyPr wrap="square" lIns="0" tIns="0" rIns="0" bIns="0" rtlCol="0" anchor="ctr"/>
          <a:lstStyle/>
          <a:p>
            <a:pPr indent="0" marL="0">
              <a:buNone/>
            </a:pPr>
            <a:r>
              <a:rPr lang="en-US" sz="1050" b="1" spc="200" kern="0" dirty="0">
                <a:solidFill>
                  <a:srgbClr val="A56209"/>
                </a:solidFill>
                <a:latin typeface="Calibri" pitchFamily="34" charset="0"/>
                <a:ea typeface="Calibri" pitchFamily="34" charset="-122"/>
                <a:cs typeface="Calibri" pitchFamily="34" charset="-120"/>
              </a:rPr>
              <a:t>SORU</a:t>
            </a:r>
            <a:endParaRPr lang="en-US" sz="1050" dirty="0"/>
          </a:p>
        </p:txBody>
      </p:sp>
      <p:sp>
        <p:nvSpPr>
          <p:cNvPr id="10" name="Text 8"/>
          <p:cNvSpPr txBox="1"/>
          <p:nvPr/>
        </p:nvSpPr>
        <p:spPr>
          <a:xfrm>
            <a:off x="960120" y="2121408"/>
            <a:ext cx="10271455" cy="1575816"/>
          </a:xfrm>
          <a:prstGeom prst="rect">
            <a:avLst/>
          </a:prstGeom>
          <a:noFill/>
          <a:ln/>
        </p:spPr>
        <p:txBody>
          <a:bodyPr wrap="square" lIns="0" tIns="0" rIns="0" bIns="0" rtlCol="0" anchor="t"/>
          <a:lstStyle/>
          <a:p>
            <a:pPr indent="0" marL="0">
              <a:lnSpc>
                <a:spcPct val="118000"/>
              </a:lnSpc>
              <a:buNone/>
            </a:pPr>
            <a:r>
              <a:rPr lang="en-US" sz="2000" dirty="0">
                <a:solidFill>
                  <a:srgbClr val="0E1426"/>
                </a:solidFill>
                <a:latin typeface="Calibri" pitchFamily="34" charset="0"/>
                <a:ea typeface="Calibri" pitchFamily="34" charset="-122"/>
                <a:cs typeface="Calibri" pitchFamily="34" charset="-120"/>
              </a:rPr>
              <a:t>0,5 kg'lık bir taş 0,8 m uzunluğundaki ipin ucunda düşey bir çemberde döndürülüyor. (a) İpin tepe noktada gevşememesi için taş orada en az hangi hızla geçmelidir? (b) El taşı her noktada 4 m/s süratte tutarsa ipteki gerilme (T) tepe noktada ve en alt noktada kaç N olur?</a:t>
            </a:r>
            <a:endParaRPr lang="en-US" sz="2000" dirty="0"/>
          </a:p>
        </p:txBody>
      </p:sp>
      <p:sp>
        <p:nvSpPr>
          <p:cNvPr id="11" name="Shape 9"/>
          <p:cNvSpPr/>
          <p:nvPr/>
        </p:nvSpPr>
        <p:spPr>
          <a:xfrm>
            <a:off x="640080"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2" name="Shape 10"/>
          <p:cNvSpPr/>
          <p:nvPr/>
        </p:nvSpPr>
        <p:spPr>
          <a:xfrm>
            <a:off x="658368" y="4136136"/>
            <a:ext cx="54864" cy="1844040"/>
          </a:xfrm>
          <a:prstGeom prst="rect">
            <a:avLst/>
          </a:prstGeom>
          <a:solidFill>
            <a:srgbClr val="2957D4"/>
          </a:solidFill>
          <a:ln/>
        </p:spPr>
      </p:sp>
      <p:sp>
        <p:nvSpPr>
          <p:cNvPr id="13" name="Text 11"/>
          <p:cNvSpPr txBox="1"/>
          <p:nvPr/>
        </p:nvSpPr>
        <p:spPr>
          <a:xfrm>
            <a:off x="914400" y="4117848"/>
            <a:ext cx="4861408" cy="256032"/>
          </a:xfrm>
          <a:prstGeom prst="rect">
            <a:avLst/>
          </a:prstGeom>
          <a:noFill/>
          <a:ln/>
        </p:spPr>
        <p:txBody>
          <a:bodyPr wrap="square" lIns="0" tIns="0" rIns="0" bIns="0" rtlCol="0" anchor="ctr"/>
          <a:lstStyle/>
          <a:p>
            <a:pPr indent="0" marL="0">
              <a:buNone/>
            </a:pPr>
            <a:r>
              <a:rPr lang="en-US" sz="1050" b="1" spc="200" kern="0" dirty="0">
                <a:solidFill>
                  <a:srgbClr val="2957D4"/>
                </a:solidFill>
                <a:latin typeface="Calibri" pitchFamily="34" charset="0"/>
                <a:ea typeface="Calibri" pitchFamily="34" charset="-122"/>
                <a:cs typeface="Calibri" pitchFamily="34" charset="-120"/>
              </a:rPr>
              <a:t>VERİLENLER</a:t>
            </a:r>
            <a:endParaRPr lang="en-US" sz="1050" dirty="0"/>
          </a:p>
        </p:txBody>
      </p:sp>
      <p:sp>
        <p:nvSpPr>
          <p:cNvPr id="14" name="Text 12"/>
          <p:cNvSpPr txBox="1"/>
          <p:nvPr/>
        </p:nvSpPr>
        <p:spPr>
          <a:xfrm>
            <a:off x="950976"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m = 0,5 kg</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r = 0,8 m (ip uzunluğu)</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şıkkında v = 4 m/s</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g = 10 m/s²</a:t>
            </a:r>
            <a:endParaRPr lang="en-US" sz="1800" dirty="0"/>
          </a:p>
        </p:txBody>
      </p:sp>
      <p:sp>
        <p:nvSpPr>
          <p:cNvPr id="15" name="Shape 13"/>
          <p:cNvSpPr/>
          <p:nvPr/>
        </p:nvSpPr>
        <p:spPr>
          <a:xfrm>
            <a:off x="6233008" y="3971544"/>
            <a:ext cx="5318608" cy="2173224"/>
          </a:xfrm>
          <a:prstGeom prst="roundRect">
            <a:avLst>
              <a:gd name="adj" fmla="val 6732"/>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6" name="Shape 14"/>
          <p:cNvSpPr/>
          <p:nvPr/>
        </p:nvSpPr>
        <p:spPr>
          <a:xfrm>
            <a:off x="6251296" y="4136136"/>
            <a:ext cx="54864" cy="1844040"/>
          </a:xfrm>
          <a:prstGeom prst="rect">
            <a:avLst/>
          </a:prstGeom>
          <a:solidFill>
            <a:srgbClr val="5F4BD8"/>
          </a:solidFill>
          <a:ln/>
        </p:spPr>
      </p:sp>
      <p:sp>
        <p:nvSpPr>
          <p:cNvPr id="17" name="Text 15"/>
          <p:cNvSpPr txBox="1"/>
          <p:nvPr/>
        </p:nvSpPr>
        <p:spPr>
          <a:xfrm>
            <a:off x="6507328" y="4117848"/>
            <a:ext cx="4861408" cy="256032"/>
          </a:xfrm>
          <a:prstGeom prst="rect">
            <a:avLst/>
          </a:prstGeom>
          <a:noFill/>
          <a:ln/>
        </p:spPr>
        <p:txBody>
          <a:bodyPr wrap="square" lIns="0" tIns="0" rIns="0" bIns="0" rtlCol="0" anchor="ctr"/>
          <a:lstStyle/>
          <a:p>
            <a:pPr indent="0" marL="0">
              <a:buNone/>
            </a:pPr>
            <a:r>
              <a:rPr lang="en-US" sz="1050" b="1" spc="200" kern="0" dirty="0">
                <a:solidFill>
                  <a:srgbClr val="5F4BD8"/>
                </a:solidFill>
                <a:latin typeface="Calibri" pitchFamily="34" charset="0"/>
                <a:ea typeface="Calibri" pitchFamily="34" charset="-122"/>
                <a:cs typeface="Calibri" pitchFamily="34" charset="-120"/>
              </a:rPr>
              <a:t>İSTENEN</a:t>
            </a:r>
            <a:endParaRPr lang="en-US" sz="1050" dirty="0"/>
          </a:p>
        </p:txBody>
      </p:sp>
      <p:sp>
        <p:nvSpPr>
          <p:cNvPr id="18" name="Text 16"/>
          <p:cNvSpPr txBox="1"/>
          <p:nvPr/>
        </p:nvSpPr>
        <p:spPr>
          <a:xfrm>
            <a:off x="6543904" y="4447032"/>
            <a:ext cx="4769968" cy="1569720"/>
          </a:xfrm>
          <a:prstGeom prst="rect">
            <a:avLst/>
          </a:prstGeom>
          <a:noFill/>
          <a:ln/>
        </p:spPr>
        <p:txBody>
          <a:bodyPr wrap="square" lIns="0" tIns="0" rIns="0" bIns="0" rtlCol="0" anchor="t"/>
          <a:lstStyle/>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(a) tepe noktadaki en küçük hız vmin</a:t>
            </a:r>
            <a:endParaRPr lang="en-US" sz="1800" dirty="0"/>
          </a:p>
          <a:p>
            <a:pPr marL="203200" indent="-203200">
              <a:lnSpc>
                <a:spcPct val="110000"/>
              </a:lnSpc>
              <a:spcAft>
                <a:spcPts val="500"/>
              </a:spcAft>
              <a:buSzPct val="100000"/>
              <a:buChar char="▪"/>
            </a:pPr>
            <a:r>
              <a:rPr lang="en-US" sz="1800" dirty="0">
                <a:solidFill>
                  <a:srgbClr val="0E1426"/>
                </a:solidFill>
                <a:latin typeface="Calibri" pitchFamily="34" charset="0"/>
                <a:ea typeface="Calibri" pitchFamily="34" charset="-122"/>
                <a:cs typeface="Calibri" pitchFamily="34" charset="-120"/>
              </a:rPr>
              <a:t>(b) tepe ve alt noktada ipteki gerilme T</a:t>
            </a:r>
            <a:endParaRPr lang="en-US" sz="18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110</a:t>
            </a:r>
            <a:endParaRPr lang="en-US" sz="10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1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Düşey çemberde ip gerilmesi</a:t>
            </a:r>
            <a:endParaRPr lang="en-US" sz="1450" dirty="0"/>
          </a:p>
        </p:txBody>
      </p:sp>
      <p:sp>
        <p:nvSpPr>
          <p:cNvPr id="8" name="Shape 6"/>
          <p:cNvSpPr/>
          <p:nvPr/>
        </p:nvSpPr>
        <p:spPr>
          <a:xfrm>
            <a:off x="640080" y="164592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2245157"/>
            <a:ext cx="420624" cy="420624"/>
          </a:xfrm>
          <a:prstGeom prst="roundRect">
            <a:avLst>
              <a:gd name="adj" fmla="val 26000"/>
            </a:avLst>
          </a:prstGeom>
          <a:solidFill>
            <a:srgbClr val="A56209"/>
          </a:solidFill>
          <a:ln/>
        </p:spPr>
      </p:sp>
      <p:sp>
        <p:nvSpPr>
          <p:cNvPr id="10" name="Text 8"/>
          <p:cNvSpPr txBox="1"/>
          <p:nvPr/>
        </p:nvSpPr>
        <p:spPr>
          <a:xfrm>
            <a:off x="914400" y="2245157"/>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9"/>
          <p:cNvSpPr txBox="1"/>
          <p:nvPr/>
        </p:nvSpPr>
        <p:spPr>
          <a:xfrm>
            <a:off x="1508760" y="170078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(a)</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Tepe: T + m·g = m·v²/r. En küçük hızda ip gevşemek üzeredir, T = 0 → v = √(g·r) = √8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2,8 m/s</a:t>
            </a:r>
            <a:endParaRPr lang="en-US" sz="2000" dirty="0"/>
          </a:p>
        </p:txBody>
      </p:sp>
      <p:sp>
        <p:nvSpPr>
          <p:cNvPr id="12" name="Shape 10"/>
          <p:cNvSpPr/>
          <p:nvPr/>
        </p:nvSpPr>
        <p:spPr>
          <a:xfrm>
            <a:off x="640080" y="3429610"/>
            <a:ext cx="10911535" cy="1619098"/>
          </a:xfrm>
          <a:prstGeom prst="roundRect">
            <a:avLst>
              <a:gd name="adj" fmla="val 90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4028846"/>
            <a:ext cx="420624" cy="420624"/>
          </a:xfrm>
          <a:prstGeom prst="roundRect">
            <a:avLst>
              <a:gd name="adj" fmla="val 26000"/>
            </a:avLst>
          </a:prstGeom>
          <a:solidFill>
            <a:srgbClr val="A56209"/>
          </a:solidFill>
          <a:ln/>
        </p:spPr>
      </p:sp>
      <p:sp>
        <p:nvSpPr>
          <p:cNvPr id="14" name="Text 12"/>
          <p:cNvSpPr txBox="1"/>
          <p:nvPr/>
        </p:nvSpPr>
        <p:spPr>
          <a:xfrm>
            <a:off x="914400" y="402884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txBox="1"/>
          <p:nvPr/>
        </p:nvSpPr>
        <p:spPr>
          <a:xfrm>
            <a:off x="1508760" y="3484474"/>
            <a:ext cx="9859975" cy="1509370"/>
          </a:xfrm>
          <a:prstGeom prst="rect">
            <a:avLst/>
          </a:prstGeom>
          <a:noFill/>
          <a:ln/>
        </p:spPr>
        <p:txBody>
          <a:bodyPr wrap="square" lIns="0" tIns="0" rIns="0" bIns="0" rtlCol="0" anchor="ctr"/>
          <a:lstStyle/>
          <a:p>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(b)</a:t>
            </a:r>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 Gereken merkezcil kuvvet her noktada aynıdır: m·v²/r = 0,5 · 16 / 0,8 = 10 N. Ağırlık m·g = 5 N.</a:t>
            </a:r>
            <a:endParaRPr lang="en-US" sz="2000" dirty="0"/>
          </a:p>
        </p:txBody>
      </p:sp>
      <p:sp>
        <p:nvSpPr>
          <p:cNvPr id="16" name="Shape 14"/>
          <p:cNvSpPr/>
          <p:nvPr/>
        </p:nvSpPr>
        <p:spPr>
          <a:xfrm>
            <a:off x="640080" y="6382512"/>
            <a:ext cx="128016" cy="128016"/>
          </a:xfrm>
          <a:prstGeom prst="roundRect">
            <a:avLst>
              <a:gd name="adj" fmla="val 28571"/>
            </a:avLst>
          </a:prstGeom>
          <a:solidFill>
            <a:srgbClr val="A9E648"/>
          </a:solidFill>
          <a:ln/>
        </p:spPr>
      </p:sp>
      <p:sp>
        <p:nvSpPr>
          <p:cNvPr id="17" name="Text 15"/>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8" name="Text 16"/>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111</a:t>
            </a:r>
            <a:endParaRPr lang="en-US" sz="10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A56209"/>
          </a:solidFill>
          <a:ln/>
          <a:effectLst>
            <a:outerShdw sx="100000" sy="100000" kx="0" ky="0" algn="bl" rotWithShape="0" blurRad="101600" dist="25400" dir="5400000">
              <a:srgbClr val="A56209">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13</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Örnek 7 · Çözüm 2 / 2</a:t>
            </a:r>
            <a:endParaRPr lang="en-US" sz="3200" dirty="0"/>
          </a:p>
        </p:txBody>
      </p:sp>
      <p:sp>
        <p:nvSpPr>
          <p:cNvPr id="5" name="Shape 3"/>
          <p:cNvSpPr/>
          <p:nvPr/>
        </p:nvSpPr>
        <p:spPr>
          <a:xfrm>
            <a:off x="10408615" y="512064"/>
            <a:ext cx="1143000" cy="384048"/>
          </a:xfrm>
          <a:prstGeom prst="roundRect">
            <a:avLst>
              <a:gd name="adj" fmla="val 50000"/>
            </a:avLst>
          </a:prstGeom>
          <a:solidFill>
            <a:srgbClr val="FBE9EE"/>
          </a:solidFill>
          <a:ln w="9525">
            <a:solidFill>
              <a:srgbClr val="C53455"/>
            </a:solidFill>
            <a:prstDash val="solid"/>
          </a:ln>
        </p:spPr>
      </p:sp>
      <p:sp>
        <p:nvSpPr>
          <p:cNvPr id="6" name="Text 4"/>
          <p:cNvSpPr txBox="1"/>
          <p:nvPr/>
        </p:nvSpPr>
        <p:spPr>
          <a:xfrm>
            <a:off x="10408615" y="512064"/>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7" name="Text 5"/>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Düşey çemberde ip gerilmesi</a:t>
            </a:r>
            <a:endParaRPr lang="en-US" sz="1450" dirty="0"/>
          </a:p>
        </p:txBody>
      </p:sp>
      <p:sp>
        <p:nvSpPr>
          <p:cNvPr id="8" name="Shape 6"/>
          <p:cNvSpPr/>
          <p:nvPr/>
        </p:nvSpPr>
        <p:spPr>
          <a:xfrm>
            <a:off x="640080" y="1645920"/>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9" name="Shape 7"/>
          <p:cNvSpPr/>
          <p:nvPr/>
        </p:nvSpPr>
        <p:spPr>
          <a:xfrm>
            <a:off x="914400" y="1972056"/>
            <a:ext cx="420624" cy="420624"/>
          </a:xfrm>
          <a:prstGeom prst="roundRect">
            <a:avLst>
              <a:gd name="adj" fmla="val 26000"/>
            </a:avLst>
          </a:prstGeom>
          <a:solidFill>
            <a:srgbClr val="A56209"/>
          </a:solidFill>
          <a:ln/>
        </p:spPr>
      </p:sp>
      <p:sp>
        <p:nvSpPr>
          <p:cNvPr id="10" name="Text 8"/>
          <p:cNvSpPr txBox="1"/>
          <p:nvPr/>
        </p:nvSpPr>
        <p:spPr>
          <a:xfrm>
            <a:off x="914400" y="1972056"/>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1" name="Text 9"/>
          <p:cNvSpPr txBox="1"/>
          <p:nvPr/>
        </p:nvSpPr>
        <p:spPr>
          <a:xfrm>
            <a:off x="1508760" y="1700784"/>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Tepe: ağırlık da merkeze bakar → T = 10 − 5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5 N</a:t>
            </a:r>
            <a:endParaRPr lang="en-US" sz="2000" dirty="0"/>
          </a:p>
        </p:txBody>
      </p:sp>
      <p:sp>
        <p:nvSpPr>
          <p:cNvPr id="12" name="Shape 10"/>
          <p:cNvSpPr/>
          <p:nvPr/>
        </p:nvSpPr>
        <p:spPr>
          <a:xfrm>
            <a:off x="640080" y="2883408"/>
            <a:ext cx="10911535" cy="1072896"/>
          </a:xfrm>
          <a:prstGeom prst="roundRect">
            <a:avLst>
              <a:gd name="adj" fmla="val 13636"/>
            </a:avLst>
          </a:prstGeom>
          <a:solidFill>
            <a:srgbClr val="F4F5F9"/>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3" name="Shape 11"/>
          <p:cNvSpPr/>
          <p:nvPr/>
        </p:nvSpPr>
        <p:spPr>
          <a:xfrm>
            <a:off x="914400" y="3209544"/>
            <a:ext cx="420624" cy="420624"/>
          </a:xfrm>
          <a:prstGeom prst="roundRect">
            <a:avLst>
              <a:gd name="adj" fmla="val 26000"/>
            </a:avLst>
          </a:prstGeom>
          <a:solidFill>
            <a:srgbClr val="A56209"/>
          </a:solidFill>
          <a:ln/>
        </p:spPr>
      </p:sp>
      <p:sp>
        <p:nvSpPr>
          <p:cNvPr id="14" name="Text 12"/>
          <p:cNvSpPr txBox="1"/>
          <p:nvPr/>
        </p:nvSpPr>
        <p:spPr>
          <a:xfrm>
            <a:off x="914400" y="3209544"/>
            <a:ext cx="420624"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508760" y="2938272"/>
            <a:ext cx="9859975" cy="963168"/>
          </a:xfrm>
          <a:prstGeom prst="rect">
            <a:avLst/>
          </a:prstGeom>
          <a:noFill/>
          <a:ln/>
        </p:spPr>
        <p:txBody>
          <a:bodyPr wrap="square" lIns="0" tIns="0" rIns="0" bIns="0" rtlCol="0" anchor="ctr"/>
          <a:lstStyle/>
          <a:p>
            <a:pPr indent="0" marL="0">
              <a:lnSpc>
                <a:spcPct val="112000"/>
              </a:lnSpc>
              <a:buNone/>
            </a:pPr>
            <a:r>
              <a:rPr lang="en-US" sz="2000" dirty="0">
                <a:solidFill>
                  <a:srgbClr val="0E1426"/>
                </a:solidFill>
                <a:latin typeface="Calibri" pitchFamily="34" charset="0"/>
                <a:ea typeface="Calibri" pitchFamily="34" charset="-122"/>
                <a:cs typeface="Calibri" pitchFamily="34" charset="-120"/>
              </a:rPr>
              <a:t>Alt: ağırlık dışa bakar → T = 10 + 5 = </a:t>
            </a:r>
            <a:pPr indent="0" marL="0">
              <a:lnSpc>
                <a:spcPct val="112000"/>
              </a:lnSpc>
              <a:buNone/>
            </a:pPr>
            <a:r>
              <a:rPr lang="en-US" sz="2000" b="1" dirty="0">
                <a:solidFill>
                  <a:srgbClr val="0E1426"/>
                </a:solidFill>
                <a:latin typeface="Calibri" pitchFamily="34" charset="0"/>
                <a:ea typeface="Calibri" pitchFamily="34" charset="-122"/>
                <a:cs typeface="Calibri" pitchFamily="34" charset="-120"/>
              </a:rPr>
              <a:t>15 N</a:t>
            </a:r>
            <a:endParaRPr lang="en-US" sz="2000" dirty="0"/>
          </a:p>
        </p:txBody>
      </p:sp>
      <p:sp>
        <p:nvSpPr>
          <p:cNvPr id="16" name="Shape 14"/>
          <p:cNvSpPr/>
          <p:nvPr/>
        </p:nvSpPr>
        <p:spPr>
          <a:xfrm>
            <a:off x="640080" y="5431536"/>
            <a:ext cx="10911535" cy="713232"/>
          </a:xfrm>
          <a:prstGeom prst="roundRect">
            <a:avLst>
              <a:gd name="adj" fmla="val 20513"/>
            </a:avLst>
          </a:prstGeom>
          <a:solidFill>
            <a:srgbClr val="F8F9FC"/>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7" name="Text 15"/>
          <p:cNvSpPr txBox="1"/>
          <p:nvPr/>
        </p:nvSpPr>
        <p:spPr>
          <a:xfrm>
            <a:off x="960120" y="5559552"/>
            <a:ext cx="1828800" cy="219456"/>
          </a:xfrm>
          <a:prstGeom prst="rect">
            <a:avLst/>
          </a:prstGeom>
          <a:noFill/>
          <a:ln/>
        </p:spPr>
        <p:txBody>
          <a:bodyPr wrap="square" lIns="0" tIns="0" rIns="0" bIns="0" rtlCol="0" anchor="ctr"/>
          <a:lstStyle/>
          <a:p>
            <a:pPr indent="0" marL="0">
              <a:buNone/>
            </a:pPr>
            <a:r>
              <a:rPr lang="en-US" sz="1000" b="1" spc="200" kern="0" dirty="0">
                <a:solidFill>
                  <a:srgbClr val="7B849E"/>
                </a:solidFill>
                <a:latin typeface="Calibri" pitchFamily="34" charset="0"/>
                <a:ea typeface="Calibri" pitchFamily="34" charset="-122"/>
                <a:cs typeface="Calibri" pitchFamily="34" charset="-120"/>
              </a:rPr>
              <a:t>NOT</a:t>
            </a:r>
            <a:endParaRPr lang="en-US" sz="1000" dirty="0"/>
          </a:p>
        </p:txBody>
      </p:sp>
      <p:sp>
        <p:nvSpPr>
          <p:cNvPr id="18" name="Text 16"/>
          <p:cNvSpPr txBox="1"/>
          <p:nvPr/>
        </p:nvSpPr>
        <p:spPr>
          <a:xfrm>
            <a:off x="960120" y="5797296"/>
            <a:ext cx="10271455" cy="256032"/>
          </a:xfrm>
          <a:prstGeom prst="rect">
            <a:avLst/>
          </a:prstGeom>
          <a:noFill/>
          <a:ln/>
        </p:spPr>
        <p:txBody>
          <a:bodyPr wrap="square" lIns="0" tIns="0" rIns="0" bIns="0" rtlCol="0" anchor="t"/>
          <a:lstStyle/>
          <a:p>
            <a:pPr indent="0" marL="0">
              <a:lnSpc>
                <a:spcPct val="112000"/>
              </a:lnSpc>
              <a:buNone/>
            </a:pPr>
            <a:r>
              <a:rPr lang="en-US" sz="1500" dirty="0">
                <a:solidFill>
                  <a:srgbClr val="4A5470"/>
                </a:solidFill>
                <a:latin typeface="Calibri" pitchFamily="34" charset="0"/>
                <a:ea typeface="Calibri" pitchFamily="34" charset="-122"/>
                <a:cs typeface="Calibri" pitchFamily="34" charset="-120"/>
              </a:rPr>
              <a:t>İp en alt noktada tepe noktadakinin üç katı gerilir; ip koparsa en olası yer orasıdır.</a:t>
            </a:r>
            <a:endParaRPr lang="en-US" sz="1500" dirty="0"/>
          </a:p>
        </p:txBody>
      </p:sp>
      <p:sp>
        <p:nvSpPr>
          <p:cNvPr id="19" name="Shape 17"/>
          <p:cNvSpPr/>
          <p:nvPr/>
        </p:nvSpPr>
        <p:spPr>
          <a:xfrm>
            <a:off x="640080" y="6382512"/>
            <a:ext cx="128016" cy="128016"/>
          </a:xfrm>
          <a:prstGeom prst="roundRect">
            <a:avLst>
              <a:gd name="adj" fmla="val 28571"/>
            </a:avLst>
          </a:prstGeom>
          <a:solidFill>
            <a:srgbClr val="A9E648"/>
          </a:solidFill>
          <a:ln/>
        </p:spPr>
      </p:sp>
      <p:sp>
        <p:nvSpPr>
          <p:cNvPr id="20" name="Text 18"/>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21" name="Text 19"/>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112</a:t>
            </a:r>
            <a:endParaRPr lang="en-US" sz="105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1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3 m yarıçaplı bir çemberde dolanan cisim bir turu 6 saniyede atıyor. Çizgisel hızı kaç m/s'dir?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π ≈ 3)</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113</a:t>
            </a:r>
            <a:endParaRPr lang="en-US" sz="10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3 m yarıçaplı bir çemberde dolanan cisim bir turu 6 saniyede atıyor. Çizgisel hızı kaç m/s'dir?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v = 2πr / T = (2 · 3 · 3) / 6 = 18 / 6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114</a:t>
            </a:r>
            <a:endParaRPr lang="en-US" sz="10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2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AF7DC"/>
          </a:solidFill>
          <a:ln w="9525">
            <a:solidFill>
              <a:srgbClr val="3C8C21"/>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3C8C21"/>
                </a:solidFill>
                <a:latin typeface="Calibri" pitchFamily="34" charset="0"/>
                <a:ea typeface="Calibri" pitchFamily="34" charset="-122"/>
                <a:cs typeface="Calibri" pitchFamily="34" charset="-120"/>
              </a:rPr>
              <a:t>KOLAY</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2 m yarıçaplı bir çemberde 4 m/s süratle dolanan cismin merkezcil ivmesi kaç m/s²'dir?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π ≈ 3)</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115</a:t>
            </a:r>
            <a:endParaRPr lang="en-US" sz="10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2 m yarıçaplı bir çemberde 4 m/s süratle dolanan cismin merkezcil ivmesi kaç m/s²'dir?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a = v² / r = 4² / 2 = 16 / 2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8 m/s²</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merkeze doğru.</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116</a:t>
            </a:r>
            <a:endParaRPr lang="en-US" sz="10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3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Sürtünmesiz yatay bir masada 2 kg'lık bir cisim, 0,5 m'lik bir ipin ucunda 3 m/s süratle dönüyor. İpteki gerilme kaç N'dur?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π ≈ 3)</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117</a:t>
            </a:r>
            <a:endParaRPr lang="en-US" sz="10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Sürtünmesiz yatay bir masada 2 kg'lık bir cisim, 0,5 m'lik bir ipin ucunda 3 m/s süratle dönüyor. İpteki gerilme kaç N'dur?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Merkezcil kuvvet görevini ipteki gerilme üstlenir: gerilme = m · v² / r = 2 · 3² / 0,5 = 18 / 0,5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36 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118</a:t>
            </a:r>
            <a:endParaRPr lang="en-US" sz="10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4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E6EDFB"/>
          </a:solidFill>
          <a:ln w="9525">
            <a:solidFill>
              <a:srgbClr val="2957D4"/>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2957D4"/>
                </a:solidFill>
                <a:latin typeface="Calibri" pitchFamily="34" charset="0"/>
                <a:ea typeface="Calibri" pitchFamily="34" charset="-122"/>
                <a:cs typeface="Calibri" pitchFamily="34" charset="-120"/>
              </a:rPr>
              <a:t>ORTA</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Dakikada 6 tur atan bir atlıkarıncada merkezden 5 m uzaktaki atın çizgisel hızı kaç m/s'dir?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π ≈ 3)</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119</a:t>
            </a:r>
            <a:endParaRPr lang="en-US" sz="10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Dakikada 6 tur atan bir atlıkarıncada merkezden 5 m uzaktaki atın çizgisel hızı kaç m/s'dir?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f = 6 / 60 = 0,1 Hz → T = 1 / f = 10 s. v = 2πr / T = (2 · 3 · 5) / 10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3 m/s</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120</a:t>
            </a:r>
            <a:endParaRPr lang="en-US" sz="10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bg>
      <p:bgPr>
        <a:solidFill>
          <a:srgbClr val="FEF8EE"/>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822960" y="2011680"/>
            <a:ext cx="1554480" cy="1554480"/>
          </a:xfrm>
          <a:prstGeom prst="ellipse">
            <a:avLst/>
          </a:prstGeom>
          <a:solidFill>
            <a:srgbClr val="A56209"/>
          </a:solidFill>
          <a:ln/>
          <a:effectLst>
            <a:outerShdw sx="100000" sy="100000" kx="0" ky="0" algn="bl" rotWithShape="0" blurRad="177800" dist="50800" dir="5400000">
              <a:srgbClr val="A56209">
                <a:alpha val="30000"/>
              </a:srgbClr>
            </a:outerShdw>
          </a:effectLst>
        </p:spPr>
      </p:sp>
      <p:sp>
        <p:nvSpPr>
          <p:cNvPr id="4" name="Text 2"/>
          <p:cNvSpPr txBox="1"/>
          <p:nvPr/>
        </p:nvSpPr>
        <p:spPr>
          <a:xfrm>
            <a:off x="822960" y="2011680"/>
            <a:ext cx="1554480" cy="155448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a:t>
            </a:r>
            <a:endParaRPr lang="en-US" sz="6000" dirty="0"/>
          </a:p>
        </p:txBody>
      </p:sp>
      <p:sp>
        <p:nvSpPr>
          <p:cNvPr id="5" name="Text 3"/>
          <p:cNvSpPr txBox="1"/>
          <p:nvPr/>
        </p:nvSpPr>
        <p:spPr>
          <a:xfrm>
            <a:off x="2926080" y="1417320"/>
            <a:ext cx="5486400" cy="320040"/>
          </a:xfrm>
          <a:prstGeom prst="rect">
            <a:avLst/>
          </a:prstGeom>
          <a:noFill/>
          <a:ln/>
        </p:spPr>
        <p:txBody>
          <a:bodyPr wrap="square" lIns="0" tIns="0" rIns="0" bIns="0" rtlCol="0" anchor="ctr"/>
          <a:lstStyle/>
          <a:p>
            <a:pPr indent="0" marL="0">
              <a:buNone/>
            </a:pPr>
            <a:r>
              <a:rPr lang="en-US" sz="1300" b="1" spc="400" kern="0" dirty="0">
                <a:solidFill>
                  <a:srgbClr val="A56209"/>
                </a:solidFill>
                <a:latin typeface="Calibri" pitchFamily="34" charset="0"/>
                <a:ea typeface="Calibri" pitchFamily="34" charset="-122"/>
                <a:cs typeface="Calibri" pitchFamily="34" charset="-120"/>
              </a:rPr>
              <a:t>SIRA SENDE 5 / 5</a:t>
            </a:r>
            <a:endParaRPr lang="en-US" sz="1300" dirty="0"/>
          </a:p>
        </p:txBody>
      </p:sp>
      <p:sp>
        <p:nvSpPr>
          <p:cNvPr id="6" name="Shape 4"/>
          <p:cNvSpPr/>
          <p:nvPr/>
        </p:nvSpPr>
        <p:spPr>
          <a:xfrm>
            <a:off x="10408615" y="1371600"/>
            <a:ext cx="1143000" cy="384048"/>
          </a:xfrm>
          <a:prstGeom prst="roundRect">
            <a:avLst>
              <a:gd name="adj" fmla="val 50000"/>
            </a:avLst>
          </a:prstGeom>
          <a:solidFill>
            <a:srgbClr val="FBE9EE"/>
          </a:solidFill>
          <a:ln w="9525">
            <a:solidFill>
              <a:srgbClr val="C53455"/>
            </a:solidFill>
            <a:prstDash val="solid"/>
          </a:ln>
        </p:spPr>
      </p:sp>
      <p:sp>
        <p:nvSpPr>
          <p:cNvPr id="7" name="Text 5"/>
          <p:cNvSpPr txBox="1"/>
          <p:nvPr/>
        </p:nvSpPr>
        <p:spPr>
          <a:xfrm>
            <a:off x="10408615" y="1371600"/>
            <a:ext cx="1143000" cy="384048"/>
          </a:xfrm>
          <a:prstGeom prst="rect">
            <a:avLst/>
          </a:prstGeom>
          <a:noFill/>
          <a:ln/>
        </p:spPr>
        <p:txBody>
          <a:bodyPr wrap="square" lIns="0" tIns="0" rIns="0" bIns="0" rtlCol="0" anchor="ctr"/>
          <a:lstStyle/>
          <a:p>
            <a:pPr algn="ctr" indent="0" marL="0">
              <a:buNone/>
            </a:pPr>
            <a:r>
              <a:rPr lang="en-US" sz="1150" b="1" spc="200" kern="0" dirty="0">
                <a:solidFill>
                  <a:srgbClr val="C53455"/>
                </a:solidFill>
                <a:latin typeface="Calibri" pitchFamily="34" charset="0"/>
                <a:ea typeface="Calibri" pitchFamily="34" charset="-122"/>
                <a:cs typeface="Calibri" pitchFamily="34" charset="-120"/>
              </a:rPr>
              <a:t>ZOR</a:t>
            </a:r>
            <a:endParaRPr lang="en-US" sz="1150" dirty="0"/>
          </a:p>
        </p:txBody>
      </p:sp>
      <p:sp>
        <p:nvSpPr>
          <p:cNvPr id="8" name="Text 6"/>
          <p:cNvSpPr txBox="1"/>
          <p:nvPr/>
        </p:nvSpPr>
        <p:spPr>
          <a:xfrm>
            <a:off x="2926080" y="1828800"/>
            <a:ext cx="8534095" cy="3108960"/>
          </a:xfrm>
          <a:prstGeom prst="rect">
            <a:avLst/>
          </a:prstGeom>
          <a:noFill/>
          <a:ln/>
        </p:spPr>
        <p:txBody>
          <a:bodyPr wrap="square" lIns="0" tIns="0" rIns="0" bIns="0" rtlCol="0" anchor="ctr"/>
          <a:lstStyle/>
          <a:p>
            <a:pPr indent="0" marL="0">
              <a:lnSpc>
                <a:spcPct val="120000"/>
              </a:lnSpc>
              <a:buNone/>
            </a:pPr>
            <a:r>
              <a:rPr lang="en-US" sz="3200" dirty="0">
                <a:solidFill>
                  <a:srgbClr val="0E1426"/>
                </a:solidFill>
                <a:latin typeface="Cambria" pitchFamily="34" charset="0"/>
                <a:ea typeface="Cambria" pitchFamily="34" charset="-122"/>
                <a:cs typeface="Cambria" pitchFamily="34" charset="-120"/>
              </a:rPr>
              <a:t>10 m yarıçaplı düşey bir döngünün tepesinden 20 m/s ile geçen vagondaki 50 kg'lık yolcuya koltuk kaç N kuvvet uygular?</a:t>
            </a:r>
            <a:endParaRPr lang="en-US" sz="3200" dirty="0"/>
          </a:p>
        </p:txBody>
      </p:sp>
      <p:sp>
        <p:nvSpPr>
          <p:cNvPr id="9" name="Text 7"/>
          <p:cNvSpPr txBox="1"/>
          <p:nvPr/>
        </p:nvSpPr>
        <p:spPr>
          <a:xfrm>
            <a:off x="2926080" y="5257800"/>
            <a:ext cx="8534095" cy="310896"/>
          </a:xfrm>
          <a:prstGeom prst="rect">
            <a:avLst/>
          </a:prstGeom>
          <a:noFill/>
          <a:ln/>
        </p:spPr>
        <p:txBody>
          <a:bodyPr wrap="square" lIns="0" tIns="0" rIns="0" bIns="0" rtlCol="0" anchor="ctr"/>
          <a:lstStyle/>
          <a:p>
            <a:pPr indent="0" marL="0">
              <a:buNone/>
            </a:pPr>
            <a:r>
              <a:rPr lang="en-US" sz="1200" dirty="0">
                <a:solidFill>
                  <a:srgbClr val="7B849E"/>
                </a:solidFill>
                <a:latin typeface="Calibri" pitchFamily="34" charset="0"/>
                <a:ea typeface="Calibri" pitchFamily="34" charset="-122"/>
                <a:cs typeface="Calibri" pitchFamily="34" charset="-120"/>
              </a:rPr>
              <a:t>Önce kendin çöz, sonra cevaba bak. Her soruda önce verilenleri ve isteneni yaz. (g = 10 m/s², π ≈ 3)</a:t>
            </a:r>
            <a:pPr indent="0" marL="0">
              <a:buNone/>
            </a:pPr>
            <a:r>
              <a:rPr lang="en-US" sz="1200" b="1" dirty="0">
                <a:solidFill>
                  <a:srgbClr val="A56209"/>
                </a:solidFill>
                <a:latin typeface="Calibri" pitchFamily="34" charset="0"/>
                <a:ea typeface="Calibri" pitchFamily="34" charset="-122"/>
                <a:cs typeface="Calibri" pitchFamily="34" charset="-120"/>
              </a:rPr>
              <a:t>     Cevap bir sonraki slaytta</a:t>
            </a:r>
            <a:endParaRPr lang="en-US" sz="12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121</a:t>
            </a:r>
            <a:endParaRPr lang="en-US" sz="10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3" name="Shape 1"/>
          <p:cNvSpPr/>
          <p:nvPr/>
        </p:nvSpPr>
        <p:spPr>
          <a:xfrm>
            <a:off x="640080" y="457200"/>
            <a:ext cx="493776" cy="493776"/>
          </a:xfrm>
          <a:prstGeom prst="roundRect">
            <a:avLst>
              <a:gd name="adj" fmla="val 25926"/>
            </a:avLst>
          </a:prstGeom>
          <a:solidFill>
            <a:srgbClr val="A56209"/>
          </a:solidFill>
          <a:ln/>
        </p:spPr>
      </p:sp>
      <p:sp>
        <p:nvSpPr>
          <p:cNvPr id="4" name="Text 2"/>
          <p:cNvSpPr txBox="1"/>
          <p:nvPr/>
        </p:nvSpPr>
        <p:spPr>
          <a:xfrm>
            <a:off x="640080" y="457200"/>
            <a:ext cx="493776"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a:t>
            </a:r>
            <a:endParaRPr lang="en-US" sz="2200" dirty="0"/>
          </a:p>
        </p:txBody>
      </p:sp>
      <p:sp>
        <p:nvSpPr>
          <p:cNvPr id="5" name="Text 3"/>
          <p:cNvSpPr txBox="1"/>
          <p:nvPr/>
        </p:nvSpPr>
        <p:spPr>
          <a:xfrm>
            <a:off x="1353312" y="384048"/>
            <a:ext cx="5486400" cy="640080"/>
          </a:xfrm>
          <a:prstGeom prst="rect">
            <a:avLst/>
          </a:prstGeom>
          <a:noFill/>
          <a:ln/>
        </p:spPr>
        <p:txBody>
          <a:bodyPr wrap="square" lIns="0" tIns="0" rIns="0" bIns="0" rtlCol="0" anchor="ctr"/>
          <a:lstStyle/>
          <a:p>
            <a:pPr indent="0" marL="0">
              <a:buNone/>
            </a:pPr>
            <a:r>
              <a:rPr lang="en-US" sz="3200" b="1" dirty="0">
                <a:solidFill>
                  <a:srgbClr val="0E1426"/>
                </a:solidFill>
                <a:latin typeface="Cambria" pitchFamily="34" charset="0"/>
                <a:ea typeface="Cambria" pitchFamily="34" charset="-122"/>
                <a:cs typeface="Cambria" pitchFamily="34" charset="-120"/>
              </a:rPr>
              <a:t>Cevap</a:t>
            </a:r>
            <a:endParaRPr lang="en-US" sz="3200" dirty="0"/>
          </a:p>
        </p:txBody>
      </p:sp>
      <p:sp>
        <p:nvSpPr>
          <p:cNvPr id="6" name="Text 4"/>
          <p:cNvSpPr txBox="1"/>
          <p:nvPr/>
        </p:nvSpPr>
        <p:spPr>
          <a:xfrm>
            <a:off x="1353312" y="1097280"/>
            <a:ext cx="10180015" cy="731520"/>
          </a:xfrm>
          <a:prstGeom prst="rect">
            <a:avLst/>
          </a:prstGeom>
          <a:noFill/>
          <a:ln/>
        </p:spPr>
        <p:txBody>
          <a:bodyPr wrap="square" lIns="0" tIns="0" rIns="0" bIns="0" rtlCol="0" anchor="t"/>
          <a:lstStyle/>
          <a:p>
            <a:pPr indent="0" marL="0">
              <a:buNone/>
            </a:pPr>
            <a:r>
              <a:rPr lang="en-US" sz="1600" i="1" dirty="0">
                <a:solidFill>
                  <a:srgbClr val="7B849E"/>
                </a:solidFill>
                <a:latin typeface="Calibri" pitchFamily="34" charset="0"/>
                <a:ea typeface="Calibri" pitchFamily="34" charset="-122"/>
                <a:cs typeface="Calibri" pitchFamily="34" charset="-120"/>
              </a:rPr>
              <a:t>10 m yarıçaplı düşey bir döngünün tepesinden 20 m/s ile geçen vagondaki 50 kg'lık yolcuya koltuk kaç N kuvvet uygular?</a:t>
            </a:r>
            <a:endParaRPr lang="en-US" sz="1600" dirty="0"/>
          </a:p>
        </p:txBody>
      </p:sp>
      <p:sp>
        <p:nvSpPr>
          <p:cNvPr id="7" name="Shape 5"/>
          <p:cNvSpPr/>
          <p:nvPr/>
        </p:nvSpPr>
        <p:spPr>
          <a:xfrm>
            <a:off x="640080" y="2011680"/>
            <a:ext cx="10911535" cy="4133088"/>
          </a:xfrm>
          <a:prstGeom prst="roundRect">
            <a:avLst>
              <a:gd name="adj" fmla="val 4425"/>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667512" y="2377440"/>
            <a:ext cx="64008" cy="3401568"/>
          </a:xfrm>
          <a:prstGeom prst="rect">
            <a:avLst/>
          </a:prstGeom>
          <a:solidFill>
            <a:srgbClr val="A56209"/>
          </a:solidFill>
          <a:ln/>
        </p:spPr>
      </p:sp>
      <p:sp>
        <p:nvSpPr>
          <p:cNvPr id="9" name="Text 7"/>
          <p:cNvSpPr txBox="1"/>
          <p:nvPr/>
        </p:nvSpPr>
        <p:spPr>
          <a:xfrm>
            <a:off x="1143000" y="2286000"/>
            <a:ext cx="9905695" cy="3584448"/>
          </a:xfrm>
          <a:prstGeom prst="rect">
            <a:avLst/>
          </a:prstGeom>
          <a:noFill/>
          <a:ln/>
        </p:spPr>
        <p:txBody>
          <a:bodyPr wrap="square" lIns="0" tIns="0" rIns="0" bIns="0" rtlCol="0" anchor="ctr"/>
          <a:lstStyle/>
          <a:p>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Cevap:</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 Tepede hem ağırlık hem koltuğun kuvveti N aşağı, yani merkeze bakar: N + m · g = m · v² / r. m · v² / r = 50 · 400 / 10 = 2000 N ve m · g = 500 N → N = 2000 − 500 = </a:t>
            </a:r>
            <a:pPr indent="0" marL="0">
              <a:lnSpc>
                <a:spcPct val="125000"/>
              </a:lnSpc>
              <a:buNone/>
            </a:pPr>
            <a:r>
              <a:rPr lang="en-US" sz="2400" b="1" dirty="0">
                <a:solidFill>
                  <a:srgbClr val="A56209"/>
                </a:solidFill>
                <a:latin typeface="Calibri" pitchFamily="34" charset="0"/>
                <a:ea typeface="Calibri" pitchFamily="34" charset="-122"/>
                <a:cs typeface="Calibri" pitchFamily="34" charset="-120"/>
              </a:rPr>
              <a:t>1500 N</a:t>
            </a:r>
            <a:pPr indent="0" marL="0">
              <a:lnSpc>
                <a:spcPct val="125000"/>
              </a:lnSpc>
              <a:buNone/>
            </a:pPr>
            <a:r>
              <a:rPr lang="en-US" sz="2400" dirty="0">
                <a:solidFill>
                  <a:srgbClr val="0E1426"/>
                </a:solidFill>
                <a:latin typeface="Calibri" pitchFamily="34" charset="0"/>
                <a:ea typeface="Calibri" pitchFamily="34" charset="-122"/>
                <a:cs typeface="Calibri" pitchFamily="34" charset="-120"/>
              </a:rPr>
              <a:t>.</a:t>
            </a:r>
            <a:endParaRPr lang="en-US" sz="2400" dirty="0"/>
          </a:p>
        </p:txBody>
      </p:sp>
      <p:sp>
        <p:nvSpPr>
          <p:cNvPr id="10" name="Shape 8"/>
          <p:cNvSpPr/>
          <p:nvPr/>
        </p:nvSpPr>
        <p:spPr>
          <a:xfrm>
            <a:off x="640080" y="6382512"/>
            <a:ext cx="128016" cy="128016"/>
          </a:xfrm>
          <a:prstGeom prst="roundRect">
            <a:avLst>
              <a:gd name="adj" fmla="val 28571"/>
            </a:avLst>
          </a:prstGeom>
          <a:solidFill>
            <a:srgbClr val="A9E648"/>
          </a:solidFill>
          <a:ln/>
        </p:spPr>
      </p:sp>
      <p:sp>
        <p:nvSpPr>
          <p:cNvPr id="11" name="Text 9"/>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12" name="Text 10"/>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122</a:t>
            </a:r>
            <a:endParaRPr lang="en-US" sz="10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1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“Sürat sabitse ivme yoktur.”</a:t>
            </a:r>
            <a:endParaRPr lang="en-US" sz="1900" dirty="0"/>
          </a:p>
        </p:txBody>
      </p:sp>
      <p:sp>
        <p:nvSpPr>
          <p:cNvPr id="11" name="Shape 9"/>
          <p:cNvSpPr/>
          <p:nvPr/>
        </p:nvSpPr>
        <p:spPr>
          <a:xfrm>
            <a:off x="841248" y="2271522"/>
            <a:ext cx="310896" cy="310896"/>
          </a:xfrm>
          <a:prstGeom prst="roundRect">
            <a:avLst>
              <a:gd name="adj" fmla="val 26471"/>
            </a:avLst>
          </a:prstGeom>
          <a:solidFill>
            <a:srgbClr val="EAF7DC"/>
          </a:solidFill>
          <a:ln/>
        </p:spPr>
      </p:sp>
      <p:sp>
        <p:nvSpPr>
          <p:cNvPr id="12" name="Text 10"/>
          <p:cNvSpPr txBox="1"/>
          <p:nvPr/>
        </p:nvSpPr>
        <p:spPr>
          <a:xfrm>
            <a:off x="841248"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Hızın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yönü</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değişiyorsa ivme vardır; çembersel harekette ivme merkeze doğrudur.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406146"/>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“İvme hız yönündedir.”</a:t>
            </a:r>
            <a:endParaRPr lang="en-US" sz="1900" dirty="0"/>
          </a:p>
        </p:txBody>
      </p:sp>
      <p:sp>
        <p:nvSpPr>
          <p:cNvPr id="18" name="Shape 16"/>
          <p:cNvSpPr/>
          <p:nvPr/>
        </p:nvSpPr>
        <p:spPr>
          <a:xfrm>
            <a:off x="6406744" y="2271522"/>
            <a:ext cx="310896" cy="310896"/>
          </a:xfrm>
          <a:prstGeom prst="roundRect">
            <a:avLst>
              <a:gd name="adj" fmla="val 26471"/>
            </a:avLst>
          </a:prstGeom>
          <a:solidFill>
            <a:srgbClr val="EAF7DC"/>
          </a:solidFill>
          <a:ln/>
        </p:spPr>
      </p:sp>
      <p:sp>
        <p:nvSpPr>
          <p:cNvPr id="19" name="Text 17"/>
          <p:cNvSpPr txBox="1"/>
          <p:nvPr/>
        </p:nvSpPr>
        <p:spPr>
          <a:xfrm>
            <a:off x="6406744" y="2271522"/>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253234"/>
            <a:ext cx="4523080" cy="1422654"/>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Düzgün çembersel harekette ivme hıza </a:t>
            </a:r>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diktir</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hızı büyütmez, çevirir.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“Cisme dışarı doğru merkezkaç kuvveti etki eder.”</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Yerdeki gözlemci için böyle bir kuvvet yoktur; hissedilen şey eylemsizliktir.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“Merkezcil kuvvet ayrı bir kuvvettir.”</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Serbest cisim diyagramına ayrıca eklenmez; gerilme, sürtünme ya da çekim bu rolü üstlenir.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123</a:t>
            </a:r>
            <a:endParaRPr lang="en-US" sz="10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420624"/>
            <a:ext cx="493776" cy="493776"/>
          </a:xfrm>
          <a:prstGeom prst="roundRect">
            <a:avLst>
              <a:gd name="adj" fmla="val 25926"/>
            </a:avLst>
          </a:prstGeom>
          <a:solidFill>
            <a:srgbClr val="C53455"/>
          </a:solidFill>
          <a:ln/>
          <a:effectLst>
            <a:outerShdw sx="100000" sy="100000" kx="0" ky="0" algn="bl" rotWithShape="0" blurRad="101600" dist="25400" dir="5400000">
              <a:srgbClr val="C53455">
                <a:alpha val="28000"/>
              </a:srgbClr>
            </a:outerShdw>
          </a:effectLst>
        </p:spPr>
      </p:sp>
      <p:sp>
        <p:nvSpPr>
          <p:cNvPr id="3" name="Text 1"/>
          <p:cNvSpPr txBox="1"/>
          <p:nvPr/>
        </p:nvSpPr>
        <p:spPr>
          <a:xfrm>
            <a:off x="640080" y="420624"/>
            <a:ext cx="493776" cy="49377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14</a:t>
            </a:r>
            <a:endParaRPr lang="en-US" sz="1300" dirty="0"/>
          </a:p>
        </p:txBody>
      </p:sp>
      <p:sp>
        <p:nvSpPr>
          <p:cNvPr id="4" name="Text 2"/>
          <p:cNvSpPr txBox="1"/>
          <p:nvPr/>
        </p:nvSpPr>
        <p:spPr>
          <a:xfrm>
            <a:off x="1353312" y="365760"/>
            <a:ext cx="10198303" cy="640080"/>
          </a:xfrm>
          <a:prstGeom prst="rect">
            <a:avLst/>
          </a:prstGeom>
          <a:noFill/>
          <a:ln/>
        </p:spPr>
        <p:txBody>
          <a:bodyPr wrap="square" lIns="0" tIns="0" rIns="0" bIns="0" rtlCol="0" anchor="ctr"/>
          <a:lstStyle/>
          <a:p>
            <a:pPr algn="l" indent="0" marL="0">
              <a:buNone/>
            </a:pPr>
            <a:r>
              <a:rPr lang="en-US" sz="3200" b="1" spc="-50" kern="0" dirty="0">
                <a:solidFill>
                  <a:srgbClr val="0E1426"/>
                </a:solidFill>
                <a:latin typeface="Cambria" pitchFamily="34" charset="0"/>
                <a:ea typeface="Cambria" pitchFamily="34" charset="-122"/>
                <a:cs typeface="Cambria" pitchFamily="34" charset="-120"/>
              </a:rPr>
              <a:t>Sık yapılan hatalar · 2 / 2</a:t>
            </a:r>
            <a:endParaRPr lang="en-US" sz="3200" dirty="0"/>
          </a:p>
        </p:txBody>
      </p:sp>
      <p:sp>
        <p:nvSpPr>
          <p:cNvPr id="5" name="Text 3"/>
          <p:cNvSpPr txBox="1"/>
          <p:nvPr/>
        </p:nvSpPr>
        <p:spPr>
          <a:xfrm>
            <a:off x="7345375" y="109728"/>
            <a:ext cx="4206240" cy="256032"/>
          </a:xfrm>
          <a:prstGeom prst="rect">
            <a:avLst/>
          </a:prstGeom>
          <a:noFill/>
          <a:ln/>
        </p:spPr>
        <p:txBody>
          <a:bodyPr wrap="square" lIns="0" tIns="0" rIns="0" bIns="0" rtlCol="0" anchor="ctr"/>
          <a:lstStyle/>
          <a:p>
            <a:pPr algn="r" indent="0" marL="0">
              <a:buNone/>
            </a:pPr>
            <a:r>
              <a:rPr lang="en-US" sz="950" b="1" spc="200" kern="0" dirty="0">
                <a:solidFill>
                  <a:srgbClr val="7B849E"/>
                </a:solidFill>
                <a:latin typeface="Calibri" pitchFamily="34" charset="0"/>
                <a:ea typeface="Calibri" pitchFamily="34" charset="-122"/>
                <a:cs typeface="Calibri" pitchFamily="34" charset="-120"/>
              </a:rPr>
              <a:t>4 / 4  </a:t>
            </a:r>
            <a:pPr algn="r" indent="0" marL="0">
              <a:buNone/>
            </a:pPr>
            <a:r>
              <a:rPr lang="en-US" sz="950" b="1" spc="200" kern="0" dirty="0">
                <a:solidFill>
                  <a:srgbClr val="A56209"/>
                </a:solidFill>
                <a:latin typeface="Calibri" pitchFamily="34" charset="0"/>
                <a:ea typeface="Calibri" pitchFamily="34" charset="-122"/>
                <a:cs typeface="Calibri" pitchFamily="34" charset="-120"/>
              </a:rPr>
              <a:t>PEKİŞTİR</a:t>
            </a:r>
            <a:endParaRPr lang="en-US" sz="950" dirty="0"/>
          </a:p>
        </p:txBody>
      </p:sp>
      <p:sp>
        <p:nvSpPr>
          <p:cNvPr id="6" name="Text 4"/>
          <p:cNvSpPr txBox="1"/>
          <p:nvPr/>
        </p:nvSpPr>
        <p:spPr>
          <a:xfrm>
            <a:off x="1353312" y="1024128"/>
            <a:ext cx="10088575" cy="384048"/>
          </a:xfrm>
          <a:prstGeom prst="rect">
            <a:avLst/>
          </a:prstGeom>
          <a:noFill/>
          <a:ln/>
        </p:spPr>
        <p:txBody>
          <a:bodyPr wrap="square" lIns="0" tIns="0" rIns="0" bIns="0" rtlCol="0" anchor="ctr"/>
          <a:lstStyle/>
          <a:p>
            <a:pPr indent="0" marL="0">
              <a:buNone/>
            </a:pPr>
            <a:r>
              <a:rPr lang="en-US" sz="1450" dirty="0">
                <a:solidFill>
                  <a:srgbClr val="4A5470"/>
                </a:solidFill>
                <a:latin typeface="Calibri" pitchFamily="34" charset="0"/>
                <a:ea typeface="Calibri" pitchFamily="34" charset="-122"/>
                <a:cs typeface="Calibri" pitchFamily="34" charset="-120"/>
              </a:rPr>
              <a:t>Sınavda puan kaybettiren klasikler ve doğrusu.</a:t>
            </a:r>
            <a:endParaRPr lang="en-US" sz="1450" dirty="0"/>
          </a:p>
        </p:txBody>
      </p:sp>
      <p:sp>
        <p:nvSpPr>
          <p:cNvPr id="7" name="Shape 5"/>
          <p:cNvSpPr/>
          <p:nvPr/>
        </p:nvSpPr>
        <p:spPr>
          <a:xfrm>
            <a:off x="640080"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8" name="Shape 6"/>
          <p:cNvSpPr/>
          <p:nvPr/>
        </p:nvSpPr>
        <p:spPr>
          <a:xfrm>
            <a:off x="841248" y="1792224"/>
            <a:ext cx="310896" cy="310896"/>
          </a:xfrm>
          <a:prstGeom prst="roundRect">
            <a:avLst>
              <a:gd name="adj" fmla="val 26471"/>
            </a:avLst>
          </a:prstGeom>
          <a:solidFill>
            <a:srgbClr val="FBE9EE"/>
          </a:solidFill>
          <a:ln/>
        </p:spPr>
      </p:sp>
      <p:sp>
        <p:nvSpPr>
          <p:cNvPr id="9" name="Text 7"/>
          <p:cNvSpPr txBox="1"/>
          <p:nvPr/>
        </p:nvSpPr>
        <p:spPr>
          <a:xfrm>
            <a:off x="841248"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0" name="Text 8"/>
          <p:cNvSpPr txBox="1"/>
          <p:nvPr/>
        </p:nvSpPr>
        <p:spPr>
          <a:xfrm>
            <a:off x="1280160"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“İp kesilince cisim merkezden uzaklaşan doğrultuda gider.”</a:t>
            </a:r>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 </a:t>
            </a:r>
            <a:endParaRPr lang="en-US" sz="1900" dirty="0"/>
          </a:p>
        </p:txBody>
      </p:sp>
      <p:sp>
        <p:nvSpPr>
          <p:cNvPr id="11" name="Shape 9"/>
          <p:cNvSpPr/>
          <p:nvPr/>
        </p:nvSpPr>
        <p:spPr>
          <a:xfrm>
            <a:off x="841248" y="2604516"/>
            <a:ext cx="310896" cy="310896"/>
          </a:xfrm>
          <a:prstGeom prst="roundRect">
            <a:avLst>
              <a:gd name="adj" fmla="val 26471"/>
            </a:avLst>
          </a:prstGeom>
          <a:solidFill>
            <a:srgbClr val="EAF7DC"/>
          </a:solidFill>
          <a:ln/>
        </p:spPr>
      </p:sp>
      <p:sp>
        <p:nvSpPr>
          <p:cNvPr id="12" name="Text 10"/>
          <p:cNvSpPr txBox="1"/>
          <p:nvPr/>
        </p:nvSpPr>
        <p:spPr>
          <a:xfrm>
            <a:off x="841248"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13" name="Text 11"/>
          <p:cNvSpPr txBox="1"/>
          <p:nvPr/>
        </p:nvSpPr>
        <p:spPr>
          <a:xfrm>
            <a:off x="1280160" y="2586228"/>
            <a:ext cx="4523080" cy="1089660"/>
          </a:xfrm>
          <a:prstGeom prst="rect">
            <a:avLst/>
          </a:prstGeom>
          <a:noFill/>
          <a:ln/>
        </p:spPr>
        <p:txBody>
          <a:bodyPr wrap="square" lIns="0" tIns="0" rIns="0" bIns="0" rtlCol="0" anchor="t"/>
          <a:lstStyle/>
          <a:p>
            <a:pPr indent="0" marL="0">
              <a:lnSpc>
                <a:spcPct val="108000"/>
              </a:lnSpc>
              <a:buNone/>
            </a:pPr>
            <a:r>
              <a:rPr lang="en-US" sz="1700" i="1" dirty="0">
                <a:solidFill>
                  <a:srgbClr val="4A5470"/>
                </a:solidFill>
                <a:latin typeface="Calibri" pitchFamily="34" charset="0"/>
                <a:ea typeface="Calibri" pitchFamily="34" charset="-122"/>
                <a:cs typeface="Calibri" pitchFamily="34" charset="-120"/>
              </a:rPr>
              <a:t>Teğet</a:t>
            </a:r>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doğrultuda gider.</a:t>
            </a:r>
            <a:endParaRPr lang="en-US" sz="1700" dirty="0"/>
          </a:p>
        </p:txBody>
      </p:sp>
      <p:sp>
        <p:nvSpPr>
          <p:cNvPr id="14" name="Shape 12"/>
          <p:cNvSpPr/>
          <p:nvPr/>
        </p:nvSpPr>
        <p:spPr>
          <a:xfrm>
            <a:off x="6205576" y="1627632"/>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15" name="Shape 13"/>
          <p:cNvSpPr/>
          <p:nvPr/>
        </p:nvSpPr>
        <p:spPr>
          <a:xfrm>
            <a:off x="6406744" y="1792224"/>
            <a:ext cx="310896" cy="310896"/>
          </a:xfrm>
          <a:prstGeom prst="roundRect">
            <a:avLst>
              <a:gd name="adj" fmla="val 26471"/>
            </a:avLst>
          </a:prstGeom>
          <a:solidFill>
            <a:srgbClr val="FBE9EE"/>
          </a:solidFill>
          <a:ln/>
        </p:spPr>
      </p:sp>
      <p:sp>
        <p:nvSpPr>
          <p:cNvPr id="16" name="Text 14"/>
          <p:cNvSpPr txBox="1"/>
          <p:nvPr/>
        </p:nvSpPr>
        <p:spPr>
          <a:xfrm>
            <a:off x="6406744" y="1792224"/>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17" name="Text 15"/>
          <p:cNvSpPr txBox="1"/>
          <p:nvPr/>
        </p:nvSpPr>
        <p:spPr>
          <a:xfrm>
            <a:off x="6845656" y="1755648"/>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“Diskin her noktasının hızı aynıdır.”</a:t>
            </a:r>
            <a:endParaRPr lang="en-US" sz="1900" dirty="0"/>
          </a:p>
        </p:txBody>
      </p:sp>
      <p:sp>
        <p:nvSpPr>
          <p:cNvPr id="18" name="Shape 16"/>
          <p:cNvSpPr/>
          <p:nvPr/>
        </p:nvSpPr>
        <p:spPr>
          <a:xfrm>
            <a:off x="6406744" y="2604516"/>
            <a:ext cx="310896" cy="310896"/>
          </a:xfrm>
          <a:prstGeom prst="roundRect">
            <a:avLst>
              <a:gd name="adj" fmla="val 26471"/>
            </a:avLst>
          </a:prstGeom>
          <a:solidFill>
            <a:srgbClr val="EAF7DC"/>
          </a:solidFill>
          <a:ln/>
        </p:spPr>
      </p:sp>
      <p:sp>
        <p:nvSpPr>
          <p:cNvPr id="19" name="Text 17"/>
          <p:cNvSpPr txBox="1"/>
          <p:nvPr/>
        </p:nvSpPr>
        <p:spPr>
          <a:xfrm>
            <a:off x="6406744" y="2604516"/>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0" name="Text 18"/>
          <p:cNvSpPr txBox="1"/>
          <p:nvPr/>
        </p:nvSpPr>
        <p:spPr>
          <a:xfrm>
            <a:off x="6845656" y="2586228"/>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Aynı olan periyot ve açısal hızdır; çizgisel hız yarıçapla artar.</a:t>
            </a:r>
            <a:endParaRPr lang="en-US" sz="1700" dirty="0"/>
          </a:p>
        </p:txBody>
      </p:sp>
      <p:sp>
        <p:nvSpPr>
          <p:cNvPr id="21" name="Shape 19"/>
          <p:cNvSpPr/>
          <p:nvPr/>
        </p:nvSpPr>
        <p:spPr>
          <a:xfrm>
            <a:off x="640080"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2" name="Shape 20"/>
          <p:cNvSpPr/>
          <p:nvPr/>
        </p:nvSpPr>
        <p:spPr>
          <a:xfrm>
            <a:off x="841248" y="4133088"/>
            <a:ext cx="310896" cy="310896"/>
          </a:xfrm>
          <a:prstGeom prst="roundRect">
            <a:avLst>
              <a:gd name="adj" fmla="val 26471"/>
            </a:avLst>
          </a:prstGeom>
          <a:solidFill>
            <a:srgbClr val="FBE9EE"/>
          </a:solidFill>
          <a:ln/>
        </p:spPr>
      </p:sp>
      <p:sp>
        <p:nvSpPr>
          <p:cNvPr id="23" name="Text 21"/>
          <p:cNvSpPr txBox="1"/>
          <p:nvPr/>
        </p:nvSpPr>
        <p:spPr>
          <a:xfrm>
            <a:off x="841248"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24" name="Text 22"/>
          <p:cNvSpPr txBox="1"/>
          <p:nvPr/>
        </p:nvSpPr>
        <p:spPr>
          <a:xfrm>
            <a:off x="1280160"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“Ağır araç virajda daha kolay savrulur.”</a:t>
            </a:r>
            <a:endParaRPr lang="en-US" sz="1900" dirty="0"/>
          </a:p>
        </p:txBody>
      </p:sp>
      <p:sp>
        <p:nvSpPr>
          <p:cNvPr id="25" name="Shape 23"/>
          <p:cNvSpPr/>
          <p:nvPr/>
        </p:nvSpPr>
        <p:spPr>
          <a:xfrm>
            <a:off x="841248" y="4945380"/>
            <a:ext cx="310896" cy="310896"/>
          </a:xfrm>
          <a:prstGeom prst="roundRect">
            <a:avLst>
              <a:gd name="adj" fmla="val 26471"/>
            </a:avLst>
          </a:prstGeom>
          <a:solidFill>
            <a:srgbClr val="EAF7DC"/>
          </a:solidFill>
          <a:ln/>
        </p:spPr>
      </p:sp>
      <p:sp>
        <p:nvSpPr>
          <p:cNvPr id="26" name="Text 24"/>
          <p:cNvSpPr txBox="1"/>
          <p:nvPr/>
        </p:nvSpPr>
        <p:spPr>
          <a:xfrm>
            <a:off x="841248"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27" name="Text 25"/>
          <p:cNvSpPr txBox="1"/>
          <p:nvPr/>
        </p:nvSpPr>
        <p:spPr>
          <a:xfrm>
            <a:off x="1280160"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Sınır hız √(μgr)'dir; kütleden bağımsızdır.</a:t>
            </a:r>
            <a:endParaRPr lang="en-US" sz="1700" dirty="0"/>
          </a:p>
        </p:txBody>
      </p:sp>
      <p:sp>
        <p:nvSpPr>
          <p:cNvPr id="28" name="Shape 26"/>
          <p:cNvSpPr/>
          <p:nvPr/>
        </p:nvSpPr>
        <p:spPr>
          <a:xfrm>
            <a:off x="6205576" y="3968496"/>
            <a:ext cx="5346040" cy="2176272"/>
          </a:xfrm>
          <a:prstGeom prst="roundRect">
            <a:avLst>
              <a:gd name="adj" fmla="val 6723"/>
            </a:avLst>
          </a:prstGeom>
          <a:solidFill>
            <a:srgbClr val="FFFFFF"/>
          </a:solidFill>
          <a:ln w="9525">
            <a:solidFill>
              <a:srgbClr val="E1E5EE"/>
            </a:solidFill>
            <a:prstDash val="solid"/>
          </a:ln>
          <a:effectLst>
            <a:outerShdw sx="100000" sy="100000" kx="0" ky="0" algn="bl" rotWithShape="0" blurRad="127000" dist="38100" dir="5400000">
              <a:srgbClr val="1E2A4A">
                <a:alpha val="10000"/>
              </a:srgbClr>
            </a:outerShdw>
          </a:effectLst>
        </p:spPr>
      </p:sp>
      <p:sp>
        <p:nvSpPr>
          <p:cNvPr id="29" name="Shape 27"/>
          <p:cNvSpPr/>
          <p:nvPr/>
        </p:nvSpPr>
        <p:spPr>
          <a:xfrm>
            <a:off x="6406744" y="4133088"/>
            <a:ext cx="310896" cy="310896"/>
          </a:xfrm>
          <a:prstGeom prst="roundRect">
            <a:avLst>
              <a:gd name="adj" fmla="val 26471"/>
            </a:avLst>
          </a:prstGeom>
          <a:solidFill>
            <a:srgbClr val="FBE9EE"/>
          </a:solidFill>
          <a:ln/>
        </p:spPr>
      </p:sp>
      <p:sp>
        <p:nvSpPr>
          <p:cNvPr id="30" name="Text 28"/>
          <p:cNvSpPr txBox="1"/>
          <p:nvPr/>
        </p:nvSpPr>
        <p:spPr>
          <a:xfrm>
            <a:off x="6406744" y="4133088"/>
            <a:ext cx="310896" cy="310896"/>
          </a:xfrm>
          <a:prstGeom prst="rect">
            <a:avLst/>
          </a:prstGeom>
          <a:noFill/>
          <a:ln/>
        </p:spPr>
        <p:txBody>
          <a:bodyPr wrap="square" lIns="0" tIns="0" rIns="0" bIns="0" rtlCol="0" anchor="ctr"/>
          <a:lstStyle/>
          <a:p>
            <a:pPr algn="ctr" indent="0" marL="0">
              <a:buNone/>
            </a:pPr>
            <a:r>
              <a:rPr lang="en-US" sz="1400" b="1" dirty="0">
                <a:solidFill>
                  <a:srgbClr val="C53455"/>
                </a:solidFill>
                <a:latin typeface="Calibri" pitchFamily="34" charset="0"/>
                <a:ea typeface="Calibri" pitchFamily="34" charset="-122"/>
                <a:cs typeface="Calibri" pitchFamily="34" charset="-120"/>
              </a:rPr>
              <a:t>✗</a:t>
            </a:r>
            <a:endParaRPr lang="en-US" sz="1400" dirty="0"/>
          </a:p>
        </p:txBody>
      </p:sp>
      <p:sp>
        <p:nvSpPr>
          <p:cNvPr id="31" name="Text 29"/>
          <p:cNvSpPr txBox="1"/>
          <p:nvPr/>
        </p:nvSpPr>
        <p:spPr>
          <a:xfrm>
            <a:off x="6845656" y="4096512"/>
            <a:ext cx="4523080" cy="739140"/>
          </a:xfrm>
          <a:prstGeom prst="rect">
            <a:avLst/>
          </a:prstGeom>
          <a:noFill/>
          <a:ln/>
        </p:spPr>
        <p:txBody>
          <a:bodyPr wrap="square" lIns="0" tIns="0" rIns="0" bIns="0" rtlCol="0" anchor="t"/>
          <a:lstStyle/>
          <a:p>
            <a:pPr indent="0" marL="0">
              <a:lnSpc>
                <a:spcPct val="108000"/>
              </a:lnSpc>
              <a:buNone/>
            </a:pPr>
            <a:r>
              <a:rPr lang="en-US" sz="1900" b="1" dirty="0">
                <a:solidFill>
                  <a:srgbClr val="0E1426"/>
                </a:solidFill>
                <a:latin typeface="Calibri" pitchFamily="34" charset="0"/>
                <a:ea typeface="Calibri" pitchFamily="34" charset="-122"/>
                <a:cs typeface="Calibri" pitchFamily="34" charset="-120"/>
              </a:rPr>
              <a:t>“Uydu, yerçekimi olmadığı için düşmez.”</a:t>
            </a:r>
            <a:endParaRPr lang="en-US" sz="1900" dirty="0"/>
          </a:p>
        </p:txBody>
      </p:sp>
      <p:sp>
        <p:nvSpPr>
          <p:cNvPr id="32" name="Shape 30"/>
          <p:cNvSpPr/>
          <p:nvPr/>
        </p:nvSpPr>
        <p:spPr>
          <a:xfrm>
            <a:off x="6406744" y="4945380"/>
            <a:ext cx="310896" cy="310896"/>
          </a:xfrm>
          <a:prstGeom prst="roundRect">
            <a:avLst>
              <a:gd name="adj" fmla="val 26471"/>
            </a:avLst>
          </a:prstGeom>
          <a:solidFill>
            <a:srgbClr val="EAF7DC"/>
          </a:solidFill>
          <a:ln/>
        </p:spPr>
      </p:sp>
      <p:sp>
        <p:nvSpPr>
          <p:cNvPr id="33" name="Text 31"/>
          <p:cNvSpPr txBox="1"/>
          <p:nvPr/>
        </p:nvSpPr>
        <p:spPr>
          <a:xfrm>
            <a:off x="6406744" y="4945380"/>
            <a:ext cx="310896" cy="310896"/>
          </a:xfrm>
          <a:prstGeom prst="rect">
            <a:avLst/>
          </a:prstGeom>
          <a:noFill/>
          <a:ln/>
        </p:spPr>
        <p:txBody>
          <a:bodyPr wrap="square" lIns="0" tIns="0" rIns="0" bIns="0" rtlCol="0" anchor="ctr"/>
          <a:lstStyle/>
          <a:p>
            <a:pPr algn="ctr" indent="0" marL="0">
              <a:buNone/>
            </a:pPr>
            <a:r>
              <a:rPr lang="en-US" sz="1400" b="1" dirty="0">
                <a:solidFill>
                  <a:srgbClr val="3C8C21"/>
                </a:solidFill>
                <a:latin typeface="Calibri" pitchFamily="34" charset="0"/>
                <a:ea typeface="Calibri" pitchFamily="34" charset="-122"/>
                <a:cs typeface="Calibri" pitchFamily="34" charset="-120"/>
              </a:rPr>
              <a:t>✓</a:t>
            </a:r>
            <a:endParaRPr lang="en-US" sz="1400" dirty="0"/>
          </a:p>
        </p:txBody>
      </p:sp>
      <p:sp>
        <p:nvSpPr>
          <p:cNvPr id="34" name="Text 32"/>
          <p:cNvSpPr txBox="1"/>
          <p:nvPr/>
        </p:nvSpPr>
        <p:spPr>
          <a:xfrm>
            <a:off x="6845656" y="4927092"/>
            <a:ext cx="4523080" cy="1089660"/>
          </a:xfrm>
          <a:prstGeom prst="rect">
            <a:avLst/>
          </a:prstGeom>
          <a:noFill/>
          <a:ln/>
        </p:spPr>
        <p:txBody>
          <a:bodyPr wrap="square" lIns="0" tIns="0" rIns="0" bIns="0" rtlCol="0" anchor="t"/>
          <a:lstStyle/>
          <a:p>
            <a:pPr indent="0" marL="0">
              <a:lnSpc>
                <a:spcPct val="108000"/>
              </a:lnSpc>
              <a:buNone/>
            </a:pPr>
            <a:r>
              <a:rPr lang="en-US" sz="1700" dirty="0">
                <a:solidFill>
                  <a:srgbClr val="4A5470"/>
                </a:solidFill>
                <a:latin typeface="Calibri" pitchFamily="34" charset="0"/>
                <a:ea typeface="Calibri" pitchFamily="34" charset="-122"/>
                <a:cs typeface="Calibri" pitchFamily="34" charset="-120"/>
              </a:rPr>
              <a:t> Yerçekimi oradadır ve tam da merkezcil kuvvet görevini üstlenir; uydu yana doğru o kadar hızlı gider ki çemberde kalır.</a:t>
            </a:r>
            <a:endParaRPr lang="en-US" sz="1700" dirty="0"/>
          </a:p>
        </p:txBody>
      </p:sp>
      <p:sp>
        <p:nvSpPr>
          <p:cNvPr id="35" name="Shape 33"/>
          <p:cNvSpPr/>
          <p:nvPr/>
        </p:nvSpPr>
        <p:spPr>
          <a:xfrm>
            <a:off x="640080" y="6382512"/>
            <a:ext cx="128016" cy="128016"/>
          </a:xfrm>
          <a:prstGeom prst="roundRect">
            <a:avLst>
              <a:gd name="adj" fmla="val 28571"/>
            </a:avLst>
          </a:prstGeom>
          <a:solidFill>
            <a:srgbClr val="A9E648"/>
          </a:solidFill>
          <a:ln/>
        </p:spPr>
      </p:sp>
      <p:sp>
        <p:nvSpPr>
          <p:cNvPr id="36" name="Text 34"/>
          <p:cNvSpPr txBox="1"/>
          <p:nvPr/>
        </p:nvSpPr>
        <p:spPr>
          <a:xfrm>
            <a:off x="859536" y="6291072"/>
            <a:ext cx="7315200" cy="310896"/>
          </a:xfrm>
          <a:prstGeom prst="rect">
            <a:avLst/>
          </a:prstGeom>
          <a:noFill/>
          <a:ln/>
        </p:spPr>
        <p:txBody>
          <a:bodyPr wrap="square" lIns="0" tIns="0" rIns="0" bIns="0" rtlCol="0" anchor="ctr"/>
          <a:lstStyle/>
          <a:p>
            <a:pPr indent="0" marL="0">
              <a:buNone/>
            </a:pPr>
            <a:r>
              <a:rPr lang="en-US" sz="1050" dirty="0">
                <a:solidFill>
                  <a:srgbClr val="7B849E"/>
                </a:solidFill>
                <a:latin typeface="Calibri" pitchFamily="34" charset="0"/>
                <a:ea typeface="Calibri" pitchFamily="34" charset="-122"/>
                <a:cs typeface="Calibri" pitchFamily="34" charset="-120"/>
              </a:rPr>
              <a:t>dersler.perinet.org/cembersel-hareket.html</a:t>
            </a:r>
            <a:endParaRPr lang="en-US" sz="1050" dirty="0"/>
          </a:p>
        </p:txBody>
      </p:sp>
      <p:sp>
        <p:nvSpPr>
          <p:cNvPr id="37" name="Text 35"/>
          <p:cNvSpPr txBox="1"/>
          <p:nvPr/>
        </p:nvSpPr>
        <p:spPr>
          <a:xfrm>
            <a:off x="10454335" y="6291072"/>
            <a:ext cx="1097280" cy="310896"/>
          </a:xfrm>
          <a:prstGeom prst="rect">
            <a:avLst/>
          </a:prstGeom>
          <a:noFill/>
          <a:ln/>
        </p:spPr>
        <p:txBody>
          <a:bodyPr wrap="square" lIns="0" tIns="0" rIns="0" bIns="0" rtlCol="0" anchor="ctr"/>
          <a:lstStyle/>
          <a:p>
            <a:pPr algn="r" indent="0" marL="0">
              <a:buNone/>
            </a:pPr>
            <a:r>
              <a:rPr lang="en-US" sz="1050" spc="100" kern="0" dirty="0">
                <a:solidFill>
                  <a:srgbClr val="7B849E"/>
                </a:solidFill>
                <a:latin typeface="Calibri" pitchFamily="34" charset="0"/>
                <a:ea typeface="Calibri" pitchFamily="34" charset="-122"/>
                <a:cs typeface="Calibri" pitchFamily="34" charset="-120"/>
              </a:rPr>
              <a:t>124</a:t>
            </a:r>
            <a:endParaRPr lang="en-US" sz="10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bg>
      <p:bgPr>
        <a:solidFill>
          <a:srgbClr val="0E1426"/>
        </a:solidFill>
      </p:bgPr>
    </p:bg>
    <p:spTree>
      <p:nvGrpSpPr>
        <p:cNvPr id="1" name=""/>
        <p:cNvGrpSpPr/>
        <p:nvPr/>
      </p:nvGrpSpPr>
      <p:grpSpPr>
        <a:xfrm>
          <a:off x="0" y="0"/>
          <a:ext cx="0" cy="0"/>
          <a:chOff x="0" y="0"/>
          <a:chExt cx="0" cy="0"/>
        </a:xfrm>
      </p:grpSpPr>
      <p:sp>
        <p:nvSpPr>
          <p:cNvPr id="2" name="Shape 0"/>
          <p:cNvSpPr/>
          <p:nvPr/>
        </p:nvSpPr>
        <p:spPr>
          <a:xfrm>
            <a:off x="868680" y="1143000"/>
            <a:ext cx="54864" cy="548640"/>
          </a:xfrm>
          <a:prstGeom prst="rect">
            <a:avLst/>
          </a:prstGeom>
          <a:solidFill>
            <a:srgbClr val="C6F36B"/>
          </a:solidFill>
          <a:ln/>
        </p:spPr>
      </p:sp>
      <p:sp>
        <p:nvSpPr>
          <p:cNvPr id="3" name="Text 1"/>
          <p:cNvSpPr txBox="1"/>
          <p:nvPr/>
        </p:nvSpPr>
        <p:spPr>
          <a:xfrm>
            <a:off x="1097280" y="1005840"/>
            <a:ext cx="5486400" cy="822960"/>
          </a:xfrm>
          <a:prstGeom prst="rect">
            <a:avLst/>
          </a:prstGeom>
          <a:noFill/>
          <a:ln/>
        </p:spPr>
        <p:txBody>
          <a:bodyPr wrap="square" lIns="0" tIns="0" rIns="0" bIns="0" rtlCol="0" anchor="ctr"/>
          <a:lstStyle/>
          <a:p>
            <a:pPr indent="0" marL="0">
              <a:buNone/>
            </a:pPr>
            <a:r>
              <a:rPr lang="en-US" sz="4000" b="1" spc="-100" kern="0" dirty="0">
                <a:solidFill>
                  <a:srgbClr val="FFFFFF"/>
                </a:solidFill>
                <a:latin typeface="Cambria" pitchFamily="34" charset="0"/>
                <a:ea typeface="Cambria" pitchFamily="34" charset="-122"/>
                <a:cs typeface="Cambria" pitchFamily="34" charset="-120"/>
              </a:rPr>
              <a:t>Özetle</a:t>
            </a:r>
            <a:endParaRPr lang="en-US" sz="4000" dirty="0"/>
          </a:p>
        </p:txBody>
      </p:sp>
      <p:sp>
        <p:nvSpPr>
          <p:cNvPr id="4" name="Text 2"/>
          <p:cNvSpPr txBox="1"/>
          <p:nvPr/>
        </p:nvSpPr>
        <p:spPr>
          <a:xfrm>
            <a:off x="86868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AKLINDA KALSIN</a:t>
            </a:r>
            <a:endParaRPr lang="en-US" sz="1050" dirty="0"/>
          </a:p>
        </p:txBody>
      </p:sp>
      <p:sp>
        <p:nvSpPr>
          <p:cNvPr id="5" name="Text 3"/>
          <p:cNvSpPr txBox="1"/>
          <p:nvPr/>
        </p:nvSpPr>
        <p:spPr>
          <a:xfrm>
            <a:off x="868680" y="2450592"/>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01</a:t>
            </a:r>
            <a:endParaRPr lang="en-US" sz="1800" dirty="0"/>
          </a:p>
        </p:txBody>
      </p:sp>
      <p:sp>
        <p:nvSpPr>
          <p:cNvPr id="6" name="Text 4"/>
          <p:cNvSpPr txBox="1"/>
          <p:nvPr/>
        </p:nvSpPr>
        <p:spPr>
          <a:xfrm>
            <a:off x="1463040" y="2450592"/>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Sürat </a:t>
            </a:r>
            <a:pPr indent="0" marL="0">
              <a:buNone/>
            </a:pPr>
            <a:r>
              <a:rPr lang="en-US" sz="1500" b="1" dirty="0">
                <a:solidFill>
                  <a:srgbClr val="FFFFFF"/>
                </a:solidFill>
                <a:latin typeface="Calibri" pitchFamily="34" charset="0"/>
                <a:ea typeface="Calibri" pitchFamily="34" charset="-122"/>
                <a:cs typeface="Calibri" pitchFamily="34" charset="-120"/>
              </a:rPr>
              <a:t>sabit</a:t>
            </a:r>
            <a:pPr indent="0" marL="0">
              <a:buNone/>
            </a:pPr>
            <a:r>
              <a:rPr lang="en-US" sz="1500" dirty="0">
                <a:solidFill>
                  <a:srgbClr val="C3CEE8"/>
                </a:solidFill>
                <a:latin typeface="Calibri" pitchFamily="34" charset="0"/>
                <a:ea typeface="Calibri" pitchFamily="34" charset="-122"/>
                <a:cs typeface="Calibri" pitchFamily="34" charset="-120"/>
              </a:rPr>
              <a:t>, hız değil</a:t>
            </a:r>
            <a:endParaRPr lang="en-US" sz="1500" dirty="0"/>
          </a:p>
        </p:txBody>
      </p:sp>
      <p:sp>
        <p:nvSpPr>
          <p:cNvPr id="7" name="Text 5"/>
          <p:cNvSpPr txBox="1"/>
          <p:nvPr/>
        </p:nvSpPr>
        <p:spPr>
          <a:xfrm>
            <a:off x="868680" y="3236976"/>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02</a:t>
            </a:r>
            <a:endParaRPr lang="en-US" sz="1800" dirty="0"/>
          </a:p>
        </p:txBody>
      </p:sp>
      <p:sp>
        <p:nvSpPr>
          <p:cNvPr id="8" name="Text 6"/>
          <p:cNvSpPr txBox="1"/>
          <p:nvPr/>
        </p:nvSpPr>
        <p:spPr>
          <a:xfrm>
            <a:off x="1463040" y="3236976"/>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İvme </a:t>
            </a:r>
            <a:pPr indent="0" marL="0">
              <a:buNone/>
            </a:pPr>
            <a:r>
              <a:rPr lang="en-US" sz="1500" b="1" dirty="0">
                <a:solidFill>
                  <a:srgbClr val="FFFFFF"/>
                </a:solidFill>
                <a:latin typeface="Calibri" pitchFamily="34" charset="0"/>
                <a:ea typeface="Calibri" pitchFamily="34" charset="-122"/>
                <a:cs typeface="Calibri" pitchFamily="34" charset="-120"/>
              </a:rPr>
              <a:t>merkeze</a:t>
            </a:r>
            <a:pPr indent="0" marL="0">
              <a:buNone/>
            </a:pPr>
            <a:r>
              <a:rPr lang="en-US" sz="1500" dirty="0">
                <a:solidFill>
                  <a:srgbClr val="C3CEE8"/>
                </a:solidFill>
                <a:latin typeface="Calibri" pitchFamily="34" charset="0"/>
                <a:ea typeface="Calibri" pitchFamily="34" charset="-122"/>
                <a:cs typeface="Calibri" pitchFamily="34" charset="-120"/>
              </a:rPr>
              <a:t> doğru</a:t>
            </a:r>
            <a:endParaRPr lang="en-US" sz="1500" dirty="0"/>
          </a:p>
        </p:txBody>
      </p:sp>
      <p:sp>
        <p:nvSpPr>
          <p:cNvPr id="9" name="Text 7"/>
          <p:cNvSpPr txBox="1"/>
          <p:nvPr/>
        </p:nvSpPr>
        <p:spPr>
          <a:xfrm>
            <a:off x="868680" y="4023360"/>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03</a:t>
            </a:r>
            <a:endParaRPr lang="en-US" sz="1800" dirty="0"/>
          </a:p>
        </p:txBody>
      </p:sp>
      <p:sp>
        <p:nvSpPr>
          <p:cNvPr id="10" name="Text 8"/>
          <p:cNvSpPr txBox="1"/>
          <p:nvPr/>
        </p:nvSpPr>
        <p:spPr>
          <a:xfrm>
            <a:off x="1463040" y="4023360"/>
            <a:ext cx="4480560" cy="4572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a = v² / r</a:t>
            </a:r>
            <a:endParaRPr lang="en-US" sz="1500" dirty="0"/>
          </a:p>
        </p:txBody>
      </p:sp>
      <p:sp>
        <p:nvSpPr>
          <p:cNvPr id="11" name="Text 9"/>
          <p:cNvSpPr txBox="1"/>
          <p:nvPr/>
        </p:nvSpPr>
        <p:spPr>
          <a:xfrm>
            <a:off x="868680" y="4809744"/>
            <a:ext cx="548640" cy="457200"/>
          </a:xfrm>
          <a:prstGeom prst="rect">
            <a:avLst/>
          </a:prstGeom>
          <a:noFill/>
          <a:ln/>
        </p:spPr>
        <p:txBody>
          <a:bodyPr wrap="square" lIns="0" tIns="0" rIns="0" bIns="0" rtlCol="0" anchor="ctr"/>
          <a:lstStyle/>
          <a:p>
            <a:pPr indent="0" marL="0">
              <a:buNone/>
            </a:pPr>
            <a:r>
              <a:rPr lang="en-US" sz="1800" b="1" dirty="0">
                <a:solidFill>
                  <a:srgbClr val="C6F36B"/>
                </a:solidFill>
                <a:latin typeface="Cambria" pitchFamily="34" charset="0"/>
                <a:ea typeface="Cambria" pitchFamily="34" charset="-122"/>
                <a:cs typeface="Cambria" pitchFamily="34" charset="-120"/>
              </a:rPr>
              <a:t>04</a:t>
            </a:r>
            <a:endParaRPr lang="en-US" sz="1800" dirty="0"/>
          </a:p>
        </p:txBody>
      </p:sp>
      <p:sp>
        <p:nvSpPr>
          <p:cNvPr id="12" name="Text 10"/>
          <p:cNvSpPr txBox="1"/>
          <p:nvPr/>
        </p:nvSpPr>
        <p:spPr>
          <a:xfrm>
            <a:off x="1463040" y="4809744"/>
            <a:ext cx="4480560" cy="457200"/>
          </a:xfrm>
          <a:prstGeom prst="rect">
            <a:avLst/>
          </a:prstGeom>
          <a:noFill/>
          <a:ln/>
        </p:spPr>
        <p:txBody>
          <a:bodyPr wrap="square" lIns="0" tIns="0" rIns="0" bIns="0" rtlCol="0" anchor="ctr"/>
          <a:lstStyle/>
          <a:p>
            <a:pPr indent="0" marL="0">
              <a:buNone/>
            </a:pPr>
            <a:r>
              <a:rPr lang="en-US" sz="1500" dirty="0">
                <a:solidFill>
                  <a:srgbClr val="C3CEE8"/>
                </a:solidFill>
                <a:latin typeface="Calibri" pitchFamily="34" charset="0"/>
                <a:ea typeface="Calibri" pitchFamily="34" charset="-122"/>
                <a:cs typeface="Calibri" pitchFamily="34" charset="-120"/>
              </a:rPr>
              <a:t>Viraj sınırı </a:t>
            </a:r>
            <a:pPr indent="0" marL="0">
              <a:buNone/>
            </a:pPr>
            <a:r>
              <a:rPr lang="en-US" sz="1500" b="1" dirty="0">
                <a:solidFill>
                  <a:srgbClr val="FFFFFF"/>
                </a:solidFill>
                <a:latin typeface="Calibri" pitchFamily="34" charset="0"/>
                <a:ea typeface="Calibri" pitchFamily="34" charset="-122"/>
                <a:cs typeface="Calibri" pitchFamily="34" charset="-120"/>
              </a:rPr>
              <a:t>√(μgr)</a:t>
            </a:r>
            <a:endParaRPr lang="en-US" sz="1500" dirty="0"/>
          </a:p>
        </p:txBody>
      </p:sp>
      <p:sp>
        <p:nvSpPr>
          <p:cNvPr id="13" name="Text 11"/>
          <p:cNvSpPr txBox="1"/>
          <p:nvPr/>
        </p:nvSpPr>
        <p:spPr>
          <a:xfrm>
            <a:off x="6446520" y="2057400"/>
            <a:ext cx="4572000" cy="274320"/>
          </a:xfrm>
          <a:prstGeom prst="rect">
            <a:avLst/>
          </a:prstGeom>
          <a:noFill/>
          <a:ln/>
        </p:spPr>
        <p:txBody>
          <a:bodyPr wrap="square" lIns="0" tIns="0" rIns="0" bIns="0" rtlCol="0" anchor="ctr"/>
          <a:lstStyle/>
          <a:p>
            <a:pPr indent="0" marL="0">
              <a:buNone/>
            </a:pPr>
            <a:r>
              <a:rPr lang="en-US" sz="1050" b="1" spc="200" kern="0" dirty="0">
                <a:solidFill>
                  <a:srgbClr val="8D97B5"/>
                </a:solidFill>
                <a:latin typeface="Calibri" pitchFamily="34" charset="0"/>
                <a:ea typeface="Calibri" pitchFamily="34" charset="-122"/>
                <a:cs typeface="Calibri" pitchFamily="34" charset="-120"/>
              </a:rPr>
              <a:t>TEMEL BAĞINTILAR</a:t>
            </a:r>
            <a:endParaRPr lang="en-US" sz="1050" dirty="0"/>
          </a:p>
        </p:txBody>
      </p:sp>
      <p:sp>
        <p:nvSpPr>
          <p:cNvPr id="14" name="Shape 12"/>
          <p:cNvSpPr/>
          <p:nvPr/>
        </p:nvSpPr>
        <p:spPr>
          <a:xfrm>
            <a:off x="6446520" y="2395728"/>
            <a:ext cx="5105095" cy="694944"/>
          </a:xfrm>
          <a:prstGeom prst="roundRect">
            <a:avLst>
              <a:gd name="adj" fmla="val 13158"/>
            </a:avLst>
          </a:prstGeom>
          <a:solidFill>
            <a:srgbClr val="1C2542"/>
          </a:solidFill>
          <a:ln w="9525">
            <a:solidFill>
              <a:srgbClr val="2C3860"/>
            </a:solidFill>
            <a:prstDash val="solid"/>
          </a:ln>
        </p:spPr>
      </p:sp>
      <p:sp>
        <p:nvSpPr>
          <p:cNvPr id="15" name="Text 13"/>
          <p:cNvSpPr txBox="1"/>
          <p:nvPr/>
        </p:nvSpPr>
        <p:spPr>
          <a:xfrm>
            <a:off x="6647688" y="239572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v = 2πr / T = ω·r</a:t>
            </a:r>
            <a:endParaRPr lang="en-US" sz="1350" dirty="0"/>
          </a:p>
        </p:txBody>
      </p:sp>
      <p:sp>
        <p:nvSpPr>
          <p:cNvPr id="16" name="Text 14"/>
          <p:cNvSpPr txBox="1"/>
          <p:nvPr/>
        </p:nvSpPr>
        <p:spPr>
          <a:xfrm>
            <a:off x="8782812" y="239572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çizgisel hız</a:t>
            </a:r>
            <a:endParaRPr lang="en-US" sz="1200" dirty="0"/>
          </a:p>
        </p:txBody>
      </p:sp>
      <p:sp>
        <p:nvSpPr>
          <p:cNvPr id="17" name="Shape 15"/>
          <p:cNvSpPr/>
          <p:nvPr/>
        </p:nvSpPr>
        <p:spPr>
          <a:xfrm>
            <a:off x="6446520" y="3218688"/>
            <a:ext cx="5105095" cy="694944"/>
          </a:xfrm>
          <a:prstGeom prst="roundRect">
            <a:avLst>
              <a:gd name="adj" fmla="val 13158"/>
            </a:avLst>
          </a:prstGeom>
          <a:solidFill>
            <a:srgbClr val="1C2542"/>
          </a:solidFill>
          <a:ln w="9525">
            <a:solidFill>
              <a:srgbClr val="2C3860"/>
            </a:solidFill>
            <a:prstDash val="solid"/>
          </a:ln>
        </p:spPr>
      </p:sp>
      <p:sp>
        <p:nvSpPr>
          <p:cNvPr id="18" name="Text 16"/>
          <p:cNvSpPr txBox="1"/>
          <p:nvPr/>
        </p:nvSpPr>
        <p:spPr>
          <a:xfrm>
            <a:off x="6647688" y="321868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ω = 2π / T = 2π·f</a:t>
            </a:r>
            <a:endParaRPr lang="en-US" sz="1350" dirty="0"/>
          </a:p>
        </p:txBody>
      </p:sp>
      <p:sp>
        <p:nvSpPr>
          <p:cNvPr id="19" name="Text 17"/>
          <p:cNvSpPr txBox="1"/>
          <p:nvPr/>
        </p:nvSpPr>
        <p:spPr>
          <a:xfrm>
            <a:off x="8782812" y="321868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açısal hız</a:t>
            </a:r>
            <a:endParaRPr lang="en-US" sz="1200" dirty="0"/>
          </a:p>
        </p:txBody>
      </p:sp>
      <p:sp>
        <p:nvSpPr>
          <p:cNvPr id="20" name="Shape 18"/>
          <p:cNvSpPr/>
          <p:nvPr/>
        </p:nvSpPr>
        <p:spPr>
          <a:xfrm>
            <a:off x="6446520" y="4041648"/>
            <a:ext cx="5105095" cy="694944"/>
          </a:xfrm>
          <a:prstGeom prst="roundRect">
            <a:avLst>
              <a:gd name="adj" fmla="val 13158"/>
            </a:avLst>
          </a:prstGeom>
          <a:solidFill>
            <a:srgbClr val="1C2542"/>
          </a:solidFill>
          <a:ln w="9525">
            <a:solidFill>
              <a:srgbClr val="2C3860"/>
            </a:solidFill>
            <a:prstDash val="solid"/>
          </a:ln>
        </p:spPr>
      </p:sp>
      <p:sp>
        <p:nvSpPr>
          <p:cNvPr id="21" name="Text 19"/>
          <p:cNvSpPr txBox="1"/>
          <p:nvPr/>
        </p:nvSpPr>
        <p:spPr>
          <a:xfrm>
            <a:off x="6647688" y="4041648"/>
            <a:ext cx="206197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a = v² / r = ω²·r</a:t>
            </a:r>
            <a:endParaRPr lang="en-US" sz="1350" dirty="0"/>
          </a:p>
        </p:txBody>
      </p:sp>
      <p:sp>
        <p:nvSpPr>
          <p:cNvPr id="22" name="Text 20"/>
          <p:cNvSpPr txBox="1"/>
          <p:nvPr/>
        </p:nvSpPr>
        <p:spPr>
          <a:xfrm>
            <a:off x="8782812" y="4041648"/>
            <a:ext cx="258592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merkezcil ivme</a:t>
            </a:r>
            <a:endParaRPr lang="en-US" sz="1200" dirty="0"/>
          </a:p>
        </p:txBody>
      </p:sp>
      <p:sp>
        <p:nvSpPr>
          <p:cNvPr id="23" name="Shape 21"/>
          <p:cNvSpPr/>
          <p:nvPr/>
        </p:nvSpPr>
        <p:spPr>
          <a:xfrm>
            <a:off x="6446520" y="4864608"/>
            <a:ext cx="5105095" cy="694944"/>
          </a:xfrm>
          <a:prstGeom prst="roundRect">
            <a:avLst>
              <a:gd name="adj" fmla="val 13158"/>
            </a:avLst>
          </a:prstGeom>
          <a:solidFill>
            <a:srgbClr val="1C2542"/>
          </a:solidFill>
          <a:ln w="9525">
            <a:solidFill>
              <a:srgbClr val="2C3860"/>
            </a:solidFill>
            <a:prstDash val="solid"/>
          </a:ln>
        </p:spPr>
      </p:sp>
      <p:sp>
        <p:nvSpPr>
          <p:cNvPr id="24" name="Text 22"/>
          <p:cNvSpPr txBox="1"/>
          <p:nvPr/>
        </p:nvSpPr>
        <p:spPr>
          <a:xfrm>
            <a:off x="6647688" y="4864608"/>
            <a:ext cx="1536192" cy="694944"/>
          </a:xfrm>
          <a:prstGeom prst="rect">
            <a:avLst/>
          </a:prstGeom>
          <a:noFill/>
          <a:ln/>
        </p:spPr>
        <p:txBody>
          <a:bodyPr wrap="square" lIns="0" tIns="0" rIns="0" bIns="0" rtlCol="0" anchor="ctr"/>
          <a:lstStyle/>
          <a:p>
            <a:pPr indent="0" marL="0">
              <a:buNone/>
            </a:pPr>
            <a:r>
              <a:rPr lang="en-US" sz="1350" b="1" dirty="0">
                <a:solidFill>
                  <a:srgbClr val="C6F36B"/>
                </a:solidFill>
                <a:latin typeface="Courier New" pitchFamily="34" charset="0"/>
                <a:ea typeface="Courier New" pitchFamily="34" charset="-122"/>
                <a:cs typeface="Courier New" pitchFamily="34" charset="-120"/>
              </a:rPr>
              <a:t>F = m·v² / r</a:t>
            </a:r>
            <a:endParaRPr lang="en-US" sz="1350" dirty="0"/>
          </a:p>
        </p:txBody>
      </p:sp>
      <p:sp>
        <p:nvSpPr>
          <p:cNvPr id="25" name="Text 23"/>
          <p:cNvSpPr txBox="1"/>
          <p:nvPr/>
        </p:nvSpPr>
        <p:spPr>
          <a:xfrm>
            <a:off x="8257032" y="4864608"/>
            <a:ext cx="3111703" cy="694944"/>
          </a:xfrm>
          <a:prstGeom prst="rect">
            <a:avLst/>
          </a:prstGeom>
          <a:noFill/>
          <a:ln/>
        </p:spPr>
        <p:txBody>
          <a:bodyPr wrap="square" lIns="0" tIns="0" rIns="0" bIns="0" rtlCol="0" anchor="ctr"/>
          <a:lstStyle/>
          <a:p>
            <a:pPr algn="r" indent="0" marL="0">
              <a:buNone/>
            </a:pPr>
            <a:r>
              <a:rPr lang="en-US" sz="1200" dirty="0">
                <a:solidFill>
                  <a:srgbClr val="AEBBD6"/>
                </a:solidFill>
                <a:latin typeface="Calibri" pitchFamily="34" charset="0"/>
                <a:ea typeface="Calibri" pitchFamily="34" charset="-122"/>
                <a:cs typeface="Calibri" pitchFamily="34" charset="-120"/>
              </a:rPr>
              <a:t>merkezcil kuvvet</a:t>
            </a:r>
            <a:endParaRPr lang="en-US" sz="1200" dirty="0"/>
          </a:p>
        </p:txBody>
      </p:sp>
      <p:sp>
        <p:nvSpPr>
          <p:cNvPr id="26" name="Shape 24"/>
          <p:cNvSpPr/>
          <p:nvPr/>
        </p:nvSpPr>
        <p:spPr>
          <a:xfrm>
            <a:off x="868680" y="5806440"/>
            <a:ext cx="10058400" cy="566928"/>
          </a:xfrm>
          <a:prstGeom prst="roundRect">
            <a:avLst>
              <a:gd name="adj" fmla="val 16129"/>
            </a:avLst>
          </a:prstGeom>
          <a:solidFill>
            <a:srgbClr val="1C2542"/>
          </a:solidFill>
          <a:ln w="9525">
            <a:solidFill>
              <a:srgbClr val="2C3860"/>
            </a:solidFill>
            <a:prstDash val="solid"/>
          </a:ln>
        </p:spPr>
      </p:sp>
      <p:sp>
        <p:nvSpPr>
          <p:cNvPr id="27" name="Text 25"/>
          <p:cNvSpPr txBox="1"/>
          <p:nvPr/>
        </p:nvSpPr>
        <p:spPr>
          <a:xfrm>
            <a:off x="1188720" y="5806440"/>
            <a:ext cx="9418320" cy="566928"/>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Etkileşimli deneyler, canlı grafikler ve hızlı test:  </a:t>
            </a:r>
            <a:pPr indent="0" marL="0">
              <a:buNone/>
            </a:pPr>
            <a:r>
              <a:rPr lang="en-US" sz="1300" b="1" dirty="0">
                <a:solidFill>
                  <a:srgbClr val="C6F36B"/>
                </a:solidFill>
                <a:latin typeface="Calibri" pitchFamily="34" charset="0"/>
                <a:ea typeface="Calibri" pitchFamily="34" charset="-122"/>
                <a:cs typeface="Calibri" pitchFamily="34" charset="-120"/>
              </a:rPr>
              <a:t>dersler.perinet.org/cembersel-hareket.html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125</Slides>
  <Notes>125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125</vt:i4>
      </vt:variant>
    </vt:vector>
  </HeadingPairs>
  <TitlesOfParts>
    <vt:vector size="1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vector>
  </TitlesOfParts>
  <Company>dersler.perinet.org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Düzgün çembersel hareket — Dersler</dc:title>
  <dc:subject>Fizik · Kuvvet ve Hareket</dc:subject>
  <dc:creator>Dersler</dc:creator>
  <cp:lastModifiedBy>Dersler</cp:lastModifiedBy>
  <cp:revision>1</cp:revision>
  <dcterms:created xsi:type="dcterms:W3CDTF">2026-09-30T08:42:02Z</dcterms:created>
  <dcterms:modified xsi:type="dcterms:W3CDTF">2026-09-30T08:42:02Z</dcterms:modified>
</cp:coreProperties>
</file>