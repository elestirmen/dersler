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Sabit süratle dönen bir cismin hızı değişiyor mu? Evet — ve bu, konunun en kritik cümlesi. Hız bir vektördür; büyüklüğü hiç değişmese bile yönü her an değiştiği için cisim ivmelidir. Bu ivmeyi üreten bir kuvvet olmasaydı, ipi kesilen taş gibi teğet doğrultuda kaçıp giderdi. Bu anlatım dört basamakta ilerliyor: önce virajı dönen bir arabayı gözleyip hareketi tanımlayacağız, sonra hızı, ivmeyi ve kuvveti veren bağıntıları adım adım çıkaracağız, ardından merkezkaç yanılgısına, virajlara, düşey çembere ve uydulara geçeceğiz. En sonda kolaydan zora sıralanmış örneklerle hepsini birlikte kullanacağız.
Kapak görseli: Zincirli salıncak dönmeye başlayınca zincirler düşeyden ayrılır ve dışa doğru açılır. Koltuklar sabit süratle dönse bile her an yön değiştirir; onları çemberde tutan şey zincirin içeri doğru çeken kuvvetidir. Zincirin neden eğildiğini ve bu açının neye bağlı olduğunu üçüncü basamakta hesaplayacağız.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Sabit süratle dönen bir cismin hızı değişiyor mu? Evet — ve bu, konunun en kritik cümlesi. Hız bir vektördür; büyüklüğü hiç değişmese bile yönü her an değiştiği için cisim ivmelidir. Bu ivmeyi üreten bir kuvvet olmasaydı, ipi kesilen taş gibi teğet doğrultuda kaçıp giderdi. Bu anlatım dört basamakta ilerliyor: önce virajı dönen bir arabayı gözleyip hareketi tanımlayacağız, sonra hızı, ivmeyi ve kuvveti veren bağıntıları adım adım çıkaracağız, ardından merkezkaç yanılgısına, virajlara, düşey çembere ve uydulara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dönen bir cisme bak, neyin sabit kalıp neyin değiştiğini gör ve adını koy. Bu basamakta hesap yok denecek kadar az.
   01 Önce gözlemle: virajı dönen bir arabada ne olur?
   02 Düzgün çembersel hareket nedir?
   03 Periyot ve frekans: dönmeyi saymak
   04 Çemberde kalmak için neden kuvvet gerekir?
2. Orta — Bağıntılar: hızı, ivmeyi ve kuvveti adım adım türet, sonra gerçek sayılarla hisset.
   05 Çizgisel hız ve açısal hız
   06 Merkezcil ivme: v²/r nereden geliyor?
   07 Merkezcil kuvvet: bu görevi kim üstleniyor?
   08 Sayılarla hisset: ne kadar hızlı, ne kadar ivme?
3. İleri — Derinleşme: dönen sistemin içinden bakınca, eğimli virajlarda, düşey çemberde ve yörüngede ne olur?
   09 Merkezkaç kuvveti yanılgısı
   10 Virajda savrulma sınırı ve eğimli yollar
   11 Düşey çember: kova neden dökülmez?
   12 Çembersel hareket gerçek dünyada
4. Pekiştir — Kolaydan zora çözümlü örnekler ve çembersel harekette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dönen bir cisme bak, neyin sabit kalıp neyin değiştiğini gör ve adını koy. Bu basamakta hesap yok denecek kadar az.
01 Önce gözlemle: virajı dönen bir arabada ne olur?
02 Düzgün çembersel hareket nedir?
03 Periyot ve frekans: dönmeyi saymak
04 Çemberde kalmak için neden kuvvet gerekir?
Görsel: Virajı dönen bir otomobil, çembersel hareketin en tanıdık hâlidir. Asfalttaki lastik izleri yolun eğrisini izliyor: araba her an yön değiştiriyor. Bunu sağlayan, lastiklerle yol arasındaki tutunmadır. Bariyerin virajın dış kenarında durması da tutunma kaybolursa aracın nereye gideceğini söylüyor: düz ileri, eğrinin dışına.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virajı dönen bir arabada ne olur?
Kısaca: Virajı dönen araba sürati sabit kalsa bile sürekli yön değiştirir. Yön değiştirmek için yolun arabayı yana doğru tutması gerekir; tutunma kaybolursa araba düz gider.
Bir dağ yolunda arabayla ilerlediğini düşün. Sürücü gaza da frene de dokunmuyor; gösterge hep 50 km/h'yi gösterirken keskin bir virajı dönüyor. Göstergeye bakan biri “hiçbir şey değişmiyor” der; oysa sen kapıya doğru kaydığını, arka koltuktaki çantanın devrildiğini hissedersin. Hareketin bir şeyi değişiyor olmalı — ama ne?
Değişen şey arabanın gittiği yöndür. Virajın başında burnu bir yöne bakan araba, sonunda bambaşka bir yöne bakar. Fizik günlük dildeki “hız”ı ikiye ayırır: ne kadar hızlı gittiğin ve hangi yöne gittiğin. Virajda birincisi sabit kalabilir, ikincisi asla.
Görsel: Virajı dönen bir otomobil, çembersel hareketin en tanıdık hâlidir. Asfalttaki lastik izleri yolun eğrisini izliyor: araba her an yön değiştiriyor. Bunu sağlayan, lastiklerle yol arasındaki tutunmadır. Bariyerin virajın dış kenarında durması da tutunma kaybolursa aracın nereye gideceğini söylüyor: düz ileri, eğrinin dışına.
Virajı dönen her araçta, sürat sabit kalsa bile, aynı üç şey gözlenir:
• Yön sürekli değişir: arabanın burnu virajın her noktasında başka bir yöne bakar.
• Bir tutunma gerekir: lastikler yolu kavramazsa araba virajı dönemez, düz gider.
• İçerideki her şey dışa kayar gibi olur: yolcu kapıya, çanta yana yaslanır.
Üçüncü madde en aldatıcı olanıdır: sanki bir el seni dışarı itiyor gibi gelir. İleride göreceğiz ki seni dışarı iten bir şey yoktur; araba seni içeri doğru çevirmektedir.
Düşün: Buzlu bir virajda direksiyonu çevirsen de araba neden dümdüz kaymaya devam eder?
Cevap: Arabayı virajda döndüren, lastiklerle yol arasındaki tutunmadır. Buz bu tutunmayı neredeyse yok eder; yana doğru bir kuvvet kalmayınca araba o andaki doğrultusunda gitmeyi sürdürür. Tekerlekleri çevirmek yetmez, yolun arabayı yana itebilmesi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Buzlu bir virajda direksiyonu çevirsen de araba neden dümdüz kaymaya devam eder?
Sınıfa sorun, birkaç tahmin alın; sonra cevap slaytına geçin.
Cevap: Arabayı virajda döndüren, lastiklerle yol arasındaki tutunmadır. Buz bu tutunmayı neredeyse yok eder; yana doğru bir kuvvet kalmayınca araba o andaki doğrultusunda gitmeyi sürdürür. Tekerlekleri çevirmek yetmez, yolun arabayı yana itebilmesi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Arabayı virajda döndüren, lastiklerle yol arasındaki tutunmadır. Buz bu tutunmayı neredeyse yok eder; yana doğru bir kuvvet kalmayınca araba o andaki doğrultusunda gitmeyi sürdürür. Tekerlekleri çevirmek yetmez, yolun arabayı yana itebilmesi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çembersel hareket nedir?
Kısaca: Düzgün çembersel harekette sürat sabittir, ama hız yörüngeye teğet olduğu için yönü her an değişir. Yönü değişen hız, ivmeli hareket demektir.
Bir cisim sabit süratle çembersel bir yörüngede dolanıyorsa bu harekete düzgün çembersel hareket denir. "Düzgün" kelimesi süratin sabitliğini anlatır — hızın sabitliğini değil.
Bu ayrım konunun kalbidir. Sürat, birim zamanda alınan yoldur ve yalnızca bir büyüklüğü vardır (örneğin 5 m/s). Hız ise bir vektördür: büyüklüğünün yanında bir de yönü vardır. İki hızın eşit sayılması için hem büyüklüklerinin hem yönlerinin aynı olması gerekir.
Hız bir vektördür ve çembersel harekette yönü her an değişir: hız daima yörüngeye teğettir. (Teğet, çembere tek noktada dokunan ve o noktadaki yarıçapa dik olan doğrudur.) Yönü değişen bir vektör, büyüklüğü sabit olsa bile değişiyor demektir. Değişen hız ise ivme demektir.
Anahtar cümle: Düzgün çembersel hareket, sabit süratli ama ivmeli bir harekettir. İvmenin işi hızı büyütmek değil, yönünü çevirmektir.
Görsel: Düzgün çembersel harekette hız vektörü her noktada yörüngeye teğettir. Altı okun boyu birbirinin aynı — sürat değişmiyor. Ama yönleri farklı, yani hız değişiyor. Hız değişiyorsa ivme vardır; ivme varsa bir kuvvet vardır. Konunun tamamı bu zincirden çıkar.
Düzenli dönen saat ibresinin ucu, sabit süratle dönen atlıkarınca ve çembere yakın yörüngedeki bir uydu bu harekete iyi örneklerdir. Virajda gaza basan ya da fren yapan araba ise düzgün çembersel hareket yapmaz; onun hem yönü hem sürati değişir.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Periyot ve frekans: dönmeyi saymak
Kısaca: Periyot bir turun süresi, frekans bir saniyedeki tur sayısıdır ve T = 1/f. Dönen katı bir cismin bütün noktaları aynı periyotla döner.
Periyot (T), cismin bir tam turu tamamlama süresidir; birimi saniyedir. Frekans (f) ise birim zamandaki tur sayısıdır; birimi hertz (1/s).
T = 1 / f   f = 1 / T
İkisi aynı bilginin iki okunuşudur. Saniyede 4 tur atan cisim (f = 4 Hz) her turu 0,25 saniyede tamamlar; bir turu 2 saniyede atan cisim saniyede yarım tur atar (f = 0,5 Hz). Makinelerde dönme çoğunlukla devir/dakika ile verilir; hertz'e çevirmek için 60'a bölmek yeter.
Dönen şey | Periyot | Frekans
Saatin saniye ibresi | 60 s | 1/60 ≈ 0,017 Hz
Atlıkarınca | yaklaşık 10 s | 0,1 Hz
Çamaşır tamburu (1200 devir/dk) | 0,05 s | 20 Hz
Dünya'nın kendi ekseni çevresinde | yaklaşık 1 gün | günde 1 tur
Katı bir cisim (disk, tekerlek, atlıkarınca) döndüğünde üzerindeki bütün noktaların periyodu aynıdır — merkeze yakın da olsalar, uzak da. Atlıkarıncanın iç sırasındaki at da dış sırasındaki at da turu aynı anda tamamlar.
Görsel: Periyot (T) bir tam turun kaç saniye sürdüğü, frekans (f) ise bir saniyede kaç tur atıldığıdır. İkisi aynı bilginin iki okunuşu olduğu için birbirinin tersidir: T = 1/f. Saniyede 4 tur atan bir cisim, her turu 0,25 saniyede tamamlar.
Düşün: Dakikada 120 tur atan bir tekerlek bir turu kaç saniyede tamamlar?
Cevap: Önce hertz'e çevir: 120 / 60 = saniyede 2 tur, yani f = 2 Hz. Periyot bunun tersidir: T = 1/2 = 0,5 s. Kontrol: her tur 0,5 saniye sürüyorsa 60 saniyede 120 tur atılır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Dakikada 120 tur atan bir tekerlek bir turu kaç saniyede tamamlar?
Sınıfa sorun, birkaç tahmin alın; sonra cevap slaytına geçin.
Cevap: Önce hertz'e çevir: 120 / 60 = saniyede 2 tur, yani f = 2 Hz. Periyot bunun tersidir: T = 1/2 = 0,5 s. Kontrol: her tur 0,5 saniye sürüyorsa 60 saniyede 120 tur atılır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Önce hertz'e çevir: 120 / 60 = saniyede 2 tur, yani f = 2 Hz. Periyot bunun tersidir: T = 1/2 = 0,5 s. Kontrol: her tur 0,5 saniye sürüyorsa 60 saniyede 120 tur atılır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Çemberde kalmak için neden kuvvet gerekir?
Kısaca: Eylemsizlik yüzünden cisim hep düz gitmek ister; onu çemberde tutmak için her an merkeze doğru bir kuvvet gerekir. Bu kuvvet kalkarsa cisim teğet doğrultuda gider.
Newton'un birinci yasasına göre net kuvvet etki etmeyen bir cisim ya durgun kalır ya da düz bir çizgide sabit hızla gider. Cisimlerin hareket durumunu koruma eğilimine eylemsizlik denir. Yön değiştirmek de bir hareket değişikliğidir; bu yüzden çembersel hareket kendiliğinden olmaz, cismi her an düz yolundan saptıran bir kuvvet gerekir.
İpin ucuna bağladığın bir silgiyi başının üstünde döndür. Elin ipi hep merkeze doğru çeker; silgi ise her an teğet doğrultuda gitmek ister ve ip onu durmadan içeri büker. Kuvvet hıza dik kaldığı için süratini değiştirmez, yalnızca yönünü çevirir. İpi bıraktığın an silgi o anki hız doğrultusunda, yani teğet boyunca gider.
Test: İpi kesersen cisim dışarı doğru mu fırlar? Hayır — teğet doğrultuda gider. Dışarı iten bir kuvvet olsaydı yörünge merkezden uzaklaşan bir doğru olurdu. Sayfadaki 02 numaralı deney bunu gösteriyor.
Görsel: İp kesildiği anda cisme etki eden kuvvet kalmaz; 1. yasa gereği o anki hız doğrultusunda, yani teğet boyunca düz bir çizgide gider. "Dışarı doğru fırlama" hissi, dönen sistemin içinde bulunan gözlemcinin eylemsizliği kuvvet sanmasından doğar. Gerçek kuvvet, cismi içeri çeken merkezcil kuvvettir.
• Çekiç atma: atlet dönerken teli içeri çeker; bıraktığı an çekiç teğet doğrultuda uçar.
• Islak şemsiye: döndürülen şemsiyenin kenarından kopan damlalar teğet doğrultuda saçılır.
• Taşlama makinesi: dönen taştan kopan kıvılcımlar teğet boyunca düz çizgiler hâlinde fışkırır.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hızı, ivmeyi ve kuvveti adım adım türet, sonra gerçek sayılarla hisset.
05 Çizgisel hız ve açısal hız
06 Merkezcil ivme: v²/r nereden geliyor?
07 Merkezcil kuvvet: bu görevi kim üstleniyor?
08 Sayılarla hisset: ne kadar hızlı, ne kadar ivme?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Çizgisel hız ve açısal hız
Kısaca: Çizgisel hız v = 2πr/T, açısal hız ω = 2π/T'dir ve v = ω·r. Dönen bir diskte ω her noktada aynıdır; çizgisel hız ise merkezden uzaklıkla doğru orantılı artar.
Cisim bir turda 2πr uzunluğunda yol alır ve bunu T sürede yapar. Buradan çizgisel hız:
v = 2πr / T   ω = 2π / T = 2π·f   v = ω · r
Açısal hız (ω), birim zamanda taranan açıdır; birimi rad/s'dir. Aynı disk üzerindeki noktaların ω'sı ortaktır, ama v = ω·r olduğu için yarıçapı büyük olanın çizgisel hızı büyüktür. Sayfadaki 03 numaralı bölüm tam olarak bunu gösteriyor.
Açıyı radyanla ölçmek hesabı sadeleştirir: açı = yay / yarıçap. Yay yarıçapa eşitse açı 1 radyandır; çevre 2πr olduğundan bir tam tur 2π rad (≈ 6,28 rad, yani 360°) eder. Üç bağıntı da bu tanımlardan çıkar:
• Çizgisel hız: bir turda alınan yol çevre kadardır (2πr), süresi T'dir: v = 2πr/T.
• Açısal hız: bir turda taranan açı 2π radyandır: ω = 2π/T; T = 1/f olduğundan ω = 2π·f.
• İkisini bağlamak: v = (2π/T)·r diye yazarsan parantezin içi ω'dır: v = ω·r.
Birim kontrolü: radyan iki uzunluğun oranı olduğu için birimsizdir; ω·r için (rad/s)·m = m/s çıkar, bu bir hızdır ✓.
Görsel: Bir diskin üzerindeki bütün noktalar aynı sürede bir tur atar; yani periyotları ve açısal hızları aynıdır. Ama kenardaki nokta aynı sürede daha uzun bir yay katettiği için çizgisel hızı büyüktür. v = ω·r bağıntısı tam olarak bunu söyler: ω ortak, v yarıçapla orantılı.
Düşün: Atlıkarıncada dış sıradaki at iç sıradakinden merkeze iki kat uzaksa, hangisi kaç kat hızlıdır?
Cevap: İkisinin periyodu ve açısal hızı aynıdır. Ama dış at aynı sürede iki kat uzun bir çember çizer, bu yüzden çizgisel hızı iki kat büyüktür. v = ω·r de aynı sonucu verir: ω ortak, r iki kat, v iki 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Atlıkarıncada dış sıradaki at iç sıradakinden merkeze iki kat uzaksa, hangisi kaç kat hızlıdır?
Sınıfa sorun, birkaç tahmin alın; sonra cevap slaytına geçin.
Cevap: İkisinin periyodu ve açısal hızı aynıdır. Ama dış at aynı sürede iki kat uzun bir çember çizer, bu yüzden çizgisel hızı iki kat büyüktür. v = ω·r de aynı sonucu verir: ω ortak, r iki kat, v iki 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İkisinin periyodu ve açısal hızı aynıdır. Ama dış at aynı sürede iki kat uzun bir çember çizer, bu yüzden çizgisel hızı iki kat büyüktür. v = ω·r de aynı sonucu verir: ω ortak, r iki kat, v iki 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Merkezcil ivme: v²/r nereden geliyor?
Kısaca: Merkezcil ivme hıza dik ve merkeze doğrudur; büyüklüğü a = v²/r = ω²·r'dir. Sürat iki katına çıkarsa ivme dört katına çıkar; aynı süratte geniş yarıçap küçük ivme demektir.
Hızın yönünü çeviren ivmenin yönü, hız vektörüne diktir ve daima çemberin merkezine doğrudur. Bu yüzden adına merkezcil (merkeze doğru) ivme denir.
a = v² / r   a = ω² · r   a = 4π²r / T²
Görsel: Çok kısa bir süre içinde hız vektörü v₁'den v₂'ye döner. İkisini kuyruk kuyruğa koyduğumuzda aradaki fark Δv ortaya çıkar ve iki nokta birbirine yaklaştıkça bu fark tam olarak merkeze doğru bakar. İvme Δv yönünde olduğu için merkezcil ivme adını alır; büyüklüğü v²/r'dir. Sürat büyüdükçe ivme karesiyle artar, yarıçap büyüdükçe azalır.
Cisim çok kısa bir Δt süresinde çember üzerinde Δs kadar yol alsın. Bu sürede yarıçap küçük bir açı kadar döner; hız vektörü yarıçapa hep dik olduğu için o da aynı açı kadar döner. Gerisi iki üçgeni karşılaştırmaktır:
• İki üçgen: iki yakın konumu merkeze bağlayan yarıçaplar (r, r) ile iki hız vektörü (v₁, v₂) aynı açıyı yapar.
• Benzerlik: ikisi de ikizkenar ve tepe açıları eşit, yani benzer üçgenler: Δv / v = Δs / r.
• Hız değişimi: kısa sürede alınan yol Δs = v·Δt olduğundan Δv = v·(v·Δt)/r = v²·Δt/r.
• İvme: a = Δv/Δt = v²/r. Δt küçüldükçe Δv tam olarak merkeze bakar.
• Öteki biçimler: v = ω·r koyarsan a = ω²·r; v = 2πr/T koyarsan a = 4π²r/T².
Birim kontrolü: (m/s)² / m = m/s² ✓; “a = v/r” yazsaydın 1/s çıkardı, hatanı birim yakalar. Bağıntıya iki yönden bakmak gerekir: yarıçap sabitken hız iki katına çıkarsa ivme dört katına çıkar (v²). Hız sabitken yarıçap büyüdükçe ivme azalır (1/r): geniş viraj, yumuşak dönüş demektir. Sayfanın 01 numaralı laboratuvarındaki iki grafik bu iki bakışı çiziyor.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Merkezcil kuvvet: bu görevi kim üstleniyor?
Kısaca: Çembersel harekette net kuvvet merkeze doğrudur ve F = m·v²/r. Bu yeni bir kuvvet değildir; ip gerilmesi, sürtünme, yerçekimi ya da normal kuvvet bu görevi üstlenir.
Newton'un 2. yasası gereği ivme varsa net kuvvet de vardır. Çembersel harekette net kuvvet merkeze doğrudur ve büyüklüğü:
F = m·a = m·v² / r   F = m·ω²·r
Laboratuvarın başlangıç ayarında (r = 1 m, T = 4 s, m = 2 kg) ekranda v ≈ 1,57 m/s, a ≈ 2,47 m/s² ve F ≈ 4,9 N okunur; bunları kendin hesaplayıp karşılaştırabilirsin. Kütle 3 katı düğmesine bastığında ivme değişmez, kuvvet üç katına çıkar.
Merkezcil kuvvet yeni bir kuvvet türü değildir. O, mevcut kuvvetlerden birinin (ya da bileşkesinin) üstlendiği bir roldür: ipteki gerilme, virajda sürtünme, Ay için yerçekimi, elektronu tutan elektriksel çekim. "Serbest cisim diyagramına merkezcil kuvvet eklenmez"; hangi kuvvetin bu rolü üstlendiği bulunur.
Görsel: "Merkezcil kuvvet" diye ayrı bir kuvvet türü yoktur; bu, bir kuvvetin üstlendiği görevin adıdır. Dönen taşta bu görevi ip gerilmesi, virajdaki arabada lastik sürtünmesi, uyduda yerçekimi, çamaşır makinesinde tambur duvarı üstlenir. Hepsinde yeşil ok merkeze bakar, mavi ok (hız) ise teğettir.
Durum | Merkezcil kuvveti sağlayan | Bağıntı
İpin ucunda dönen taş | İpteki gerilme kuvveti | T = mv²/r
Virajı alan araç | Yol–lastik sürtünmesi | μmg ≥ mv²/r
Dünya çevresindeki uydu | Yerçekimi | GMm/r² = mv²/r
Çamaşır makinesi sıkma | Tambur duvarı (normal kuvvet) | N = mv²/r
Tablodaki T ipteki gerilme kuvvetidir; periyotla karıştırma. Soruları hep aynı sırayla çöz: önce gerçek kuvvetleri çiz (ayrıca “merkezcil kuvvet” oku ekleme), sonra merkeze bakanları artı, dışa bakanları eksi alarak topla, en sonda bu toplamı m·v²/r'ye eşitle.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hızlı, ne kadar ivme?
Kısaca: Merkezcil ivmeyi sürat tek başına belirlemez, v²/r oranı belirler. Küçük yarıçaplı çamaşır tamburu yaklaşık 400 g'ye ulaşırken saniyede 1 km giden Ay'ın ivmesi yalnızca 0,0027 m/s²'dir.
Formüller soyut kalmasın; tanıdık dönen sistemlerin hızına ve merkezcil ivmesine bakalım (değerler yuvarlatılmış, parantezde g'nin kaç katı olduğu yazılı):
Dönen (yarıçap, periyot) | Çizgisel hız | Merkezcil ivme
Atlıkarınca, dış sıra (5 m, 10 s) | 3,1 m/s | 2,0 m/s² (0,2 g)
Çamaşır tamburu (0,25 m, 0,05 s) | 31 m/s | 3 900 m/s² (400 g)
Uzay istasyonu (6 770 km, 92 dk) | 7,7 km/s | 8,7 m/s² (0,9 g)
Ay (384 000 km, 27,3 gün) | 1,0 km/s | 0,0027 m/s²
Dünya, Güneş çevresinde (150 milyon km, 1 yıl) | 30 km/s | 0,006 m/s²
İlk düzen: en hızlı olan en ivmeli değildir. Çamaşır tamburu saniyede ancak 31 m yol alır, ama yarıçapı çok küçük olduğu için ivmesi yerçekiminin yaklaşık 400 katıdır. Ay saniyede 1 km gider, ama öyle geniş bir çember çizer ki yönü çok ağır değişir. Belirleyici olan v tek başına değil, v²/r oranıdır.
Düşün: Uzay istasyonu Ay'dan yaklaşık 7,5 kat hızlı gidiyor; ivmesi neden binlerce kat büyük?
Cevap: Çünkü ivme hızın karesiyle büyür, yarıçapla küçülür. Hız 7,5 kat olunca v² yaklaşık 56 kat büyür; istasyonun yörünge yarıçapı ise Ay'ınkinden yaklaşık 57 kat küçüktür. İkisi çarpılınca 56 · 57 ≈ 3 200 kat çıkar: 0,0027 m/s² yerine 8,7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Uzay istasyonu Ay'dan yaklaşık 7,5 kat hızlı gidiyor; ivmesi neden binlerce kat büyük?
Sınıfa sorun, birkaç tahmin alın; sonra cevap slaytına geçin.
Cevap: Çünkü ivme hızın karesiyle büyür, yarıçapla küçülür. Hız 7,5 kat olunca v² yaklaşık 56 kat büyür; istasyonun yörünge yarıçapı ise Ay'ınkinden yaklaşık 57 kat küçüktür. İkisi çarpılınca 56 · 57 ≈ 3 200 kat çıkar: 0,0027 m/s² yerine 8,7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ivme hızın karesiyle büyür, yarıçapla küçülür. Hız 7,5 kat olunca v² yaklaşık 56 kat büyür; istasyonun yörünge yarıçapı ise Ay'ınkinden yaklaşık 57 kat küçüktür. İkisi çarpılınca 56 · 57 ≈ 3 200 kat çıkar: 0,0027 m/s² yerine 8,7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dönen sistemin içinden bakınca, eğimli virajlarda, düşey çemberde ve yörüngede ne olur?
09 Merkezkaç kuvveti yanılgısı
10 Virajda savrulma sınırı ve eğimli yollar
11 Düşey çember: kova neden dökülmez?
12 Çembersel hareket gerçek dünyada
Görsel: Yörüngedeki bir uyduyu çemberde tutan ne ip ne raydır: merkezcil kuvvet görevini yerçekimi üstlenir. Uzay istasyonunun bulunduğu yaklaşık 400 km yükseklikte dolanan bir araç saniyede yaklaşık 7,7 km yol alır ve Dünya'nın çevresini yaklaşık 92 dakikada bir dolanır.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Merkezkaç kuvveti yanılgısı
Kısaca: Merkezkaç kuvveti yalnızca dönen sistemin içindeki gözlemcinin kullandığı hayalî bir kuvvettir; uygulayıcısı yoktur. Yerden bakınca yalnızca merkeze doğru gerçek bir kuvvet ve eylemsizlik vardır.
Virajı hızlı alan bir araçta kendini kapıya doğru itiliyor hissedersin. Aslında seni dışarı iten bir kuvvet yoktur: sen eylemsizliğin gereği doğrusal gitmek istersin, araç ise altından dönerek yön değiştirir. Kapı sana çarpar ve seni çembere sokan merkeze doğru kuvveti uygular.
"Merkezkaç kuvveti" yalnızca dönen bir referans sisteminde tanımlanan bir hayalî (eylemsizlik) kuvvettir. Yerdeki bir gözlemci için böyle bir kuvvet yoktur. (Referans sistemi, hareketi ölçtüğün bakış yeridir.) Arabadaki yolcu kendini hareketsiz sayar ve kapının itişini dengeleyecek dışa doğru bir kuvvet varsayar; ama bu kuvveti uygulayan bir ip, yüzey ya da cisim gösterilemez.
Soru | Yerdeki gözlemci | Arabadaki yolcu
Yolcu ne yapıyor? | Araçla birlikte çember çiziyor | Yerinde duruyor, kapıya bastırılıyor
Kapının kuvveti | Merkeze doğru; yolcuyu döndürüyor | “Dışa iten kuvveti” dengeliyor
Dışa doğru kuvvet | Yok; yalnızca eylemsizlik | Var gibi görünüyor (hayalî)
Girişteki zincirli salıncağa da böyle bak: yerden bakınca eğik zincirin çekişinin bir parçası merkeze doğrudur ve koltuğu çemberde tutar; koltuktaki kişi ise kendini dışarı savruluyor hisseder.
Düşün: Dönen bir platformun kenarında tuttuğun topu bırakırsan, yerdeki biri topu nasıl bir yolda görür?
Cevap: Yerdeki gözlemci topun bırakıldığı andaki hız doğrultusunda, yani teğet boyunca düz gittiğini görür. Platformdaki sen ise dönmeye devam ettiğin için topu eğri bir yol çizerek uzaklaşıyor görürsün. Hareket iki referans sisteminde farklı görünür, ama topa yatay bir kuvvet etki etmez.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Dönen bir platformun kenarında tuttuğun topu bırakırsan, yerdeki biri topu nasıl bir yolda görür?
Sınıfa sorun, birkaç tahmin alın; sonra cevap slaytına geçin.
Cevap: Yerdeki gözlemci topun bırakıldığı andaki hız doğrultusunda, yani teğet boyunca düz gittiğini görür. Platformdaki sen ise dönmeye devam ettiğin için topu eğri bir yol çizerek uzaklaşıyor görürsün. Hareket iki referans sisteminde farklı görünür, ama topa yatay bir kuvvet etki etmez.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Yerdeki gözlemci topun bırakıldığı andaki hız doğrultusunda, yani teğet boyunca düz gittiğini görür. Platformdaki sen ise dönmeye devam ettiğin için topu eğri bir yol çizerek uzaklaşıyor görürsün. Hareket iki referans sisteminde farklı görünür, ama topa yatay bir kuvvet etki etmez.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Virajda savrulma sınırı ve eğimli yollar
Kısaca: Düz virajda sınır hız vmaks = √(μ·g·r)'dir ve kütleden bağımsızdır. Eğimli yolda normal kuvvetin yatay bileşeni de yardım eder; sürtünmesiz ideal hız tan θ = v²/(g·r) ile bulunur.
Düz bir virajda arabayı çemberde tutan tek yatay kuvvet sürtünmedir. Gereken kuvvet mv²/r, yolun sağlayabildiği en büyük sürtünme ise μmg'dir (μ: lastik–yol sürtünme katsayısı). Araç yol tutuyorsa m·v²/r ≤ μ·m·g olmalıdır; kütle iki yanda da bulunduğu için sadeleşir ve sınır hız ortaya çıkar:
vmaks = √(μ·g·r)
Yol ıslanınca μ yarıya inerse sınır hız √2 kat (yaklaşık %30) düşer. Virajın yarıçapı dört katına çıkarsa sınır hız iki katına çıkar. Bu yüzden otoyol virajları geniş yarıçaplı yapılır ve yol yüzeyi eğimlendirilir. Sayfanın 04 numaralı bölümünde yol durumunu değiştirip sınırın nasıl düştüğünü izleyebilirsin.
Görsel: Virajda merkezcil kuvveti lastik sürtünmesi sağlar ve bu kuvvetin bir üst sınırı vardır: μ·m·g. Gereken kuvvet mv²/r hızın karesiyle büyüdüğü için, belli bir hızdan sonra sürtünme yetişemez ve araç savrulur. Sınır hız √(μgr)'dir: yarıçapı küçük (keskin) virajlarda ve ıslak yolda (μ küçükken) çok daha düşüktür.
50 m yarıçaplı bir virajda (g = 10 m/s²) yol durumu sınır hızı şöyle değiştirir:
Yol durumu | Sürtünme katsayısı | Sınır hız
Kuru asfalt | 0,8 | 20 m/s (72 km/h)
Islak asfalt | 0,5 | 15,8 m/s (57 km/h)
Kar | 0,2 | 10 m/s (36 km/h)
Buz | ≈ 0,1 | 7,1 m/s (25 km/h)
Eğimlendirme, virajın dış kenarını iç kenarından biraz yüksek yapmaktır; buna dever denir. Eğimli yolda normal kuvvet biraz merkeze doğru yatar ve yatay bileşeni aracı çevirmeye yardım eder. Düşeyde N·cos θ = m·g, yatayda N·sin θ = m·v²/r yazıp taraf tarafa bölersen sürtünmesiz ideal hızı veren bağıntı çıkar:
tan θ = v² / (g · r)
100 m yarıçaplı virajda 20 m/s (72 km/h) için tan θ = 0,4, yani θ ≈ 22° gerekir; gerçek yollarda dever birkaç derecedir, gerisini sürtünme karşılar. Zincirli salıncakta zincirin düşeyle yaptığı açı da aynı bağıntıya uyar ve kütleye bağlı değildir.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Düşey çember: kova neden dökülmez?
Kısaca: Düşey çemberin tepesinde ağırlık ve normal kuvvet birlikte merkeze bakar; cismin çemberde kalması için orada v ≥ √(g·r) olmalıdır. İp ya da ray en çok en alt noktada zorlanır.
Su dolu bir kovayı düşey bir çemberde hızla döndürürsen, kovanın baş aşağı durduğu tepe noktasında bile su dökülmez; yavaş döndürürsen başından aşağı boşalır. Neden?
Tepe noktada suya etki eden iki kuvvet de aşağı, yani merkeze doğrudur: ağırlık (m·g) ve kovanın dibinin uyguladığı normal kuvvet (N). İkisi birlikte merkezcil kuvvet görevini üstlenir. Kovanın dibi suyu itebilir ama çekemez; N en az sıfır olabilir. Hız √(g·r)'nin altına düşerse ağırlık gerekenden büyük kalır, su çemberin içine doğru sapar ve kovadan ayrılır.
Tepe: N + m·g = m·v²/r   Alt: N − m·g = m·v²/r   vmin = √(g·r)
Kol boyu yaklaşık 1 m ise en küçük hız √10 ≈ 3,2 m/s'dir; bir tur en fazla yaklaşık 2 saniye sürmelidir. 10 m yarıçaplı bir lunapark döngüsünde yolcuların emniyet barına asılı kalmaması için vagon tepe noktadan en az 10 m/s (36 km/h) hızla geçmelidir. En alt noktada ise ağırlık dışa bakar; ip ya da ray en çok orada zorlanır.
Modelin sınırı: Yerçekimi düşey çemberde cismi inerken hızlandırır, çıkarken yavaşlatır; sürat kendiliğinden sabit kalmaz ve hareket artık düzgün değildir. Yine de merkeze doğru bileşen için a = v²/r her an geçerlidir; v yerine o andaki sürat konur.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Çembersel hareket gerçek dünyada
Kısaca: Uydularda yerçekimi, santrifüjde ve çamaşır makinesinde tambur duvarı merkezcil kuvvet görevini üstlenir. Uydunun hızı v = √(g·r) ile bulunur ve kütlesine bağlı değildir.
Çembersel hareket lunaparktan uzaya kadar her yerde karşına çıkar. Her durumda sorulacak soru aynıdır: merkezcil kuvvet görevini kim üstleniyor ve ne kadar büyük olmalı?
Görsel: Yörüngedeki bir uyduyu çemberde tutan ne ip ne raydır: merkezcil kuvvet görevini yerçekimi üstlenir. Uzay istasyonunun bulunduğu yaklaşık 400 km yükseklikte dolanan bir araç saniyede yaklaşık 7,7 km yol alır ve Dünya'nın çevresini yaklaşık 92 dakikada bir dolanır.
• Uydular: m·g = m·v²/r eşitliğinden v = √(g·r) çıkar; 400 km'de (r ≈ 6 770 km) g ≈ 8,7 m/s² olduğundan hız ≈ 7,7 km/s olur.
• Yerdurağan uydular: yaklaşık 36 000 km yükseklikte bir tur, Dünya'nın kendi dönüşü kadar sürer; uydu gökte hep aynı yerde durur.
• Santrifüj: binlerce devir/dakika ile dönen tüplerde kanın yoğun bileşenleri tüpün dibinde toplanır.
• Çamaşır makinesi: sıkmada tambur çamaşırı yaklaşık 400 g'lik ivmeyle döndürür; deliklere gelen su teğet doğrultuda kaçar.
• Dünya'nın dönüşü: ekvatordaki bir nokta 465 m/s ile döner; bu dönme ekvatorda tartıların yaklaşık binde 3,5 az göstermesine yol açar.
Uydu bağıntısında kütle yine sadeleşir: küçük bir uydu ile dev uzay istasyonu aynı yükseklikte aynı hızla dolanır. Daha yavaş giden bir uydu için yerçekimi gerekenden büyük kalır ve uydu alçalır; daha hızlı giden uydu ise yükselir. Yerdurağan uydular gökte kıpırdamadığı için çanak antenler bir kez ayarlanıp sabit bırakılabilir.
Düşün: Uzay istasyonundaki astronotlar süzülüyorsa, üzerlerinde yerçekimi yok mu?
Cevap: Var: 400 km yükseklikte yerçekimi ivmesi yaklaşık 8,7 m/s², yani yerdekinin %89'u kadardır. Yerçekimi astronotu da istasyonu da aynı ivmeyle çemberde tutar; ikisi birlikte düşer, bu yüzden istasyonun tabanı astronota bastırmaz.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Uzay istasyonundaki astronotlar süzülüyorsa, üzerlerinde yerçekimi yok mu?
Sınıfa sorun, birkaç tahmin alın; sonra cevap slaytına geçin.
Cevap: Var: 400 km yükseklikte yerçekimi ivmesi yaklaşık 8,7 m/s², yani yerdekinin %89'u kadardır. Yerçekimi astronotu da istasyonu da aynı ivmeyle çemberde tutar; ikisi birlikte düşer, bu yüzden istasyonun tabanı astronota bastırmaz.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Var: 400 km yükseklikte yerçekimi ivmesi yaklaşık 8,7 m/s², yani yerdekinin %89'u kadardır. Yerçekimi astronotu da istasyonu da aynı ivmeyle çemberde tutar; ikisi birlikte düşer, bu yüzden istasyonun tabanı astronota bastırmaz.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çembersel harekette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Temel büyüklükler (kolay)
Aşağıdaki çözümlerde g = 10 m/s² alınmıştır.
2 m yarıçaplı çember üzerinde dolanan 0,5 kg'lık bir cisim, 4 saniyede bir tur atıyor. Frekansını, çizgisel hızını, merkezcil ivmesini ve merkezcil kuvveti bulunuz. (π ≈ 3)
1. f = 1/T = 1/4 = 0,25 Hz
2. v = 2πr/T = (2·3·2)/4 = 3 m/s
3. a = v²/r = 9/2 = 4,5 m/s²
4. F = m·a = 0,5 · 4,5 = 2,25 N (merkeze doğru)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Aynı diskte iki nokta (kolay)
Aşağıdaki çözümlerde g = 10 m/s² alınmıştır.
Dönen bir diskin merkezinden 20 cm ve 60 cm uzaklıktaki iki noktası için periyot, çizgisel hız ve merkezcil ivme oranlarını karşılaştırınız.
1. Periyotlar eşittir: katı cismin her noktası aynı sürede bir tur atar (T₁ = T₂).
2. Açısal hızlar da eşittir: ω = 2π/T.
3. v = ω·r olduğundan v₂/v₁ = r₂/r₁ = 60/20 = 3
4. a = ω²·r olduğundan a₂/a₁ = r₂/r₁ =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Periyot değişirse (orta)
Aşağıdaki çözümlerde g = 10 m/s² alınmıştır.
Sabit yarıçaplı bir çemberde dolanan cismin periyodu yarıya indirilirse çizgisel hızı ve merkezcil ivmesi nasıl değişir?
1. v = 2πr/T → T yarıya inerse v iki katına çıkar.
2. a = v²/r → v iki katına çıkınca a dört katına çıkar.
3. Aynı sonuç a = 4π²r/T² bağıntısından da okunur: T yarıya inince a dört katına çıkar.
4. Merkezcil kuvvet de dört katına çıkar; bu yüzden hızlı dönen sistemlerde bağlantı elemanları çok daha güçlü seçilir.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Virajda sınır hız (orta)
Aşağıdaki çözümlerde g = 10 m/s² alınmıştır.
Yarıçapı 50 m olan bir virajda lastik–yol sürtünme katsayısı 0,5'tir. Aracın savrulmadan alabileceği en büyük hız nedir? Yol karla kaplanıp μ 0,2'ye düşerse bu hız ne olur?
1. Gereken kuvvet mv²/r, sağlanabilen en büyük kuvvet μmg → vmaks = √(μgr)
2. μ = 0,5: v = √(0,5 · 10 · 50) = √250 ≈ 15,8 m/s ≈ 57 km/h
3. Karlı yol, μ = 0,2: v = √(0,2 · 10 · 50) = √100 = 10 m/s = 36 km/h
4. Kütle hiçbir adımda kullanılmadı: kamyon da otomobil de aynı sınır hıza sahiptir.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Çamaşır makinesinin sıkma programı (orta)
Aşağıdaki çözümlerde g = 10 m/s² alınmıştır.
Bir çamaşır makinesinin tamburu sıkmada dakikada 1200 devir yapıyor; tamburun yarıçapı 0,25 m. (a) Frekansı ve periyodu, (b) çepere yapışan çamaşırın çizgisel hızını, (c) merkezcil ivmesini, (d) 0,1 kg'lık ıslak bir çorabı çemberde tutan kuvveti bulunuz. (π ≈ 3)
1. (a) f = 1200 / 60 = 20 Hz, T = 1/20 = 0,05 s
2. (b) v = 2πr/T = (2 · 3 · 0,25) / 0,05 = 30 m/s
3. (c) a = v²/r = 900 / 0,25 = 3 600 m/s², yani g'nin 360 katı
4. (d) F = m·a = 0,1 · 3 600 = 360 N; bu kuvveti tambur duvarı (normal kuvvet) uygular.
Deliğe gelen su damlasını içeri itecek duvar yoktur; damla teğet doğrultuda kaçar.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Zincirli salıncakta zincirin açısı (zor)
Aşağıdaki çözümlerde g = 10 m/s² alınmıştır.
Zincirli bir salıncakta koltuk, yatay bir çember üzerinde 7,5 m yarıçapla dönüyor ve zincir düşeyle 37° açı yapıyor. Koltuk ve yolcunun toplam kütlesi 60 kg'dır. (a) Koltuğun süratini, (b) bir turun süresini, (c) zincirdeki kuvveti bulunuz. (tan 37° = 0,75, cos 37° = 0,8, π ≈ 3)
1. Kuvvetler: ağırlık (aşağı) ve zincir kuvveti F (zincir boyunca). Düşey: F·cos 37° = m·g; merkeze doğru: F·sin 37° = m·v²/r.
2. (a) Taraf tarafa bölersen tan 37° = v²/(g·r) → v² = 10 · 7,5 · 0,75 = 56,25 → v = 7,5 m/s
3. (b) Bir tur: 2πr/v = (2 · 3 · 7,5) / 7,5 = 6 s
4. (c) F = m·g / cos 37° = 600 / 0,8 = 750 N
(a) ve (b) şıklarında kütle sadeleşti: hafif çocuk da ağır yetişkin de aynı açıyla açılır. Kütleyle büyüyen tek şey zincirdeki kuvvettir.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Düşey çemberde ip gerilmesi (zor)
Aşağıdaki çözümlerde g = 10 m/s² alınmıştır.
0,5 kg'lık bir taş 0,8 m uzunluğundaki ipin ucunda düşey bir çemberde döndürülüyor. (a) İpin tepe noktada gevşememesi için taş orada en az hangi hızla geçmelidir? (b) El taşı her noktada 4 m/s süratte tutarsa ipteki gerilme (T) tepe noktada ve en alt noktada kaç N olur?
1. (a) Tepe: T + m·g = m·v²/r. En küçük hızda ip gevşemek üzeredir, T = 0 → v = √(g·r) = √8 ≈ 2,8 m/s
2. (b) Gereken merkezcil kuvvet her noktada aynıdır: m·v²/r = 0,5 · 16 / 0,8 = 10 N. Ağırlık m·g = 5 N.
3. Tepe: ağırlık da merkeze bakar → T = 10 − 5 = 5 N
4. Alt: ağırlık dışa bakar → T = 10 + 5 = 15 N
İp en alt noktada tepe noktadakinin üç katı gerilir; ip koparsa en olası yer orasıdır.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“Sürat sabitse ivme yoktur.” Hızın yönü değişiyorsa ivme vardır; çembersel harekette ivme merkeze doğrudur.
• “İvme hız yönündedir.” Düzgün çembersel harekette ivme hıza diktir: hızı büyütmez, çevirir.
• “Cisme dışarı doğru merkezkaç kuvveti etki eder.” Yerdeki gözlemci için böyle bir kuvvet yoktur; hissedilen şey eylemsizliktir.
• “Merkezcil kuvvet ayrı bir kuvvettir.” Serbest cisim diyagramına ayrıca eklenmez; gerilme, sürtünme ya da çekim bu rolü üstlenir.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“İp kesilince cisim merkezden uzaklaşan doğrultuda gider.” Teğet doğrultuda gider.
• “Diskin her noktasının hızı aynıdır.” Aynı olan periyot ve açısal hızdır; çizgisel hız yarıçapla artar.
• “Ağır araç virajda daha kolay savrulur.” Sınır hız √(μgr)'dir; kütleden bağımsızdır.
• “Uydu, yerçekimi olmadığı için düşmez.” Yerçekimi oradadır ve tam da merkezcil kuvvet görevini üstlenir; uydu yana doğru o kadar hızlı gider ki çemberde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Sürat sabit, hız değil · İvme merkeze doğru · a = v² / r · Viraj sınırı √(μgr)
v = 2πr / T = ω·r — çizgisel hız
ω = 2π / T = 2π·f — açısal hız
a = v² / r = ω²·r — merkezcil ivme
F = m·v² / r — merkezcil kuvvet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4/sek/cembersel-hareket-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KUVVET VE HAREKET · KONU 06</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3900" b="1" spc="-100" kern="0" dirty="0">
                <a:solidFill>
                  <a:srgbClr val="FFFFFF"/>
                </a:solidFill>
                <a:latin typeface="Cambria" pitchFamily="34" charset="0"/>
                <a:ea typeface="Cambria" pitchFamily="34" charset="-122"/>
                <a:cs typeface="Cambria" pitchFamily="34" charset="-120"/>
              </a:rPr>
              <a:t>Düzgün çembersel hareket</a:t>
            </a:r>
            <a:endParaRPr lang="en-US" sz="39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Sürat sabit olabilir, ama hız her an yön değiştiriyorsa hareket ivmelidir. Bu ivme daima merkeze doğrudur ve onu üreten kuvvet olmadan cisim çemberde kalamaz. Aşağıda ipi kes, diski döndür, virajı hızlı al.</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9448495" y="6309360"/>
            <a:ext cx="2103120" cy="274320"/>
          </a:xfrm>
          <a:prstGeom prst="roundRect">
            <a:avLst>
              <a:gd name="adj" fmla="val 50000"/>
            </a:avLst>
          </a:prstGeom>
          <a:solidFill>
            <a:srgbClr val="0E1426">
              <a:alpha val="65000"/>
            </a:srgbClr>
          </a:solidFill>
          <a:ln/>
        </p:spPr>
      </p:sp>
      <p:sp>
        <p:nvSpPr>
          <p:cNvPr id="22" name="Text 19"/>
          <p:cNvSpPr txBox="1"/>
          <p:nvPr/>
        </p:nvSpPr>
        <p:spPr>
          <a:xfrm>
            <a:off x="9448495" y="6309360"/>
            <a:ext cx="2103120" cy="274320"/>
          </a:xfrm>
          <a:prstGeom prst="rect">
            <a:avLst/>
          </a:prstGeom>
          <a:noFill/>
          <a:ln/>
        </p:spPr>
        <p:txBody>
          <a:bodyPr wrap="square" lIns="0" tIns="0" rIns="0" bIns="0" rtlCol="0" anchor="ctr"/>
          <a:lstStyle/>
          <a:p>
            <a:pPr algn="ctr" indent="0" marL="0">
              <a:buNone/>
            </a:pPr>
            <a:r>
              <a:rPr lang="en-US" sz="900" dirty="0">
                <a:solidFill>
                  <a:srgbClr val="E4E9F5"/>
                </a:solidFill>
                <a:latin typeface="Calibri" pitchFamily="34" charset="0"/>
                <a:ea typeface="Calibri" pitchFamily="34" charset="-122"/>
                <a:cs typeface="Calibri" pitchFamily="34" charset="-120"/>
              </a:rPr>
              <a:t>Görsel: yapay zekâ ile üretildi</a:t>
            </a:r>
            <a:endParaRPr lang="en-US" sz="900" dirty="0"/>
          </a:p>
        </p:txBody>
      </p:sp>
      <p:sp>
        <p:nvSpPr>
          <p:cNvPr id="23" name="Shape 20"/>
          <p:cNvSpPr/>
          <p:nvPr/>
        </p:nvSpPr>
        <p:spPr>
          <a:xfrm>
            <a:off x="640080" y="6382512"/>
            <a:ext cx="128016" cy="128016"/>
          </a:xfrm>
          <a:prstGeom prst="roundRect">
            <a:avLst>
              <a:gd name="adj" fmla="val 28571"/>
            </a:avLst>
          </a:prstGeom>
          <a:solidFill>
            <a:srgbClr val="C6F36B"/>
          </a:solidFill>
          <a:ln/>
        </p:spPr>
      </p:sp>
      <p:sp>
        <p:nvSpPr>
          <p:cNvPr id="24" name="Text 2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dersler.perinet.org/cembersel-hareket.html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Sabit süratle dönen bir cismin </a:t>
            </a:r>
            <a:pPr indent="0" marL="0">
              <a:lnSpc>
                <a:spcPct val="130000"/>
              </a:lnSpc>
              <a:buNone/>
            </a:pPr>
            <a:r>
              <a:rPr lang="en-US" sz="2400" b="1" dirty="0">
                <a:solidFill>
                  <a:srgbClr val="5F4BD8"/>
                </a:solidFill>
                <a:latin typeface="Cambria" pitchFamily="34" charset="0"/>
                <a:ea typeface="Cambria" pitchFamily="34" charset="-122"/>
                <a:cs typeface="Cambria" pitchFamily="34" charset="-120"/>
              </a:rPr>
              <a:t>hızı değişiyor mu?</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Evet — ve bu, konunun en kritik cümlesi.</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Hız bir vektördür; büyüklüğü hiç değişmese bile </a:t>
            </a:r>
            <a:pPr indent="0" marL="0">
              <a:lnSpc>
                <a:spcPct val="130000"/>
              </a:lnSpc>
              <a:buNone/>
            </a:pPr>
            <a:r>
              <a:rPr lang="en-US" sz="2400" b="1" dirty="0">
                <a:solidFill>
                  <a:srgbClr val="5F4BD8"/>
                </a:solidFill>
                <a:latin typeface="Cambria" pitchFamily="34" charset="0"/>
                <a:ea typeface="Cambria" pitchFamily="34" charset="-122"/>
                <a:cs typeface="Cambria" pitchFamily="34" charset="-120"/>
              </a:rPr>
              <a:t>yönü her an değiştiği için</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 cisim ivmelidir.</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Bu ivmeyi üreten bir kuvvet olmasaydı, ipi kesilen taş gibi teğet doğrultuda kaçıp giderdi.</a:t>
            </a:r>
            <a:endParaRPr lang="en-US" sz="24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dönen bir cisme bak, neyin sabit kalıp neyin değiştiğini gör ve adını koy.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Önce gözlemle: virajı dönen bir arabada ne olur?</a:t>
            </a:r>
            <a:endParaRPr lang="en-US" sz="1150" dirty="0"/>
          </a:p>
        </p:txBody>
      </p:sp>
      <p:sp>
        <p:nvSpPr>
          <p:cNvPr id="15" name="Text 13"/>
          <p:cNvSpPr txBox="1"/>
          <p:nvPr/>
        </p:nvSpPr>
        <p:spPr>
          <a:xfrm>
            <a:off x="859536" y="4199382"/>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Düzgün çembersel hareket nedir?</a:t>
            </a:r>
            <a:endParaRPr lang="en-US" sz="1250" dirty="0"/>
          </a:p>
        </p:txBody>
      </p:sp>
      <p:sp>
        <p:nvSpPr>
          <p:cNvPr id="17" name="Text 15"/>
          <p:cNvSpPr txBox="1"/>
          <p:nvPr/>
        </p:nvSpPr>
        <p:spPr>
          <a:xfrm>
            <a:off x="859536" y="4832604"/>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Periyot ve frekans: dönmeyi saymak</a:t>
            </a:r>
            <a:endParaRPr lang="en-US" sz="1250" dirty="0"/>
          </a:p>
        </p:txBody>
      </p:sp>
      <p:sp>
        <p:nvSpPr>
          <p:cNvPr id="19" name="Text 17"/>
          <p:cNvSpPr txBox="1"/>
          <p:nvPr/>
        </p:nvSpPr>
        <p:spPr>
          <a:xfrm>
            <a:off x="859536" y="5465826"/>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04</a:t>
            </a:r>
            <a:endParaRPr lang="en-US" sz="1100" dirty="0"/>
          </a:p>
        </p:txBody>
      </p:sp>
      <p:sp>
        <p:nvSpPr>
          <p:cNvPr id="20" name="Text 18"/>
          <p:cNvSpPr txBox="1"/>
          <p:nvPr/>
        </p:nvSpPr>
        <p:spPr>
          <a:xfrm>
            <a:off x="1243584" y="5465826"/>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Çemberde kalmak için neden kuvvet gerekir?</a:t>
            </a:r>
            <a:endParaRPr lang="en-US" sz="1150" dirty="0"/>
          </a:p>
        </p:txBody>
      </p:sp>
      <p:sp>
        <p:nvSpPr>
          <p:cNvPr id="21" name="Shape 19"/>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3601136" y="1645920"/>
            <a:ext cx="2211248" cy="64008"/>
          </a:xfrm>
          <a:prstGeom prst="rect">
            <a:avLst/>
          </a:prstGeom>
          <a:solidFill>
            <a:srgbClr val="2957D4"/>
          </a:solidFill>
          <a:ln/>
        </p:spPr>
      </p:sp>
      <p:sp>
        <p:nvSpPr>
          <p:cNvPr id="23" name="Shape 21"/>
          <p:cNvSpPr/>
          <p:nvPr/>
        </p:nvSpPr>
        <p:spPr>
          <a:xfrm>
            <a:off x="3637712" y="1920240"/>
            <a:ext cx="420624" cy="420624"/>
          </a:xfrm>
          <a:prstGeom prst="roundRect">
            <a:avLst>
              <a:gd name="adj" fmla="val 26000"/>
            </a:avLst>
          </a:prstGeom>
          <a:solidFill>
            <a:srgbClr val="2957D4"/>
          </a:solidFill>
          <a:ln/>
        </p:spPr>
      </p:sp>
      <p:sp>
        <p:nvSpPr>
          <p:cNvPr id="24" name="Text 22"/>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3"/>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6" name="Text 24"/>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Bağıntılar: hızı, ivmeyi ve kuvveti adım adım türet, sonra gerçek sayılarla hisset.</a:t>
            </a:r>
            <a:endParaRPr lang="en-US" sz="1150" dirty="0"/>
          </a:p>
        </p:txBody>
      </p:sp>
      <p:sp>
        <p:nvSpPr>
          <p:cNvPr id="27" name="Shape 25"/>
          <p:cNvSpPr/>
          <p:nvPr/>
        </p:nvSpPr>
        <p:spPr>
          <a:xfrm>
            <a:off x="3637712" y="3429000"/>
            <a:ext cx="2138096" cy="0"/>
          </a:xfrm>
          <a:prstGeom prst="line">
            <a:avLst/>
          </a:prstGeom>
          <a:noFill/>
          <a:ln w="9525">
            <a:solidFill>
              <a:srgbClr val="E1E5EE"/>
            </a:solidFill>
            <a:prstDash val="dash"/>
          </a:ln>
        </p:spPr>
      </p:sp>
      <p:sp>
        <p:nvSpPr>
          <p:cNvPr id="28" name="Text 26"/>
          <p:cNvSpPr txBox="1"/>
          <p:nvPr/>
        </p:nvSpPr>
        <p:spPr>
          <a:xfrm>
            <a:off x="3637712" y="3566160"/>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Çizgisel hız ve açısal hız</a:t>
            </a:r>
            <a:endParaRPr lang="en-US" sz="1250" dirty="0"/>
          </a:p>
        </p:txBody>
      </p:sp>
      <p:sp>
        <p:nvSpPr>
          <p:cNvPr id="30" name="Text 28"/>
          <p:cNvSpPr txBox="1"/>
          <p:nvPr/>
        </p:nvSpPr>
        <p:spPr>
          <a:xfrm>
            <a:off x="3637712" y="4199382"/>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Merkezcil ivme: v²/r nereden geliyor?</a:t>
            </a:r>
            <a:endParaRPr lang="en-US" sz="1250" dirty="0"/>
          </a:p>
        </p:txBody>
      </p:sp>
      <p:sp>
        <p:nvSpPr>
          <p:cNvPr id="32" name="Text 30"/>
          <p:cNvSpPr txBox="1"/>
          <p:nvPr/>
        </p:nvSpPr>
        <p:spPr>
          <a:xfrm>
            <a:off x="3637712" y="4832604"/>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832604"/>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Merkezcil kuvvet: bu görevi kim üstleniyor?</a:t>
            </a:r>
            <a:endParaRPr lang="en-US" sz="1150" dirty="0"/>
          </a:p>
        </p:txBody>
      </p:sp>
      <p:sp>
        <p:nvSpPr>
          <p:cNvPr id="34" name="Text 32"/>
          <p:cNvSpPr txBox="1"/>
          <p:nvPr/>
        </p:nvSpPr>
        <p:spPr>
          <a:xfrm>
            <a:off x="3637712" y="5465826"/>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465826"/>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Sayılarla hisset: ne kadar hızlı, ne kadar ivme?</a:t>
            </a:r>
            <a:endParaRPr lang="en-US" sz="1150" dirty="0"/>
          </a:p>
        </p:txBody>
      </p:sp>
      <p:sp>
        <p:nvSpPr>
          <p:cNvPr id="36" name="Shape 34"/>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6379312" y="1645920"/>
            <a:ext cx="2211248" cy="64008"/>
          </a:xfrm>
          <a:prstGeom prst="rect">
            <a:avLst/>
          </a:prstGeom>
          <a:solidFill>
            <a:srgbClr val="5F4BD8"/>
          </a:solidFill>
          <a:ln/>
        </p:spPr>
      </p:sp>
      <p:sp>
        <p:nvSpPr>
          <p:cNvPr id="38" name="Shape 36"/>
          <p:cNvSpPr/>
          <p:nvPr/>
        </p:nvSpPr>
        <p:spPr>
          <a:xfrm>
            <a:off x="6415888" y="1920240"/>
            <a:ext cx="420624" cy="420624"/>
          </a:xfrm>
          <a:prstGeom prst="roundRect">
            <a:avLst>
              <a:gd name="adj" fmla="val 26000"/>
            </a:avLst>
          </a:prstGeom>
          <a:solidFill>
            <a:srgbClr val="5F4BD8"/>
          </a:solidFill>
          <a:ln/>
        </p:spPr>
      </p:sp>
      <p:sp>
        <p:nvSpPr>
          <p:cNvPr id="39" name="Text 37"/>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Text 38"/>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1" name="Text 39"/>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Derinleşme: dönen sistemin içinden bakınca, eğimli virajlarda, düşey çemberde ve yörüngede ne olur?</a:t>
            </a:r>
            <a:endParaRPr lang="en-US" sz="1150" dirty="0"/>
          </a:p>
        </p:txBody>
      </p:sp>
      <p:sp>
        <p:nvSpPr>
          <p:cNvPr id="42" name="Shape 40"/>
          <p:cNvSpPr/>
          <p:nvPr/>
        </p:nvSpPr>
        <p:spPr>
          <a:xfrm>
            <a:off x="6415888" y="3429000"/>
            <a:ext cx="2138096" cy="0"/>
          </a:xfrm>
          <a:prstGeom prst="line">
            <a:avLst/>
          </a:prstGeom>
          <a:noFill/>
          <a:ln w="9525">
            <a:solidFill>
              <a:srgbClr val="E1E5EE"/>
            </a:solidFill>
            <a:prstDash val="dash"/>
          </a:ln>
        </p:spPr>
      </p:sp>
      <p:sp>
        <p:nvSpPr>
          <p:cNvPr id="43" name="Text 41"/>
          <p:cNvSpPr txBox="1"/>
          <p:nvPr/>
        </p:nvSpPr>
        <p:spPr>
          <a:xfrm>
            <a:off x="6415888" y="3566160"/>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Merkezkaç kuvveti yanılgısı</a:t>
            </a:r>
            <a:endParaRPr lang="en-US" sz="1250" dirty="0"/>
          </a:p>
        </p:txBody>
      </p:sp>
      <p:sp>
        <p:nvSpPr>
          <p:cNvPr id="45" name="Text 43"/>
          <p:cNvSpPr txBox="1"/>
          <p:nvPr/>
        </p:nvSpPr>
        <p:spPr>
          <a:xfrm>
            <a:off x="6415888" y="4199382"/>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199382"/>
            <a:ext cx="1754048" cy="578358"/>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Virajda savrulma sınırı ve eğimli yollar</a:t>
            </a:r>
            <a:endParaRPr lang="en-US" sz="1200" dirty="0"/>
          </a:p>
        </p:txBody>
      </p:sp>
      <p:sp>
        <p:nvSpPr>
          <p:cNvPr id="47" name="Text 45"/>
          <p:cNvSpPr txBox="1"/>
          <p:nvPr/>
        </p:nvSpPr>
        <p:spPr>
          <a:xfrm>
            <a:off x="6415888" y="4832604"/>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Düşey çember: kova neden dökülmez?</a:t>
            </a:r>
            <a:endParaRPr lang="en-US" sz="1250" dirty="0"/>
          </a:p>
        </p:txBody>
      </p:sp>
      <p:sp>
        <p:nvSpPr>
          <p:cNvPr id="49" name="Text 47"/>
          <p:cNvSpPr txBox="1"/>
          <p:nvPr/>
        </p:nvSpPr>
        <p:spPr>
          <a:xfrm>
            <a:off x="6415888" y="5465826"/>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Çembersel hareket gerçek dünyada</a:t>
            </a:r>
            <a:endParaRPr lang="en-US" sz="1250" dirty="0"/>
          </a:p>
        </p:txBody>
      </p:sp>
      <p:sp>
        <p:nvSpPr>
          <p:cNvPr id="51" name="Shape 49"/>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2" name="Shape 50"/>
          <p:cNvSpPr/>
          <p:nvPr/>
        </p:nvSpPr>
        <p:spPr>
          <a:xfrm>
            <a:off x="9157487" y="1645920"/>
            <a:ext cx="2211248" cy="64008"/>
          </a:xfrm>
          <a:prstGeom prst="rect">
            <a:avLst/>
          </a:prstGeom>
          <a:solidFill>
            <a:srgbClr val="A56209"/>
          </a:solidFill>
          <a:ln/>
        </p:spPr>
      </p:sp>
      <p:sp>
        <p:nvSpPr>
          <p:cNvPr id="53" name="Shape 51"/>
          <p:cNvSpPr/>
          <p:nvPr/>
        </p:nvSpPr>
        <p:spPr>
          <a:xfrm>
            <a:off x="9194063" y="1920240"/>
            <a:ext cx="420624" cy="420624"/>
          </a:xfrm>
          <a:prstGeom prst="roundRect">
            <a:avLst>
              <a:gd name="adj" fmla="val 26000"/>
            </a:avLst>
          </a:prstGeom>
          <a:solidFill>
            <a:srgbClr val="A56209"/>
          </a:solidFill>
          <a:ln/>
        </p:spPr>
      </p:sp>
      <p:sp>
        <p:nvSpPr>
          <p:cNvPr id="54" name="Text 52"/>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5" name="Text 53"/>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6" name="Text 54"/>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çembersel harekette puan kaybettiren klasik hatalar.</a:t>
            </a:r>
            <a:endParaRPr lang="en-US" sz="1150" dirty="0"/>
          </a:p>
        </p:txBody>
      </p:sp>
      <p:sp>
        <p:nvSpPr>
          <p:cNvPr id="57" name="Shape 55"/>
          <p:cNvSpPr/>
          <p:nvPr/>
        </p:nvSpPr>
        <p:spPr>
          <a:xfrm>
            <a:off x="9194063" y="3429000"/>
            <a:ext cx="2138096" cy="0"/>
          </a:xfrm>
          <a:prstGeom prst="line">
            <a:avLst/>
          </a:prstGeom>
          <a:noFill/>
          <a:ln w="9525">
            <a:solidFill>
              <a:srgbClr val="E1E5EE"/>
            </a:solidFill>
            <a:prstDash val="dash"/>
          </a:ln>
        </p:spPr>
      </p:sp>
      <p:sp>
        <p:nvSpPr>
          <p:cNvPr id="58" name="Text 56"/>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0" name="Text 58"/>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2" name="Shape 60"/>
          <p:cNvSpPr/>
          <p:nvPr/>
        </p:nvSpPr>
        <p:spPr>
          <a:xfrm>
            <a:off x="640080" y="6382512"/>
            <a:ext cx="128016" cy="128016"/>
          </a:xfrm>
          <a:prstGeom prst="roundRect">
            <a:avLst>
              <a:gd name="adj" fmla="val 28571"/>
            </a:avLst>
          </a:prstGeom>
          <a:solidFill>
            <a:srgbClr val="A9E648"/>
          </a:solidFill>
          <a:ln/>
        </p:spPr>
      </p:sp>
      <p:sp>
        <p:nvSpPr>
          <p:cNvPr id="63" name="Text 6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64" name="Text 6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dönen bir cisme bak, neyin sabit kalıp neyin değiştiğini gör ve adını koy. Bu basamakta hesap yok denecek kadar az.</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virajı dönen bir arabada ne olur?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Düzgün çembersel hareket nedir?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Periyot ve frekans: dönmeyi saymak</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Çemberde kalmak için neden kuvvet gerekir?</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claude-1000/-opt-dersler/8a8328c3-841c-44fa-b76f-82572d338d3d/scratchpad/d4/sek/cembersel-hareket-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Shape 9"/>
          <p:cNvSpPr/>
          <p:nvPr/>
        </p:nvSpPr>
        <p:spPr>
          <a:xfrm>
            <a:off x="9704527" y="4198925"/>
            <a:ext cx="1755648" cy="246888"/>
          </a:xfrm>
          <a:prstGeom prst="roundRect">
            <a:avLst>
              <a:gd name="adj" fmla="val 48148"/>
            </a:avLst>
          </a:prstGeom>
          <a:solidFill>
            <a:srgbClr val="0E1426">
              <a:alpha val="60000"/>
            </a:srgbClr>
          </a:solidFill>
          <a:ln/>
        </p:spPr>
      </p:sp>
      <p:sp>
        <p:nvSpPr>
          <p:cNvPr id="13" name="Text 10"/>
          <p:cNvSpPr txBox="1"/>
          <p:nvPr/>
        </p:nvSpPr>
        <p:spPr>
          <a:xfrm>
            <a:off x="9704527" y="4198925"/>
            <a:ext cx="1755648" cy="24688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Yapay zekâ ile üretildi</a:t>
            </a:r>
            <a:endParaRPr lang="en-US" sz="850" dirty="0"/>
          </a:p>
        </p:txBody>
      </p:sp>
      <p:sp>
        <p:nvSpPr>
          <p:cNvPr id="14" name="Text 11"/>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Virajı dönen bir otomobil, çembersel hareketin en tanıdık hâlidir. Asfalttaki lastik izleri yolun eğrisini izliyor: araba her an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yön değiştiriyor</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Bunu sağlayan, lastiklerle yol arasındaki tutunmadır. Bariyerin virajın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dış</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kenarında durması da tutunma kaybolursa aracın nereye gideceğini söylüyor: düz ileri, eğrinin dışına.</a:t>
            </a:r>
            <a:endParaRPr lang="en-US" sz="1150" dirty="0"/>
          </a:p>
        </p:txBody>
      </p:sp>
      <p:sp>
        <p:nvSpPr>
          <p:cNvPr id="15" name="Shape 12"/>
          <p:cNvSpPr/>
          <p:nvPr/>
        </p:nvSpPr>
        <p:spPr>
          <a:xfrm>
            <a:off x="640080" y="6382512"/>
            <a:ext cx="128016" cy="128016"/>
          </a:xfrm>
          <a:prstGeom prst="roundRect">
            <a:avLst>
              <a:gd name="adj" fmla="val 28571"/>
            </a:avLst>
          </a:prstGeom>
          <a:solidFill>
            <a:srgbClr val="C6F36B"/>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dersler.perinet.org/cembersel-hareket.html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Önce gözlemle: virajı dönen bir arabada ne olur?</a:t>
            </a:r>
            <a:endParaRPr lang="en-US" sz="29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Virajı dönen araba sürati sabit kalsa bile sürekli yön değiştirir. Yön değiştirmek için yolun arabayı yana doğru tutması gerekir; tutunma kaybolursa araba düz gider.</a:t>
            </a:r>
            <a:endParaRPr lang="en-US" sz="1900" dirty="0"/>
          </a:p>
        </p:txBody>
      </p:sp>
      <p:sp>
        <p:nvSpPr>
          <p:cNvPr id="9" name="Text 7"/>
          <p:cNvSpPr txBox="1"/>
          <p:nvPr/>
        </p:nvSpPr>
        <p:spPr>
          <a:xfrm>
            <a:off x="640080" y="2294534"/>
            <a:ext cx="10911535" cy="204368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Bir dağ yolunda arabayla ilerlediğini düşün.</a:t>
            </a:r>
            <a:endParaRPr lang="en-US" sz="1700" dirty="0"/>
          </a:p>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Sürücü gaza da frene de dokunmuyor; gösterge hep 50 km/h'yi gösterirken keskin bir virajı dönüyor.</a:t>
            </a:r>
            <a:endParaRPr lang="en-US" sz="1700" dirty="0"/>
          </a:p>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Göstergeye bakan biri “hiçbir şey değişmiyor” der; oysa sen kapıya doğru kaydığını, arka koltuktaki çantanın devrildiğini hissedersin.</a:t>
            </a:r>
            <a:endParaRPr lang="en-US" sz="1700" dirty="0"/>
          </a:p>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Hareketin bir şeyi değişiyor olmalı — ama ne?</a:t>
            </a:r>
            <a:endParaRPr lang="en-US" sz="1700" dirty="0"/>
          </a:p>
        </p:txBody>
      </p:sp>
      <p:sp>
        <p:nvSpPr>
          <p:cNvPr id="10" name="Text 8"/>
          <p:cNvSpPr txBox="1"/>
          <p:nvPr/>
        </p:nvSpPr>
        <p:spPr>
          <a:xfrm>
            <a:off x="640080" y="4447946"/>
            <a:ext cx="10911535" cy="108585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Yön sürekli değişir: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arabanın burnu virajın her noktasında başka bir yöne bakar.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Bir tutunma gerekir: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lastikler yolu kavramazsa araba virajı dönemez, düz gider.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İçerideki her şey dışa kayar gibi olur: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yolcu kapıya, çanta yana yaslanır.</a:t>
            </a:r>
            <a:endParaRPr lang="en-US" sz="1700" dirty="0"/>
          </a:p>
        </p:txBody>
      </p:sp>
      <p:sp>
        <p:nvSpPr>
          <p:cNvPr id="11" name="Shape 9"/>
          <p:cNvSpPr/>
          <p:nvPr/>
        </p:nvSpPr>
        <p:spPr>
          <a:xfrm>
            <a:off x="640080" y="6382512"/>
            <a:ext cx="128016" cy="128016"/>
          </a:xfrm>
          <a:prstGeom prst="roundRect">
            <a:avLst>
              <a:gd name="adj" fmla="val 28571"/>
            </a:avLst>
          </a:prstGeom>
          <a:solidFill>
            <a:srgbClr val="A9E648"/>
          </a:solidFill>
          <a:ln/>
        </p:spPr>
      </p:sp>
      <p:sp>
        <p:nvSpPr>
          <p:cNvPr id="12"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3"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Buzlu bir virajda direksiyonu çevirsen de araba neden dümdüz kaymaya devam eder?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virajı dönen bir arabada ne olur?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Buzlu bir virajda direksiyonu çevirsen de araba neden dümdüz kaymaya devam eder?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Arabayı virajda döndüren, lastiklerle yol arasındaki tutunmadır. Buz bu tutunmayı neredeyse yok eder; yana doğru bir kuvvet kalmayınca araba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o andaki doğrultusunda</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gitmeyi sürdürür. Tekerlekleri çevirmek yetmez, yolun arabayı yana itebilmesi gerekir.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çembersel hareket nedir?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Düzgün çembersel harekette sürat sabittir, ama hız yörüngeye teğet olduğu için yönü her an değişir. Yönü değişen hız, ivmeli hareket demektir.</a:t>
            </a:r>
            <a:endParaRPr lang="en-US" sz="1900" dirty="0"/>
          </a:p>
        </p:txBody>
      </p:sp>
      <p:sp>
        <p:nvSpPr>
          <p:cNvPr id="9" name="Text 7"/>
          <p:cNvSpPr txBox="1"/>
          <p:nvPr/>
        </p:nvSpPr>
        <p:spPr>
          <a:xfrm>
            <a:off x="640080" y="2294534"/>
            <a:ext cx="5486400" cy="153009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Bir cisim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sabit süratle çembersel bir yörüngede</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dolanıyorsa bu harekete düzgün çembersel hareket denir.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"Düzgün" kelimesi süratin sabitliğini anlatır —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hızın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sabitliğini değil.</a:t>
            </a:r>
            <a:endParaRPr lang="en-US" sz="1600" dirty="0"/>
          </a:p>
        </p:txBody>
      </p:sp>
      <p:sp>
        <p:nvSpPr>
          <p:cNvPr id="10" name="Shape 8"/>
          <p:cNvSpPr/>
          <p:nvPr/>
        </p:nvSpPr>
        <p:spPr>
          <a:xfrm>
            <a:off x="640080" y="3934358"/>
            <a:ext cx="5486400" cy="1191006"/>
          </a:xfrm>
          <a:prstGeom prst="roundRect">
            <a:avLst>
              <a:gd name="adj" fmla="val 921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658368" y="4080662"/>
            <a:ext cx="45720" cy="898398"/>
          </a:xfrm>
          <a:prstGeom prst="rect">
            <a:avLst/>
          </a:prstGeom>
          <a:solidFill>
            <a:srgbClr val="3C8C21"/>
          </a:solidFill>
          <a:ln/>
        </p:spPr>
      </p:sp>
      <p:sp>
        <p:nvSpPr>
          <p:cNvPr id="12" name="Text 10"/>
          <p:cNvSpPr txBox="1"/>
          <p:nvPr/>
        </p:nvSpPr>
        <p:spPr>
          <a:xfrm>
            <a:off x="914400" y="4044086"/>
            <a:ext cx="5029200" cy="971550"/>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Anahtar cümle:</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Düzgün çembersel hareket,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sabit süratli ama ivmeli</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bir harekettir. İvmenin işi hızı büyütmek değil,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yönünü çevirmektir</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p:txBody>
      </p:sp>
      <p:sp>
        <p:nvSpPr>
          <p:cNvPr id="13" name="Shape 11"/>
          <p:cNvSpPr/>
          <p:nvPr/>
        </p:nvSpPr>
        <p:spPr>
          <a:xfrm>
            <a:off x="6419088" y="2294534"/>
            <a:ext cx="5132527" cy="3627383"/>
          </a:xfrm>
          <a:prstGeom prst="roundRect">
            <a:avLst>
              <a:gd name="adj" fmla="val 40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4/sek/cembersel-hareket-01.png">    </p:cNvPr>
          <p:cNvPicPr>
            <a:picLocks noChangeAspect="1"/>
          </p:cNvPicPr>
          <p:nvPr/>
        </p:nvPicPr>
        <p:blipFill>
          <a:blip r:embed="rId1"/>
          <a:stretch>
            <a:fillRect/>
          </a:stretch>
        </p:blipFill>
        <p:spPr>
          <a:xfrm>
            <a:off x="6601968" y="2477414"/>
            <a:ext cx="4766767" cy="2343565"/>
          </a:xfrm>
          <a:prstGeom prst="rect">
            <a:avLst/>
          </a:prstGeom>
        </p:spPr>
      </p:pic>
      <p:sp>
        <p:nvSpPr>
          <p:cNvPr id="15" name="Shape 12"/>
          <p:cNvSpPr/>
          <p:nvPr/>
        </p:nvSpPr>
        <p:spPr>
          <a:xfrm>
            <a:off x="6601968" y="4912419"/>
            <a:ext cx="4766767" cy="0"/>
          </a:xfrm>
          <a:prstGeom prst="line">
            <a:avLst/>
          </a:prstGeom>
          <a:noFill/>
          <a:ln w="9525">
            <a:solidFill>
              <a:srgbClr val="E1E5EE"/>
            </a:solidFill>
            <a:prstDash val="dash"/>
          </a:ln>
        </p:spPr>
      </p:sp>
      <p:sp>
        <p:nvSpPr>
          <p:cNvPr id="16" name="Text 13"/>
          <p:cNvSpPr txBox="1"/>
          <p:nvPr/>
        </p:nvSpPr>
        <p:spPr>
          <a:xfrm>
            <a:off x="6601968" y="4967283"/>
            <a:ext cx="4766767" cy="771754"/>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Düzgün çembersel harekette hız vektörü her noktada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yörüngeye teğettir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Altı okun boyu birbirinin aynı — sürat değişmiyor. Ama yönleri farklı, yani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hız değişiyor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Hız değişiyorsa ivme vardır; ivme varsa bir kuvvet vardır. Konunun tamamı bu zincirden çıkar.</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Periyot ve frekans: dönmeyi saymak</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Periyot bir turun süresi, frekans bir saniyedeki tur sayısıdır ve T = 1/f. Dönen katı bir cismin bütün noktaları aynı periyotla döner.</a:t>
            </a:r>
            <a:endParaRPr lang="en-US" sz="1900" dirty="0"/>
          </a:p>
        </p:txBody>
      </p:sp>
      <p:sp>
        <p:nvSpPr>
          <p:cNvPr id="9" name="Shape 7"/>
          <p:cNvSpPr/>
          <p:nvPr/>
        </p:nvSpPr>
        <p:spPr>
          <a:xfrm>
            <a:off x="640080" y="2294534"/>
            <a:ext cx="1345997"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 = 1 / f</a:t>
            </a:r>
            <a:endParaRPr lang="en-US" sz="1300" dirty="0"/>
          </a:p>
        </p:txBody>
      </p:sp>
      <p:sp>
        <p:nvSpPr>
          <p:cNvPr id="11" name="Shape 9"/>
          <p:cNvSpPr/>
          <p:nvPr/>
        </p:nvSpPr>
        <p:spPr>
          <a:xfrm>
            <a:off x="2095805" y="2294534"/>
            <a:ext cx="1345997"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095805" y="2294534"/>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1 / T</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2916326"/>
          <a:ext cx="5486400" cy="914400"/>
        </p:xfrm>
        <a:graphic>
          <a:graphicData uri="http://schemas.openxmlformats.org/drawingml/2006/table">
            <a:tbl>
              <a:tblPr/>
              <a:tblGrid>
                <a:gridCol w="2920181"/>
                <a:gridCol w="1238865"/>
                <a:gridCol w="1327355"/>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Dönen şey</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Periyot</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Frekans</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Saatin saniye ibresi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60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1/60 ≈ 0,017 Hz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Atlıkarınca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yaklaşık 10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0,1 Hz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Çamaşır tamburu (1200 devir/dk)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0,05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Hz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Dünya'nın kendi ekseni çevresinde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yaklaşık 1 gün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günde 1 tur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4" name="Shape 11"/>
          <p:cNvSpPr/>
          <p:nvPr/>
        </p:nvSpPr>
        <p:spPr>
          <a:xfrm>
            <a:off x="6419088" y="2294534"/>
            <a:ext cx="5132527" cy="3230200"/>
          </a:xfrm>
          <a:prstGeom prst="roundRect">
            <a:avLst>
              <a:gd name="adj" fmla="val 452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5" name="Image 0" descr="/tmp/claude-1000/-opt-dersler/8a8328c3-841c-44fa-b76f-82572d338d3d/scratchpad/d4/sek/cembersel-hareket-02.png">    </p:cNvPr>
          <p:cNvPicPr>
            <a:picLocks noChangeAspect="1"/>
          </p:cNvPicPr>
          <p:nvPr/>
        </p:nvPicPr>
        <p:blipFill>
          <a:blip r:embed="rId1"/>
          <a:stretch>
            <a:fillRect/>
          </a:stretch>
        </p:blipFill>
        <p:spPr>
          <a:xfrm>
            <a:off x="6601968" y="2477414"/>
            <a:ext cx="4766767" cy="1946382"/>
          </a:xfrm>
          <a:prstGeom prst="rect">
            <a:avLst/>
          </a:prstGeom>
        </p:spPr>
      </p:pic>
      <p:sp>
        <p:nvSpPr>
          <p:cNvPr id="16" name="Shape 12"/>
          <p:cNvSpPr/>
          <p:nvPr/>
        </p:nvSpPr>
        <p:spPr>
          <a:xfrm>
            <a:off x="6601968" y="4515237"/>
            <a:ext cx="4766767" cy="0"/>
          </a:xfrm>
          <a:prstGeom prst="line">
            <a:avLst/>
          </a:prstGeom>
          <a:noFill/>
          <a:ln w="9525">
            <a:solidFill>
              <a:srgbClr val="E1E5EE"/>
            </a:solidFill>
            <a:prstDash val="dash"/>
          </a:ln>
        </p:spPr>
      </p:sp>
      <p:sp>
        <p:nvSpPr>
          <p:cNvPr id="17" name="Text 13"/>
          <p:cNvSpPr txBox="1"/>
          <p:nvPr/>
        </p:nvSpPr>
        <p:spPr>
          <a:xfrm>
            <a:off x="6601968" y="4570101"/>
            <a:ext cx="4766767" cy="771754"/>
          </a:xfrm>
          <a:prstGeom prst="rect">
            <a:avLst/>
          </a:prstGeom>
          <a:noFill/>
          <a:ln/>
        </p:spPr>
        <p:txBody>
          <a:bodyPr wrap="square" lIns="0" tIns="0" rIns="0" bIns="0" rtlCol="0" anchor="t"/>
          <a:lstStyle/>
          <a:p>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Periyot (T)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bir tam turun kaç saniye sürdüğü,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frekans (f)</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ise bir saniyede kaç tur atıldığıdır. İkisi aynı bilginin iki okunuşu olduğu için birbirinin tersidir: T = 1/f. Saniyede 4 tur atan bir cisim, her turu 0,25 saniyede tamamlar.</a:t>
            </a:r>
            <a:endParaRPr lang="en-US" sz="1050" dirty="0"/>
          </a:p>
        </p:txBody>
      </p:sp>
      <p:sp>
        <p:nvSpPr>
          <p:cNvPr id="18" name="Shape 14"/>
          <p:cNvSpPr/>
          <p:nvPr/>
        </p:nvSpPr>
        <p:spPr>
          <a:xfrm>
            <a:off x="640080" y="6382512"/>
            <a:ext cx="128016" cy="128016"/>
          </a:xfrm>
          <a:prstGeom prst="roundRect">
            <a:avLst>
              <a:gd name="adj" fmla="val 28571"/>
            </a:avLst>
          </a:prstGeom>
          <a:solidFill>
            <a:srgbClr val="A9E648"/>
          </a:solidFill>
          <a:ln/>
        </p:spPr>
      </p:sp>
      <p:sp>
        <p:nvSpPr>
          <p:cNvPr id="19"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0"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Dakikada 120 tur atan bir tekerlek bir turu kaç saniyede tamamlar?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Periyot ve frekans: dönmeyi saymak</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Dakikada 120 tur atan bir tekerlek bir turu kaç saniyede tamamlar?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Önce hertz'e çevir: 120 / 60 = saniyede 2 tur, yani f = 2 Hz. Periyot bunun tersidir: T = 1/2 =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0,5 s</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Kontrol: her tur 0,5 saniye sürüyorsa 60 saniyede 120 tur atılır ✓.</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Çemberde kalmak için neden kuvvet gerekir?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Eylemsizlik yüzünden cisim hep düz gitmek ister; onu çemberde tutmak için her an merkeze doğru bir kuvvet gerekir. Bu kuvvet kalkarsa cisim teğet doğrultuda gider.</a:t>
            </a:r>
            <a:endParaRPr lang="en-US" sz="1900" dirty="0"/>
          </a:p>
        </p:txBody>
      </p:sp>
      <p:sp>
        <p:nvSpPr>
          <p:cNvPr id="9" name="Shape 7"/>
          <p:cNvSpPr/>
          <p:nvPr/>
        </p:nvSpPr>
        <p:spPr>
          <a:xfrm>
            <a:off x="640080" y="2294534"/>
            <a:ext cx="5852160" cy="1383792"/>
          </a:xfrm>
          <a:prstGeom prst="roundRect">
            <a:avLst>
              <a:gd name="adj" fmla="val 793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658368" y="2440838"/>
            <a:ext cx="45720" cy="1091184"/>
          </a:xfrm>
          <a:prstGeom prst="rect">
            <a:avLst/>
          </a:prstGeom>
          <a:solidFill>
            <a:srgbClr val="3C8C21"/>
          </a:solidFill>
          <a:ln/>
        </p:spPr>
      </p:sp>
      <p:sp>
        <p:nvSpPr>
          <p:cNvPr id="11" name="Text 9"/>
          <p:cNvSpPr txBox="1"/>
          <p:nvPr/>
        </p:nvSpPr>
        <p:spPr>
          <a:xfrm>
            <a:off x="914400" y="2404262"/>
            <a:ext cx="5394960" cy="1164336"/>
          </a:xfrm>
          <a:prstGeom prst="rect">
            <a:avLst/>
          </a:prstGeom>
          <a:noFill/>
          <a:ln/>
        </p:spPr>
        <p:txBody>
          <a:bodyPr wrap="square" lIns="0" tIns="0" rIns="0" bIns="0" rtlCol="0" anchor="ctr"/>
          <a:lstStyle/>
          <a:p>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Test:</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İpi kesersen cisim dışarı doğru mu fırlar? Hayır — </a:t>
            </a:r>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teğet doğrultuda</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gider. Dışarı iten bir kuvvet olsaydı yörünge merkezden uzaklaşan bir doğru olurdu. Sayfadaki </a:t>
            </a:r>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02</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numaralı deney bunu gösteriyor.</a:t>
            </a:r>
            <a:endParaRPr lang="en-US" sz="1400" dirty="0"/>
          </a:p>
        </p:txBody>
      </p:sp>
      <p:sp>
        <p:nvSpPr>
          <p:cNvPr id="12" name="Text 10"/>
          <p:cNvSpPr txBox="1"/>
          <p:nvPr/>
        </p:nvSpPr>
        <p:spPr>
          <a:xfrm>
            <a:off x="640080" y="3788054"/>
            <a:ext cx="5852160" cy="176936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Çekiç atma:</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atlet dönerken teli içeri çeker; bıraktığı an çekiç teğet doğrultuda uçar.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Islak şemsiye:</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döndürülen şemsiyenin kenarından kopan damlalar teğet doğrultuda saçılır.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Taşlama makinesi:</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dönen taştan kopan kıvılcımlar teğet boyunca düz çizgiler hâlinde fışkırır.</a:t>
            </a:r>
            <a:endParaRPr lang="en-US" sz="1500" dirty="0"/>
          </a:p>
        </p:txBody>
      </p:sp>
      <p:sp>
        <p:nvSpPr>
          <p:cNvPr id="13" name="Shape 11"/>
          <p:cNvSpPr/>
          <p:nvPr/>
        </p:nvSpPr>
        <p:spPr>
          <a:xfrm>
            <a:off x="6784848" y="2294534"/>
            <a:ext cx="4766767" cy="3571768"/>
          </a:xfrm>
          <a:prstGeom prst="roundRect">
            <a:avLst>
              <a:gd name="adj" fmla="val 409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4/sek/cembersel-hareket-03.png">    </p:cNvPr>
          <p:cNvPicPr>
            <a:picLocks noChangeAspect="1"/>
          </p:cNvPicPr>
          <p:nvPr/>
        </p:nvPicPr>
        <p:blipFill>
          <a:blip r:embed="rId1"/>
          <a:stretch>
            <a:fillRect/>
          </a:stretch>
        </p:blipFill>
        <p:spPr>
          <a:xfrm>
            <a:off x="6967728" y="2477414"/>
            <a:ext cx="4401007" cy="2108728"/>
          </a:xfrm>
          <a:prstGeom prst="rect">
            <a:avLst/>
          </a:prstGeom>
        </p:spPr>
      </p:pic>
      <p:sp>
        <p:nvSpPr>
          <p:cNvPr id="15" name="Shape 12"/>
          <p:cNvSpPr/>
          <p:nvPr/>
        </p:nvSpPr>
        <p:spPr>
          <a:xfrm>
            <a:off x="6967728" y="4677582"/>
            <a:ext cx="4401007" cy="0"/>
          </a:xfrm>
          <a:prstGeom prst="line">
            <a:avLst/>
          </a:prstGeom>
          <a:noFill/>
          <a:ln w="9525">
            <a:solidFill>
              <a:srgbClr val="E1E5EE"/>
            </a:solidFill>
            <a:prstDash val="dash"/>
          </a:ln>
        </p:spPr>
      </p:sp>
      <p:sp>
        <p:nvSpPr>
          <p:cNvPr id="16" name="Text 13"/>
          <p:cNvSpPr txBox="1"/>
          <p:nvPr/>
        </p:nvSpPr>
        <p:spPr>
          <a:xfrm>
            <a:off x="6967728" y="4732446"/>
            <a:ext cx="440100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İp kesildiği anda cisme etki eden kuvvet kalmaz; 1. yasa gereği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 anki hız doğrultusunda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yani teğet boyunca düz bir çizgide gider. "Dışarı doğru fırlama" hissi, dönen sistemin içinde bulunan gözlemcinin eylemsizliği kuvvet sanmasından doğar. Gerçek kuvvet, cismi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içeri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çeken merkezcil kuvvettir.</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hızı, ivmeyi ve kuvveti adım adım türet, sonra gerçek sayılarla hisset.</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Çizgisel hız ve açısal hız</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Merkezcil ivme: v²/r nereden geliyor?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Merkezcil kuvvet: bu görevi kim üstleniyor?</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Sayılarla hisset: ne kadar hızlı, ne kadar ivme?</a:t>
            </a:r>
            <a:endParaRPr lang="en-US" sz="1300" dirty="0"/>
          </a:p>
        </p:txBody>
      </p:sp>
      <p:sp>
        <p:nvSpPr>
          <p:cNvPr id="10" name="Text 8"/>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1" name="Shape 9"/>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2" name="Text 10"/>
          <p:cNvSpPr txBox="1"/>
          <p:nvPr/>
        </p:nvSpPr>
        <p:spPr>
          <a:xfrm>
            <a:off x="6400800" y="148132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v = 2πr / T = ω·r</a:t>
            </a:r>
            <a:endParaRPr lang="en-US" sz="1500" dirty="0"/>
          </a:p>
        </p:txBody>
      </p:sp>
      <p:sp>
        <p:nvSpPr>
          <p:cNvPr id="13" name="Text 11"/>
          <p:cNvSpPr txBox="1"/>
          <p:nvPr/>
        </p:nvSpPr>
        <p:spPr>
          <a:xfrm>
            <a:off x="8787384" y="148132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çizgisel hız</a:t>
            </a:r>
            <a:endParaRPr lang="en-US" sz="1200" dirty="0"/>
          </a:p>
        </p:txBody>
      </p:sp>
      <p:sp>
        <p:nvSpPr>
          <p:cNvPr id="14" name="Shape 12"/>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5" name="Text 13"/>
          <p:cNvSpPr txBox="1"/>
          <p:nvPr/>
        </p:nvSpPr>
        <p:spPr>
          <a:xfrm>
            <a:off x="6400800" y="235000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ω = 2π / T = 2π·f</a:t>
            </a:r>
            <a:endParaRPr lang="en-US" sz="1500" dirty="0"/>
          </a:p>
        </p:txBody>
      </p:sp>
      <p:sp>
        <p:nvSpPr>
          <p:cNvPr id="16" name="Text 14"/>
          <p:cNvSpPr txBox="1"/>
          <p:nvPr/>
        </p:nvSpPr>
        <p:spPr>
          <a:xfrm>
            <a:off x="8787384" y="235000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açısal hız</a:t>
            </a:r>
            <a:endParaRPr lang="en-US" sz="1200" dirty="0"/>
          </a:p>
        </p:txBody>
      </p:sp>
      <p:sp>
        <p:nvSpPr>
          <p:cNvPr id="17" name="Shape 15"/>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8" name="Text 16"/>
          <p:cNvSpPr txBox="1"/>
          <p:nvPr/>
        </p:nvSpPr>
        <p:spPr>
          <a:xfrm>
            <a:off x="6400800" y="321868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a = v² / r = ω²·r</a:t>
            </a:r>
            <a:endParaRPr lang="en-US" sz="1500" dirty="0"/>
          </a:p>
        </p:txBody>
      </p:sp>
      <p:sp>
        <p:nvSpPr>
          <p:cNvPr id="19" name="Text 17"/>
          <p:cNvSpPr txBox="1"/>
          <p:nvPr/>
        </p:nvSpPr>
        <p:spPr>
          <a:xfrm>
            <a:off x="8787384" y="321868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merkezcil ivme</a:t>
            </a:r>
            <a:endParaRPr lang="en-US" sz="1200" dirty="0"/>
          </a:p>
        </p:txBody>
      </p:sp>
      <p:sp>
        <p:nvSpPr>
          <p:cNvPr id="20" name="Shape 18"/>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1" name="Text 19"/>
          <p:cNvSpPr txBox="1"/>
          <p:nvPr/>
        </p:nvSpPr>
        <p:spPr>
          <a:xfrm>
            <a:off x="6400800" y="4087368"/>
            <a:ext cx="170078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 = m·v² / r</a:t>
            </a:r>
            <a:endParaRPr lang="en-US" sz="1500" dirty="0"/>
          </a:p>
        </p:txBody>
      </p:sp>
      <p:sp>
        <p:nvSpPr>
          <p:cNvPr id="22" name="Text 20"/>
          <p:cNvSpPr txBox="1"/>
          <p:nvPr/>
        </p:nvSpPr>
        <p:spPr>
          <a:xfrm>
            <a:off x="8193024" y="4087368"/>
            <a:ext cx="317571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merkezcil kuvvet</a:t>
            </a:r>
            <a:endParaRPr lang="en-US" sz="120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dersler.perinet.org/cembersel-hareket.html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Çizgisel hız ve açısal hız</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Çizgisel hız v = 2πr/T, açısal hız ω = 2π/T'dir ve v = ω·r. Dönen bir diskte ω her noktada aynıdır; çizgisel hız ise merkezden uzaklıkla doğru orantılı artar.</a:t>
            </a:r>
            <a:endParaRPr lang="en-US" sz="1900" dirty="0"/>
          </a:p>
        </p:txBody>
      </p:sp>
      <p:sp>
        <p:nvSpPr>
          <p:cNvPr id="9" name="Shape 7"/>
          <p:cNvSpPr/>
          <p:nvPr/>
        </p:nvSpPr>
        <p:spPr>
          <a:xfrm>
            <a:off x="640080" y="2294534"/>
            <a:ext cx="1543507"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154350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 = 2πr / T</a:t>
            </a:r>
            <a:endParaRPr lang="en-US" sz="1300" dirty="0"/>
          </a:p>
        </p:txBody>
      </p:sp>
      <p:sp>
        <p:nvSpPr>
          <p:cNvPr id="11" name="Shape 9"/>
          <p:cNvSpPr/>
          <p:nvPr/>
        </p:nvSpPr>
        <p:spPr>
          <a:xfrm>
            <a:off x="2293315" y="2294534"/>
            <a:ext cx="2136038"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293315" y="2294534"/>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ω = 2π / T = 2π·f</a:t>
            </a:r>
            <a:endParaRPr lang="en-US" sz="1300" dirty="0"/>
          </a:p>
        </p:txBody>
      </p:sp>
      <p:sp>
        <p:nvSpPr>
          <p:cNvPr id="13" name="Shape 11"/>
          <p:cNvSpPr/>
          <p:nvPr/>
        </p:nvSpPr>
        <p:spPr>
          <a:xfrm>
            <a:off x="4539082" y="2294534"/>
            <a:ext cx="1345997"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4539082" y="2294534"/>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 = ω · r</a:t>
            </a:r>
            <a:endParaRPr lang="en-US" sz="1300" dirty="0"/>
          </a:p>
        </p:txBody>
      </p:sp>
      <p:sp>
        <p:nvSpPr>
          <p:cNvPr id="15" name="Text 13"/>
          <p:cNvSpPr txBox="1"/>
          <p:nvPr/>
        </p:nvSpPr>
        <p:spPr>
          <a:xfrm>
            <a:off x="640080" y="2916326"/>
            <a:ext cx="5486400" cy="1874520"/>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Çizgisel hız:</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bir turda alınan yol çevre kadardır (2πr), süresi T'dir: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v = 2πr/T</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Açısal hız:</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bir turda taranan açı 2π radyandır: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ω = 2π/T</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T = 1/f olduğundan ω = 2π·f.</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İkisini bağlamak: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v = (2π/T)·r diye yazarsan parantezin içi ω'dır: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v = ω·r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6419088" y="2294534"/>
            <a:ext cx="5132527" cy="3428863"/>
          </a:xfrm>
          <a:prstGeom prst="roundRect">
            <a:avLst>
              <a:gd name="adj" fmla="val 426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7" name="Image 0" descr="/tmp/claude-1000/-opt-dersler/8a8328c3-841c-44fa-b76f-82572d338d3d/scratchpad/d4/sek/cembersel-hareket-04.png">    </p:cNvPr>
          <p:cNvPicPr>
            <a:picLocks noChangeAspect="1"/>
          </p:cNvPicPr>
          <p:nvPr/>
        </p:nvPicPr>
        <p:blipFill>
          <a:blip r:embed="rId1"/>
          <a:stretch>
            <a:fillRect/>
          </a:stretch>
        </p:blipFill>
        <p:spPr>
          <a:xfrm>
            <a:off x="6601968" y="2477414"/>
            <a:ext cx="4766767" cy="2145045"/>
          </a:xfrm>
          <a:prstGeom prst="rect">
            <a:avLst/>
          </a:prstGeom>
        </p:spPr>
      </p:pic>
      <p:sp>
        <p:nvSpPr>
          <p:cNvPr id="18" name="Shape 15"/>
          <p:cNvSpPr/>
          <p:nvPr/>
        </p:nvSpPr>
        <p:spPr>
          <a:xfrm>
            <a:off x="6601968" y="4713900"/>
            <a:ext cx="4766767" cy="0"/>
          </a:xfrm>
          <a:prstGeom prst="line">
            <a:avLst/>
          </a:prstGeom>
          <a:noFill/>
          <a:ln w="9525">
            <a:solidFill>
              <a:srgbClr val="E1E5EE"/>
            </a:solidFill>
            <a:prstDash val="dash"/>
          </a:ln>
        </p:spPr>
      </p:sp>
      <p:sp>
        <p:nvSpPr>
          <p:cNvPr id="19" name="Text 16"/>
          <p:cNvSpPr txBox="1"/>
          <p:nvPr/>
        </p:nvSpPr>
        <p:spPr>
          <a:xfrm>
            <a:off x="6601968" y="4768764"/>
            <a:ext cx="4766767" cy="771754"/>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Bir diskin üzerindeki bütün noktalar aynı sürede bir tur atar; yani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periyotları ve açısal hızları aynıdır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Ama kenardaki nokta aynı sürede daha uzun bir yay katettiği için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çizgisel hızı büyüktür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 = ω·r bağıntısı tam olarak bunu söyler: ω ortak, v yarıçapla orantılı.</a:t>
            </a:r>
            <a:endParaRPr lang="en-US" sz="1050" dirty="0"/>
          </a:p>
        </p:txBody>
      </p:sp>
      <p:sp>
        <p:nvSpPr>
          <p:cNvPr id="20" name="Shape 17"/>
          <p:cNvSpPr/>
          <p:nvPr/>
        </p:nvSpPr>
        <p:spPr>
          <a:xfrm>
            <a:off x="640080" y="6382512"/>
            <a:ext cx="128016" cy="128016"/>
          </a:xfrm>
          <a:prstGeom prst="roundRect">
            <a:avLst>
              <a:gd name="adj" fmla="val 28571"/>
            </a:avLst>
          </a:prstGeom>
          <a:solidFill>
            <a:srgbClr val="A9E648"/>
          </a:solidFill>
          <a:ln/>
        </p:spPr>
      </p:sp>
      <p:sp>
        <p:nvSpPr>
          <p:cNvPr id="21"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2"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Atlıkarıncada dış sıradaki at iç sıradakinden merkeze iki kat uzaksa, hangisi kaç kat hızlıdır?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05 · Çizgisel hız ve açısal hız</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Atlıkarıncada dış sıradaki at iç sıradakinden merkeze iki kat uzaksa, hangisi kaç kat hızlıdır?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İkisinin periyodu ve açısal hızı aynıdır. Ama dış at aynı sürede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iki kat uzun</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bir çember çizer, bu yüzden çizgisel hızı iki kat büyüktür. v = ω·r de aynı sonucu verir: ω ortak, r iki kat, v iki kat.</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Merkezcil ivme: v²/r nereden geliyor?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Merkezcil ivme hıza dik ve merkeze doğrudur; büyüklüğü a = v²/r = ω²·r'dir. Sürat iki katına çıkarsa ivme dört katına çıkar; aynı süratte geniş yarıçap küçük ivme demektir.</a:t>
            </a:r>
            <a:endParaRPr lang="en-US" sz="1850" dirty="0"/>
          </a:p>
        </p:txBody>
      </p:sp>
      <p:sp>
        <p:nvSpPr>
          <p:cNvPr id="9" name="Shape 7"/>
          <p:cNvSpPr/>
          <p:nvPr/>
        </p:nvSpPr>
        <p:spPr>
          <a:xfrm>
            <a:off x="640080" y="2593238"/>
            <a:ext cx="1444752"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 = v² / r</a:t>
            </a:r>
            <a:endParaRPr lang="en-US" sz="1300" dirty="0"/>
          </a:p>
        </p:txBody>
      </p:sp>
      <p:sp>
        <p:nvSpPr>
          <p:cNvPr id="11" name="Shape 9"/>
          <p:cNvSpPr/>
          <p:nvPr/>
        </p:nvSpPr>
        <p:spPr>
          <a:xfrm>
            <a:off x="2194560" y="2593238"/>
            <a:ext cx="1444752"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194560" y="2593238"/>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 = ω² · r</a:t>
            </a:r>
            <a:endParaRPr lang="en-US" sz="1300" dirty="0"/>
          </a:p>
        </p:txBody>
      </p:sp>
      <p:sp>
        <p:nvSpPr>
          <p:cNvPr id="13" name="Shape 11"/>
          <p:cNvSpPr/>
          <p:nvPr/>
        </p:nvSpPr>
        <p:spPr>
          <a:xfrm>
            <a:off x="3749040" y="2593238"/>
            <a:ext cx="1741018"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3749040" y="2593238"/>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 = 4π²r / T²</a:t>
            </a:r>
            <a:endParaRPr lang="en-US" sz="1300" dirty="0"/>
          </a:p>
        </p:txBody>
      </p:sp>
      <p:sp>
        <p:nvSpPr>
          <p:cNvPr id="15" name="Text 13"/>
          <p:cNvSpPr txBox="1"/>
          <p:nvPr/>
        </p:nvSpPr>
        <p:spPr>
          <a:xfrm>
            <a:off x="640080" y="3215030"/>
            <a:ext cx="6309360" cy="2773680"/>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İki üçgen:</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iki yakın konumu merkeze bağlayan yarıçaplar (r, r) ile iki hız vektörü (v₁, v₂) aynı açıyı yapar.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Benzerlik:</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ikisi de ikizkenar ve tepe açıları eşit, yani benzer üçgenler: Δv / v = Δs / 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Hız değişimi:</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kısa sürede alınan yol Δs = v·Δt olduğundan Δv = v·(v·Δt)/r = v²·Δt/r.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İvme:</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a = Δv/Δt =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v²/r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Δt küçüldükçe Δv tam olarak merkeze bakar.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Öteki biçimler: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v = ω·r koyarsan a = ω²·r; v = 2πr/T koyarsan a = 4π²r/T².</a:t>
            </a:r>
            <a:endParaRPr lang="en-US" sz="1400" dirty="0"/>
          </a:p>
        </p:txBody>
      </p:sp>
      <p:sp>
        <p:nvSpPr>
          <p:cNvPr id="16" name="Shape 14"/>
          <p:cNvSpPr/>
          <p:nvPr/>
        </p:nvSpPr>
        <p:spPr>
          <a:xfrm>
            <a:off x="7242048" y="2593238"/>
            <a:ext cx="4309567" cy="3449801"/>
          </a:xfrm>
          <a:prstGeom prst="roundRect">
            <a:avLst>
              <a:gd name="adj" fmla="val 42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7" name="Image 0" descr="/tmp/claude-1000/-opt-dersler/8a8328c3-841c-44fa-b76f-82572d338d3d/scratchpad/d4/sek/cembersel-hareket-05.png">    </p:cNvPr>
          <p:cNvPicPr>
            <a:picLocks noChangeAspect="1"/>
          </p:cNvPicPr>
          <p:nvPr/>
        </p:nvPicPr>
        <p:blipFill>
          <a:blip r:embed="rId1"/>
          <a:stretch>
            <a:fillRect/>
          </a:stretch>
        </p:blipFill>
        <p:spPr>
          <a:xfrm>
            <a:off x="7424928" y="2776118"/>
            <a:ext cx="3943807" cy="1807539"/>
          </a:xfrm>
          <a:prstGeom prst="rect">
            <a:avLst/>
          </a:prstGeom>
        </p:spPr>
      </p:pic>
      <p:sp>
        <p:nvSpPr>
          <p:cNvPr id="18" name="Shape 15"/>
          <p:cNvSpPr/>
          <p:nvPr/>
        </p:nvSpPr>
        <p:spPr>
          <a:xfrm>
            <a:off x="7424928" y="4675097"/>
            <a:ext cx="3943807" cy="0"/>
          </a:xfrm>
          <a:prstGeom prst="line">
            <a:avLst/>
          </a:prstGeom>
          <a:noFill/>
          <a:ln w="9525">
            <a:solidFill>
              <a:srgbClr val="E1E5EE"/>
            </a:solidFill>
            <a:prstDash val="dash"/>
          </a:ln>
        </p:spPr>
      </p:sp>
      <p:sp>
        <p:nvSpPr>
          <p:cNvPr id="19" name="Text 16"/>
          <p:cNvSpPr txBox="1"/>
          <p:nvPr/>
        </p:nvSpPr>
        <p:spPr>
          <a:xfrm>
            <a:off x="7424928" y="4729961"/>
            <a:ext cx="39438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Çok kısa bir süre içinde hız vektörü v₁'den v₂'ye döner. İkisini kuyruk kuyruğa koyduğumuzda aradaki fark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Δv</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ortaya çıkar ve iki nokta birbirine yaklaştıkça bu fark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tam olarak merkeze doğru</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bakar. İvme Δv yönünde olduğu için merkezcil ivme adını alır; büyüklüğü v²/r'dir. Sürat büyüdükçe ivme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karesiyle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artar, yarıçap büyüdükçe azalır.</a:t>
            </a:r>
            <a:endParaRPr lang="en-US" sz="1050" dirty="0"/>
          </a:p>
        </p:txBody>
      </p:sp>
      <p:sp>
        <p:nvSpPr>
          <p:cNvPr id="20" name="Shape 17"/>
          <p:cNvSpPr/>
          <p:nvPr/>
        </p:nvSpPr>
        <p:spPr>
          <a:xfrm>
            <a:off x="640080" y="6382512"/>
            <a:ext cx="128016" cy="128016"/>
          </a:xfrm>
          <a:prstGeom prst="roundRect">
            <a:avLst>
              <a:gd name="adj" fmla="val 28571"/>
            </a:avLst>
          </a:prstGeom>
          <a:solidFill>
            <a:srgbClr val="A9E648"/>
          </a:solidFill>
          <a:ln/>
        </p:spPr>
      </p:sp>
      <p:sp>
        <p:nvSpPr>
          <p:cNvPr id="21"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2"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Merkezcil kuvvet: bu görevi kim üstleniyor?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Çembersel harekette net kuvvet merkeze doğrudur ve F = m·v²/r. Bu yeni bir kuvvet değildir; ip gerilmesi, sürtünme, yerçekimi ya da normal kuvvet bu görevi üstlenir.</a:t>
            </a:r>
            <a:endParaRPr lang="en-US" sz="1900" dirty="0"/>
          </a:p>
        </p:txBody>
      </p:sp>
      <p:sp>
        <p:nvSpPr>
          <p:cNvPr id="9" name="Shape 7"/>
          <p:cNvSpPr/>
          <p:nvPr/>
        </p:nvSpPr>
        <p:spPr>
          <a:xfrm>
            <a:off x="640080" y="2294534"/>
            <a:ext cx="2234794"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223479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m·a = m·v² / r</a:t>
            </a:r>
            <a:endParaRPr lang="en-US" sz="1300" dirty="0"/>
          </a:p>
        </p:txBody>
      </p:sp>
      <p:sp>
        <p:nvSpPr>
          <p:cNvPr id="11" name="Shape 9"/>
          <p:cNvSpPr/>
          <p:nvPr/>
        </p:nvSpPr>
        <p:spPr>
          <a:xfrm>
            <a:off x="2984602" y="2294534"/>
            <a:ext cx="1444752"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984602" y="2294534"/>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m·ω²·r</a:t>
            </a:r>
            <a:endParaRPr lang="en-US" sz="1300" dirty="0"/>
          </a:p>
        </p:txBody>
      </p:sp>
      <p:sp>
        <p:nvSpPr>
          <p:cNvPr id="13" name="Shape 11"/>
          <p:cNvSpPr/>
          <p:nvPr/>
        </p:nvSpPr>
        <p:spPr>
          <a:xfrm>
            <a:off x="640080" y="2916326"/>
            <a:ext cx="6949440" cy="1208532"/>
          </a:xfrm>
          <a:prstGeom prst="roundRect">
            <a:avLst>
              <a:gd name="adj" fmla="val 907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658368" y="3062630"/>
            <a:ext cx="45720" cy="915924"/>
          </a:xfrm>
          <a:prstGeom prst="rect">
            <a:avLst/>
          </a:prstGeom>
          <a:solidFill>
            <a:srgbClr val="A56209"/>
          </a:solidFill>
          <a:ln/>
        </p:spPr>
      </p:sp>
      <p:sp>
        <p:nvSpPr>
          <p:cNvPr id="15" name="Text 13"/>
          <p:cNvSpPr txBox="1"/>
          <p:nvPr/>
        </p:nvSpPr>
        <p:spPr>
          <a:xfrm>
            <a:off x="914400" y="3026054"/>
            <a:ext cx="6492240" cy="989076"/>
          </a:xfrm>
          <a:prstGeom prst="rect">
            <a:avLst/>
          </a:prstGeom>
          <a:noFill/>
          <a:ln/>
        </p:spPr>
        <p:txBody>
          <a:bodyPr wrap="square" lIns="0" tIns="0" rIns="0" bIns="0" rtlCol="0" anchor="ctr"/>
          <a:lstStyle/>
          <a:p>
            <a:pPr indent="0" marL="0">
              <a:lnSpc>
                <a:spcPct val="112000"/>
              </a:lnSpc>
              <a:buNone/>
            </a:pPr>
            <a:r>
              <a:rPr lang="en-US" sz="1150" b="1" dirty="0">
                <a:solidFill>
                  <a:srgbClr val="0E1426"/>
                </a:solidFill>
                <a:latin typeface="Calibri" pitchFamily="34" charset="0"/>
                <a:ea typeface="Calibri" pitchFamily="34" charset="-122"/>
                <a:cs typeface="Calibri" pitchFamily="34" charset="-120"/>
              </a:rPr>
              <a:t>Merkezcil kuvvet yeni bir kuvvet türü değildir.</a:t>
            </a:r>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 O, mevcut kuvvetlerden birinin (ya da bileşkesinin) üstlendiği bir </a:t>
            </a:r>
            <a:pPr indent="0" marL="0">
              <a:lnSpc>
                <a:spcPct val="112000"/>
              </a:lnSpc>
              <a:buNone/>
            </a:pPr>
            <a:r>
              <a:rPr lang="en-US" sz="1150" b="1" dirty="0">
                <a:solidFill>
                  <a:srgbClr val="0E1426"/>
                </a:solidFill>
                <a:latin typeface="Calibri" pitchFamily="34" charset="0"/>
                <a:ea typeface="Calibri" pitchFamily="34" charset="-122"/>
                <a:cs typeface="Calibri" pitchFamily="34" charset="-120"/>
              </a:rPr>
              <a:t>roldür</a:t>
            </a:r>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 ipteki gerilme, virajda sürtünme, Ay için yerçekimi, elektronu tutan elektriksel çekim. "Serbest cisim diyagramına merkezcil kuvvet eklenmez"; hangi kuvvetin bu rolü üstlendiği bulunur.</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4234586"/>
          <a:ext cx="6949440" cy="914400"/>
        </p:xfrm>
        <a:graphic>
          <a:graphicData uri="http://schemas.openxmlformats.org/drawingml/2006/table">
            <a:tbl>
              <a:tblPr/>
              <a:tblGrid>
                <a:gridCol w="2421775"/>
                <a:gridCol w="3053542"/>
                <a:gridCol w="1474124"/>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Durum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Merkezcil kuvveti sağlayan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Bağıntı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İpin ucunda dönen taş</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İpteki gerilme kuvveti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T = mv²/r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Virajı alan araç</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Yol–lastik sürtünmesi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μmg ≥ mv²/r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Dünya çevresindeki uydu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Yerçekimi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GMm/r² = mv²/r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Çamaşır makinesi sıkma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Tambur duvarı (normal kuvvet)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N = mv²/r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7" name="Shape 14"/>
          <p:cNvSpPr/>
          <p:nvPr/>
        </p:nvSpPr>
        <p:spPr>
          <a:xfrm>
            <a:off x="7882128" y="2294534"/>
            <a:ext cx="3669487" cy="3693531"/>
          </a:xfrm>
          <a:prstGeom prst="roundRect">
            <a:avLst>
              <a:gd name="adj" fmla="val 398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8" name="Image 0" descr="/tmp/claude-1000/-opt-dersler/8a8328c3-841c-44fa-b76f-82572d338d3d/scratchpad/d4/sek/cembersel-hareket-06.png">    </p:cNvPr>
          <p:cNvPicPr>
            <a:picLocks noChangeAspect="1"/>
          </p:cNvPicPr>
          <p:nvPr/>
        </p:nvPicPr>
        <p:blipFill>
          <a:blip r:embed="rId1"/>
          <a:stretch>
            <a:fillRect/>
          </a:stretch>
        </p:blipFill>
        <p:spPr>
          <a:xfrm>
            <a:off x="8065008" y="2477414"/>
            <a:ext cx="3303727" cy="1872046"/>
          </a:xfrm>
          <a:prstGeom prst="rect">
            <a:avLst/>
          </a:prstGeom>
        </p:spPr>
      </p:pic>
      <p:sp>
        <p:nvSpPr>
          <p:cNvPr id="19" name="Shape 15"/>
          <p:cNvSpPr/>
          <p:nvPr/>
        </p:nvSpPr>
        <p:spPr>
          <a:xfrm>
            <a:off x="8065008" y="4440900"/>
            <a:ext cx="3303727" cy="0"/>
          </a:xfrm>
          <a:prstGeom prst="line">
            <a:avLst/>
          </a:prstGeom>
          <a:noFill/>
          <a:ln w="9525">
            <a:solidFill>
              <a:srgbClr val="E1E5EE"/>
            </a:solidFill>
            <a:prstDash val="dash"/>
          </a:ln>
        </p:spPr>
      </p:sp>
      <p:sp>
        <p:nvSpPr>
          <p:cNvPr id="20" name="Text 16"/>
          <p:cNvSpPr txBox="1"/>
          <p:nvPr/>
        </p:nvSpPr>
        <p:spPr>
          <a:xfrm>
            <a:off x="8065008" y="4495764"/>
            <a:ext cx="330372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"Merkezcil kuvvet" diye ayrı bir kuvvet türü yoktur; bu,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bir kuvvetin üstlendiği görevin adıdır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Dönen taşta bu görevi ip gerilmesi, virajdaki arabada lastik sürtünmesi, uyduda yerçekimi, çamaşır makinesinde tambur duvarı üstlenir. Hepsinde yeşil ok merkeze bakar, mavi ok (hız) ise teğettir.</a:t>
            </a:r>
            <a:endParaRPr lang="en-US" sz="1050" dirty="0"/>
          </a:p>
        </p:txBody>
      </p:sp>
      <p:sp>
        <p:nvSpPr>
          <p:cNvPr id="21" name="Shape 17"/>
          <p:cNvSpPr/>
          <p:nvPr/>
        </p:nvSpPr>
        <p:spPr>
          <a:xfrm>
            <a:off x="640080" y="6382512"/>
            <a:ext cx="128016" cy="128016"/>
          </a:xfrm>
          <a:prstGeom prst="roundRect">
            <a:avLst>
              <a:gd name="adj" fmla="val 28571"/>
            </a:avLst>
          </a:prstGeom>
          <a:solidFill>
            <a:srgbClr val="A9E648"/>
          </a:solidFill>
          <a:ln/>
        </p:spPr>
      </p:sp>
      <p:sp>
        <p:nvSpPr>
          <p:cNvPr id="22"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3"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Sayılarla hisset: ne kadar hızlı, ne kadar ivme?</a:t>
            </a:r>
            <a:endParaRPr lang="en-US" sz="29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Merkezcil ivmeyi sürat tek başına belirlemez, v²/r oranı belirler. Küçük yarıçaplı çamaşır tamburu yaklaşık 400 g'ye ulaşırken saniyede 1 km giden Ay'ın ivmesi yalnızca 0,0027 m/s²'dir.</a:t>
            </a:r>
            <a:endParaRPr lang="en-US" sz="18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10911535" cy="914400"/>
        </p:xfrm>
        <a:graphic>
          <a:graphicData uri="http://schemas.openxmlformats.org/drawingml/2006/table">
            <a:tbl>
              <a:tblPr/>
              <a:tblGrid>
                <a:gridCol w="6235163"/>
                <a:gridCol w="1870549"/>
                <a:gridCol w="2805823"/>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Dönen (yarıçap, periyot)</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Çizgisel hız</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Merkezcil ivme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Atlıkarınca, dış sıra (5 m, 10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3,1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m/s² (0,2 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Çamaşır tamburu (0,25 m, 0,05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31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3 900 m/s² (400 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Uzay istasyonu (6 770 km, 92 dk)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7,7 km/s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8,7 m/s² (0,9 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Ay (384 000 km, 27,3 gün)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km/s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0,0027 m/s²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Dünya, Güneş çevresinde (150 milyon km, 1 yıl)</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30 km/s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0,006 m/s²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Uzay istasyonu Ay'dan yaklaşık 7,5 kat hızlı gidiyor; ivmesi neden binlerce kat büyük?</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Sayılarla hisset: ne kadar hızlı, ne kadar ivme?</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Uzay istasyonu Ay'dan yaklaşık 7,5 kat hızlı gidiyor; ivmesi neden binlerce kat büyük?</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Çünkü ivme hızın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karesiyle</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büyür, yarıçapla küçülür. Hız 7,5 kat olunca v² yaklaşık 56 kat büyür; istasyonun yörünge yarıçapı ise Ay'ınkinden yaklaşık 57 kat küçüktür. İkisi çarpılınca 56 · 57 ≈ 3 200 kat çıkar: 0,0027 m/s² yerine 8,7 m/s².</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dönen sistemin içinden bakınca, eğimli virajlarda, düşey çemberde ve yörüngede ne olur?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Merkezkaç kuvveti yanılgısı</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Virajda savrulma sınırı ve eğimli yollar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Düşey çember: kova neden dökülmez?</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Çembersel hareket gerçek dünyada</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claude-1000/-opt-dersler/8a8328c3-841c-44fa-b76f-82572d338d3d/scratchpad/d4/sek/cembersel-hareket-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Shape 9"/>
          <p:cNvSpPr/>
          <p:nvPr/>
        </p:nvSpPr>
        <p:spPr>
          <a:xfrm>
            <a:off x="9704527" y="4198925"/>
            <a:ext cx="1755648" cy="246888"/>
          </a:xfrm>
          <a:prstGeom prst="roundRect">
            <a:avLst>
              <a:gd name="adj" fmla="val 48148"/>
            </a:avLst>
          </a:prstGeom>
          <a:solidFill>
            <a:srgbClr val="0E1426">
              <a:alpha val="60000"/>
            </a:srgbClr>
          </a:solidFill>
          <a:ln/>
        </p:spPr>
      </p:sp>
      <p:sp>
        <p:nvSpPr>
          <p:cNvPr id="13" name="Text 10"/>
          <p:cNvSpPr txBox="1"/>
          <p:nvPr/>
        </p:nvSpPr>
        <p:spPr>
          <a:xfrm>
            <a:off x="9704527" y="4198925"/>
            <a:ext cx="1755648" cy="24688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Yapay zekâ ile üretildi</a:t>
            </a:r>
            <a:endParaRPr lang="en-US" sz="850" dirty="0"/>
          </a:p>
        </p:txBody>
      </p:sp>
      <p:sp>
        <p:nvSpPr>
          <p:cNvPr id="14" name="Text 11"/>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Yörüngedeki bir uyduyu çemberde tutan ne ip ne raydır: merkezcil kuvvet görevini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yerçekimi</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üstlenir. Uzay istasyonunun bulunduğu yaklaşık 400 km yükseklikte dolanan bir araç saniyede yaklaşık 7,7 km yol alır ve Dünya'nın çevresini yaklaşık 92 dakikada bir dolanır.</a:t>
            </a:r>
            <a:endParaRPr lang="en-US" sz="1150" dirty="0"/>
          </a:p>
        </p:txBody>
      </p:sp>
      <p:sp>
        <p:nvSpPr>
          <p:cNvPr id="15" name="Shape 12"/>
          <p:cNvSpPr/>
          <p:nvPr/>
        </p:nvSpPr>
        <p:spPr>
          <a:xfrm>
            <a:off x="640080" y="6382512"/>
            <a:ext cx="128016" cy="128016"/>
          </a:xfrm>
          <a:prstGeom prst="roundRect">
            <a:avLst>
              <a:gd name="adj" fmla="val 28571"/>
            </a:avLst>
          </a:prstGeom>
          <a:solidFill>
            <a:srgbClr val="C6F36B"/>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dersler.perinet.org/cembersel-hareket.html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Merkezkaç kuvveti yanılgısı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Merkezkaç kuvveti yalnızca dönen sistemin içindeki gözlemcinin kullandığı hayalî bir kuvvettir; uygulayıcısı yoktur. Yerden bakınca yalnızca merkeze doğru gerçek bir kuvvet ve eylemsizlik vardır.</a:t>
            </a:r>
            <a:endParaRPr lang="en-US" sz="18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10911535" cy="914400"/>
        </p:xfrm>
        <a:graphic>
          <a:graphicData uri="http://schemas.openxmlformats.org/drawingml/2006/table">
            <a:tbl>
              <a:tblPr/>
              <a:tblGrid>
                <a:gridCol w="2156931"/>
                <a:gridCol w="4186984"/>
                <a:gridCol w="4567619"/>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Soru</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Yerdeki gözlemci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Arabadaki yolcu</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Yolcu ne yapıyor?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Araçla birlikte çember çiziyor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Yerinde duruyor, kapıya bastırılıyor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Kapının kuvveti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Merkeze doğru; yolcuyu döndürüyor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“Dışa iten kuvveti” dengeliyor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Dışa doğru kuvvet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Yok; yalnızca eylemsizlik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Var gibi görünüyor (hayalî)</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640080" y="4074566"/>
            <a:ext cx="10911535" cy="95783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Girişteki zincirli salıncağa da böyle bak: yerden bakınca eğik zincirin çekişinin bir parçası </a:t>
            </a:r>
            <a:pPr indent="0" marL="0">
              <a:lnSpc>
                <a:spcPct val="115000"/>
              </a:lnSpc>
              <a:buNone/>
            </a:pPr>
            <a:r>
              <a:rPr lang="en-US" sz="1700" b="1" dirty="0">
                <a:solidFill>
                  <a:srgbClr val="0E1426"/>
                </a:solidFill>
                <a:latin typeface="Calibri" pitchFamily="34" charset="0"/>
                <a:ea typeface="Calibri" pitchFamily="34" charset="-122"/>
                <a:cs typeface="Calibri" pitchFamily="34" charset="-120"/>
              </a:rPr>
              <a:t>merkeze doğrudur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ve koltuğu çemberde tutar; koltuktaki kişi ise kendini dışarı savruluyor hisseder.</a:t>
            </a:r>
            <a:endParaRPr lang="en-US" sz="17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Dönen bir platformun kenarında tuttuğun topu bırakırsan, yerdeki biri topu nasıl bir yolda görür?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09 · Merkezkaç kuvveti yanılgısı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Dönen bir platformun kenarında tuttuğun topu bırakırsan, yerdeki biri topu nasıl bir yolda görür?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Yerdeki gözlemci topun bırakıldığı andaki hız doğrultusunda, yani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teğet boyunca düz</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gittiğini görür. Platformdaki sen ise dönmeye devam ettiğin için topu eğri bir yol çizerek uzaklaşıyor görürsün. Hareket iki referans sisteminde farklı görünür, ama topa yatay bir kuvvet etki etmez.</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Virajda savrulma sınırı ve eğimli yollar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Düz virajda sınır hız vmaks = √(μ·g·r)'dir ve kütleden bağımsızdır. Eğimli yolda normal kuvvetin yatay bileşeni de yardım eder; sürtünmesiz ideal hız tan θ = v²/(g·r) ile bulunur.</a:t>
            </a:r>
            <a:endParaRPr lang="en-US" sz="1850" dirty="0"/>
          </a:p>
        </p:txBody>
      </p:sp>
      <p:sp>
        <p:nvSpPr>
          <p:cNvPr id="9" name="Shape 7"/>
          <p:cNvSpPr/>
          <p:nvPr/>
        </p:nvSpPr>
        <p:spPr>
          <a:xfrm>
            <a:off x="640080" y="2593238"/>
            <a:ext cx="2037283"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vmaks = √(μ·g·r)</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3215030"/>
          <a:ext cx="5486400" cy="914400"/>
        </p:xfrm>
        <a:graphic>
          <a:graphicData uri="http://schemas.openxmlformats.org/drawingml/2006/table">
            <a:tbl>
              <a:tblPr/>
              <a:tblGrid>
                <a:gridCol w="1371600"/>
                <a:gridCol w="2057400"/>
                <a:gridCol w="2057400"/>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Yol durumu</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Sürtünme katsayısı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Sınır hız</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Kuru asfalt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m/s (72 km/h)</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Islak asfalt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15,8 m/s (57 km/h)</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Kar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m/s (36 km/h)</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Buz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0,1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7,1 m/s (25 km/h)</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2" name="Shape 9"/>
          <p:cNvSpPr/>
          <p:nvPr/>
        </p:nvSpPr>
        <p:spPr>
          <a:xfrm>
            <a:off x="640080" y="5034686"/>
            <a:ext cx="2432304" cy="457200"/>
          </a:xfrm>
          <a:prstGeom prst="roundRect">
            <a:avLst>
              <a:gd name="adj" fmla="val 24000"/>
            </a:avLst>
          </a:prstGeom>
          <a:solidFill>
            <a:srgbClr val="EEF2FC"/>
          </a:solidFill>
          <a:ln w="9525">
            <a:solidFill>
              <a:srgbClr val="CBD7F4"/>
            </a:solidFill>
            <a:prstDash val="solid"/>
          </a:ln>
        </p:spPr>
      </p:sp>
      <p:sp>
        <p:nvSpPr>
          <p:cNvPr id="13" name="Text 10"/>
          <p:cNvSpPr txBox="1"/>
          <p:nvPr/>
        </p:nvSpPr>
        <p:spPr>
          <a:xfrm>
            <a:off x="640080" y="5034686"/>
            <a:ext cx="243230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tan θ = v² / (g · r)</a:t>
            </a:r>
            <a:endParaRPr lang="en-US" sz="1300" dirty="0"/>
          </a:p>
        </p:txBody>
      </p:sp>
      <p:sp>
        <p:nvSpPr>
          <p:cNvPr id="14" name="Shape 11"/>
          <p:cNvSpPr/>
          <p:nvPr/>
        </p:nvSpPr>
        <p:spPr>
          <a:xfrm>
            <a:off x="6419088" y="2593238"/>
            <a:ext cx="5132527" cy="3533242"/>
          </a:xfrm>
          <a:prstGeom prst="roundRect">
            <a:avLst>
              <a:gd name="adj" fmla="val 41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5" name="Image 0" descr="/tmp/claude-1000/-opt-dersler/8a8328c3-841c-44fa-b76f-82572d338d3d/scratchpad/d4/sek/cembersel-hareket-07.png">    </p:cNvPr>
          <p:cNvPicPr>
            <a:picLocks noChangeAspect="1"/>
          </p:cNvPicPr>
          <p:nvPr/>
        </p:nvPicPr>
        <p:blipFill>
          <a:blip r:embed="rId1"/>
          <a:stretch>
            <a:fillRect/>
          </a:stretch>
        </p:blipFill>
        <p:spPr>
          <a:xfrm>
            <a:off x="6767183" y="2776118"/>
            <a:ext cx="4436337" cy="2070202"/>
          </a:xfrm>
          <a:prstGeom prst="rect">
            <a:avLst/>
          </a:prstGeom>
        </p:spPr>
      </p:pic>
      <p:sp>
        <p:nvSpPr>
          <p:cNvPr id="16" name="Shape 12"/>
          <p:cNvSpPr/>
          <p:nvPr/>
        </p:nvSpPr>
        <p:spPr>
          <a:xfrm>
            <a:off x="6601968" y="4937760"/>
            <a:ext cx="4766767" cy="0"/>
          </a:xfrm>
          <a:prstGeom prst="line">
            <a:avLst/>
          </a:prstGeom>
          <a:noFill/>
          <a:ln w="9525">
            <a:solidFill>
              <a:srgbClr val="E1E5EE"/>
            </a:solidFill>
            <a:prstDash val="dash"/>
          </a:ln>
        </p:spPr>
      </p:sp>
      <p:sp>
        <p:nvSpPr>
          <p:cNvPr id="17" name="Text 13"/>
          <p:cNvSpPr txBox="1"/>
          <p:nvPr/>
        </p:nvSpPr>
        <p:spPr>
          <a:xfrm>
            <a:off x="6601968" y="4992624"/>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Virajda merkezcil kuvveti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lastik sürtünmesi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sağlar ve bu kuvvetin bir üst sınırı vardır: μ·m·g. Gereken kuvvet mv²/r hızın karesiyle büyüdüğü için, belli bir hızdan sonra sürtünme yetişemez ve araç savrulur. Sınır hız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√(μgr)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'dir: yarıçapı küçük (keskin) virajlarda ve ıslak yolda (μ küçükken) çok daha düşüktür.</a:t>
            </a:r>
            <a:endParaRPr lang="en-US" sz="1050" dirty="0"/>
          </a:p>
        </p:txBody>
      </p:sp>
      <p:sp>
        <p:nvSpPr>
          <p:cNvPr id="18" name="Shape 14"/>
          <p:cNvSpPr/>
          <p:nvPr/>
        </p:nvSpPr>
        <p:spPr>
          <a:xfrm>
            <a:off x="640080" y="6382512"/>
            <a:ext cx="128016" cy="128016"/>
          </a:xfrm>
          <a:prstGeom prst="roundRect">
            <a:avLst>
              <a:gd name="adj" fmla="val 28571"/>
            </a:avLst>
          </a:prstGeom>
          <a:solidFill>
            <a:srgbClr val="A9E648"/>
          </a:solidFill>
          <a:ln/>
        </p:spPr>
      </p:sp>
      <p:sp>
        <p:nvSpPr>
          <p:cNvPr id="19"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0"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Düşey çember: kova neden dökülmez?</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Düşey çemberin tepesinde ağırlık ve normal kuvvet birlikte merkeze bakar; cismin çemberde kalması için orada v ≥ √(g·r) olmalıdır. İp ya da ray en çok en alt noktada zorlanır.</a:t>
            </a:r>
            <a:endParaRPr lang="en-US" sz="1850" dirty="0"/>
          </a:p>
        </p:txBody>
      </p:sp>
      <p:sp>
        <p:nvSpPr>
          <p:cNvPr id="9" name="Shape 7"/>
          <p:cNvSpPr/>
          <p:nvPr/>
        </p:nvSpPr>
        <p:spPr>
          <a:xfrm>
            <a:off x="640080" y="2593238"/>
            <a:ext cx="2629814"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262981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Tepe: N + m·g = m·v²/r</a:t>
            </a:r>
            <a:endParaRPr lang="en-US" sz="1300" dirty="0"/>
          </a:p>
        </p:txBody>
      </p:sp>
      <p:sp>
        <p:nvSpPr>
          <p:cNvPr id="11" name="Shape 9"/>
          <p:cNvSpPr/>
          <p:nvPr/>
        </p:nvSpPr>
        <p:spPr>
          <a:xfrm>
            <a:off x="3379622" y="2593238"/>
            <a:ext cx="2531059"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3379622" y="2593238"/>
            <a:ext cx="253105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Alt: N − m·g = m·v²/r</a:t>
            </a:r>
            <a:endParaRPr lang="en-US" sz="1300" dirty="0"/>
          </a:p>
        </p:txBody>
      </p:sp>
      <p:sp>
        <p:nvSpPr>
          <p:cNvPr id="13" name="Shape 11"/>
          <p:cNvSpPr/>
          <p:nvPr/>
        </p:nvSpPr>
        <p:spPr>
          <a:xfrm>
            <a:off x="6020410" y="2593238"/>
            <a:ext cx="1741018"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6020410" y="2593238"/>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vmin = √(g·r)</a:t>
            </a:r>
            <a:endParaRPr lang="en-US" sz="1300" dirty="0"/>
          </a:p>
        </p:txBody>
      </p:sp>
      <p:sp>
        <p:nvSpPr>
          <p:cNvPr id="15" name="Shape 13"/>
          <p:cNvSpPr/>
          <p:nvPr/>
        </p:nvSpPr>
        <p:spPr>
          <a:xfrm>
            <a:off x="640080" y="3215030"/>
            <a:ext cx="10911535" cy="1243584"/>
          </a:xfrm>
          <a:prstGeom prst="roundRect">
            <a:avLst>
              <a:gd name="adj" fmla="val 882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58368" y="3361334"/>
            <a:ext cx="45720" cy="950976"/>
          </a:xfrm>
          <a:prstGeom prst="rect">
            <a:avLst/>
          </a:prstGeom>
          <a:solidFill>
            <a:srgbClr val="A56209"/>
          </a:solidFill>
          <a:ln/>
        </p:spPr>
      </p:sp>
      <p:sp>
        <p:nvSpPr>
          <p:cNvPr id="17" name="Text 15"/>
          <p:cNvSpPr txBox="1"/>
          <p:nvPr/>
        </p:nvSpPr>
        <p:spPr>
          <a:xfrm>
            <a:off x="914400" y="3324758"/>
            <a:ext cx="10454335" cy="102412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Modelin sınırı:</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Yerçekimi düşey çemberde cismi inerken hızlandırır, çıkarken yavaşlatır; sürat kendiliğinden sabit kalmaz ve hareket artık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düzgün</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değildir. Yine de merkeze doğru bileşen için a = v²/r her an geçerlidir; v yerine o andaki sürat konur.</a:t>
            </a:r>
            <a:endParaRPr lang="en-US" sz="1600" dirty="0"/>
          </a:p>
        </p:txBody>
      </p:sp>
      <p:sp>
        <p:nvSpPr>
          <p:cNvPr id="18" name="Shape 16"/>
          <p:cNvSpPr/>
          <p:nvPr/>
        </p:nvSpPr>
        <p:spPr>
          <a:xfrm>
            <a:off x="640080" y="6382512"/>
            <a:ext cx="128016" cy="128016"/>
          </a:xfrm>
          <a:prstGeom prst="roundRect">
            <a:avLst>
              <a:gd name="adj" fmla="val 28571"/>
            </a:avLst>
          </a:prstGeom>
          <a:solidFill>
            <a:srgbClr val="A9E648"/>
          </a:solidFill>
          <a:ln/>
        </p:spPr>
      </p:sp>
      <p:sp>
        <p:nvSpPr>
          <p:cNvPr id="19"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0"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Çembersel hareket gerçek dünyada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Uydularda yerçekimi, santrifüjde ve çamaşır makinesinde tambur duvarı merkezcil kuvvet görevini üstlenir. Uydunun hızı v = √(g·r) ile bulunur ve kütlesine bağlı değildir.</a:t>
            </a:r>
            <a:endParaRPr lang="en-US" sz="1850" dirty="0"/>
          </a:p>
        </p:txBody>
      </p:sp>
      <p:sp>
        <p:nvSpPr>
          <p:cNvPr id="9" name="Text 7"/>
          <p:cNvSpPr txBox="1"/>
          <p:nvPr/>
        </p:nvSpPr>
        <p:spPr>
          <a:xfrm>
            <a:off x="640080" y="2593238"/>
            <a:ext cx="10911535" cy="284378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Uydular: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m·g = m·v²/r eşitliğinden v = √(g·r) çıkar; 400 km'de (r ≈ 6 770 km) g ≈ 8,7 m/s² olduğundan hız ≈ 7,7 km/s olur.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Yerdurağan uydular: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yaklaşık 36 000 km yükseklikte bir tur, Dünya'nın kendi dönüşü kadar sürer; uydu gökte hep aynı yerde durur.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Santrifüj:</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binlerce devir/dakika ile dönen tüplerde kanın yoğun bileşenleri tüpün dibinde toplanır.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Çamaşır makinesi:</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sıkmada tambur çamaşırı yaklaşık 400 g'lik ivmeyle döndürür; deliklere gelen su teğet doğrultuda kaçar.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Dünya'nın dönüşü:</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ekvatordaki bir nokta 465 m/s ile döner; bu dönme ekvatorda tartıların yaklaşık binde 3,5 az göstermesine yol açar.</a:t>
            </a:r>
            <a:endParaRPr lang="en-US" sz="16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Uzay istasyonundaki astronotlar süzülüyorsa, üzerlerinde yerçekimi yok mu?</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12 · Çembersel hareket gerçek dünyada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Uzay istasyonundaki astronotlar süzülüyorsa, üzerlerinde yerçekimi yok mu?</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Var: 400 km yükseklikte yerçekimi ivmesi yaklaşık 8,7 m/s², yani yerdekinin %89'u kadardır. Yerçekimi astronotu da istasyonu da aynı ivmeyle çemberde tutar; ikisi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birlikte düşer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bu yüzden istasyonun tabanı astronota bastırmaz.</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çembersel harekette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Temel büyüklükler</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Aynı diskte iki nokta</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Periyot değişirse</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Virajda sınır hız</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Çamaşır makinesinin sıkma programı</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Zincirli salıncakta zincirin açısı</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Düşey çemberde ip gerilmesi</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dersler.perinet.org/cembersel-hareket.html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Temel büyüklükler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2 m yarıçaplı çember üzerinde dolanan 0,5 kg'lık bir cisim, 4 saniyede bir tur atıyor. Frekansını, çizgisel hızını, merkezcil ivmesini ve merkezcil kuvveti bulunuz. (π ≈ 3)</a:t>
            </a:r>
            <a:endParaRPr lang="en-US" sz="1600" dirty="0"/>
          </a:p>
        </p:txBody>
      </p:sp>
      <p:sp>
        <p:nvSpPr>
          <p:cNvPr id="11" name="Shape 9"/>
          <p:cNvSpPr/>
          <p:nvPr/>
        </p:nvSpPr>
        <p:spPr>
          <a:xfrm>
            <a:off x="5212080" y="162763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45386"/>
            <a:ext cx="384048" cy="384048"/>
          </a:xfrm>
          <a:prstGeom prst="roundRect">
            <a:avLst>
              <a:gd name="adj" fmla="val 26000"/>
            </a:avLst>
          </a:prstGeom>
          <a:solidFill>
            <a:srgbClr val="A56209"/>
          </a:solidFill>
          <a:ln/>
        </p:spPr>
      </p:sp>
      <p:sp>
        <p:nvSpPr>
          <p:cNvPr id="13" name="Text 11"/>
          <p:cNvSpPr txBox="1"/>
          <p:nvPr/>
        </p:nvSpPr>
        <p:spPr>
          <a:xfrm>
            <a:off x="5449824" y="19453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 = 1/T = 1/4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0,25 Hz</a:t>
            </a:r>
            <a:endParaRPr lang="en-US" sz="1600" dirty="0"/>
          </a:p>
        </p:txBody>
      </p:sp>
      <p:sp>
        <p:nvSpPr>
          <p:cNvPr id="15" name="Shape 13"/>
          <p:cNvSpPr/>
          <p:nvPr/>
        </p:nvSpPr>
        <p:spPr>
          <a:xfrm>
            <a:off x="5212080" y="279349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111246"/>
            <a:ext cx="384048" cy="384048"/>
          </a:xfrm>
          <a:prstGeom prst="roundRect">
            <a:avLst>
              <a:gd name="adj" fmla="val 26000"/>
            </a:avLst>
          </a:prstGeom>
          <a:solidFill>
            <a:srgbClr val="A56209"/>
          </a:solidFill>
          <a:ln/>
        </p:spPr>
      </p:sp>
      <p:sp>
        <p:nvSpPr>
          <p:cNvPr id="17" name="Text 15"/>
          <p:cNvSpPr txBox="1"/>
          <p:nvPr/>
        </p:nvSpPr>
        <p:spPr>
          <a:xfrm>
            <a:off x="5449824" y="31112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84835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v = 2πr/T = (2·3·2)/4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 m/s</a:t>
            </a:r>
            <a:endParaRPr lang="en-US" sz="1600" dirty="0"/>
          </a:p>
        </p:txBody>
      </p:sp>
      <p:sp>
        <p:nvSpPr>
          <p:cNvPr id="19" name="Shape 17"/>
          <p:cNvSpPr/>
          <p:nvPr/>
        </p:nvSpPr>
        <p:spPr>
          <a:xfrm>
            <a:off x="5212080" y="395935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277106"/>
            <a:ext cx="384048" cy="384048"/>
          </a:xfrm>
          <a:prstGeom prst="roundRect">
            <a:avLst>
              <a:gd name="adj" fmla="val 26000"/>
            </a:avLst>
          </a:prstGeom>
          <a:solidFill>
            <a:srgbClr val="A56209"/>
          </a:solidFill>
          <a:ln/>
        </p:spPr>
      </p:sp>
      <p:sp>
        <p:nvSpPr>
          <p:cNvPr id="21" name="Text 19"/>
          <p:cNvSpPr txBox="1"/>
          <p:nvPr/>
        </p:nvSpPr>
        <p:spPr>
          <a:xfrm>
            <a:off x="5449824" y="42771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 = v²/r = 9/2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4,5 m/s²</a:t>
            </a:r>
            <a:endParaRPr lang="en-US" sz="1600" dirty="0"/>
          </a:p>
        </p:txBody>
      </p:sp>
      <p:sp>
        <p:nvSpPr>
          <p:cNvPr id="23" name="Shape 21"/>
          <p:cNvSpPr/>
          <p:nvPr/>
        </p:nvSpPr>
        <p:spPr>
          <a:xfrm>
            <a:off x="5212080" y="512521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442966"/>
            <a:ext cx="384048" cy="384048"/>
          </a:xfrm>
          <a:prstGeom prst="roundRect">
            <a:avLst>
              <a:gd name="adj" fmla="val 26000"/>
            </a:avLst>
          </a:prstGeom>
          <a:solidFill>
            <a:srgbClr val="A56209"/>
          </a:solidFill>
          <a:ln/>
        </p:spPr>
      </p:sp>
      <p:sp>
        <p:nvSpPr>
          <p:cNvPr id="25" name="Text 23"/>
          <p:cNvSpPr txBox="1"/>
          <p:nvPr/>
        </p:nvSpPr>
        <p:spPr>
          <a:xfrm>
            <a:off x="5449824" y="54429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18007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 = m·a = 0,5 · 4,5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2,25 N</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(merkeze doğru)</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Aynı diskte iki nokta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Dönen bir diskin merkezinden 20 cm ve 60 cm uzaklıktaki iki noktası için periyot, çizgisel hız ve merkezcil ivme oranlarını karşılaştırınız.</a:t>
            </a:r>
            <a:endParaRPr lang="en-US" sz="1600" dirty="0"/>
          </a:p>
        </p:txBody>
      </p:sp>
      <p:sp>
        <p:nvSpPr>
          <p:cNvPr id="11" name="Shape 9"/>
          <p:cNvSpPr/>
          <p:nvPr/>
        </p:nvSpPr>
        <p:spPr>
          <a:xfrm>
            <a:off x="5212080" y="162763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105466"/>
            <a:ext cx="384048" cy="384048"/>
          </a:xfrm>
          <a:prstGeom prst="roundRect">
            <a:avLst>
              <a:gd name="adj" fmla="val 26000"/>
            </a:avLst>
          </a:prstGeom>
          <a:solidFill>
            <a:srgbClr val="A56209"/>
          </a:solidFill>
          <a:ln/>
        </p:spPr>
      </p:sp>
      <p:sp>
        <p:nvSpPr>
          <p:cNvPr id="13" name="Text 11"/>
          <p:cNvSpPr txBox="1"/>
          <p:nvPr/>
        </p:nvSpPr>
        <p:spPr>
          <a:xfrm>
            <a:off x="5449824" y="21054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Periyotlar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eşittir</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katı cismin her noktası aynı sürede bir tur atar (T₁ = T₂).</a:t>
            </a:r>
            <a:endParaRPr lang="en-US" sz="1600" dirty="0"/>
          </a:p>
        </p:txBody>
      </p:sp>
      <p:sp>
        <p:nvSpPr>
          <p:cNvPr id="15" name="Shape 13"/>
          <p:cNvSpPr/>
          <p:nvPr/>
        </p:nvSpPr>
        <p:spPr>
          <a:xfrm>
            <a:off x="5212080" y="311365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378046"/>
            <a:ext cx="384048" cy="384048"/>
          </a:xfrm>
          <a:prstGeom prst="roundRect">
            <a:avLst>
              <a:gd name="adj" fmla="val 26000"/>
            </a:avLst>
          </a:prstGeom>
          <a:solidFill>
            <a:srgbClr val="A56209"/>
          </a:solidFill>
          <a:ln/>
        </p:spPr>
      </p:sp>
      <p:sp>
        <p:nvSpPr>
          <p:cNvPr id="17" name="Text 15"/>
          <p:cNvSpPr txBox="1"/>
          <p:nvPr/>
        </p:nvSpPr>
        <p:spPr>
          <a:xfrm>
            <a:off x="5449824" y="33780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16851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Açısal hızlar da eşittir: ω = 2π/T.</a:t>
            </a:r>
            <a:endParaRPr lang="en-US" sz="1600" dirty="0"/>
          </a:p>
        </p:txBody>
      </p:sp>
      <p:sp>
        <p:nvSpPr>
          <p:cNvPr id="19" name="Shape 17"/>
          <p:cNvSpPr/>
          <p:nvPr/>
        </p:nvSpPr>
        <p:spPr>
          <a:xfrm>
            <a:off x="5212080" y="417279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437186"/>
            <a:ext cx="384048" cy="384048"/>
          </a:xfrm>
          <a:prstGeom prst="roundRect">
            <a:avLst>
              <a:gd name="adj" fmla="val 26000"/>
            </a:avLst>
          </a:prstGeom>
          <a:solidFill>
            <a:srgbClr val="A56209"/>
          </a:solidFill>
          <a:ln/>
        </p:spPr>
      </p:sp>
      <p:sp>
        <p:nvSpPr>
          <p:cNvPr id="21" name="Text 19"/>
          <p:cNvSpPr txBox="1"/>
          <p:nvPr/>
        </p:nvSpPr>
        <p:spPr>
          <a:xfrm>
            <a:off x="5449824" y="44371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22765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v = ω·r olduğundan v₂/v₁ = r₂/r₁ = 60/20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a:t>
            </a:r>
            <a:endParaRPr lang="en-US" sz="1600" dirty="0"/>
          </a:p>
        </p:txBody>
      </p:sp>
      <p:sp>
        <p:nvSpPr>
          <p:cNvPr id="23" name="Shape 21"/>
          <p:cNvSpPr/>
          <p:nvPr/>
        </p:nvSpPr>
        <p:spPr>
          <a:xfrm>
            <a:off x="5212080" y="52319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496326"/>
            <a:ext cx="384048" cy="384048"/>
          </a:xfrm>
          <a:prstGeom prst="roundRect">
            <a:avLst>
              <a:gd name="adj" fmla="val 26000"/>
            </a:avLst>
          </a:prstGeom>
          <a:solidFill>
            <a:srgbClr val="A56209"/>
          </a:solidFill>
          <a:ln/>
        </p:spPr>
      </p:sp>
      <p:sp>
        <p:nvSpPr>
          <p:cNvPr id="25" name="Text 23"/>
          <p:cNvSpPr txBox="1"/>
          <p:nvPr/>
        </p:nvSpPr>
        <p:spPr>
          <a:xfrm>
            <a:off x="5449824" y="54963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2867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 = ω²·r olduğundan a₂/a₁ = r₂/r₁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Periyot değişirse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Sabit yarıçaplı bir çemberde dolanan cismin periyodu yarıya indirilirse çizgisel hızı ve merkezcil ivmesi nasıl değişir?</a:t>
            </a:r>
            <a:endParaRPr lang="en-US" sz="1600" dirty="0"/>
          </a:p>
        </p:txBody>
      </p:sp>
      <p:sp>
        <p:nvSpPr>
          <p:cNvPr id="11" name="Shape 9"/>
          <p:cNvSpPr/>
          <p:nvPr/>
        </p:nvSpPr>
        <p:spPr>
          <a:xfrm>
            <a:off x="5212080" y="1627632"/>
            <a:ext cx="6339535" cy="694690"/>
          </a:xfrm>
          <a:prstGeom prst="roundRect">
            <a:avLst>
              <a:gd name="adj" fmla="val 2106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782953"/>
            <a:ext cx="384048" cy="384048"/>
          </a:xfrm>
          <a:prstGeom prst="roundRect">
            <a:avLst>
              <a:gd name="adj" fmla="val 26000"/>
            </a:avLst>
          </a:prstGeom>
          <a:solidFill>
            <a:srgbClr val="A56209"/>
          </a:solidFill>
          <a:ln/>
        </p:spPr>
      </p:sp>
      <p:sp>
        <p:nvSpPr>
          <p:cNvPr id="13" name="Text 11"/>
          <p:cNvSpPr txBox="1"/>
          <p:nvPr/>
        </p:nvSpPr>
        <p:spPr>
          <a:xfrm>
            <a:off x="5449824" y="178295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584962"/>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v = 2πr/T → T yarıya inerse v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iki katına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çıkar.</a:t>
            </a:r>
            <a:endParaRPr lang="en-US" sz="1600" dirty="0"/>
          </a:p>
        </p:txBody>
      </p:sp>
      <p:sp>
        <p:nvSpPr>
          <p:cNvPr id="15" name="Shape 13"/>
          <p:cNvSpPr/>
          <p:nvPr/>
        </p:nvSpPr>
        <p:spPr>
          <a:xfrm>
            <a:off x="5212080" y="2468626"/>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786380"/>
            <a:ext cx="384048" cy="384048"/>
          </a:xfrm>
          <a:prstGeom prst="roundRect">
            <a:avLst>
              <a:gd name="adj" fmla="val 26000"/>
            </a:avLst>
          </a:prstGeom>
          <a:solidFill>
            <a:srgbClr val="A56209"/>
          </a:solidFill>
          <a:ln/>
        </p:spPr>
      </p:sp>
      <p:sp>
        <p:nvSpPr>
          <p:cNvPr id="17" name="Text 15"/>
          <p:cNvSpPr txBox="1"/>
          <p:nvPr/>
        </p:nvSpPr>
        <p:spPr>
          <a:xfrm>
            <a:off x="5449824" y="278638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523490"/>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 = v²/r → v iki katına çıkınca a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dört katına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çıkar.</a:t>
            </a:r>
            <a:endParaRPr lang="en-US" sz="1600" dirty="0"/>
          </a:p>
        </p:txBody>
      </p:sp>
      <p:sp>
        <p:nvSpPr>
          <p:cNvPr id="19" name="Shape 17"/>
          <p:cNvSpPr/>
          <p:nvPr/>
        </p:nvSpPr>
        <p:spPr>
          <a:xfrm>
            <a:off x="5212080" y="3634486"/>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952240"/>
            <a:ext cx="384048" cy="384048"/>
          </a:xfrm>
          <a:prstGeom prst="roundRect">
            <a:avLst>
              <a:gd name="adj" fmla="val 26000"/>
            </a:avLst>
          </a:prstGeom>
          <a:solidFill>
            <a:srgbClr val="A56209"/>
          </a:solidFill>
          <a:ln/>
        </p:spPr>
      </p:sp>
      <p:sp>
        <p:nvSpPr>
          <p:cNvPr id="21" name="Text 19"/>
          <p:cNvSpPr txBox="1"/>
          <p:nvPr/>
        </p:nvSpPr>
        <p:spPr>
          <a:xfrm>
            <a:off x="5449824" y="395224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689350"/>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Aynı sonuç a = 4π²r/T² bağıntısından da okunur: T yarıya inince a dört katına çıkar.</a:t>
            </a:r>
            <a:endParaRPr lang="en-US" sz="1600" dirty="0"/>
          </a:p>
        </p:txBody>
      </p:sp>
      <p:sp>
        <p:nvSpPr>
          <p:cNvPr id="23" name="Shape 21"/>
          <p:cNvSpPr/>
          <p:nvPr/>
        </p:nvSpPr>
        <p:spPr>
          <a:xfrm>
            <a:off x="5212080" y="4800346"/>
            <a:ext cx="6339535" cy="1344422"/>
          </a:xfrm>
          <a:prstGeom prst="roundRect">
            <a:avLst>
              <a:gd name="adj" fmla="val 10882"/>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280533"/>
            <a:ext cx="384048" cy="384048"/>
          </a:xfrm>
          <a:prstGeom prst="roundRect">
            <a:avLst>
              <a:gd name="adj" fmla="val 26000"/>
            </a:avLst>
          </a:prstGeom>
          <a:solidFill>
            <a:srgbClr val="A56209"/>
          </a:solidFill>
          <a:ln/>
        </p:spPr>
      </p:sp>
      <p:sp>
        <p:nvSpPr>
          <p:cNvPr id="25" name="Text 23"/>
          <p:cNvSpPr txBox="1"/>
          <p:nvPr/>
        </p:nvSpPr>
        <p:spPr>
          <a:xfrm>
            <a:off x="5449824" y="528053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855210"/>
            <a:ext cx="5379415" cy="123469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Merkezcil kuvvet de dört katına çıkar; bu yüzden hızlı dönen sistemlerde bağlantı elemanları çok daha güçlü seçilir.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Virajda sınır hız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Yarıçapı 50 m olan bir virajda lastik–yol sürtünme katsayısı 0,5'tir. Aracın savrulmadan alabileceği en büyük hız nedir? Yol karla kaplanıp μ 0,2'ye düşerse bu hız ne olur?</a:t>
            </a:r>
            <a:endParaRPr lang="en-US" sz="1600" dirty="0"/>
          </a:p>
        </p:txBody>
      </p:sp>
      <p:sp>
        <p:nvSpPr>
          <p:cNvPr id="11" name="Shape 9"/>
          <p:cNvSpPr/>
          <p:nvPr/>
        </p:nvSpPr>
        <p:spPr>
          <a:xfrm>
            <a:off x="5212080" y="162763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45386"/>
            <a:ext cx="384048" cy="384048"/>
          </a:xfrm>
          <a:prstGeom prst="roundRect">
            <a:avLst>
              <a:gd name="adj" fmla="val 26000"/>
            </a:avLst>
          </a:prstGeom>
          <a:solidFill>
            <a:srgbClr val="A56209"/>
          </a:solidFill>
          <a:ln/>
        </p:spPr>
      </p:sp>
      <p:sp>
        <p:nvSpPr>
          <p:cNvPr id="13" name="Text 11"/>
          <p:cNvSpPr txBox="1"/>
          <p:nvPr/>
        </p:nvSpPr>
        <p:spPr>
          <a:xfrm>
            <a:off x="5449824" y="19453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Gereken kuvvet mv²/r, sağlanabilen en büyük kuvvet μmg → v</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maks</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√(μgr)</a:t>
            </a:r>
            <a:endParaRPr lang="en-US" sz="1600" dirty="0"/>
          </a:p>
        </p:txBody>
      </p:sp>
      <p:sp>
        <p:nvSpPr>
          <p:cNvPr id="15" name="Shape 13"/>
          <p:cNvSpPr/>
          <p:nvPr/>
        </p:nvSpPr>
        <p:spPr>
          <a:xfrm>
            <a:off x="5212080" y="279349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111246"/>
            <a:ext cx="384048" cy="384048"/>
          </a:xfrm>
          <a:prstGeom prst="roundRect">
            <a:avLst>
              <a:gd name="adj" fmla="val 26000"/>
            </a:avLst>
          </a:prstGeom>
          <a:solidFill>
            <a:srgbClr val="A56209"/>
          </a:solidFill>
          <a:ln/>
        </p:spPr>
      </p:sp>
      <p:sp>
        <p:nvSpPr>
          <p:cNvPr id="17" name="Text 15"/>
          <p:cNvSpPr txBox="1"/>
          <p:nvPr/>
        </p:nvSpPr>
        <p:spPr>
          <a:xfrm>
            <a:off x="5449824" y="31112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84835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μ = 0,5: v = √(0,5 · 10 · 50) = √250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15,8 m/s ≈ 57 km/h</a:t>
            </a:r>
            <a:endParaRPr lang="en-US" sz="1600" dirty="0"/>
          </a:p>
        </p:txBody>
      </p:sp>
      <p:sp>
        <p:nvSpPr>
          <p:cNvPr id="19" name="Shape 17"/>
          <p:cNvSpPr/>
          <p:nvPr/>
        </p:nvSpPr>
        <p:spPr>
          <a:xfrm>
            <a:off x="5212080" y="395935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277106"/>
            <a:ext cx="384048" cy="384048"/>
          </a:xfrm>
          <a:prstGeom prst="roundRect">
            <a:avLst>
              <a:gd name="adj" fmla="val 26000"/>
            </a:avLst>
          </a:prstGeom>
          <a:solidFill>
            <a:srgbClr val="A56209"/>
          </a:solidFill>
          <a:ln/>
        </p:spPr>
      </p:sp>
      <p:sp>
        <p:nvSpPr>
          <p:cNvPr id="21" name="Text 19"/>
          <p:cNvSpPr txBox="1"/>
          <p:nvPr/>
        </p:nvSpPr>
        <p:spPr>
          <a:xfrm>
            <a:off x="5449824" y="42771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Karlı yol, μ = 0,2: v = √(0,2 · 10 · 50) = √100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10 m/s = 36 km/h</a:t>
            </a:r>
            <a:endParaRPr lang="en-US" sz="1600" dirty="0"/>
          </a:p>
        </p:txBody>
      </p:sp>
      <p:sp>
        <p:nvSpPr>
          <p:cNvPr id="23" name="Shape 21"/>
          <p:cNvSpPr/>
          <p:nvPr/>
        </p:nvSpPr>
        <p:spPr>
          <a:xfrm>
            <a:off x="5212080" y="512521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442966"/>
            <a:ext cx="384048" cy="384048"/>
          </a:xfrm>
          <a:prstGeom prst="roundRect">
            <a:avLst>
              <a:gd name="adj" fmla="val 26000"/>
            </a:avLst>
          </a:prstGeom>
          <a:solidFill>
            <a:srgbClr val="A56209"/>
          </a:solidFill>
          <a:ln/>
        </p:spPr>
      </p:sp>
      <p:sp>
        <p:nvSpPr>
          <p:cNvPr id="25" name="Text 23"/>
          <p:cNvSpPr txBox="1"/>
          <p:nvPr/>
        </p:nvSpPr>
        <p:spPr>
          <a:xfrm>
            <a:off x="5449824" y="54429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18007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Kütle hiçbir adımda kullanılmadı: kamyon da otomobil de aynı sınır hıza sahiptir.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5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Çamaşır makinesinin sıkma programı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33476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çamaşır makinesinin tamburu sıkmada dakikada 1200 devir yapıyor; tamburun yarıçapı 0,25 m. (a) Frekansı ve periyodu, (b) çepere yapışan çamaşırın çizgisel hızını, (c) merkezcil ivmesini, (d) 0,1 kg'lık ıslak bir çorabı çemberde tutan kuvveti bulunuz. (π ≈ 3)</a:t>
            </a:r>
            <a:endParaRPr lang="en-US" sz="1600" dirty="0"/>
          </a:p>
        </p:txBody>
      </p:sp>
      <p:sp>
        <p:nvSpPr>
          <p:cNvPr id="11" name="Text 9"/>
          <p:cNvSpPr txBox="1"/>
          <p:nvPr/>
        </p:nvSpPr>
        <p:spPr>
          <a:xfrm>
            <a:off x="932688" y="4739640"/>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995672"/>
            <a:ext cx="3712464" cy="447446"/>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Deliğe gelen su damlasını içeri itecek duvar yoktur; damla teğet doğrultuda kaçar.</a:t>
            </a:r>
            <a:endParaRPr lang="en-US" sz="1150" dirty="0"/>
          </a:p>
        </p:txBody>
      </p:sp>
      <p:sp>
        <p:nvSpPr>
          <p:cNvPr id="13" name="Shape 11"/>
          <p:cNvSpPr/>
          <p:nvPr/>
        </p:nvSpPr>
        <p:spPr>
          <a:xfrm>
            <a:off x="5212080" y="162763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1848778"/>
            <a:ext cx="384048" cy="384048"/>
          </a:xfrm>
          <a:prstGeom prst="roundRect">
            <a:avLst>
              <a:gd name="adj" fmla="val 26000"/>
            </a:avLst>
          </a:prstGeom>
          <a:solidFill>
            <a:srgbClr val="A56209"/>
          </a:solidFill>
          <a:ln/>
        </p:spPr>
      </p:sp>
      <p:sp>
        <p:nvSpPr>
          <p:cNvPr id="15" name="Text 13"/>
          <p:cNvSpPr txBox="1"/>
          <p:nvPr/>
        </p:nvSpPr>
        <p:spPr>
          <a:xfrm>
            <a:off x="5449824" y="184877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71661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f = 1200 / 60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Hz</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T = 1/20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0,05 s</a:t>
            </a:r>
            <a:endParaRPr lang="en-US" sz="1600" dirty="0"/>
          </a:p>
        </p:txBody>
      </p:sp>
      <p:sp>
        <p:nvSpPr>
          <p:cNvPr id="17" name="Shape 15"/>
          <p:cNvSpPr/>
          <p:nvPr/>
        </p:nvSpPr>
        <p:spPr>
          <a:xfrm>
            <a:off x="5212080" y="2600277"/>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2821423"/>
            <a:ext cx="384048" cy="384048"/>
          </a:xfrm>
          <a:prstGeom prst="roundRect">
            <a:avLst>
              <a:gd name="adj" fmla="val 26000"/>
            </a:avLst>
          </a:prstGeom>
          <a:solidFill>
            <a:srgbClr val="A56209"/>
          </a:solidFill>
          <a:ln/>
        </p:spPr>
      </p:sp>
      <p:sp>
        <p:nvSpPr>
          <p:cNvPr id="19" name="Text 17"/>
          <p:cNvSpPr txBox="1"/>
          <p:nvPr/>
        </p:nvSpPr>
        <p:spPr>
          <a:xfrm>
            <a:off x="5449824" y="282142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2655141"/>
            <a:ext cx="5379415" cy="71661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v = 2πr/T = (2 · 3 · 0,25) / 0,05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30 m/s</a:t>
            </a:r>
            <a:endParaRPr lang="en-US" sz="1600" dirty="0"/>
          </a:p>
        </p:txBody>
      </p:sp>
      <p:sp>
        <p:nvSpPr>
          <p:cNvPr id="21" name="Shape 19"/>
          <p:cNvSpPr/>
          <p:nvPr/>
        </p:nvSpPr>
        <p:spPr>
          <a:xfrm>
            <a:off x="5212080" y="3572921"/>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3987283"/>
            <a:ext cx="384048" cy="384048"/>
          </a:xfrm>
          <a:prstGeom prst="roundRect">
            <a:avLst>
              <a:gd name="adj" fmla="val 26000"/>
            </a:avLst>
          </a:prstGeom>
          <a:solidFill>
            <a:srgbClr val="A56209"/>
          </a:solidFill>
          <a:ln/>
        </p:spPr>
      </p:sp>
      <p:sp>
        <p:nvSpPr>
          <p:cNvPr id="23" name="Text 21"/>
          <p:cNvSpPr txBox="1"/>
          <p:nvPr/>
        </p:nvSpPr>
        <p:spPr>
          <a:xfrm>
            <a:off x="5449824" y="398728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3627785"/>
            <a:ext cx="5379415" cy="110304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a = v²/r = 900 / 0,25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3 600 m/s²</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yani g'nin 360 katı</a:t>
            </a:r>
            <a:endParaRPr lang="en-US" sz="1600" dirty="0"/>
          </a:p>
        </p:txBody>
      </p:sp>
      <p:sp>
        <p:nvSpPr>
          <p:cNvPr id="25" name="Shape 23"/>
          <p:cNvSpPr/>
          <p:nvPr/>
        </p:nvSpPr>
        <p:spPr>
          <a:xfrm>
            <a:off x="5212080" y="493199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5346358"/>
            <a:ext cx="384048" cy="384048"/>
          </a:xfrm>
          <a:prstGeom prst="roundRect">
            <a:avLst>
              <a:gd name="adj" fmla="val 26000"/>
            </a:avLst>
          </a:prstGeom>
          <a:solidFill>
            <a:srgbClr val="A56209"/>
          </a:solidFill>
          <a:ln/>
        </p:spPr>
      </p:sp>
      <p:sp>
        <p:nvSpPr>
          <p:cNvPr id="27" name="Text 25"/>
          <p:cNvSpPr txBox="1"/>
          <p:nvPr/>
        </p:nvSpPr>
        <p:spPr>
          <a:xfrm>
            <a:off x="5449824" y="5346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4986861"/>
            <a:ext cx="5379415" cy="110304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(d)</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F = m·a = 0,1 · 3 600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360 N</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bu kuvveti tambur duvarı (normal kuvvet) uygular.</a:t>
            </a:r>
            <a:endParaRPr lang="en-US" sz="1600" dirty="0"/>
          </a:p>
        </p:txBody>
      </p:sp>
      <p:sp>
        <p:nvSpPr>
          <p:cNvPr id="29" name="Shape 27"/>
          <p:cNvSpPr/>
          <p:nvPr/>
        </p:nvSpPr>
        <p:spPr>
          <a:xfrm>
            <a:off x="640080" y="6382512"/>
            <a:ext cx="128016" cy="128016"/>
          </a:xfrm>
          <a:prstGeom prst="roundRect">
            <a:avLst>
              <a:gd name="adj" fmla="val 28571"/>
            </a:avLst>
          </a:prstGeom>
          <a:solidFill>
            <a:srgbClr val="A9E648"/>
          </a:solidFill>
          <a:ln/>
        </p:spPr>
      </p:sp>
      <p:sp>
        <p:nvSpPr>
          <p:cNvPr id="30" name="Text 2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31" name="Text 2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6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Zincirli salıncakta zincirin açısı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33476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Zincirli bir salıncakta koltuk, yatay bir çember üzerinde 7,5 m yarıçapla dönüyor ve zincir düşeyle 37° açı yapıyor. Koltuk ve yolcunun toplam kütlesi 60 kg'dır. (a) Koltuğun süratini, (b) bir turun süresini, (c) zincirdeki kuvveti bulunuz. (tan 37° = 0,75, cos 37° = 0,8, π ≈ 3)</a:t>
            </a:r>
            <a:endParaRPr lang="en-US" sz="1600" dirty="0"/>
          </a:p>
        </p:txBody>
      </p:sp>
      <p:sp>
        <p:nvSpPr>
          <p:cNvPr id="11" name="Text 9"/>
          <p:cNvSpPr txBox="1"/>
          <p:nvPr/>
        </p:nvSpPr>
        <p:spPr>
          <a:xfrm>
            <a:off x="932688" y="4739640"/>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995672"/>
            <a:ext cx="3712464" cy="643738"/>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(a) ve (b) şıklarında kütle sadeleşti: hafif çocuk da ağır yetişkin de aynı açıyla açılır. Kütleyle büyüyen tek şey zincirdeki kuvvettir.</a:t>
            </a:r>
            <a:endParaRPr lang="en-US" sz="1150" dirty="0"/>
          </a:p>
        </p:txBody>
      </p:sp>
      <p:sp>
        <p:nvSpPr>
          <p:cNvPr id="13" name="Shape 11"/>
          <p:cNvSpPr/>
          <p:nvPr/>
        </p:nvSpPr>
        <p:spPr>
          <a:xfrm>
            <a:off x="5212080" y="1627632"/>
            <a:ext cx="6339535" cy="1460786"/>
          </a:xfrm>
          <a:prstGeom prst="roundRect">
            <a:avLst>
              <a:gd name="adj" fmla="val 1001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166001"/>
            <a:ext cx="384048" cy="384048"/>
          </a:xfrm>
          <a:prstGeom prst="roundRect">
            <a:avLst>
              <a:gd name="adj" fmla="val 26000"/>
            </a:avLst>
          </a:prstGeom>
          <a:solidFill>
            <a:srgbClr val="A56209"/>
          </a:solidFill>
          <a:ln/>
        </p:spPr>
      </p:sp>
      <p:sp>
        <p:nvSpPr>
          <p:cNvPr id="15" name="Text 13"/>
          <p:cNvSpPr txBox="1"/>
          <p:nvPr/>
        </p:nvSpPr>
        <p:spPr>
          <a:xfrm>
            <a:off x="5449824" y="216600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135105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Kuvvetler: ağırlık (aşağı) ve zincir kuvveti F (zincir boyunca). Düşey: F·cos 37° = m·g; merkeze doğru: F·sin 37° = m·v²/r.</a:t>
            </a:r>
            <a:endParaRPr lang="en-US" sz="1600" dirty="0"/>
          </a:p>
        </p:txBody>
      </p:sp>
      <p:sp>
        <p:nvSpPr>
          <p:cNvPr id="17" name="Shape 15"/>
          <p:cNvSpPr/>
          <p:nvPr/>
        </p:nvSpPr>
        <p:spPr>
          <a:xfrm>
            <a:off x="5212080" y="3234722"/>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3596599"/>
            <a:ext cx="384048" cy="384048"/>
          </a:xfrm>
          <a:prstGeom prst="roundRect">
            <a:avLst>
              <a:gd name="adj" fmla="val 26000"/>
            </a:avLst>
          </a:prstGeom>
          <a:solidFill>
            <a:srgbClr val="A56209"/>
          </a:solidFill>
          <a:ln/>
        </p:spPr>
      </p:sp>
      <p:sp>
        <p:nvSpPr>
          <p:cNvPr id="19" name="Text 17"/>
          <p:cNvSpPr txBox="1"/>
          <p:nvPr/>
        </p:nvSpPr>
        <p:spPr>
          <a:xfrm>
            <a:off x="5449824" y="359659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3289586"/>
            <a:ext cx="5379415" cy="998074"/>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Taraf tarafa bölersen tan 37° = v²/(g·r) → v² = 10 · 7,5 · 0,75 = 56,25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v = 7,5 m/s</a:t>
            </a:r>
            <a:endParaRPr lang="en-US" sz="1600" dirty="0"/>
          </a:p>
        </p:txBody>
      </p:sp>
      <p:sp>
        <p:nvSpPr>
          <p:cNvPr id="21" name="Shape 19"/>
          <p:cNvSpPr/>
          <p:nvPr/>
        </p:nvSpPr>
        <p:spPr>
          <a:xfrm>
            <a:off x="5212080" y="4488828"/>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4674213"/>
            <a:ext cx="384048" cy="384048"/>
          </a:xfrm>
          <a:prstGeom prst="roundRect">
            <a:avLst>
              <a:gd name="adj" fmla="val 26000"/>
            </a:avLst>
          </a:prstGeom>
          <a:solidFill>
            <a:srgbClr val="A56209"/>
          </a:solidFill>
          <a:ln/>
        </p:spPr>
      </p:sp>
      <p:sp>
        <p:nvSpPr>
          <p:cNvPr id="23" name="Text 21"/>
          <p:cNvSpPr txBox="1"/>
          <p:nvPr/>
        </p:nvSpPr>
        <p:spPr>
          <a:xfrm>
            <a:off x="5449824" y="467421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4543692"/>
            <a:ext cx="5379415" cy="645090"/>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Bir tur: 2πr/v = (2 · 3 · 7,5) / 7,5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6 s</a:t>
            </a:r>
            <a:endParaRPr lang="en-US" sz="1600" dirty="0"/>
          </a:p>
        </p:txBody>
      </p:sp>
      <p:sp>
        <p:nvSpPr>
          <p:cNvPr id="25" name="Shape 23"/>
          <p:cNvSpPr/>
          <p:nvPr/>
        </p:nvSpPr>
        <p:spPr>
          <a:xfrm>
            <a:off x="5212080" y="5389950"/>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5575335"/>
            <a:ext cx="384048" cy="384048"/>
          </a:xfrm>
          <a:prstGeom prst="roundRect">
            <a:avLst>
              <a:gd name="adj" fmla="val 26000"/>
            </a:avLst>
          </a:prstGeom>
          <a:solidFill>
            <a:srgbClr val="A56209"/>
          </a:solidFill>
          <a:ln/>
        </p:spPr>
      </p:sp>
      <p:sp>
        <p:nvSpPr>
          <p:cNvPr id="27" name="Text 25"/>
          <p:cNvSpPr txBox="1"/>
          <p:nvPr/>
        </p:nvSpPr>
        <p:spPr>
          <a:xfrm>
            <a:off x="5449824" y="557533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5444814"/>
            <a:ext cx="5379415" cy="645090"/>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F = m·g / cos 37° = 600 / 0,8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750 N</a:t>
            </a:r>
            <a:endParaRPr lang="en-US" sz="1600" dirty="0"/>
          </a:p>
        </p:txBody>
      </p:sp>
      <p:sp>
        <p:nvSpPr>
          <p:cNvPr id="29" name="Shape 27"/>
          <p:cNvSpPr/>
          <p:nvPr/>
        </p:nvSpPr>
        <p:spPr>
          <a:xfrm>
            <a:off x="640080" y="6382512"/>
            <a:ext cx="128016" cy="128016"/>
          </a:xfrm>
          <a:prstGeom prst="roundRect">
            <a:avLst>
              <a:gd name="adj" fmla="val 28571"/>
            </a:avLst>
          </a:prstGeom>
          <a:solidFill>
            <a:srgbClr val="A9E648"/>
          </a:solidFill>
          <a:ln/>
        </p:spPr>
      </p:sp>
      <p:sp>
        <p:nvSpPr>
          <p:cNvPr id="30" name="Text 2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31" name="Text 2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7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Düşey çemberde ip gerilmesi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33476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0,5 kg'lık bir taş 0,8 m uzunluğundaki ipin ucunda düşey bir çemberde döndürülüyor. (a) İpin tepe noktada gevşememesi için taş orada en az hangi hızla geçmelidir? (b) El taşı her noktada 4 m/s süratte tutarsa ipteki gerilme (T) tepe noktada ve en alt noktada kaç N olur?</a:t>
            </a:r>
            <a:endParaRPr lang="en-US" sz="1600" dirty="0"/>
          </a:p>
        </p:txBody>
      </p:sp>
      <p:sp>
        <p:nvSpPr>
          <p:cNvPr id="11" name="Text 9"/>
          <p:cNvSpPr txBox="1"/>
          <p:nvPr/>
        </p:nvSpPr>
        <p:spPr>
          <a:xfrm>
            <a:off x="932688" y="4739640"/>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995672"/>
            <a:ext cx="3712464" cy="447446"/>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İp en alt noktada tepe noktadakinin üç katı gerilir; ip koparsa en olası yer orasıdır.</a:t>
            </a:r>
            <a:endParaRPr lang="en-US" sz="1150" dirty="0"/>
          </a:p>
        </p:txBody>
      </p:sp>
      <p:sp>
        <p:nvSpPr>
          <p:cNvPr id="13" name="Shape 11"/>
          <p:cNvSpPr/>
          <p:nvPr/>
        </p:nvSpPr>
        <p:spPr>
          <a:xfrm>
            <a:off x="5212080" y="1627632"/>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041994"/>
            <a:ext cx="384048" cy="384048"/>
          </a:xfrm>
          <a:prstGeom prst="roundRect">
            <a:avLst>
              <a:gd name="adj" fmla="val 26000"/>
            </a:avLst>
          </a:prstGeom>
          <a:solidFill>
            <a:srgbClr val="A56209"/>
          </a:solidFill>
          <a:ln/>
        </p:spPr>
      </p:sp>
      <p:sp>
        <p:nvSpPr>
          <p:cNvPr id="15" name="Text 13"/>
          <p:cNvSpPr txBox="1"/>
          <p:nvPr/>
        </p:nvSpPr>
        <p:spPr>
          <a:xfrm>
            <a:off x="5449824" y="204199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110304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Tepe: T + m·g = m·v²/r. En küçük hızda ip gevşemek üzeredir, T = 0 → v = √(g·r) = √8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2,8 m/s</a:t>
            </a:r>
            <a:endParaRPr lang="en-US" sz="1600" dirty="0"/>
          </a:p>
        </p:txBody>
      </p:sp>
      <p:sp>
        <p:nvSpPr>
          <p:cNvPr id="17" name="Shape 15"/>
          <p:cNvSpPr/>
          <p:nvPr/>
        </p:nvSpPr>
        <p:spPr>
          <a:xfrm>
            <a:off x="5212080" y="298670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3401069"/>
            <a:ext cx="384048" cy="384048"/>
          </a:xfrm>
          <a:prstGeom prst="roundRect">
            <a:avLst>
              <a:gd name="adj" fmla="val 26000"/>
            </a:avLst>
          </a:prstGeom>
          <a:solidFill>
            <a:srgbClr val="A56209"/>
          </a:solidFill>
          <a:ln/>
        </p:spPr>
      </p:sp>
      <p:sp>
        <p:nvSpPr>
          <p:cNvPr id="19" name="Text 17"/>
          <p:cNvSpPr txBox="1"/>
          <p:nvPr/>
        </p:nvSpPr>
        <p:spPr>
          <a:xfrm>
            <a:off x="5449824" y="340106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3041571"/>
            <a:ext cx="5379415" cy="110304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Gereken merkezcil kuvvet her noktada aynıdır: m·v²/r = 0,5 · 16 / 0,8 = 10 N. Ağırlık m·g = 5 N.</a:t>
            </a:r>
            <a:endParaRPr lang="en-US" sz="1600" dirty="0"/>
          </a:p>
        </p:txBody>
      </p:sp>
      <p:sp>
        <p:nvSpPr>
          <p:cNvPr id="21" name="Shape 19"/>
          <p:cNvSpPr/>
          <p:nvPr/>
        </p:nvSpPr>
        <p:spPr>
          <a:xfrm>
            <a:off x="5212080" y="4345783"/>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4566929"/>
            <a:ext cx="384048" cy="384048"/>
          </a:xfrm>
          <a:prstGeom prst="roundRect">
            <a:avLst>
              <a:gd name="adj" fmla="val 26000"/>
            </a:avLst>
          </a:prstGeom>
          <a:solidFill>
            <a:srgbClr val="A56209"/>
          </a:solidFill>
          <a:ln/>
        </p:spPr>
      </p:sp>
      <p:sp>
        <p:nvSpPr>
          <p:cNvPr id="23" name="Text 21"/>
          <p:cNvSpPr txBox="1"/>
          <p:nvPr/>
        </p:nvSpPr>
        <p:spPr>
          <a:xfrm>
            <a:off x="5449824" y="456692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4400647"/>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Tepe: ağırlık da merkeze bakar → T = 10 − 5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5 N</a:t>
            </a:r>
            <a:endParaRPr lang="en-US" sz="1600" dirty="0"/>
          </a:p>
        </p:txBody>
      </p:sp>
      <p:sp>
        <p:nvSpPr>
          <p:cNvPr id="25" name="Shape 23"/>
          <p:cNvSpPr/>
          <p:nvPr/>
        </p:nvSpPr>
        <p:spPr>
          <a:xfrm>
            <a:off x="5212080" y="5318427"/>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5539574"/>
            <a:ext cx="384048" cy="384048"/>
          </a:xfrm>
          <a:prstGeom prst="roundRect">
            <a:avLst>
              <a:gd name="adj" fmla="val 26000"/>
            </a:avLst>
          </a:prstGeom>
          <a:solidFill>
            <a:srgbClr val="A56209"/>
          </a:solidFill>
          <a:ln/>
        </p:spPr>
      </p:sp>
      <p:sp>
        <p:nvSpPr>
          <p:cNvPr id="27" name="Text 25"/>
          <p:cNvSpPr txBox="1"/>
          <p:nvPr/>
        </p:nvSpPr>
        <p:spPr>
          <a:xfrm>
            <a:off x="5449824" y="553957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5373291"/>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Alt: ağırlık dışa bakar → T = 10 + 5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15 N</a:t>
            </a:r>
            <a:endParaRPr lang="en-US" sz="1600" dirty="0"/>
          </a:p>
        </p:txBody>
      </p:sp>
      <p:sp>
        <p:nvSpPr>
          <p:cNvPr id="29" name="Shape 27"/>
          <p:cNvSpPr/>
          <p:nvPr/>
        </p:nvSpPr>
        <p:spPr>
          <a:xfrm>
            <a:off x="640080" y="6382512"/>
            <a:ext cx="128016" cy="128016"/>
          </a:xfrm>
          <a:prstGeom prst="roundRect">
            <a:avLst>
              <a:gd name="adj" fmla="val 28571"/>
            </a:avLst>
          </a:prstGeom>
          <a:solidFill>
            <a:srgbClr val="A9E648"/>
          </a:solidFill>
          <a:ln/>
        </p:spPr>
      </p:sp>
      <p:sp>
        <p:nvSpPr>
          <p:cNvPr id="30" name="Text 2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31" name="Text 2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“Sürat sabitse ivme yoktur.”</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Hızın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yönü</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değişiyorsa ivme vardır; çembersel harekette ivme merkeze doğrudur.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“İvme hız yönündedir.”</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Düzgün çembersel harekette ivme hıza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diktir</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hızı büyütmez, çevirir.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“Cisme dışarı doğru merkezkaç kuvveti etki eder.”</a:t>
            </a:r>
            <a:endParaRPr lang="en-US" sz="1600" dirty="0"/>
          </a:p>
        </p:txBody>
      </p:sp>
      <p:sp>
        <p:nvSpPr>
          <p:cNvPr id="25" name="Shape 23"/>
          <p:cNvSpPr/>
          <p:nvPr/>
        </p:nvSpPr>
        <p:spPr>
          <a:xfrm>
            <a:off x="841248" y="4767072"/>
            <a:ext cx="274320" cy="274320"/>
          </a:xfrm>
          <a:prstGeom prst="roundRect">
            <a:avLst>
              <a:gd name="adj" fmla="val 26667"/>
            </a:avLst>
          </a:prstGeom>
          <a:solidFill>
            <a:srgbClr val="EAF7DC"/>
          </a:solidFill>
          <a:ln/>
        </p:spPr>
      </p:sp>
      <p:sp>
        <p:nvSpPr>
          <p:cNvPr id="26" name="Text 24"/>
          <p:cNvSpPr txBox="1"/>
          <p:nvPr/>
        </p:nvSpPr>
        <p:spPr>
          <a:xfrm>
            <a:off x="841248"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Yerdeki gözlemci için böyle bir kuvvet yoktur; hissedilen şey eylemsizliktir.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“Merkezcil kuvvet ayrı bir kuvvettir.”</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Serbest cisim diyagramına ayrıca eklenmez; gerilme, sürtünme ya da çekim bu rolü üstlenir.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“İp kesilince cisim merkezden uzaklaşan doğrultuda gider.”</a:t>
            </a:r>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 </a:t>
            </a:r>
            <a:endParaRPr lang="en-US" sz="1600" dirty="0"/>
          </a:p>
        </p:txBody>
      </p:sp>
      <p:sp>
        <p:nvSpPr>
          <p:cNvPr id="11" name="Shape 9"/>
          <p:cNvSpPr/>
          <p:nvPr/>
        </p:nvSpPr>
        <p:spPr>
          <a:xfrm>
            <a:off x="841248" y="2435352"/>
            <a:ext cx="274320" cy="274320"/>
          </a:xfrm>
          <a:prstGeom prst="roundRect">
            <a:avLst>
              <a:gd name="adj" fmla="val 26667"/>
            </a:avLst>
          </a:prstGeom>
          <a:solidFill>
            <a:srgbClr val="EAF7DC"/>
          </a:solidFill>
          <a:ln/>
        </p:spPr>
      </p:sp>
      <p:sp>
        <p:nvSpPr>
          <p:cNvPr id="12" name="Text 10"/>
          <p:cNvSpPr txBox="1"/>
          <p:nvPr/>
        </p:nvSpPr>
        <p:spPr>
          <a:xfrm>
            <a:off x="841248" y="243535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417064"/>
            <a:ext cx="4559656" cy="1286256"/>
          </a:xfrm>
          <a:prstGeom prst="rect">
            <a:avLst/>
          </a:prstGeom>
          <a:noFill/>
          <a:ln/>
        </p:spPr>
        <p:txBody>
          <a:bodyPr wrap="square" lIns="0" tIns="0" rIns="0" bIns="0" rtlCol="0" anchor="t"/>
          <a:lstStyle/>
          <a:p>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Teğet</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doğrultuda gider.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“Diskin her noktasının hızı aynıdır.”</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Aynı olan periyot ve açısal hızdır; çizgisel hız yarıçapla artar.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“Ağır araç virajda daha kolay savrulur.”</a:t>
            </a:r>
            <a:endParaRPr lang="en-US" sz="1600" dirty="0"/>
          </a:p>
        </p:txBody>
      </p:sp>
      <p:sp>
        <p:nvSpPr>
          <p:cNvPr id="25" name="Shape 23"/>
          <p:cNvSpPr/>
          <p:nvPr/>
        </p:nvSpPr>
        <p:spPr>
          <a:xfrm>
            <a:off x="841248" y="4486656"/>
            <a:ext cx="274320" cy="274320"/>
          </a:xfrm>
          <a:prstGeom prst="roundRect">
            <a:avLst>
              <a:gd name="adj" fmla="val 26667"/>
            </a:avLst>
          </a:prstGeom>
          <a:solidFill>
            <a:srgbClr val="EAF7DC"/>
          </a:solidFill>
          <a:ln/>
        </p:spPr>
      </p:sp>
      <p:sp>
        <p:nvSpPr>
          <p:cNvPr id="26" name="Text 24"/>
          <p:cNvSpPr txBox="1"/>
          <p:nvPr/>
        </p:nvSpPr>
        <p:spPr>
          <a:xfrm>
            <a:off x="841248"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Sınır hız √(μgr)'dir; kütleden bağımsızdır.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“Uydu, yerçekimi olmadığı için düşmez.”</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Yerçekimi oradadır ve tam da merkezcil kuvvet görevini üstlenir; uydu yana doğru o kadar hızlı gider ki çemberde kalır.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Sürat </a:t>
            </a:r>
            <a:pPr indent="0" marL="0">
              <a:buNone/>
            </a:pPr>
            <a:r>
              <a:rPr lang="en-US" sz="1500" b="1" dirty="0">
                <a:solidFill>
                  <a:srgbClr val="FFFFFF"/>
                </a:solidFill>
                <a:latin typeface="Calibri" pitchFamily="34" charset="0"/>
                <a:ea typeface="Calibri" pitchFamily="34" charset="-122"/>
                <a:cs typeface="Calibri" pitchFamily="34" charset="-120"/>
              </a:rPr>
              <a:t>sabit</a:t>
            </a:r>
            <a:pPr indent="0" marL="0">
              <a:buNone/>
            </a:pPr>
            <a:r>
              <a:rPr lang="en-US" sz="1500" dirty="0">
                <a:solidFill>
                  <a:srgbClr val="C3CEE8"/>
                </a:solidFill>
                <a:latin typeface="Calibri" pitchFamily="34" charset="0"/>
                <a:ea typeface="Calibri" pitchFamily="34" charset="-122"/>
                <a:cs typeface="Calibri" pitchFamily="34" charset="-120"/>
              </a:rPr>
              <a:t>, hız değil</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İvme </a:t>
            </a:r>
            <a:pPr indent="0" marL="0">
              <a:buNone/>
            </a:pPr>
            <a:r>
              <a:rPr lang="en-US" sz="1500" b="1" dirty="0">
                <a:solidFill>
                  <a:srgbClr val="FFFFFF"/>
                </a:solidFill>
                <a:latin typeface="Calibri" pitchFamily="34" charset="0"/>
                <a:ea typeface="Calibri" pitchFamily="34" charset="-122"/>
                <a:cs typeface="Calibri" pitchFamily="34" charset="-120"/>
              </a:rPr>
              <a:t>merkeze</a:t>
            </a:r>
            <a:pPr indent="0" marL="0">
              <a:buNone/>
            </a:pPr>
            <a:r>
              <a:rPr lang="en-US" sz="1500" dirty="0">
                <a:solidFill>
                  <a:srgbClr val="C3CEE8"/>
                </a:solidFill>
                <a:latin typeface="Calibri" pitchFamily="34" charset="0"/>
                <a:ea typeface="Calibri" pitchFamily="34" charset="-122"/>
                <a:cs typeface="Calibri" pitchFamily="34" charset="-120"/>
              </a:rPr>
              <a:t> doğru</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 = v² / r</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Viraj sınırı </a:t>
            </a:r>
            <a:pPr indent="0" marL="0">
              <a:buNone/>
            </a:pPr>
            <a:r>
              <a:rPr lang="en-US" sz="1500" b="1" dirty="0">
                <a:solidFill>
                  <a:srgbClr val="FFFFFF"/>
                </a:solidFill>
                <a:latin typeface="Calibri" pitchFamily="34" charset="0"/>
                <a:ea typeface="Calibri" pitchFamily="34" charset="-122"/>
                <a:cs typeface="Calibri" pitchFamily="34" charset="-120"/>
              </a:rPr>
              <a:t>√(μgr)</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 = 2πr / T = ω·r</a:t>
            </a:r>
            <a:endParaRPr lang="en-US" sz="1350" dirty="0"/>
          </a:p>
        </p:txBody>
      </p:sp>
      <p:sp>
        <p:nvSpPr>
          <p:cNvPr id="16" name="Text 14"/>
          <p:cNvSpPr txBox="1"/>
          <p:nvPr/>
        </p:nvSpPr>
        <p:spPr>
          <a:xfrm>
            <a:off x="8782812" y="239572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çizgisel hız</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ω = 2π / T = 2π·f</a:t>
            </a:r>
            <a:endParaRPr lang="en-US" sz="1350" dirty="0"/>
          </a:p>
        </p:txBody>
      </p:sp>
      <p:sp>
        <p:nvSpPr>
          <p:cNvPr id="19" name="Text 17"/>
          <p:cNvSpPr txBox="1"/>
          <p:nvPr/>
        </p:nvSpPr>
        <p:spPr>
          <a:xfrm>
            <a:off x="8782812" y="321868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açısal hız</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a = v² / r = ω²·r</a:t>
            </a:r>
            <a:endParaRPr lang="en-US" sz="1350" dirty="0"/>
          </a:p>
        </p:txBody>
      </p:sp>
      <p:sp>
        <p:nvSpPr>
          <p:cNvPr id="22" name="Text 20"/>
          <p:cNvSpPr txBox="1"/>
          <p:nvPr/>
        </p:nvSpPr>
        <p:spPr>
          <a:xfrm>
            <a:off x="8782812" y="404164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merkezcil ivme</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53619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 = m·v² / r</a:t>
            </a:r>
            <a:endParaRPr lang="en-US" sz="1350" dirty="0"/>
          </a:p>
        </p:txBody>
      </p:sp>
      <p:sp>
        <p:nvSpPr>
          <p:cNvPr id="25" name="Text 23"/>
          <p:cNvSpPr txBox="1"/>
          <p:nvPr/>
        </p:nvSpPr>
        <p:spPr>
          <a:xfrm>
            <a:off x="8257032" y="4864608"/>
            <a:ext cx="311170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merkezcil kuvvet</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dersler.perinet.org/cembersel-hareket.html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Düzgün çembersel hareket — Dersler</dc:title>
  <dc:subject>Fizik · Kuvvet ve Hareket</dc:subject>
  <dc:creator>Dersler</dc:creator>
  <cp:lastModifiedBy>Dersler</cp:lastModifiedBy>
  <cp:revision>1</cp:revision>
  <dcterms:created xsi:type="dcterms:W3CDTF">2026-09-29T23:25:05Z</dcterms:created>
  <dcterms:modified xsi:type="dcterms:W3CDTF">2026-09-29T23:25:05Z</dcterms:modified>
</cp:coreProperties>
</file>