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Lst>
  <p:notesMasterIdLst>
    <p:notesMasterId r:id="rId1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notesMaster" Target="notesMasters/notesMaster1.xml"/><Relationship Id="rId145" Type="http://schemas.openxmlformats.org/officeDocument/2006/relationships/presProps" Target="presProps.xml"/><Relationship Id="rId146" Type="http://schemas.openxmlformats.org/officeDocument/2006/relationships/viewProps" Target="viewProps.xml"/><Relationship Id="rId147" Type="http://schemas.openxmlformats.org/officeDocument/2006/relationships/theme" Target="theme/theme1.xml"/><Relationship Id="rId1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maddenin derişimini iki katına çıkarırsan tepkime de iki kat mı hızlanır? Bazen evet. Bazen dört kat hızlanır, bazen hiç değişmez. Hangisinin olacağını tepkimenin hız denklemi söyler. Birçok tepkime de tek hamlede değil, art arda birkaç adımda yürür. Dağ yolunda yavaş bir kamyonun arkasına dizilen arabalar gibi, bütünün hızını en yavaş adım belirler. Anlatım dört basamakta ilerliyor: önce iyot saati ve tek şeritli yolla sezgi kazanıp hız denklemini okumayı öğreneceğiz; sonra tepkime derecesini, derişim ve hacim değişince hızın kaç katına çıktığını ve k'nın birimini sayılarla çalışacağız; ardından hız denklemini deney tablosundan bulacak, çok basamaklı tepkimelerde yavaş basamağı tanıyacağız. En sonda kolaydan zora sıralanmış örneklerle hepsini birlikte kullanacağız.
Kapak görseli: İyot saati. Beherlerdeki karışımlar önce renksizdir. İçlerindeki tepkime yavaş yavaş iyot üretir; karışıma az miktarda eklenmiş bir madde bu iyodu hemen geri dönüştürür. O madde tükendiği anda iyot birikir ve nişastayla koyu lacivert renk verir. Rengin dönme anı, bir saat gibi tepkimenin hızını gösterir: derişimi büyük olan karışım daha erken döner. Fotoğraftaki üç beherin rengi dönmüş, ikisi hâlâ renksiz.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Bir maddenin derişimini iki katına çıkarırsan tepkime de iki kat mı hızlanır? Bazen evet. Bazen dört kat hızlanır, bazen hiç değişmez. Hangisinin olacağını tepkimenin hız denklemi söyler. Birçok tepkime de tek hamlede değil, art arda birkaç adımda yürür. Dağ yolunda yavaş bir kamyonun arkasına dizilen arabalar gibi, bütünün hızını en yavaş adım belirler. Anlatım dört basamakta ilerliyor: önce iyot saati ve tek şeritli yolla sezgi kazanıp hız denklemini okumayı öğreneceğiz; sonra tepkime derecesini, derişim ve hacim değişince hızın kaç katına çıktığını ve k'nın birimini sayılarla çalışacağız; ardından hız denklemini deney tablosundan bulacak, çok basamaklı tepkimelerde yavaş basamağı tanıyacağız.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hızın derişime nasıl bağlı olduğunu gözle, hız denklemini okumayı öğren, tek basamaklı tepkimede nasıl yazıldığını ve katıların neden yazılmadığını kavra.
   01 Önce gözlemle: iyot saati ve tek şeritli yokuş
   02 Hız denklemi nedir?
   03 Tek basamaklı tepkimelerde hız denklemi
   04 Katı ve saf sıvılar yazılmaz
2. Orta — Bağıntılar: tepkime derecesini tanı, derişim ve hacim değişince hızın kaç katına çıktığını hesapla, k'nın birimini bul ve sayılarla dene.
   05 Tepkime derecesi (mertebe)
   06 Derişim değişince hız kaç katına çıkar?
   07 Hacim ve basınç değişimi
   08 Hız sabiti k ve birimi
   09 Sayılarla hisset: hız ne kadar değişir?
3. İleri — Derinleş: hız denklemini deney tablosundan bul, çok basamaklı tepkimelerde yavaş basamağı, ara ürünü ve katalizörü tanı, hız denklemini gerçek dünyada gör.
   10 Hız denklemini deneyle bulmak
   11 Çok basamaklı tepkimeler ve yavaş basamak
   12 Mekanizmayı ipuçlarından okumak
   13 Hız denklemi gerçek dünyada
4. Pekiştir — Kolaydan zora çözümlü örnekler, Sıra sende soruları ve hız denklemi sorularında puan kaybettiren klasik hatalar.
   14 Çözümlü örnekler
   15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Derişim: 1 litrede kaç mol madde olduğu. [X] diye yazılır, birimi mol/L, kısaca M. 2 L'de 0,4 mol X varsa [X] = 0,2 M.
• Tepkime hızı: bir saniyede derişimin ne kadar değiştiği. Birimi M/s, yani mol/(L·s).
• Etkin çarpışma: ürün veren çarpışma. Tanecikler yeterli enerjiyle ve uygun yönelimle çarpışmalıdır.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Aktifleşme enerjisi (Ea): tepkimenin aşması gereken enerji tepesi. Tepe yüksekse tepkime yavaştır.
• Katalizör: tepkimeyi hızlandıran ve tepkime bitince harcanmadan geri kalan madde.
• Üs (kuvvet): sayının kaç kez çarpan olarak yazıldığı: 2² = 2·2 = 4, 2³ = 2·2·2 = 8. Her sayının 1. kuvveti kendisi, 0. kuvveti 1'dir.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hızın derişime nasıl bağlı olduğunu gözle, hız denklemini okumayı öğren, tek basamaklı tepkimede nasıl yazıldığını ve katıların neden yazılmadığını kavra.
01 Önce gözlemle: iyot saati ve tek şeritli yokuş
02 Hız denklemi nedir?
03 Tek basamaklı tepkimelerde hız denklemi
04 Katı ve saf sıvılar yazılmaz
Görsel: Kamyonun arkasındaki kuyruk. Kıvrımlı dağ yolunda geçiş yapılamadığı için arkadaki arabaların hepsi öndeki yük kamyonunun hızıyla ilerler; arabaların motoru ne kadar güçlü olursa olsun bu değişmez. Birçok tepkime de böyle art arda birkaç basamakta yürür ve bütün tepkimenin hızını en yavaş basamak belirler. Bu fikre üçüncü basamakta ayrıntılı döneceğiz.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iyot saati ve tek şeritli yokuş — adım 1/4
• Kimya laboratuvarının sevilen gösterilerinden biri iyot saatidir.
• İki renksiz çözelti karıştırılır; karışım bir süre su gibi berrak kalır, sonra bir anda koyu laciverde döner.
• Renk ne kadar erken dönerse tepkime o kadar hızlıdır.
• Aynı karışımı birkaç beherde hazırlayıp yalnızca iyodür miktarını değiştirirsen şunları gözlersin: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iyot saati ve tek şeritli yokuş — adım 2/4
• Derişik olan önce döner: iyodürü bol olan beherde renk daha erken gelir.
• İki kat iyodür, yarı süre: iyodür iki katına çıkınca renk yaklaşık yarı sürede döner; tepkime iki kat hızlanmıştır.
• Seyreltmek yavaşlatır: karışıma su eklersen bütün derişimler düşer, renk geç döner.
• Her madde aynı etkiyi yapmaz: başka tepkimelerde bir maddeyi iki katına çıkarmak hızı dört katına çıkarabilir ya da hiç değiştirmeyebilir.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iyot saati ve tek şeritli yokuş — adım 3/4
• Bu kuyruk ikinci bir gözlemdir: hızı bazen bütün adımlar değil, en yavaş adım belirler.
• Konunun iki sorusu böylece ortaya çıkıyor: hız derişime nasıl bağlı ve birkaç adımlı bir tepkimede hızı hangi adım belirliyor?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iyot saati ve tek şeritli yokuş — şekil
Üç beherde iyot saati karışımı var; yalnız iyodür derişimi farklı (mor tanecikler). İyodür iki katına çıkınca renk yarı sürede dönüyor: 40 s → 20 s → 10 s. Süre yarıya indiyse tepkime iki kat hızlanmıştır. Diğer maddelerin miktarı ve sıcaklık üç beherde de aynı.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Tepkime hızı girenlerin derişimine bağlıdır, ama her tepkimede aynı ölçüde değil. Birkaç adımda yürüyen tepkimelerde bütünün hızını, kuyruktaki kamyon gibi, en yavaş adım belirler.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Kuyruktaki arabalardan birinin motoru daha güçlü olsa kuyruk daha hızlı ilerler mi?
Sınıfa sorun, birkaç tahmin alın; sonra cevap slaytına geçin.
Cevap: Hayır. Kuyruğun hızı öndeki kamyonun hızıdır; arkadaki arabanın gücü ancak kamyon yoldan çekilince işe yarar. Birkaç basamaklı tepkimede de hızlı basamakları daha da hızlandırmak bütün tepkimeyi hızlandırmaz. İşe yarayan, en yavaş basamağı hızlandırmaktır.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Kuyruğun hızı öndeki kamyonun hızıdır; arkadaki arabanın gücü ancak kamyon yoldan çekilince işe yarar. Birkaç basamaklı tepkimede de hızlı basamakları daha da hızlandırmak bütün tepkimeyi hızlandırmaz. İşe yarayan, en yavaş basamağı hızlandırmaktır.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denklemi nedir? — adım 1/4
• Tepkime hızının girenlerin derişimine nasıl bağlı olduğunu tek satırda yazan eşitliğe hız denklemi (hız bağıntısı) denir.
• X ve Y'nin tepkimesi için genel biçimi şudur:
Hız = k · [X]ᵃ · [Y]ᵇ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denklemi nedir? — adım 2/4
• Köşeli parantez “derişimi” demektir: [X], X'in mol/L cinsinden derişimidir. k hız sabitidir; derişimlerle hızı birbirine bağlayan sayıdır ve belli bir sıcaklıkta her tepkimenin kendi k'si vardır. a ve b üslerdir: hızın o maddeye ne kadar duyarlı olduğunu söylerler.
• Üs 1 ise derişim iki katına çıkınca hız da iki katına çıkar; üs 2 ise dört katına çıkar; üs 0 ise o madde hızı hiç etkilemez.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denklemi nedir? — şekil
Hız denkleminin her parçasının bir görevi var. k tepkimeye ve sıcaklığa özgü bir sayıdır. [X] ve [Y] o andaki derişimlerdir; deney sırasında değişebilirler. a ve b ise tepkimenin “karakteri”dir: derişimler değişse de aynı kalır ve deneyle bulunur.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denklemi nedir? — adım 4/4
• Genel olarak üsler katsayılardan okunamaz, deneyle bulunur; yalnız tek basamaklı tepkimede katsayılara eşittir (sıradaki bölüm).
• İyot saatindeki tepkimede iki iyodür iyonu harcanır: H₂O₂(suda) + 2I⁻(suda) + 2H⁺(suda) → I₂(suda) + 2H₂O(s).
• Ama asitlik sabit tutulduğunda ölçülen hız denklemi Hız = k·[H₂O₂]·[I⁻]'dir; iyodürün üssü 2 değil 1'dir.
• “İki kat iyodür, yarı süre” gözlemi buradan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Hız denklemi Hız = k·[X]ᵃ·[Y]ᵇ, hızın derişimlere nasıl bağlı olduğunu söyler. k hız sabitidir; a ve b üsleri hızın her maddeye ne kadar duyarlı olduğunu gösterir ve deneyle bulunur.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basamaklı tepkimelerde hız denklemi — adım 1/4
• Bazı tepkimeler tek bir çarpışmayla, tek hamlede biter.
• Bunlara tek basamaklı tepkime denir.
• Böyle bir tepkimede hız, birim zamandaki etkin çarpışma sayısıyla orantılıdır.
• Çarpışma sayısını da derişimler belirler.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basamaklı tepkimelerde hız denklemi — adım 2/4
• Bir kapta X ve Y tanecikleri olsun.
• Her X her Y ile çarpışabilir.
• X sayısı iki katına çıkınca olası X–Y çiftleri de iki katına çıkar; Y'yi de iki katına çıkarırsan dört katına çıkar.
• Yani çarpışma sayısı [X]·[Y] ile orantılıdır.
• Bir çarpışmaya aynı türden iki tanecik katılıyorsa o derişim iki kez çarpılır: [X]·[X] = [X]².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basamaklı tepkimelerde hız denklemi — şekil
Kesikli çizgiler olası çarpışmaları gösteriyor: her X her Y ile çarpışabilir. Soldaki kapta 2 · 2 = 4 çift var. Sağda X iki katına çıkınca çift sayısı da iki katına (8) çıkıyor. Tek basamaklı tepkimede hızın derişimlerin çarpımıyla orantılı olması buradan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basamaklı tepkimelerde hız denklemi — adım 4/4
• Bu yüzden tek basamaklı bir tepkimede hız denkleminin üsleri, girenlerin denklemdeki katsayılarıdır.
• Ürünler hız denklemine girmez; hız, girenlerin çarpışmasıyla ilgilidir.
Tek basamaklı tepkime | Hız denklemi
NO(g) + O₃(g) → NO₂(g) + O₂(g) | Hız = k·[NO]·[O₃]
2NO(g) + O₂(g) → 2NO₂(g) | Hız = k·[NO]²·[O₂]
CH₃Br(suda) + OH⁻(suda) → CH₃OH(suda) + Br⁻(suda) | Hız = k·[CH₃Br]·[OH⁻]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Tek basamaklı tepkimede hız çarpışma sayısıyla orantılıdır. Bu yüzden hız denklemindeki üsler, girenlerin denklemdeki katsayılarıdır; ürünler yazılmaz.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2NO + O₂ → 2NO₂ tepkimesinde NO'nun üssü neden 2'dir?
Sınıfa sorun, birkaç tahmin alın; sonra cevap slaytına geçin.
Cevap: Çünkü tek çarpışmada iki NO molekülü ve bir O₂ molekülü aynı anda buluşmalıdır. Bir NO bulma şansı [NO] ile, ikinci bir NO bulma şansı yine [NO] ile orantılıdır. İkisi çarpılınca [NO]²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Çünkü tek çarpışmada iki NO molekülü ve bir O₂ molekülü aynı anda buluşmalıdır. Bir NO bulma şansı [NO] ile, ikinci bir NO bulma şansı yine [NO] ile orantılıdır. İkisi çarpılınca [NO]²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Katı ve saf sıvılar yazılmaz — adım 1/4
• Hız denkleminde yalnızca gazlar (g) ve çözeltideki maddeler (suda) yer alır; katılar (k) ve saf sıvılar (s) yazılmaz.
• Nedeni derişimleridir.
• Bir gazın derişimi, gazın miktarına ve kabın hacmine göre değişir.
• Bir katının “derişimi” ise kendi içindeki tanecik sıklığıdır: kömür parçasını büyüt ya da küçült, atomları aynı sıklıkta dizilidir.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Katı ve saf sıvılar yazılmaz — adım 2/4
• Saf sıvı da öyledir.
• 1 L su yaklaşık 1000 g'dır, yani 1000 ÷ 18 ≈ 55,6 mol.
• Bir bardakta da bir kovada da [H₂O] ≈ 55,6 M'dir.
• Hiç değişmeyen bir sayı k'nın içine katılır ve denklemde ayrıca yazılmaz.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Katı ve saf sıvılar yazılmaz — şekil
Küçük ve büyük kömür parçasında karbon atomları aynı sıklıkta dizili; bir bardak ve bir kova suda da suyun derişimi aynı, yaklaşık 55,6 M. Miktar değişince değişmeyen bu “derişimler” hız denkleminde yazılmaz.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Katı ve saf sıvılar yazılmaz — adım 4/4
• Kömürün yanmasını tek basamaklı kabul edersek C(k) + O₂(g) → CO₂(g) için Hız = k·[O₂] yazılır.
• Girenlerin hepsi katıysa (termit karışımı gibi) hız denklemi Hız = k olur.
• Bu, katının hiç etkisi yok demek değildir: katı yalnız yüzeyinden tepkir.
• Onu toz hâline getirmek hızı artırır; bu etki k'nın büyümesi olarak düşünülür (Konu 04, temas yüzeyi).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Katıların ve saf sıvıların derişimi sabittir; bu yüzden hız denkleminde yazılmazlar. Yalnız gazlar ve çözeltideki maddeler yazılır. Katının yüzeyi büyürse k büyür.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Mangaldaki köze üflemek neden ateşi canlandırır?
Sınıfa sorun, birkaç tahmin alın; sonra cevap slaytına geçin.
Cevap: Üflemek kömürün yüzeyine taze hava, yani daha çok O₂ getirir. Hız = k·[O₂] olduğu için [O₂] artınca hız da artar. Kömürün kendisi hız denkleminde yoktur, ama oksijen vardır.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Üflemek kömürün yüzeyine taze hava, yani daha çok O₂ getirir. Hız = k·[O₂] olduğu için [O₂] artınca hız da artar. Kömürün kendisi hız denkleminde yoktur, ama oksijen vardır.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tepkime derecesini tanı, derişim ve hacim değişince hızın kaç katına çıktığını hesapla, k'nın birimini bul ve sayılarla dene.
05 Tepkime derecesi (mertebe)
06 Derişim değişince hız kaç katına çıkar?
07 Hacim ve basınç değişimi
08 Hız sabiti k ve birimi
09 Sayılarla hisset: hız ne kadar değişir?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derecesi (mertebe) — adım 1/6
• Hız denklemindeki her üs, tepkimenin o maddeye göre derecesidir (mertebesidir).
• Üslerin toplamı da tepkimenin toplam derecesidir.
Hız = k · [X]ᵃ · [Y]ᵇ   toplam derece: n = a +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derecesi (mertebe) — adım 2/6
Formüldeki harfler ne anlama geliyor?
Sembol | Anlamı | Birimi
Hız | tepkime hızı: bir saniyedeki derişim değişimi | M/s = mol/(L·s)
k | hız sabiti; sıcaklığa ve katalizöre bağlı | dereceye göre değişir
[X], [Y] | X'in ve Y'nin derişimi | M = mol/L
a, b | X'e ve Y'ye göre derece (deneyle bulunur) | —
n | toplam derece: n = a + b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derecesi (mertebe) — adım 3/6
• Örneğin Hız = k·[X]²·[Y] ise tepkime X'e göre 2., Y'ye göre 1., toplamda 3. derecedendir.
• En sık üç durum görülür: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derecesi (mertebe) — adım 4/6
• 0. derece (Hız = k): hız derişime bağlı değildir. Sıcak tungsten tel üzerinde NH₃'ün ayrışması böyledir: telin yüzeyi dolu olduğu için fazladan gaz hızı artırmaz. Tek gişeli bir kuyruğu düşün: kuyruk uzasa da gişe dakikada yine bir kişiye bakar.
• 1. derece (Hız = k·[X]): hız derişimle aynı oranda artar; grafik orijinden geçen bir doğrudur.
• 2. derece (Hız = k·[X]²): hız derişimin karesiyle artar; grafik yukarı kıvrılan bir paraboldür.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derecesi (mertebe) — adım 5/6
• 02 numaralı laboratuvarda dereceyi seç, [X]'i sürükle ve hızın nasıl değiştiğini dene.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derecesi (mertebe) — şekil
Aynı soru, üç cevap: [X] 1'den 2'ye çıkınca hız ne olur? 0. derecede doğru yataydır, hız değişmez. 1. derecede doğru eğimlidir, hız 2 katına çıkar. 2. derecede eğri bir paraboldür, hız 4 katına çıkar. Grafiğin biçimi tepkimenin derecesini ele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Bir maddenin üssü, tepkimenin o maddeye göre derecesidir; üslerin toplamı toplam derecedir. Hız–derişim grafiği 0. derecede yatay, 1. derecede eğimli bir doğru, 2. derecede paraboldür.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0. dereceden bir tepkimede derişim yarıya inerse hız ne olur?
Sınıfa sorun, birkaç tahmin alın; sonra cevap slaytına geçin.
Cevap: Hiç değişmez. 0. derece, hızın derişime bağlı olmadığını söyler; tepken bitene kadar hız sabit kalır. Bu, hızın sıfır olduğu anlamına gelmez: Hız = k, sıfırdan büyük bir sayıdır.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Hiç değişmez. 0. derece, hızın derişime bağlı olmadığını söyler; tepken bitene kadar hız sabit kalır. Bu, hızın sıfır olduğu anlamına gelmez: Hız = k, sıfırdan büyük bir sayıdır.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değişince hız kaç katına çıkar? — adım 1/4
• Hız denklemini biliyorsan derişimler değişince hızın kaç katına çıkacağını hesaplamak kolaydır.
• Bir maddenin derişimi m katına çıkarsa o maddenin hıza katkısı mᵃ katına çıkar; a, o maddenin üssüdür.
• Birden çok madde değişiyorsa çarpanlar çarpılır.
• Sıcaklık değişmediği sürece k da değişmez, bu yüzden hesaba girmez.
[X] m katı → hız mᵃ katı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değişince hız kaç katına çıkar? — adım 2/4
• Hız = k·[X]²·[Y] olan bir tepkimede dört durum:
• Yalnız X iki katı: 2² = 4 → hız 4 katına çıkar.
• Yalnız Y iki katı: 2¹ = 2 → hız 2 katına çıkar.
• X yarıya, Y üç katı: (½)² · 3 = ¾ → hız dörtte üçüne iner.
• İkisi birden iki katı: 4 · 2 = 8 → hız 8 katına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değişince hız kaç katına çıkar? — şekil
Her kare, başlangıçtaki hız kadardır. 1. derecede derişim bir kez çarpılır: 2 katı derişim 2 kare, 3 katı 3 kare. 2. derecede derişim iki kez çarpılır; küçük kareler 2×2 ve 3×3'lük büyük bir kare oluşturur: 2 · 2 = 4, 3 · 3 = 9. Üs, derişimin kaç kez çarpıldığını söyler.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değişince hız kaç katına çıkar? — adım 4/4
• Akılda tut: üs büyüdükçe o madde hız üzerinde daha etkili olur.
• Bir tepkimeyi hızlandırmak istiyorsan, önce üssü en büyük olan maddenin derişimini artırmayı düşün.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Derişim m katına çıkınca o maddenin katkısı mᵃ katına çıkar. Birden çok derişim değişiyorsa çarpanlar çarpılır; k değişmez.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Hacim ve basınç değişimi — adım 1/4
• Gaz tepkimelerinde derişimleri tek tek değiştirmek yerine kabın hacmini de değiştirebilirsin.
• Piston itilip hacim yarıya inince tanecik sayısı aynı kalır, ama hepsi yarı hacme sıkışır.
• Bütün gazların derişimi birden iki katına çıkar; basınç da iki katına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Hacim ve basınç değişimi — adım 2/4
• Tek basamaklı 2NO(g) + O₂(g) → 2NO₂(g) tepkimesinde Hız = k·[NO]²·[O₂]'dir.
• Hacim yarıya inince [NO] ve [O₂] ikişer katına çıkar, hız 2² · 2 = 8 katına çıkar.
• Hacim iki katına çıkarsa her derişim yarıya iner, hız (½)³ = ⅛'ine düşer.
• Kısa yol: hacim m'de birine inerse hız mⁿ katına çıkar; n, hız denklemindeki gazların toplam derecesidir.
V → V/m ⇒ hız mⁿ katı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Hacim ve basınç değişimi — şekil
Solda hacim V, sağda V/2. İki kapta da aynı 4 NO ve 2 O₂ molekülü var; sağdakinde aynı tanecikler yarı hacme sığmış: birim hacimdeki tanecik sayısı iki katı, tanecikler iki kat sık. NO ve O₂ derişimleri ikişer katına çıkar; Hız = k·[NO]²·[O₂] olduğu için hız 2² · 2 = 8 katına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Hacim ve basınç değişimi — adım 4/4
• Katı varsa hacim değişimi yalnız gazları etkiler: C(k) + O₂(g) → CO₂(g) için hacim yarıya inince hız yalnız 2 katına çıkar.
• Çözeltiye su eklemek de bir çeşit hacim artışıdır; çözünenlerin hepsinin derişimi düşer.
• 03 numaralı laboratuvarda pistonu it ve hız çarpanını kendin gör.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Hacim küçülünce bütün gazların derişimi aynı oranda artar. Hacim m'de birine inerse hız mⁿ katına çıkar; n, gazların toplam derecesidir. Katılar bu hesaba girmez.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Sabit hacimli kaba helyum gazı eklemek tepkimenin hızını değiştirir mi?
Sınıfa sorun, birkaç tahmin alın; sonra cevap slaytına geçin.
Cevap: Değiştirmez. Toplam basınç artar, ama kaptaki NO ve O₂ miktarı da hacim de aynı kaldığı için derişimleri değişmez. Hızı değiştiren toplam basınç değil, tepkenlerin derişimidir.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Değiştirmez. Toplam basınç artar, ama kaptaki NO ve O₂ miktarı da hacim de aynı kaldığı için derişimleri değişmez. Hızı değiştiren toplam basınç değil, tepkenlerin derişimidir.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sabiti k ve birimi — adım 1/4
• k, bütün derişimler 1 M olduğunda tepkimenin hızıdır.
• Her tepkimenin kendine özgü bir k'si vardır ve k üç şeyle değişir: sıcaklık (sıcaklık artınca k büyür), katalizör ve katıların temas yüzeyi.
• Derişim, hacim ve basınç ise k'yı değiştirmez; onlar yalnız denklemdeki köşeli parantezli terimleri değiştirir.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sabiti k ve birimi — adım 2/4
• k'nın birimi toplam dereceye bağlıdır.
• Hız M/s olduğuna göre k = Hız / ([X]ᵃ·[Y]ᵇ) yazılır; paydada n tane M çarpılır:
k = Hız / ([X]ᵃ · [Y]ᵇ)   birim(k) = (M/s) ÷ Mⁿ = M¹⁻ⁿ·s⁻¹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sabiti k ve birimi — adım 3/4
Toplam derece | Örnek hız denklemi | k'nın birimi
0 | Hız = k | M·s⁻¹ = mol/(L·s)
1 | Hız = k·[X] | s⁻¹
2 | Hız = k·[X]·[Y] | M⁻¹·s⁻¹ = L/(mol·s)
3 | Hız = k·[X]²·[Y] | M⁻²·s⁻¹ = L²/(mol²·s)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sabiti k ve birimi — şekil
1. dereceden bir tepkimede Hız = k·[X] bir doğrudur ve k bu doğrunun eğimidir. Derişim 0,10 M'den 0,20 M'ye çıkınca nokta aynı doğru üzerinde kayar: hız iki katına çıkar ama k aynı kalır. Sıcaklık artınca (T₂) doğrunun kendisi dikleşir: k büyür. Bu tepkimede k'nın birimi s⁻¹'dir.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k sıcaklığa, katalizöre ve temas yüzeyine bağlıdır; derişim ve hacimle değişmez. Birimi toplam dereceye göre değişir: M¹⁻ⁿ·s⁻¹.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[X] iki katına çıkınca hız da iki katına çıktı. k değişti mi?
Sınıfa sorun, birkaç tahmin alın; sonra cevap slaytına geçin.
Cevap: Hayır. Hız ile derişim birlikte iki katına çıktığı için oranları, yani k, aynı kaldı. k'yı değiştirmek için sıcaklığı değiştirmen, katalizör eklemen ya da katıyı ufalaman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Hız ile derişim birlikte iki katına çıktığı için oranları, yani k, aynı kaldı. k'yı değiştirmek için sıcaklığı değiştirmen, katalizör eklemen ya da katıyı ufalaman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hız ne kadar değişir? — adım 1/4
• 2NO(g) + O₂(g) → 2NO₂(g) tepkimesinin hız sabiti 25 °C'de yaklaşık 7·10³ M⁻²·s⁻¹'dir.
• Hız = k·[NO]²·[O₂] ile hesaplanan hızlar: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hız ne kadar değişir? — adım 2/4
[NO] (M) | [O₂] (M) | Hız (M/s) | 1. satıra göre
0,010 | 0,010 | 7,0·10⁻³ | 1 kat
0,010 | 0,020 | 1,4·10⁻² | 2 kat
0,020 | 0,010 | 2,8·10⁻² | 4 kat
0,020 | 0,020 | 5,6·10⁻² | 8 kat
0,001 | 0,010 | 7,0·10⁻⁵ |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hız ne kadar değişir? — adım 3/4
• Tablodan üç düzen okunur:
• Karesel olan daha etkili: NO'yu iki katına çıkarmak hızı 4, O₂'yi iki katına çıkarmak 2 katına çıkarıyor.
• İkisi birden iki katı = hacim yarıya: iki derişim birden iki katına çıkınca hız 8 katı oluyor.
• Seyrelme çok yavaşlatır: NO 10 kat seyrelince hız 100 kat düşüyor. Egzozdan çıkan NO havaya karışıp seyrelince bu tepkime çok yavaşlar.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hız ne kadar değişir? — şekil
Dört gerçek gaz tepkimesinde kabın hacmi yarıya iniyor, yani bütün derişimler iki katına çıkıyor. Hız çarpanı 2ⁿ'dir: toplam derece 0, 1, 2, 3 için 1, 2, 4, 8 kat. NO₂ + CO tepkimesinde CO hız denkleminde olmadığı için çarpan 4'te kalır. NH₃'ün ayrışması sıcak tungsten yüzeyinde yürür ve yüzey dolu olduğu için hiç hızlanmaz.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Aynı değişiklik farklı tepkimeleri farklı hızlandırır. Kabın hacmi yarıya inince hız, toplam derece 0, 1, 2, 3 için 1, 2, 4, 8 katına çıkar.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 hız denklemini deney tablosundan bul, çok basamaklı tepkimelerde yavaş basamağı, ara ürünü ve katalizörü tanı, hız denklemini gerçek dünyada gör.
10 Hız denklemini deneyle bulmak
11 Çok basamaklı tepkimeler ve yavaş basamak
12 Mekanizmayı ipuçlarından okumak
13 Hız denklemi gerçek dünyada
Görsel: Şehrin alt katlarını saran turuncu-kahverengi pus, böyle kalabalık şehirlerde çoğu zaman fotokimyasal dumandır. Motorlardan çıkan NO havada NO₂'ye dönüşür; kahverengi renk NO₂'den gelir. Güneş ışığı NO₂'yi parçalar, açığa çıkan oksijen atomları ozon oluşturur. Bu basamaklar art arda yürüdüğü ve güneş ışığına ihtiyaç duyduğu için ozon, sabah trafiğinden birkaç saat sonra, öğleden sonra en yüksek düzeye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denklemini deneyle bulmak — adım 1/5
• Üsler katsayılardan okunamıyorsa nasıl bulunur?
• Kimyacılar başlangıç hızları yöntemini kullanır: derişimleri farklı birkaç karışım hazırlanır, her birinde tepkimenin ilk anlardaki hızı ölçülür.
• Altın kural şudur: karşılaştırdığın iki deneyde yalnız bir derişim değişmiş olsun.
• O zaman hızdaki değişim yalnız o maddeden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denklemini deneyle bulmak — adım 2/5
• Belli bir sıcaklıkta H₂(g) + 2ICl(g) → I₂(g) + 2HCl(g) tepkimesi için ölçülen başlangıç hızları:
Deney | [H₂] (M) | [ICl] (M) | Hız (M/s)
1 | 0,10 | 0,10 | 5,0·10⁻⁴
2 | 0,20 | 0,10 | 1,0·10⁻³
3 | 0,20 | 0,30 | 3,0·10⁻³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denklemini deneyle bulmak — adım 3/5
• 1 ve 2: [ICl] sabit, [H₂] 2 katı, hız 2 katı → 2ᵃ = 2, a = 1.
• 2 ve 3: [H₂] sabit, [ICl] 3 katı, hız 3 katı → 3ᵇ = 3, b = 1.
• Hız denklemi: Hız = k·[H₂]·[ICl]; toplam derece 2.
• k: 1. deneyden k = 5,0·10⁻⁴ ÷ (0,10 · 0,10) = 0,050 M⁻¹·s⁻¹. 3. deneyle kontrol: 0,050 · 0,20 · 0,30 = 3,0·10⁻³ 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denklemini deneyle bulmak — şekil
Deneyleri ikişer ikişer karşılaştır. 1'den 2'ye yalnız [H₂] değişiyor ve hız onunla aynı oranda artıyor: a = 1. 2'den 3'e yalnız [ICl] değişiyor; 3 kat derişim 3 kat hız veriyor: b = 1. Değişen derişim her kartta mavi.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denklemini deneyle bulmak — adım 5/5
• Sonuçtaki ipucuna dikkat et: ICl'nin katsayısı 2, ama üssü 1.
• Tepkime tek basamaklı olsaydı üs 2 olurdu.
• Demek ki bu tepkime birden çok basamakta yürüyor.
• 01 numaralı laboratuvarda gizli bir tepkimenin hız denklemini aynı yöntemle kendin bulabilirsin.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Hız denklemi deneyle bulunur: yalnız bir derişimi değişen iki deney karşılaştırılır ve hız oranı, derişim oranının üssü olarak yazılır. Sonra herhangi bir satırdan k hesaplanır.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İki derişimin birden değiştiği bir deney satırı işe yaramaz mı?
Sınıfa sorun, birkaç tahmin alın; sonra cevap slaytına geçin.
Cevap: Yarar, ama ikinci adımda. Önce yalnız bir derişimin değiştiği iki satırdan bir üssü bul. Sonra iki derişimin birden değiştiği satırda bilinen maddenin etkisini hesaptan çıkar; kalan çarpan öteki maddeden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Yarar, ama ikinci adımda. Önce yalnız bir derişimin değiştiği iki satırdan bir üssü bul. Sonra iki derişimin birden değiştiği satırda bilinen maddenin etkisini hesaptan çıkar; kalan çarpan öteki maddeden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Çok basamaklı tepkimeler ve yavaş basamak — adım 1/4
• Birçok tepkime, art arda gelen basit adımlar zinciriyle yürür.
• Her adıma basamak, zincirin tamamına tepkime mekanizması denir.
• NO₂ ile CO'nun tepkimesi (hepsi gaz) iki basamaklıdır:
1) 2NO₂ → NO₃ + NO (yavaş)   2) NO₃ + CO → NO₂ + CO₂ (hızlı)   net: NO₂ + CO → NO + CO₂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Çok basamaklı tepkimeler ve yavaş basamak — adım 2/4
• Basamaklar toplanınca iki tarafta da bulunan maddeler sadeleşir ve net denklem çıkar.
• 1. basamakta oluşup 2. basamakta harcanan NO₃ bir ara üründür; net denklemde görünmez.
• Bütün tepkimenin hızını, kuyruğun önündeki kamyon gibi, en yavaş basamak belirler.
• Hız denklemi bu yüzden yavaş basamağın girenlerinden yazılır: Hız = k·[NO₂]².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Çok basamaklı tepkimeler ve yavaş basamak — adım 3/4
• Deneyde ölçülen hız denklemi de budur.
• 04 numaralı laboratuvarda basamakları hızlandır: ürün hep en yavaş basamağın hızında oluşur.
• Enerji grafiğinde her basamak bir tepedir; tepeler arasındaki çukurlar ara ürünlerdir.
• Her basamağın aktifleşme enerjisi kendi başlangıç seviyesinden ölçülür.
• Aktifleşme enerjisi en büyük olan basamak en yavaştır.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Çok basamaklı tepkimeler ve yavaş basamak — şekil
İki basamaklı bir tepkimenin enerji grafiği (sayılar örnek olarak seçildi). İki tepe iki basamak demektir; aradaki çukur ara üründür. 1. basamağın aktifleşme enerjisi 100 kJ, 2. basamağınki çukurdan ölçülünce yalnız 30 kJ. Engeli büyük olan 1. basamak yavaştır ve hızı o belirler.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Çok basamaklı tepkimede net denklem basamakların toplamıdır, ara ürünler sadeleşir. Hız denklemi en yavaş basamaktan yazılır. Enerji grafiğinde tepe sayısı basamak sayısıdır; Ea'sı en büyük basamak en yavaştır.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NO₂ + CO tepkimesinde CO'nun derişimini iki katına çıkarmak hızı neden değiştirmez?
Sınıfa sorun, birkaç tahmin alın; sonra cevap slaytına geçin.
Cevap: CO yalnız hızlı basamakta yer alır. Hızlı basamak, yavaş basamağın ürettiği NO₃'ü zaten hemen tüketir. CO'yu artırmak bu tüketimi biraz daha hızlandırır ama NO₃'ün üretimini hızlandırmaz; ürün yine yavaş basamağın hızında oluşur.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CO yalnız hızlı basamakta yer alır. Hızlı basamak, yavaş basamağın ürettiği NO₃'ü zaten hemen tüketir. CO'yu artırmak bu tüketimi biraz daha hızlandırır ama NO₃'ün üretimini hızlandırmaz; ürün yine yavaş basamağın hızında oluşur.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Mekanizmayı ipuçlarından okumak — adım 1/6
• Mekanizma doğrudan görülmez; kimyacılar onu ipuçlarından çıkarır.
• Beş ipucu işini kolaylaştırır: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Mekanizmayı ipuçlarından okumak — adım 2/6
• Üsler katsayılara uymuyorsa tepkime çok basamaklıdır. Uyuyorsa tek basamaklı olabilir, ama bu kesin değildir.
• Üçten çok tanecik aynı anda çarpışmaz. Üç taneciğin aynı anda, doğru yönelimle buluşması bile nadirdir. Girenler tarafında dört tanecik olan N₂ + 3H₂ → 2NH₃ tek basamakta yürüyemez.
• Eksik basamak çıkarmayla bulunur. İki basamaklı bir tepkimede net denklemden bilinen basamak çıkarılır. 2NO₂ + F₂ → 2NO₂F tepkimesinin yavaş basamağı NO₂ + F₂ → NO₂F + F ise hızlı basamak NO₂ + F → NO₂F'dir.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Mekanizmayı ipuçlarından okumak — adım 3/6
• Bir giren hız denkleminde yoksa ya katı ya da saf sıvıdır, ya da yalnız hızlı bir basamakta harcanır. NO₂ + CO tepkimesindeki CO ikinci duruma örnektir.
• Katalizör önce harcanır, sonra geri oluşur; ara ürün önce oluşur, sonra harcanır. İkisi de net denklemde görünmez, ama katalizör hız denkleminde yer alabilir.
• Son ipucunu fil diş macunu gösterisindeki tepkimeyle görelim.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Mekanizmayı ipuçlarından okumak — adım 4/6
• KI'den gelen I⁻ iyonları, sulu çözeltide hidrojen peroksidin ayrışmasını hızlandırır:
1) H₂O₂ + I⁻ → H₂O + IO⁻ (yavaş)   2) H₂O₂ + IO⁻ → H₂O + O₂ + I⁻ (hızlı)   net: 2H₂O₂ → 2H₂O + O₂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Mekanizmayı ipuçlarından okumak — adım 5/6
• I⁻ ilk basamakta harcanıp ikincide geri oluştuğu için katalizördür.
• IO⁻ ilk basamakta oluşup ikincide harcandığı için ara üründür.
• Yavaş basamakta I⁻ bulunduğu için ölçülen hız denklemi Hız = k·[H₂O₂]·[I⁻]'dir: katalizör hız denkleminde var, net denklemde yok.
• KI'yi artırmak köpürmeyi bu yüzden hızlandırır.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Mekanizmayı ipuçlarından okumak — şekil
I⁻ bir döngü içinde çalışır: soldaki yavaş basamakta bir H₂O₂ ile tepkiyip IO⁻'ye dönüşür, sağdaki hızlı basamakta ikinci bir H₂O₂ ile tepkiyip geri gelir. Döngünün her turunda iki H₂O₂ harcanır, iki H₂O ve bir O₂ çıkar; I⁻ ise tükenmez. Katalizörün “harcanmadan hızlandırması”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Üsler katsayılara uymuyorsa ya da girenlerde üçten çok tanecik varsa tepkime çok basamaklıdır. Eksik basamak çıkarmayla bulunur. Katalizör önce harcanıp sonra geri oluşur; ara ürün önce oluşup sonra harcanır.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Bir madde hız denkleminde var ama net denklemde yok. Bu madde ne olabilir?
Sınıfa sorun, birkaç tahmin alın; sonra cevap slaytına geçin.
Cevap: Büyük olasılıkla bir katalizördür. Katalizör yavaş basamağın girenleri arasında olabilir; ama sonraki bir basamakta geri oluştuğu için net denklemde sadeleşir. H₂O₂'nin ayrışmasındaki I⁻ buna örnektir.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Büyük olasılıkla bir katalizördür. Katalizör yavaş basamağın girenleri arasında olabilir; ama sonraki bir basamakta geri oluştuğu için net denklemde sadeleşir. H₂O₂'nin ayrışmasındaki I⁻ buna örnektir.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denklemi gerçek dünyada — adım 1/4
• Hız denklemi yalnız bir sınav konusu değildir; şehrin havasından ilacın dozuna kadar pek çok kararın arkasında durur.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denklemi gerçek dünyada — adım 2/4
• Fotokimyasal duman: NO'nun 2NO + O₂ ile NO₂'ye dönüşmesi NO derişiminin karesine bağlıdır. NO derişimi yüksekken görece hızlıdır, havaya karışıp seyrelince çok yavaşlar. Şehir havasında NO'yu NO₂'ye çeviren tepkimelerin başında bu yüzden ozonla yürüyen tek basamaklı NO + O₃ → NO₂ + O₂ gelir.
• Endüstriyel reaktörler: Mühendisler reaktörün boyunu, sıcaklığını ve basıncını hız denklemine göre seçer. Toplam derecesi büyük bir gaz tepkimesinde basıncı artırmak hızı çok artırır; 0. dereceden bir yüzey tepkimesinde ise işe yaramaz, katalizör yüzeyini büyütmek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denklemi gerçek dünyada — adım 3/4
• İlaç dozu aralıkları: Vücut çoğu ilacı 1. dereceden bir hızla atar: derişim yüksekken hızlı, düşükken yavaş. Bu yüzden kandaki derişim her eşit sürede yarıya iner ve dozlar bu süreye göre aralıklanır. Kandaki alkol ise yaklaşık 0. dereceden, her saat hemen hemen aynı miktar azalır.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denklemi gerçek dünyada — şekil
Aynı başlangıç, iki farklı derece. 0. derecede (mor) derişim her saat aynı miktar azalır, grafik düz bir doğrudur. 1. derecede (mavi) hız derişimle orantılı olduğu için azalma giderek yavaşlar: bu örnekteki ilacın derişimi her 2 saatte yarıya iner (100 → 50 → 25 → 12,5). Yarılanma süresi ilaçtan ilaca değişir; doz aralığını bu süre belirler.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Hız denklemi; şehir havasında ozonun ne zaman artacağını, bir reaktörde basıncın işe yarayıp yaramayacağını ve bir ilacın ne sıklıkla alınacağını önceden hesaplamayı sağlar.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Sıra sende soruları ve hız denklemi sorularında puan kaybettiren klasik hatalar.
14 Çözümlü örnekler
15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Tek basamaklı tepkimelerin hız denklemi
Aşağıdaki tepkimeler tek basamakta gerçekleşiyor. Her birinin hız denklemini ve toplam derecesini yaz. (a) O(g) + O₃(g) → 2O₂(g) · (b) 2NO(g) + Cl₂(g) → 2NOCl(g) · (c) S(k) + O₂(g) → SO₂(g)
Durum çizimi: Durum: her satırda tek bir çarpışmada buluşan tanecikler var: (a) bir O atomu ve bir O₃ molekülü, (b) iki NO ve bir Cl₂, (c) katı kükürt yüzeyine gelen bir O₂. Üç tepkimenin hız denklemi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Tek basamaklı tepkimelerin hız denklemi
Aşağıdaki tepkimeler tek basamakta gerçekleşiyor. Her birinin hız denklemini ve toplam derecesini yaz. (a) O(g) + O₃(g) → 2O₂(g) · (b) 2NO(g) + Cl₂(g) → 2NOCl(g) · (c) S(k) + O₂(g) → SO₂(g)
Verilenler: üç tepkime de tek basamaklı → üsler girenlerin katsayılarıdır · S(k) katıdır
İstenen: her tepkimenin hız denklemi ve toplam derecesi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Tek basamaklı tepkimelerin hız denklemi — çözüm
1. (a) Bir O ve bir O₃ çarpışır: Hız = k·[O]·[O₃]; toplam derece 1 + 1 = 2.
2. (b) İki NO ve bir Cl₂ çarpışır: Hız = k·[NO]²·[Cl₂]; toplam derece 2 + 1 =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Tek basamaklı tepkimelerin hız denklemi — çözüm
3. (c) S katıdır, yazılmaz: Hız = k·[O₂]; toplam derece 1.
4. Ürünler (O₂, NOCl, SO₂) hiçbir hız denkleminde yer almaz.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Derişimler değişince hız
Tek basamakta gerçekleşen 2NO(g) + Br₂(g) → 2NOBr(g) tepkimesinde [NO] 0,10 M'den 0,30 M'ye çıkarılıyor, [Br₂] 0,20 M'den 0,10 M'ye indiriliyor. Tepkime hızı kaç katına çıkar?
Durum çizimi: Durum: NO derişimi 0,10 M'den 0,30 M'ye çıkıyor, Br₂ derişimi 0,20 M'den 0,10 M'ye iniyor. İlk hız Hız₁ ile gösterildi; yeni hızın kaç katı olduğu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Derişimler değişince hız
Tek basamakta gerçekleşen 2NO(g) + Br₂(g) → 2NOBr(g) tepkimesinde [NO] 0,10 M'den 0,30 M'ye çıkarılıyor, [Br₂] 0,20 M'den 0,10 M'ye indiriliyor. Tepkime hızı kaç katına çıkar?
Verilenler: tek basamaklı → Hız = k·[NO]²·[Br₂] · [NO]: 0,10 → 0,30 M · [Br₂]: 0,20 → 0,10 M · sıcaklık sabit → k aynı
İstenen: yeni hızın eski hıza oranı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Derişimler değişince hız — çözüm
1. [NO] çarpanı: 0,30 ÷ 0,10 = 3 → katkısı 3² = 9.
2. [Br₂] çarpanı: 0,10 ÷ 0,20 = ½ → katkısı (½)¹ = 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Derişimler değişince hız — çözüm
3. Hız çarpanı: 9 · ½ = 4,5 → hız 4,5 katına çıkar.
4. NO'daki artış Br₂'deki azalmadan daha etkili, çünkü NO'nun üssü daha büyük.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Hacim değişimi ve katı madde
Tek basamaklı X(k) + 2Y(g) → XY₂(g) tepkimesi pistonlu bir kapta yürüyor. (a) Kabın hacmi yarıya indirilirse hız kaç katına çıkar? (b) Hacim değişmeden kaba bir miktar daha X(k) eklenirse hız ne olur? (c) k'nın birimi nedir?
Durum çizimi: Durum: pistonlu kabın dibinde katı X, üstünde gaz Y tanecikleri var. Piston itilince hacim V'den V/2'ye iniyor; tanecikler aynı, yalnız sıkışıyorlar. Hızın kaç katına çıkacağı ve X eklenince ne olacağı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Hacim değişimi ve katı madde
Tek basamaklı X(k) + 2Y(g) → XY₂(g) tepkimesi pistonlu bir kapta yürüyor. (a) Kabın hacmi yarıya indirilirse hız kaç katına çıkar? (b) Hacim değişmeden kaba bir miktar daha X(k) eklenirse hız ne olur? (c) k'nın birimi nedir?
Verilenler: tek basamaklı · X katı · Y gaz, katsayısı 2 · sıcaklık sabit
İstenen: (a) hacim yarıya inince hız çarpanı · (b) X(k) eklenince hız · (c) k'nın birimi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Hacim değişimi ve katı madde — çözüm
1. Hız denklemi: X katı olduğu için yazılmaz → Hız = k·[Y]²; toplam derece 2.
2. (a) Hacim yarıya → [Y] 2 katı → hız 2² = 4 katına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Hacim değişimi ve katı madde — çözüm
3. (b) Katının derişimi sabittir; X eklemek [Y]'yi değiştirmez → temas yüzeyi aynı kaldıkça hız değişmez.
4. (c) n = 2 → M¹⁻²·s⁻¹ = M⁻¹·s⁻¹, yani L/(mol·s).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Hız sabitinin değeri ve birimi
Hız denklemi Hız = k·[A]²·[B] olan bir tepkimede [A] = 0,20 M ve [B] = 0,10 M iken hız 6,0·10⁻³ M/s ölçülüyor. (a) k'nın değeri ve birimi nedir? (b) Aynı sıcaklıkta [A] = 0,10 M, [B] = 0,40 M olursa hız ne olur?
Durum çizimi: Durum: iki kapta aynı tepkime var. Soldaki kapta derişimler ve ölçülen hız biliniyor. Sağdaki kapta A azalmış, B artmış (tanecik sayıları derişimlerle orantılı çizildi). k ve sağdaki hız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Hız sabitinin değeri ve birimi
Hız denklemi Hız = k·[A]²·[B] olan bir tepkimede [A] = 0,20 M ve [B] = 0,10 M iken hız 6,0·10⁻³ M/s ölçülüyor. (a) k'nın değeri ve birimi nedir? (b) Aynı sıcaklıkta [A] = 0,10 M, [B] = 0,40 M olursa hız ne olur?
Verilenler: Hız = k·[A]²·[B] · [A] = 0,20 M · [B] = 0,10 M · Hız = 6,0·10⁻³ M/s · sıcaklık aynı → k aynı
İstenen: (a) k ve birimi · (b) yeni derişimlerde hız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Hız sabitinin değeri ve birimi — çözüm
1. k = Hız ÷ ([A]²·[B]) = 6,0·10⁻³ ÷ (0,20² · 0,10) = 6,0·10⁻³ ÷ 4,0·10⁻³
2. k = 1,5 M⁻²·s⁻¹; toplam derece 3 olduğu için birim M¹⁻³·s⁻¹ = L²/(mol²·s).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Hız sabitinin değeri ve birimi — çözüm
3. (b) Hız = 1,5 · 0,10² · 0,40 = 1,5 · 4,0·10⁻³ = 6,0·10⁻³ M/s.
4. Kontrol: [A] yarıya → (½)² = ¼; [B] 4 katı → 4; ¼ · 4 = 1, hız değişmedi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Deney tablosundan hız denklemi
Belli bir sıcaklıkta 2NO(g) + 2H₂(g) → N₂(g) + 2H₂O(g) tepkimesi için üç deney yapılıyor; sonuçlar çizimde. Hız denklemini ve k'yı bul. Bu tepkime tek basamaklı olabilir mi?
Durum çizimi: Durum: aynı hacimdeki üç kapta tanecik sayıları derişimlerle orantılı çizildi: 0,10 M bir molekül, 0,20 M iki molekül, 0,30 M üç molekül. Her kabın altında ölçülen başlangıç hızı yazılı; üsler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Deney tablosundan hız denklemi
Belli bir sıcaklıkta 2NO(g) + 2H₂(g) → N₂(g) + 2H₂O(g) tepkimesi için üç deney yapılıyor; sonuçlar çizimde. Hız denklemini ve k'yı bul. Bu tepkime tek basamaklı olabilir mi?
Verilenler: ([NO], [H₂] → Hız) Deney 1: 0,10 M, 0,10 M → 4,0·10⁻³ M/s · Deney 2: 0,10 M, 0,20 M → 8,0·10⁻³ M/s · Deney 3: 0,30 M, 0,20 M → 7,2·10⁻² M/s
İstenen: hız denklemindeki üsler x ve y · k · tek basamaklı mı?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Deney tablosundan hız denklemi — çözüm
1. 1 ve 2: [NO] sabit, [H₂] 2 katı, hız 8,0·10⁻³ ÷ 4,0·10⁻³ = 2 katı → 2ʸ = 2, y = 1.
2. 2 ve 3: [H₂] sabit, [NO] 3 katı, hız 7,2·10⁻² ÷ 8,0·10⁻³ = 9 katı → 3ˣ = 9, x = 2.
3. Hız = k·[NO]²·[H₂]; toplam derece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Deney tablosundan hız denklemi — çözüm
4. k = 4,0·10⁻³ ÷ (0,10² · 0,10) = 4,0 M⁻²·s⁻¹. Kontrol (3. deney): 4,0 · 0,30² · 0,20 = 7,2·10⁻² ✓
5. Tek basamaklı olsaydı [H₂]'nin üssü 2 olurdu; girenlerde dört tanecik de var. Tepkime çok basamaklıdır.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İki derişimin birden değiştiği tablo
2NO₂(g) + F₂(g) → 2NO₂F(g) tepkimesinin dört deneyi çizimdeki tabloda. (a) Hız denklemini ve k'yı bul. (b) 4. deneydeki hızı hesapla. (c) Tepkime tek basamaklı olabilir mi?
Durum çizimi: Durum: dört deneyin derişimleri ve başlangıç hızları tabloda. 3. deneyde iki derişim birden değişiyor; 4. deneyin hızı bilinmiyor. Üsler, 4. deneyin hızı ve tepkimenin tek basamaklı olup olamayacağı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İki derişimin birden değiştiği tablo
2NO₂(g) + F₂(g) → 2NO₂F(g) tepkimesinin dört deneyi çizimdeki tabloda. (a) Hız denklemini ve k'yı bul. (b) 4. deneydeki hızı hesapla. (c) Tepkime tek basamaklı olabilir mi?
Verilenler: ([NO₂], [F₂] → Hız) Deney 1: 0,10; 0,10 → 5,0·10⁻⁴ · Deney 2: 0,20; 0,10 → 1,0·10⁻³ · Deney 3: 0,40; 0,05 → 1,0·10⁻³ · Deney 4: 0,30; 0,20 → ?
İstenen: (a) hız denklemi ve k · (b) 4. deneydeki hız · (c) tek basamaklı mı?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İki derişimin birden değiştiği tablo — çözüm
1. 1 ve 2: [F₂] sabit, [NO₂] 2 katı, hız 2 katı → [NO₂]'nin üssü x = 1.
2. 2 ve 3: [NO₂] 2 katı (katkısı 2¹ = 2), [F₂] yarıya, hız değişmedi → 2 · (½)ʸ = 1 → y = 1.
3. Hız = k·[NO₂]·[F₂]; k = 5,0·10⁻⁴ ÷ (0,10 · 0,10) = 0,050 M⁻¹·s⁻¹.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İki derişimin birden değiştiği tablo — çözüm
4. (b) Hız₄ = 0,050 · 0,30 · 0,20 = 3,0·10⁻³ M/s.
5. (c) Tek basamaklı olsaydı Hız = k·[NO₂]²·[F₂] olurdu; ölçülen üs 1 → çok basamaklıdır. Yavaş basamakta bir NO₂ ile bir F₂ çarpışır (“Mekanizmayı ipuçlarından okumak” bölümüne bak).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Üç tepeli enerji grafiği
Üç basamakta yürüyen bir tepkimenin potansiyel enerji grafiği çizimde. (a) Hangi basamak en yavaştır? (b) Tepkimenin ΔH'si nedir, tepkime ekzotermik mi? (c) Kaç ara ürün vardır?
Durum çizimi: Durum: grafikte üç tepe ve iki çukur var; her tepenin ve çukurun enerjisi yanında yazılı. En yüksek tepe 1. basamakta. En yavaş basamak, ΔH ve ara ürün sayısı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Üç tepeli enerji grafiği
Üç basamakta yürüyen bir tepkimenin potansiyel enerji grafiği çizimde. (a) Hangi basamak en yavaştır? (b) Tepkimenin ΔH'si nedir, tepkime ekzotermik mi? (c) Kaç ara ürün vardır?
Verilenler: seviyeler (kJ): girenler 0 · 1. tepe 80 · 1. çukur −20 · 2. tepe 70 · 2. çukur 10 · 3. tepe 40 · ürünler −50
İstenen: (a) en yavaş basamak · (b) ΔH ve tepkimenin türü · (c) ara ürün sayısı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Üç tepeli enerji grafiği — çözüm
1. Her basamağın Ea'sı kendi başlangıç seviyesinden ölçülür: Ea₁ = 80 − 0 = 80 kJ.
2. Ea₂ = 70 − (−20) = 90 kJ; Ea₃ = 40 − 10 = 30 kJ.
3. (a) En büyük Ea 2. basamakta: en yavaş basamak 2. En yüksek tepe 1. basamakta olsa da 2. basamak daha derin bir çukurdan başlar.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Üç tepeli enerji grafiği — çözüm
4. (b) ΔH = −50 − 0 = −50 kJ → ürünler girenlerden aşağıda, tepkime ekzotermik.
5. (c) İki çukur var → iki ara ürün.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Beş tanecikli bir tepkimenin mekanizması
4HBr(g) + O₂(g) → 2H₂O(g) + 2Br₂(g) tepkimesinin deneysel hız denklemi Hız = k·[HBr]·[O₂]'dir. Önerilen mekanizmanın basamakları çizimde. (a) Tepkime tek basamaklı olabilir mi? (b) Hangi basamak yavaştır? (c) Ara ürünler hangileri, 3. basamak kaç kez yürümeli? (d) Kabın hacmi yarıya inerse hız kaç katına çıkar?
Durum çizimi: Durum: net tepkime ve deneysel hız denklemi üstte, önerilen üç basamak kutularda. Hangi basamağın yavaş olduğu, 3. basamağın kaç kez yürüdüğü ve ara ürünler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Beş tanecikli bir tepkimenin mekanizması
4HBr(g) + O₂(g) → 2H₂O(g) + 2Br₂(g) tepkimesinin deneysel hız denklemi Hız = k·[HBr]·[O₂]'dir. Önerilen mekanizmanın basamakları çizimde. (a) Tepkime tek basamaklı olabilir mi? (b) Hangi basamak yavaştır? (c) Ara ürünler hangileri, 3. basamak kaç kez yürümeli? (d) Kabın hacmi yarıya inerse hız kaç katına çıkar?
Verilenler: net denklem · deneysel Hız = k·[HBr]·[O₂] · basamaklar: HBr + O₂ → HOOBr; HOOBr + HBr → 2HOBr; HOBr + HBr → H₂O + Br₂
İstenen: (a) tek basamaklı mı · (b) yavaş basamak · (c) ara ürünler ve 3. basamağın sayısı · (d) hız çarpanı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Beş tanecikli bir tepkimenin mekanizması — çözüm
1. (a) Girenlerde 4 + 1 = 5 tanecik var; beş taneciğin aynı anda çarpışması olanaksızdır. Üsler de katsayılara uymuyor → çok basamaklı.
2. (b) Yavaş basamağın girenleri, hız denklemindekilerle aynıdır: bir HBr ve bir O₂ → 1. basamak.
3. (c) HOOBr 1. basamakta oluşup 2.'de, HOBr 2.'de oluşup 3.'de harcanır: ikisi de ara üründür.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Beş tanecikli bir tepkimenin mekanizması — çözüm
4. 2. basamak 2 HOBr verir; ikisinin de harcanması için 3. basamak 2 kez yürür. Toplam: 4HBr + O₂ → 2H₂O + 2Br₂ ✓
5. (d) Hacim yarıya → [HBr] ve [O₂] ikişer katı → hız 2 · 2 = 4 katına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Tek basamakta gerçekleşen NO(g) + NO₃(g) → 2NO₂(g) tepkimesinin hız denklemi ve toplam derecesi nedir?
Öğrencilere 2–3 dakika verin; sonra cevap slaytını açın.
Cevap: Cevap: Tek basamaklı olduğu için üsler katsayılardır: Hız = k·[NO]·[NO₃]; toplam derece 1 + 1 = 2. Ürün NO₂ yazılmaz.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Tek basamaklı olduğu için üsler katsayılardır: Hız = k·[NO]·[NO₃]; toplam derece 1 + 1 = 2. Ürün NO₂ yazılmaz.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Hız denklemi Hız = k·[X]²·[Y] olan bir tepkimede [X] yarıya indirilirse hız kaç katına çıkar?
Öğrencilere 2–3 dakika verin; sonra cevap slaytını açın.
Cevap: Cevap: X'in katkısı (½)² = ¼; Y değişmedi. Hız dörtte birine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X'in katkısı (½)² = ¼; Y değişmedi. Hız dörtte birine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Hız denklemi Hız = k·[A]·[B]² olan bir tepkimede k'nın birimi nedir?
Öğrencilere 2–3 dakika verin; sonra cevap slaytını açın.
Cevap: Cevap: Toplam derece 1 + 2 = 3 → k'nın birimi M¹⁻³·s⁻¹ = M⁻²·s⁻¹, yani L²/(mol²·s). Kontrol: k·M³ = M⁻²·s⁻¹·M³ = 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Toplam derece 1 + 2 = 3 → k'nın birimi M¹⁻³·s⁻¹ = M⁻²·s⁻¹, yani L²/(mol²·s). Kontrol: k·M³ = M⁻²·s⁻¹·M³ = 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Tek basamaklı 2X(g) + Y(k) → X₂Y(g) tepkimesinde kabın hacmi üç katına çıkarılırsa hız kaç katına çıkar?
Öğrencilere 2–3 dakika verin; sonra cevap slaytını açın.
Cevap: Cevap: Y katı, yazılmaz: Hız = k·[X]². Hacim 3 katına çıkınca [X] üçte birine iner; hız (⅓)² = 1/9'una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Y katı, yazılmaz: Hız = k·[X]². Hacim 3 katına çıkınca [X] üçte birine iner; hız (⅓)² = 1/9'una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Basamakları A₂ + K → A₂K (yavaş) ve A₂K + B → A₂B + K (hızlı) olan tepkimenin net denklemi, hız denklemi, katalizörü ve ara ürünü nedir?
Öğrencilere 2–3 dakika verin; sonra cevap slaytını açın.
Cevap: Cevap: Toplayınca A₂K ve K sadeleşir: net denklem A₂ + B → A₂B. Hız yavaş basamaktan: Hız = k·[A₂]·[K]. K önce harcanıp sonra geri oluştuğu için katalizör, A₂K önce oluşup sonra harcandığı için ara üründür.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Toplayınca A₂K ve K sadeleşir: net denklem A₂ + B → A₂B. Hız yavaş basamaktan: Hız = k·[A₂]·[K]. K önce harcanıp sonra geri oluştuğu için katalizör, A₂K önce oluşup sonra harcandığı için ara üründür.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“Üsler her zaman denklemdeki katsayılardır.” Yalnız tek basamaklı tepkimede öyledir. Genel olarak üsler deneyle bulunur; iyot saatinde I⁻'nin katsayısı 2, üssü 1'dir.
• Katıları ve saf sıvıları hız denklemine yazmak. Derişimleri sabittir; hız denkleminde yalnız gazlar ve çözeltideki maddeler yer alır.
• “Derişim artınca k da artar.” k derişimle ve hacimle değişmez; sıcaklık, katalizör ve temas yüzeyiyle değişir. Birimi de her tepkimede aynı değildir: M¹⁻ⁿ·s⁻¹.
• “Hacim yarıya inince hız iki katına çıkar.” Hacim yarıya inince bütün gazların derişimi iki katına çıkar; hız 2ⁿ katına çıkar (n: gazların toplam derecesi).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“Sıfırıncı dereceden tepkimenin hızı sıfırdır.” Sıfırıncı derece, hızın derişime bağlı olmadığını söyler: Hız = k, sabit ve sıfırdan büyük bir değerdir.
• Çok basamaklı tepkimede hız denklemini net denklemden yazmak. Hız denklemi en yavaş basamağın girenlerinden yazılır.
• En yüksek tepeyi her zaman yavaş basamak sanmak. Her basamağın Ea'sı kendi başlangıç seviyesinden ölçülür; Ea'sı en büyük olan basamak en yavaştır.
• Ara ürünle katalizörü karıştırmak. Ara ürün önce oluşur, sonra harcanır; katalizör önce harcanır, sonra geri oluşur. İkisi de net denklemde görünmez.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Hız = k·[X]ᵃ·[Y]ᵇ · Derece = a + b · Katı ve saf sıvı yazılmaz · En yavaş basamak belirler
Hız = k·[X]ᵃ·[Y]ᵇ — hız denklemi
derece = a + b — tepkime derecesi
[X] 2 katı → hız 2ᵃ katı — derişimin etkisi
k'nın birimi: M¹⁻ⁿ·s⁻¹ — n: derece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1.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pn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1d623a45-0112-427a-9abb-0c648368bda2/scratchpad/sunum/sekiller/hiz-denklemi-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kimya</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KİMYASAL TEPKİMELERDE HIZ · KONU 05</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Hız denklemi</a:t>
            </a:r>
            <a:endParaRPr lang="en-US" sz="46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Hız denklemi tepkime hızının derişimlere nasıl bağlı olduğunu söyler: Hız = k·[X]ᵃ·[Y]ᵇ. Üsler deneyle bulunur; tek basamaklı tepkimede katsayılara eşittir, çok basamaklı tepkimede hızı en yavaş basamak belirler.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dersler.perinet.org/hiz-denklemi.html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Bir maddenin derişimini iki katına çıkarırsan tepkime de iki kat mı hızlanır?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Bazen evet.</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Bazen dört kat hızlanır, bazen hiç değişmez.</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Hangisinin olacağını tepkimenin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hız denklemi</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söyler.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Birçok tepkime de tek hamlede değil, art arda birkaç adımda yürür.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Dağ yolunda yavaş bir kamyonun arkasına dizilen arabalar gibi, bütünün hızını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en yavaş adım</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belirler.</a:t>
            </a:r>
            <a:endParaRPr lang="en-US" sz="22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Calibri" pitchFamily="34" charset="0"/>
                <a:ea typeface="Calibri" pitchFamily="34" charset="-122"/>
                <a:cs typeface="Calibri" pitchFamily="34" charset="-120"/>
              </a:rPr>
              <a:t>Önce sezgi: hızın derişime nasıl bağlı olduğunu gözle, hız denklemini okumayı öğren, tek basamaklı tepkimede nasıl yazıldığını ve katıların neden yazılmadığını kavra.</a:t>
            </a:r>
            <a:endParaRPr lang="en-US" sz="95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Önce gözlemle: iyot saati ve tek şeritli yokuş</a:t>
            </a:r>
            <a:endParaRPr lang="en-US" sz="115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Hız denklemi nedir?</a:t>
            </a:r>
            <a:endParaRPr lang="en-US" sz="125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Tek basamaklı tepkimelerde hız denklemi</a:t>
            </a:r>
            <a:endParaRPr lang="en-US" sz="12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Katı ve saf sıvılar yazılmaz</a:t>
            </a:r>
            <a:endParaRPr lang="en-US" sz="12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Bağıntılar: tepkime derecesini tanı, derişim ve hacim değişince hızın kaç katına çıktığını hesapla, k'nın birimini bul ve sayılarla dene.</a:t>
            </a:r>
            <a:endParaRPr lang="en-US" sz="100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Tepkime derecesi (mertebe)</a:t>
            </a:r>
            <a:endParaRPr lang="en-US" sz="1250" dirty="0"/>
          </a:p>
        </p:txBody>
      </p:sp>
      <p:sp>
        <p:nvSpPr>
          <p:cNvPr id="30" name="Text 28"/>
          <p:cNvSpPr txBox="1"/>
          <p:nvPr/>
        </p:nvSpPr>
        <p:spPr>
          <a:xfrm>
            <a:off x="3637712" y="4072738"/>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072738"/>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Derişim değişince hız kaç katına çıkar?</a:t>
            </a:r>
            <a:endParaRPr lang="en-US" sz="1250" dirty="0"/>
          </a:p>
        </p:txBody>
      </p:sp>
      <p:sp>
        <p:nvSpPr>
          <p:cNvPr id="32" name="Text 30"/>
          <p:cNvSpPr txBox="1"/>
          <p:nvPr/>
        </p:nvSpPr>
        <p:spPr>
          <a:xfrm>
            <a:off x="3637712" y="4579315"/>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579315"/>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Hacim ve basınç değişimi</a:t>
            </a:r>
            <a:endParaRPr lang="en-US" sz="1250" dirty="0"/>
          </a:p>
        </p:txBody>
      </p:sp>
      <p:sp>
        <p:nvSpPr>
          <p:cNvPr id="34" name="Text 32"/>
          <p:cNvSpPr txBox="1"/>
          <p:nvPr/>
        </p:nvSpPr>
        <p:spPr>
          <a:xfrm>
            <a:off x="3637712" y="5085893"/>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085893"/>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Hız sabiti k ve birimi</a:t>
            </a:r>
            <a:endParaRPr lang="en-US" sz="1250" dirty="0"/>
          </a:p>
        </p:txBody>
      </p:sp>
      <p:sp>
        <p:nvSpPr>
          <p:cNvPr id="36" name="Text 34"/>
          <p:cNvSpPr txBox="1"/>
          <p:nvPr/>
        </p:nvSpPr>
        <p:spPr>
          <a:xfrm>
            <a:off x="3637712" y="559247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09</a:t>
            </a:r>
            <a:endParaRPr lang="en-US" sz="1100" dirty="0"/>
          </a:p>
        </p:txBody>
      </p:sp>
      <p:sp>
        <p:nvSpPr>
          <p:cNvPr id="37" name="Text 35"/>
          <p:cNvSpPr txBox="1"/>
          <p:nvPr/>
        </p:nvSpPr>
        <p:spPr>
          <a:xfrm>
            <a:off x="4021760" y="559247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Sayılarla hisset: hız ne kadar değişir?</a:t>
            </a:r>
            <a:endParaRPr lang="en-US" sz="1250" dirty="0"/>
          </a:p>
        </p:txBody>
      </p:sp>
      <p:sp>
        <p:nvSpPr>
          <p:cNvPr id="38" name="Shape 36"/>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9" name="Shape 37"/>
          <p:cNvSpPr/>
          <p:nvPr/>
        </p:nvSpPr>
        <p:spPr>
          <a:xfrm>
            <a:off x="6379312" y="1645920"/>
            <a:ext cx="2211248" cy="64008"/>
          </a:xfrm>
          <a:prstGeom prst="rect">
            <a:avLst/>
          </a:prstGeom>
          <a:solidFill>
            <a:srgbClr val="5F4BD8"/>
          </a:solidFill>
          <a:ln/>
        </p:spPr>
      </p:sp>
      <p:sp>
        <p:nvSpPr>
          <p:cNvPr id="40" name="Shape 38"/>
          <p:cNvSpPr/>
          <p:nvPr/>
        </p:nvSpPr>
        <p:spPr>
          <a:xfrm>
            <a:off x="6415888" y="1920240"/>
            <a:ext cx="420624" cy="420624"/>
          </a:xfrm>
          <a:prstGeom prst="roundRect">
            <a:avLst>
              <a:gd name="adj" fmla="val 26000"/>
            </a:avLst>
          </a:prstGeom>
          <a:solidFill>
            <a:srgbClr val="5F4BD8"/>
          </a:solidFill>
          <a:ln/>
        </p:spPr>
      </p:sp>
      <p:sp>
        <p:nvSpPr>
          <p:cNvPr id="41" name="Text 39"/>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3" name="Text 41"/>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Derinleş: hız denklemini deney tablosundan bul, çok basamaklı tepkimelerde yavaş basamağı, ara ürünü ve katalizörü tanı, hız denklemini gerçek dünyada gör.</a:t>
            </a:r>
            <a:endParaRPr lang="en-US" sz="1000" dirty="0"/>
          </a:p>
        </p:txBody>
      </p:sp>
      <p:sp>
        <p:nvSpPr>
          <p:cNvPr id="44" name="Shape 42"/>
          <p:cNvSpPr/>
          <p:nvPr/>
        </p:nvSpPr>
        <p:spPr>
          <a:xfrm>
            <a:off x="6415888" y="3429000"/>
            <a:ext cx="2138096" cy="0"/>
          </a:xfrm>
          <a:prstGeom prst="line">
            <a:avLst/>
          </a:prstGeom>
          <a:noFill/>
          <a:ln w="9525">
            <a:solidFill>
              <a:srgbClr val="E1E5EE"/>
            </a:solidFill>
            <a:prstDash val="dash"/>
          </a:ln>
        </p:spPr>
      </p:sp>
      <p:sp>
        <p:nvSpPr>
          <p:cNvPr id="45" name="Text 43"/>
          <p:cNvSpPr txBox="1"/>
          <p:nvPr/>
        </p:nvSpPr>
        <p:spPr>
          <a:xfrm>
            <a:off x="6415888" y="3566160"/>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Hız denklemini deneyle bulmak</a:t>
            </a:r>
            <a:endParaRPr lang="en-US" sz="1250" dirty="0"/>
          </a:p>
        </p:txBody>
      </p:sp>
      <p:sp>
        <p:nvSpPr>
          <p:cNvPr id="47" name="Text 45"/>
          <p:cNvSpPr txBox="1"/>
          <p:nvPr/>
        </p:nvSpPr>
        <p:spPr>
          <a:xfrm>
            <a:off x="6415888" y="4199382"/>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199382"/>
            <a:ext cx="1754048" cy="578358"/>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Çok basamaklı tepkimeler ve yavaş basamak</a:t>
            </a:r>
            <a:endParaRPr lang="en-US" sz="1200" dirty="0"/>
          </a:p>
        </p:txBody>
      </p:sp>
      <p:sp>
        <p:nvSpPr>
          <p:cNvPr id="49" name="Text 47"/>
          <p:cNvSpPr txBox="1"/>
          <p:nvPr/>
        </p:nvSpPr>
        <p:spPr>
          <a:xfrm>
            <a:off x="6415888" y="4832604"/>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Mekanizmayı ipuçlarından okumak</a:t>
            </a:r>
            <a:endParaRPr lang="en-US" sz="1250" dirty="0"/>
          </a:p>
        </p:txBody>
      </p:sp>
      <p:sp>
        <p:nvSpPr>
          <p:cNvPr id="51" name="Text 49"/>
          <p:cNvSpPr txBox="1"/>
          <p:nvPr/>
        </p:nvSpPr>
        <p:spPr>
          <a:xfrm>
            <a:off x="6415888" y="5465826"/>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13</a:t>
            </a:r>
            <a:endParaRPr lang="en-US" sz="1100" dirty="0"/>
          </a:p>
        </p:txBody>
      </p:sp>
      <p:sp>
        <p:nvSpPr>
          <p:cNvPr id="52" name="Text 50"/>
          <p:cNvSpPr txBox="1"/>
          <p:nvPr/>
        </p:nvSpPr>
        <p:spPr>
          <a:xfrm>
            <a:off x="6799936"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Hız denklemi gerçek dünyada</a:t>
            </a:r>
            <a:endParaRPr lang="en-US" sz="1250" dirty="0"/>
          </a:p>
        </p:txBody>
      </p:sp>
      <p:sp>
        <p:nvSpPr>
          <p:cNvPr id="53" name="Shape 51"/>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4" name="Shape 52"/>
          <p:cNvSpPr/>
          <p:nvPr/>
        </p:nvSpPr>
        <p:spPr>
          <a:xfrm>
            <a:off x="9157487" y="1645920"/>
            <a:ext cx="2211248" cy="64008"/>
          </a:xfrm>
          <a:prstGeom prst="rect">
            <a:avLst/>
          </a:prstGeom>
          <a:solidFill>
            <a:srgbClr val="A56209"/>
          </a:solidFill>
          <a:ln/>
        </p:spPr>
      </p:sp>
      <p:sp>
        <p:nvSpPr>
          <p:cNvPr id="55" name="Shape 53"/>
          <p:cNvSpPr/>
          <p:nvPr/>
        </p:nvSpPr>
        <p:spPr>
          <a:xfrm>
            <a:off x="9194063" y="1920240"/>
            <a:ext cx="420624" cy="420624"/>
          </a:xfrm>
          <a:prstGeom prst="roundRect">
            <a:avLst>
              <a:gd name="adj" fmla="val 26000"/>
            </a:avLst>
          </a:prstGeom>
          <a:solidFill>
            <a:srgbClr val="A56209"/>
          </a:solidFill>
          <a:ln/>
        </p:spPr>
      </p:sp>
      <p:sp>
        <p:nvSpPr>
          <p:cNvPr id="56" name="Text 54"/>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7" name="Text 55"/>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8" name="Text 56"/>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Sıra sende soruları ve hız denklemi sorularında puan kaybettiren klasik hatalar.</a:t>
            </a:r>
            <a:endParaRPr lang="en-US" sz="1150" dirty="0"/>
          </a:p>
        </p:txBody>
      </p:sp>
      <p:sp>
        <p:nvSpPr>
          <p:cNvPr id="59" name="Shape 57"/>
          <p:cNvSpPr/>
          <p:nvPr/>
        </p:nvSpPr>
        <p:spPr>
          <a:xfrm>
            <a:off x="9194063" y="3429000"/>
            <a:ext cx="2138096" cy="0"/>
          </a:xfrm>
          <a:prstGeom prst="line">
            <a:avLst/>
          </a:prstGeom>
          <a:noFill/>
          <a:ln w="9525">
            <a:solidFill>
              <a:srgbClr val="E1E5EE"/>
            </a:solidFill>
            <a:prstDash val="dash"/>
          </a:ln>
        </p:spPr>
      </p:sp>
      <p:sp>
        <p:nvSpPr>
          <p:cNvPr id="60" name="Text 58"/>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2" name="Text 60"/>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15</a:t>
            </a:r>
            <a:endParaRPr lang="en-US" sz="1100" dirty="0"/>
          </a:p>
        </p:txBody>
      </p:sp>
      <p:sp>
        <p:nvSpPr>
          <p:cNvPr id="63" name="Text 61"/>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4" name="Shape 62"/>
          <p:cNvSpPr/>
          <p:nvPr/>
        </p:nvSpPr>
        <p:spPr>
          <a:xfrm>
            <a:off x="640080" y="6382512"/>
            <a:ext cx="128016" cy="128016"/>
          </a:xfrm>
          <a:prstGeom prst="roundRect">
            <a:avLst>
              <a:gd name="adj" fmla="val 28571"/>
            </a:avLst>
          </a:prstGeom>
          <a:solidFill>
            <a:srgbClr val="A9E648"/>
          </a:solidFill>
          <a:ln/>
        </p:spPr>
      </p:sp>
      <p:sp>
        <p:nvSpPr>
          <p:cNvPr id="65" name="Text 6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66" name="Text 6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Derişim:</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1 litrede kaç mol madde olduğu. [X] diye yazılır, birimi mol/L, kısaca M. 2 L'de 0,4 mol X varsa [X] = 0,2 M.</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Tepkime hızı:</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saniyede derişimin ne kadar değiştiği. Birimi M/s, yani mol/(L·s).</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Etkin çarpışma:</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ürün veren çarpışma. Tanecikler yeterli enerjiyle ve uygun yönelimle çarpışmalıdır.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Aktifleşme enerjisi (Ea):</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tepkimenin aşması gereken enerji tepesi. Tepe yüksekse tepkime yavaştır.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Katalizör:</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tepkimeyi hızlandıran ve tepkime bitince harcanmadan geri kalan madde.</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Üs (kuvvet):</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sayının kaç kez çarpan olarak yazıldığı: 2² = 2·2 = 4, 2³ = 2·2·2 = 8. Her sayının 1. kuvveti kendisi, 0. kuvveti 1'dir.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300" dirty="0">
                <a:solidFill>
                  <a:srgbClr val="C3CEE8"/>
                </a:solidFill>
                <a:latin typeface="Calibri" pitchFamily="34" charset="0"/>
                <a:ea typeface="Calibri" pitchFamily="34" charset="-122"/>
                <a:cs typeface="Calibri" pitchFamily="34" charset="-120"/>
              </a:rPr>
              <a:t>Önce sezgi: hızın derişime nasıl bağlı olduğunu gözle, hız denklemini okumayı öğren, tek basamaklı tepkimede nasıl yazıldığını ve katıların neden yazılmadığını kavra.</a:t>
            </a:r>
            <a:endParaRPr lang="en-US" sz="13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iyot saati ve tek şeritli yokuş</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Hız denklemi nedir?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Tek basamaklı tepkimelerde hız denklemi</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Katı ve saf sıvılar yazılmaz</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hiz-denklemi-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Kamyonun arkasındaki kuyruk.</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Kıvrımlı dağ yolunda geçiş yapılamadığı için arkadaki arabaların hepsi öndeki yük kamyonunun hızıyla ilerler; arabaların motoru ne kadar güçlü olursa olsun bu değişmez. Birçok tepkime de böyle art arda birkaç basamakta yürür ve bütün tepkimenin hızını en yavaş basamak belirler. Bu fikre üçüncü basamakta ayrıntılı döneceğiz.</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dersler.perinet.org/hiz-denklemi.html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Önce gözlemle: iyot saati ve tek şeritli yokuş</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Kimya laboratuvarının sevilen gösterilerinden biri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iyot saati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renksiz çözelti karıştırılır; karışım bir süre su gibi berrak kalır, sonra bir anda koyu laciverde döner.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Renk ne kadar erken dönerse tepkime o kadar hızlıdır.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karışımı birkaç beherde hazırlayıp yalnızca iyodür miktarını değiştirirsen şunları gözlersin: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Önce gözlemle: iyot saati ve tek şeritli yokuş</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94208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Derişik olan önce döner: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iyodürü bol olan beherde renk daha erken gelir.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İki kat iyodür, yarı süre: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iyodür iki katına çıkınca renk yaklaşık yarı sürede döner; tepkime iki kat hızlanmıştır.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Seyreltmek yavaşlatır: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karışıma su eklersen bütün derişimler düşer, renk geç döner.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Her madde aynı etkiyi yapmaz: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başka tepkimelerde bir maddeyi iki katına çıkarmak hızı dört katına çıkarabilir ya da hiç değiştirmeyebilir.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Önce gözlemle: iyot saati ve tek şeritli yokuş</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kuyruk ikinci bir gözlemdir: hızı bazen bütün adımlar değil,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en yavaş adım</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belirler.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Konunun iki sorusu böylece ortaya çıkıyor: hız derişime nasıl bağlı ve birkaç adımlı bir tepkimede hızı hangi adım belirliyor?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Önce gözlemle: iyot saati ve tek şeritli yokuş</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373315" y="1234440"/>
            <a:ext cx="7445065"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denklemi-01.png">    </p:cNvPr>
          <p:cNvPicPr>
            <a:picLocks noChangeAspect="1"/>
          </p:cNvPicPr>
          <p:nvPr/>
        </p:nvPicPr>
        <p:blipFill>
          <a:blip r:embed="rId1"/>
          <a:stretch>
            <a:fillRect/>
          </a:stretch>
        </p:blipFill>
        <p:spPr>
          <a:xfrm>
            <a:off x="2601915" y="1325880"/>
            <a:ext cx="6987865"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Üç beherde iyot saati karışımı var; yalnız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iyodür derişimi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farklı (mor tanecikler). İyodür iki katına çıkınca renk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yarı sürede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dönüyor: 40 s → 20 s → 10 s. Süre yarıya indiyse tepkime iki kat hızlanmıştır. Diğer maddelerin miktarı ve sıcaklık üç beherde de aynı.</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Önce gözlemle: iyot saati ve tek şeritli yokuş</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Tepkime hızı girenlerin derişimine bağlıdır, ama her tepkimede aynı ölçüde değil. Birkaç adımda yürüyen tepkimelerde bütünün hızını, kuyruktaki kamyon gibi, en yavaş adım belirler.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Kuyruktaki arabalardan birinin motoru daha güçlü olsa kuyruk daha hızlı ilerler mi?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iyot saati ve tek şeritli yokuş</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Kuyruktaki arabalardan birinin motoru daha güçlü olsa kuyruk daha hızlı ilerler mi?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Kuyruğun hızı öndeki kamyonun hızıdır; arkadaki arabanın gücü ancak kamyon yoldan çekilince işe yarar. Birkaç basamaklı tepkimede de hızlı basamakları daha da hızlandırmak bütün tepkimeyi hızlandırmaz. İşe yarayan, en yavaş basamağı hızlandırmaktır.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 hızının girenlerin derişimine nasıl bağlı olduğunu tek satırda yazan eşitliğe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hız denklemi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(hız bağıntısı)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X ve Y'nin tepkimesi için genel biçimi şudur:</a:t>
            </a:r>
            <a:endParaRPr lang="en-US" sz="2200" dirty="0"/>
          </a:p>
        </p:txBody>
      </p:sp>
      <p:sp>
        <p:nvSpPr>
          <p:cNvPr id="7" name="Shape 5"/>
          <p:cNvSpPr/>
          <p:nvPr/>
        </p:nvSpPr>
        <p:spPr>
          <a:xfrm>
            <a:off x="640080" y="2866644"/>
            <a:ext cx="3467405"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346740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Hız = k · [X]ᵃ · [Y]ᵇ</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4963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Köşeli parantez “derişimi” demektir: [X], X'in mol/L cinsinden derişimidir.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hız sabitidir; derişimlerle hızı birbirine bağlayan sayıdır ve belli bir sıcaklıkta her tepkimenin kendi k'si vardır.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ve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üslerdir: hızın o maddeye ne kadar duyarlı olduğunu söylerler.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Üs 1 ise derişim iki katına çıkınca hız da iki katına çıkar; üs 2 ise dört katına çıkar; üs 0 ise o madde hızı hiç etkilemez.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Shape 4"/>
          <p:cNvSpPr/>
          <p:nvPr/>
        </p:nvSpPr>
        <p:spPr>
          <a:xfrm>
            <a:off x="1940504" y="1234440"/>
            <a:ext cx="831068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denklemi-02.png">    </p:cNvPr>
          <p:cNvPicPr>
            <a:picLocks noChangeAspect="1"/>
          </p:cNvPicPr>
          <p:nvPr/>
        </p:nvPicPr>
        <p:blipFill>
          <a:blip r:embed="rId1"/>
          <a:stretch>
            <a:fillRect/>
          </a:stretch>
        </p:blipFill>
        <p:spPr>
          <a:xfrm>
            <a:off x="2169104" y="1325880"/>
            <a:ext cx="785348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Hız denkleminin her parçasının bir görevi var.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tepkimeye ve sıcaklığa özgü bir sayıdır.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[X]</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 andaki derişimlerdir; deney sırasında değişebilirler.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ise tepkimenin “karakteri”dir: derişimler değişse de aynı kalır ve deneyle bulunur.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Genel olarak üsler katsayılardan okunamaz,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deneyle bulunur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yalnız tek basamaklı tepkimede katsayılara eşittir (sıradaki bölüm).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İyot saatindeki tepkimede iki iyodür iyonu harcanır: H₂O₂(suda) + 2I⁻(suda) + 2H⁺(suda) → I₂(suda) + 2H₂O(s).</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Ama asitlik sabit tutulduğunda ölçülen hız denklemi Hız = k·[H₂O₂]·[I⁻]'dir; iyodürün üssü 2 değil 1'dir.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kat iyodür, yarı süre” gözlemi buradan gelir.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Hız denklemi Hız = k·[X]ᵃ·[Y]ᵇ, hızın derişimlere nasıl bağlı olduğunu söyler. k hız sabitidir; a ve b üsleri hızın her maddeye ne kadar duyarlı olduğunu gösterir ve deneyle bulunur.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Tek basamaklı tepkimelerde hız denklemi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29362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Bazı tepkimeler tek bir çarpışmayla, tek hamlede biter.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Bunlara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tek basamaklı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tepkime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Böyle bir tepkimede hız, birim zamandaki etkin çarpışma sayısıyla orantılıdır.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Çarpışma sayısını da derişimler belirler.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Tek basamaklı tepkimelerde hız denklemi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kapta X ve Y tanecikleri olsun.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X her Y ile çarpışabilir.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X sayısı iki katına çıkınca olası X–Y çiftleri de iki katına çıkar; Y'yi de iki katına çıkarırsan dört katına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Yani çarpışma sayısı [X]·[Y] ile orantılıdır.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çarpışmaya aynı türden iki tanecik katılıyorsa o derişim iki kez çarpılır: [X]·[X] = [X]².</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Tek basamaklı tepkimelerde hız denklemi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Shape 4"/>
          <p:cNvSpPr/>
          <p:nvPr/>
        </p:nvSpPr>
        <p:spPr>
          <a:xfrm>
            <a:off x="2480066" y="1234440"/>
            <a:ext cx="723156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denklemi-03.png">    </p:cNvPr>
          <p:cNvPicPr>
            <a:picLocks noChangeAspect="1"/>
          </p:cNvPicPr>
          <p:nvPr/>
        </p:nvPicPr>
        <p:blipFill>
          <a:blip r:embed="rId1"/>
          <a:stretch>
            <a:fillRect/>
          </a:stretch>
        </p:blipFill>
        <p:spPr>
          <a:xfrm>
            <a:off x="2708666" y="1325880"/>
            <a:ext cx="677436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Kesikli çizgiler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olası çarpışmaları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gösteriyor: her X her Y ile çarpışabilir. Soldaki kapta 2 · 2 = 4 çift var. Sağda X iki katına çıkınca çift sayısı 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 katına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(8) çıkıyor. Tek basamaklı tepkimede hızın derişimlerin çarpımıyla orantılı olması buradan gelir.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Tek basamaklı tepkimelerde hız denklemi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tek basamaklı bir tepkimede hız denkleminin üsleri, girenlerin denklemdeki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katsayılarıdır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Ürünler hız denklemine girmez; hız, girenlerin çarpışmasıyla ilgilidir.</a:t>
            </a:r>
            <a:endParaRPr lang="en-US" sz="2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2866644"/>
          <a:ext cx="10911535" cy="914400"/>
        </p:xfrm>
        <a:graphic>
          <a:graphicData uri="http://schemas.openxmlformats.org/drawingml/2006/table">
            <a:tbl>
              <a:tblPr/>
              <a:tblGrid>
                <a:gridCol w="7155105"/>
                <a:gridCol w="3756430"/>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Tek basamaklı tepkime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Hız denklemi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NO(g) + O₃(g) → NO₂(g) + O₂(g)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Hız = k·[NO]·[O₃]</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2NO(g) + O₂(g) → 2NO₂(g)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Hız = k·[NO]²·[O₂]</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CH₃Br(suda) + OH⁻(suda) → CH₃OH(suda) + Br⁻(suda)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Hız = k·[CH₃Br]·[OH⁻]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9" name="Shape 5"/>
          <p:cNvSpPr/>
          <p:nvPr/>
        </p:nvSpPr>
        <p:spPr>
          <a:xfrm>
            <a:off x="640080" y="6382512"/>
            <a:ext cx="128016" cy="128016"/>
          </a:xfrm>
          <a:prstGeom prst="roundRect">
            <a:avLst>
              <a:gd name="adj" fmla="val 28571"/>
            </a:avLst>
          </a:prstGeom>
          <a:solidFill>
            <a:srgbClr val="A9E648"/>
          </a:solidFill>
          <a:ln/>
        </p:spPr>
      </p:sp>
      <p:sp>
        <p:nvSpPr>
          <p:cNvPr id="10"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1"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Tek basamaklı tepkimelerde hız denklemi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Tek basamaklı tepkimede hız çarpışma sayısıyla orantılıdır. Bu yüzden hız denklemindeki üsler, girenlerin denklemdeki katsayılarıdır; ürünler yazılmaz.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2NO + O₂ → 2NO₂ tepkimesinde NO'nun üssü neden 2'dir?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Tek basamaklı tepkimelerde hız denklemi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2NO + O₂ → 2NO₂ tepkimesinde NO'nun üssü neden 2'dir?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Çünkü tek çarpışmada iki NO molekülü ve bir O₂ molekülü aynı anda buluşmalıdır. Bir NO bulma şansı [NO] ile, ikinci bir NO bulma şansı yine [NO] ile orantılıdır. İkisi çarpılınca [NO]² olur.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Katı ve saf sıvılar yazılmaz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 denkleminde yalnızca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gazlar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 ve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çözeltideki maddeler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(suda) yer alır; katılar (k) ve saf sıvılar (s) yazılmaz.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Nedeni derişimleridir.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gazın derişimi, gazın miktarına ve kabın hacmine göre değişir.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katının “derişimi” ise kendi içindeki tanecik sıklığıdır: kömür parçasını büyüt ya da küçült, atomları aynı sıklıkta dizilidir.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Katı ve saf sıvılar yazılmaz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29362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Saf sıvı da öyledir.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 L su yaklaşık 1000 g'dır, yani 1000 ÷ 18 ≈ 55,6 mol.</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bardakta da bir kovada da [H₂O] ≈ 55,6 M'dir.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Hiç değişmeyen bir sayı k'nın içine katılır ve denklemde ayrıca yazılmaz.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Katı ve saf sıvılar yazılmaz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Shape 4"/>
          <p:cNvSpPr/>
          <p:nvPr/>
        </p:nvSpPr>
        <p:spPr>
          <a:xfrm>
            <a:off x="2090337" y="1234440"/>
            <a:ext cx="8011021" cy="4117086"/>
          </a:xfrm>
          <a:prstGeom prst="roundRect">
            <a:avLst>
              <a:gd name="adj" fmla="val 355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denklemi-04.png">    </p:cNvPr>
          <p:cNvPicPr>
            <a:picLocks noChangeAspect="1"/>
          </p:cNvPicPr>
          <p:nvPr/>
        </p:nvPicPr>
        <p:blipFill>
          <a:blip r:embed="rId1"/>
          <a:stretch>
            <a:fillRect/>
          </a:stretch>
        </p:blipFill>
        <p:spPr>
          <a:xfrm>
            <a:off x="2318937" y="1325880"/>
            <a:ext cx="7553821" cy="3934206"/>
          </a:xfrm>
          <a:prstGeom prst="rect">
            <a:avLst/>
          </a:prstGeom>
        </p:spPr>
      </p:pic>
      <p:sp>
        <p:nvSpPr>
          <p:cNvPr id="8" name="Text 5"/>
          <p:cNvSpPr txBox="1"/>
          <p:nvPr/>
        </p:nvSpPr>
        <p:spPr>
          <a:xfrm>
            <a:off x="1249528" y="5534406"/>
            <a:ext cx="9692640" cy="610362"/>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Küçük ve büyük kömür parçasında karbon atomları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sıklıkta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dizili; bir bardak ve bir kova suda da suyun derişimi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yaklaşık 55,6 M. Miktar değişince değişmeyen bu “derişimler” hız denkleminde yazılmaz.</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Katı ve saf sıvılar yazılmaz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Kömürün yanmasını tek basamaklı kabul edersek C(k) + O₂(g) → CO₂(g) için Hız = k·[O₂] yazılır.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Girenlerin hepsi katıysa (termit karışımı gibi) hız denklemi Hız = k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katının hiç etkisi yok demek değildir: katı yalnız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yüzeyinden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tepkir.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Onu toz hâline getirmek hızı artırır; bu etki k'nın büyümesi olarak düşünülür (Konu 04, temas yüzeyi).</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Katı ve saf sıvılar yazılmaz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Katıların ve saf sıvıların derişimi sabittir; bu yüzden hız denkleminde yazılmazlar. Yalnız gazlar ve çözeltideki maddeler yazılır. Katının yüzeyi büyürse k büyür.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Mangaldaki köze üflemek neden ateşi canlandırır?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Katı ve saf sıvılar yazılmaz</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Mangaldaki köze üflemek neden ateşi canlandırır?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Üflemek kömürün yüzeyine taze hava, yani daha çok O₂ getirir. Hız = k·[O₂] olduğu için [O₂] artınca hız da artar. Kömürün kendisi hız denkleminde yoktur, ama oksijen vardır.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tepkime derecesini tanı, derişim ve hacim değişince hızın kaç katına çıktığını hesapla, k'nın birimini bul ve sayılarla dene.</a:t>
            </a:r>
            <a:endParaRPr lang="en-US" sz="1600" dirty="0"/>
          </a:p>
        </p:txBody>
      </p:sp>
      <p:sp>
        <p:nvSpPr>
          <p:cNvPr id="6" name="Text 4"/>
          <p:cNvSpPr txBox="1"/>
          <p:nvPr/>
        </p:nvSpPr>
        <p:spPr>
          <a:xfrm>
            <a:off x="731520" y="457200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Tepkime derecesi (mertebe)</a:t>
            </a:r>
            <a:endParaRPr lang="en-US" sz="1300" dirty="0"/>
          </a:p>
        </p:txBody>
      </p:sp>
      <p:sp>
        <p:nvSpPr>
          <p:cNvPr id="7" name="Text 5"/>
          <p:cNvSpPr txBox="1"/>
          <p:nvPr/>
        </p:nvSpPr>
        <p:spPr>
          <a:xfrm>
            <a:off x="731520" y="489204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Derişim değişince hız kaç katına çıkar?</a:t>
            </a:r>
            <a:endParaRPr lang="en-US" sz="1300" dirty="0"/>
          </a:p>
        </p:txBody>
      </p:sp>
      <p:sp>
        <p:nvSpPr>
          <p:cNvPr id="8" name="Text 6"/>
          <p:cNvSpPr txBox="1"/>
          <p:nvPr/>
        </p:nvSpPr>
        <p:spPr>
          <a:xfrm>
            <a:off x="731520" y="521208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Hacim ve basınç değişimi</a:t>
            </a:r>
            <a:endParaRPr lang="en-US" sz="1300" dirty="0"/>
          </a:p>
        </p:txBody>
      </p:sp>
      <p:sp>
        <p:nvSpPr>
          <p:cNvPr id="9" name="Text 7"/>
          <p:cNvSpPr txBox="1"/>
          <p:nvPr/>
        </p:nvSpPr>
        <p:spPr>
          <a:xfrm>
            <a:off x="731520" y="553212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Hız sabiti k ve birimi</a:t>
            </a:r>
            <a:endParaRPr lang="en-US" sz="1300" dirty="0"/>
          </a:p>
        </p:txBody>
      </p:sp>
      <p:sp>
        <p:nvSpPr>
          <p:cNvPr id="10" name="Text 8"/>
          <p:cNvSpPr txBox="1"/>
          <p:nvPr/>
        </p:nvSpPr>
        <p:spPr>
          <a:xfrm>
            <a:off x="731520" y="585216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Sayılarla hisset: hız ne kadar değişir?</a:t>
            </a:r>
            <a:endParaRPr lang="en-US" sz="1300" dirty="0"/>
          </a:p>
        </p:txBody>
      </p:sp>
      <p:sp>
        <p:nvSpPr>
          <p:cNvPr id="11" name="Text 9"/>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2" name="Shape 10"/>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3" name="Text 11"/>
          <p:cNvSpPr txBox="1"/>
          <p:nvPr/>
        </p:nvSpPr>
        <p:spPr>
          <a:xfrm>
            <a:off x="6400800" y="1481328"/>
            <a:ext cx="229514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Hız = k·[X]ᵃ·[Y]ᵇ</a:t>
            </a:r>
            <a:endParaRPr lang="en-US" sz="1500" dirty="0"/>
          </a:p>
        </p:txBody>
      </p:sp>
      <p:sp>
        <p:nvSpPr>
          <p:cNvPr id="14" name="Text 12"/>
          <p:cNvSpPr txBox="1"/>
          <p:nvPr/>
        </p:nvSpPr>
        <p:spPr>
          <a:xfrm>
            <a:off x="8787384" y="1481328"/>
            <a:ext cx="258135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hız denklemi</a:t>
            </a:r>
            <a:endParaRPr lang="en-US" sz="1200" dirty="0"/>
          </a:p>
        </p:txBody>
      </p:sp>
      <p:sp>
        <p:nvSpPr>
          <p:cNvPr id="15" name="Shape 13"/>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6" name="Text 14"/>
          <p:cNvSpPr txBox="1"/>
          <p:nvPr/>
        </p:nvSpPr>
        <p:spPr>
          <a:xfrm>
            <a:off x="6400800" y="2350008"/>
            <a:ext cx="1938528"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derece = a + b</a:t>
            </a:r>
            <a:endParaRPr lang="en-US" sz="1500" dirty="0"/>
          </a:p>
        </p:txBody>
      </p:sp>
      <p:sp>
        <p:nvSpPr>
          <p:cNvPr id="17" name="Text 15"/>
          <p:cNvSpPr txBox="1"/>
          <p:nvPr/>
        </p:nvSpPr>
        <p:spPr>
          <a:xfrm>
            <a:off x="8430768" y="2350008"/>
            <a:ext cx="2937967"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tepkime derecesi</a:t>
            </a:r>
            <a:endParaRPr lang="en-US" sz="1200" dirty="0"/>
          </a:p>
        </p:txBody>
      </p:sp>
      <p:sp>
        <p:nvSpPr>
          <p:cNvPr id="18" name="Shape 16"/>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9" name="Text 17"/>
          <p:cNvSpPr txBox="1"/>
          <p:nvPr/>
        </p:nvSpPr>
        <p:spPr>
          <a:xfrm>
            <a:off x="6400800" y="3218688"/>
            <a:ext cx="3127248"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[X] 2 katı → hız 2ᵃ katı</a:t>
            </a:r>
            <a:endParaRPr lang="en-US" sz="1500" dirty="0"/>
          </a:p>
        </p:txBody>
      </p:sp>
      <p:sp>
        <p:nvSpPr>
          <p:cNvPr id="20" name="Text 18"/>
          <p:cNvSpPr txBox="1"/>
          <p:nvPr/>
        </p:nvSpPr>
        <p:spPr>
          <a:xfrm>
            <a:off x="9619488" y="3218688"/>
            <a:ext cx="1749247"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derişimin etkisi</a:t>
            </a:r>
            <a:endParaRPr lang="en-US" sz="1200" dirty="0"/>
          </a:p>
        </p:txBody>
      </p:sp>
      <p:sp>
        <p:nvSpPr>
          <p:cNvPr id="21" name="Shape 19"/>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2" name="Text 20"/>
          <p:cNvSpPr txBox="1"/>
          <p:nvPr/>
        </p:nvSpPr>
        <p:spPr>
          <a:xfrm>
            <a:off x="6400800" y="4087368"/>
            <a:ext cx="288950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k'nın birimi: M¹⁻ⁿ·s⁻¹</a:t>
            </a:r>
            <a:endParaRPr lang="en-US" sz="1500" dirty="0"/>
          </a:p>
        </p:txBody>
      </p:sp>
      <p:sp>
        <p:nvSpPr>
          <p:cNvPr id="23" name="Text 21"/>
          <p:cNvSpPr txBox="1"/>
          <p:nvPr/>
        </p:nvSpPr>
        <p:spPr>
          <a:xfrm>
            <a:off x="9381744" y="4087368"/>
            <a:ext cx="198699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n: derece</a:t>
            </a:r>
            <a:endParaRPr lang="en-US" sz="1200" dirty="0"/>
          </a:p>
        </p:txBody>
      </p:sp>
      <p:sp>
        <p:nvSpPr>
          <p:cNvPr id="24" name="Shape 22"/>
          <p:cNvSpPr/>
          <p:nvPr/>
        </p:nvSpPr>
        <p:spPr>
          <a:xfrm>
            <a:off x="640080" y="6382512"/>
            <a:ext cx="128016" cy="128016"/>
          </a:xfrm>
          <a:prstGeom prst="roundRect">
            <a:avLst>
              <a:gd name="adj" fmla="val 28571"/>
            </a:avLst>
          </a:prstGeom>
          <a:solidFill>
            <a:srgbClr val="C6F36B"/>
          </a:solidFill>
          <a:ln/>
        </p:spPr>
      </p:sp>
      <p:sp>
        <p:nvSpPr>
          <p:cNvPr id="25" name="Text 2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dersler.perinet.org/hiz-denklemi.html</a:t>
            </a:r>
            <a:endParaRPr lang="en-US" sz="1050" dirty="0"/>
          </a:p>
        </p:txBody>
      </p:sp>
      <p:sp>
        <p:nvSpPr>
          <p:cNvPr id="26" name="Text 2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derecesi (mertebe)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 denklemindeki her üs, tepkimenin o maddeye göre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derecesidir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(mertebesidir).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Üslerin toplamı da tepkimenin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toplam derecesidir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640080" y="2866644"/>
            <a:ext cx="3467405"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346740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Hız = k · [X]ᵃ · [Y]ᵇ</a:t>
            </a:r>
            <a:endParaRPr lang="en-US" sz="1800" dirty="0"/>
          </a:p>
        </p:txBody>
      </p:sp>
      <p:sp>
        <p:nvSpPr>
          <p:cNvPr id="9" name="Shape 7"/>
          <p:cNvSpPr/>
          <p:nvPr/>
        </p:nvSpPr>
        <p:spPr>
          <a:xfrm>
            <a:off x="4253789" y="2866644"/>
            <a:ext cx="3884371"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253789" y="2866644"/>
            <a:ext cx="388437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toplam derece: n = a + b</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derecesi (mertebe)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265106"/>
                <a:gridCol w="6325528"/>
                <a:gridCol w="3320902"/>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Hız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tepkime hızı: bir saniyedeki derişim değişimi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M/s = mol/(L·s)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hız sabiti; sıcaklığa ve katalizöre bağlı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dereceye göre değişir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[X], [Y]</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X'in ve Y'nin derişimi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 = mol/L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 b</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X'e ve Y'ye göre derece (deneyle bulunur)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toplam derece: n = a + b</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derecesi (mertebe)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Örneğin Hız = k·[X]²·[Y] ise tepkime X'e göre 2., Y'ye göre 1., toplamda 3. derecedendir.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 sık üç durum görülür: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derecesi (mertebe)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321868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0. derece (Hız = 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hız derişime bağlı değildir. Sıcak tungsten tel üzerinde NH₃'ün ayrışması böyledir: telin yüzeyi dolu olduğu için fazladan gaz hızı artırmaz. Tek gişeli bir kuyruğu düşün: kuyruk uzasa da gişe dakikada yine bir kişiye bakar.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1. derece (Hız = k·[X]):</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hız derişimle aynı oranda artar; grafik orijinden geçen bir doğrudur.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2. derece (Hız = k·[X]²):</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hız derişimin karesiyle artar; grafik yukarı kıvrılan bir paraboldür.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derecesi (mertebe)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02 numaralı laboratuvarda dereceyi seç, [X]'i sürükle ve hızın nasıl değiştiğini dene.</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derecesi (mertebe)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317479" y="1234440"/>
            <a:ext cx="7556738"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denklemi-05.png">    </p:cNvPr>
          <p:cNvPicPr>
            <a:picLocks noChangeAspect="1"/>
          </p:cNvPicPr>
          <p:nvPr/>
        </p:nvPicPr>
        <p:blipFill>
          <a:blip r:embed="rId1"/>
          <a:stretch>
            <a:fillRect/>
          </a:stretch>
        </p:blipFill>
        <p:spPr>
          <a:xfrm>
            <a:off x="2546079" y="1325880"/>
            <a:ext cx="7099538"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soru, üç cevap: [X] 1'den 2'ye çıkınca hız ne olur?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0. derecede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doğru yataydır, hız değişmez.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1. derecede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doğru eğimlidir, hız 2 katına çıkar.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2. derecede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eğri bir paraboldür, hız 4 katına çıkar. Grafiğin biçimi tepkimenin derecesini ele verir.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derecesi (mertebe)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Bir maddenin üssü, tepkimenin o maddeye göre derecesidir; üslerin toplamı toplam derecedir. Hız–derişim grafiği 0. derecede yatay, 1. derecede eğimli bir doğru, 2. derecede paraboldür.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0. dereceden bir tepkimede derişim yarıya inerse hız ne olur?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05 · Tepkime derecesi (mertebe)</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0. dereceden bir tepkimede derişim yarıya inerse hız ne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Hiç değişmez. 0. derece, hızın derişime bağlı olmadığını söyler; tepken bitene kadar hız sabit kalır. Bu, hızın sıfır olduğu anlamına gelmez: Hız = k, sıfırdan büyük bir sayıdır.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değişince hız kaç katına çıkar?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 denklemini biliyorsan derişimler değişince hızın kaç katına çıkacağını hesaplamak kolaydır.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maddenin derişimi m katına çıkarsa o maddenin hıza katkısı mᵃ katına çıkar; a, o maddenin üssüdür.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Birden çok madde değişiyorsa çarpanlar çarpılır.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Sıcaklık değişmediği sürece k da değişmez, bu yüzden hesaba girmez.</a:t>
            </a:r>
            <a:endParaRPr lang="en-US" sz="2200" dirty="0"/>
          </a:p>
        </p:txBody>
      </p:sp>
      <p:sp>
        <p:nvSpPr>
          <p:cNvPr id="7" name="Shape 5"/>
          <p:cNvSpPr/>
          <p:nvPr/>
        </p:nvSpPr>
        <p:spPr>
          <a:xfrm>
            <a:off x="640080" y="4206240"/>
            <a:ext cx="3884371"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206240"/>
            <a:ext cx="388437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[X] m katı → hız mᵃ katı</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değişince hız kaç katına çıkar?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 = k·[X]²·[Y] olan bir tepkimede dört durum:</a:t>
            </a:r>
            <a:endParaRPr lang="en-US" sz="2200" dirty="0"/>
          </a:p>
        </p:txBody>
      </p:sp>
      <p:sp>
        <p:nvSpPr>
          <p:cNvPr id="7" name="Text 5"/>
          <p:cNvSpPr txBox="1"/>
          <p:nvPr/>
        </p:nvSpPr>
        <p:spPr>
          <a:xfrm>
            <a:off x="640080" y="2004060"/>
            <a:ext cx="10911535" cy="1837944"/>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Yalnız X iki katı: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2² = 4 → hız 4 katına çıkar.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Yalnız Y iki katı: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2¹ = 2 → hız 2 katına çıkar.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X yarıya, Y üç katı: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(½)² · 3 = ¾ → hız dörtte üçüne iner.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İkisi birden iki katı: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4 · 2 = 8 → hız 8 katına çıkar.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değişince hız kaç katına çıkar?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Shape 4"/>
          <p:cNvSpPr/>
          <p:nvPr/>
        </p:nvSpPr>
        <p:spPr>
          <a:xfrm>
            <a:off x="2200056" y="1234440"/>
            <a:ext cx="7791584"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denklemi-06.png">    </p:cNvPr>
          <p:cNvPicPr>
            <a:picLocks noChangeAspect="1"/>
          </p:cNvPicPr>
          <p:nvPr/>
        </p:nvPicPr>
        <p:blipFill>
          <a:blip r:embed="rId1"/>
          <a:stretch>
            <a:fillRect/>
          </a:stretch>
        </p:blipFill>
        <p:spPr>
          <a:xfrm>
            <a:off x="2428656" y="1325880"/>
            <a:ext cx="7334384"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Her kare, başlangıçtaki hız kadardır. 1. derecede derişim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bir kez</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çarpılır: 2 katı derişim 2 kare, 3 katı 3 kare. 2. derecede derişim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 kez</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çarpılır; küçük kareler 2×2 ve 3×3'lük büyük bir kare oluşturur: 2 · 2 = 4, 3 · 3 = 9. Üs, derişimin kaç kez çarpıldığını söyler.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değişince hız kaç katına çıkar?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Akılda tut: üs büyüdükçe o madde hız üzerinde daha etkili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tepkimeyi hızlandırmak istiyorsan, önce üssü en büyük olan maddenin derişimini artırmayı düşün.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değişince hız kaç katına çıkar?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Derişim m katına çıkınca o maddenin katkısı mᵃ katına çıkar. Birden çok derişim değişiyorsa çarpanlar çarpılır; k değişmez.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Hacim ve basınç değişimi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Gaz tepkimelerinde derişimleri tek tek değiştirmek yerine kabın hacmini de değiştirebilirsin.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Piston itilip hacim yarıya inince tanecik sayısı aynı kalır, ama hepsi yarı hacme sıkışır.</a:t>
            </a:r>
            <a:endParaRPr lang="en-US" sz="2200" dirty="0"/>
          </a:p>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Bütün gazların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derişimi birden iki katına çıkar; basınç da iki katına çıkar.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Hacim ve basınç değişimi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Tek basamaklı 2NO(g) + O₂(g) → 2NO₂(g) tepkimesinde Hız = k·[NO]²·[O₂]'dir.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Hacim yarıya inince [NO] ve [O₂] ikişer katına çıkar, hız 2² · 2 = 8 katına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Hacim iki katına çıkarsa her derişim yarıya iner, hız (½)³ = ⅛'ine düşer.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Kısa yol: hacim m'de birine inerse hız mⁿ katına çıkar; n, hız denklemindeki gazların toplam derecesidir.</a:t>
            </a:r>
            <a:endParaRPr lang="en-US" sz="2200" dirty="0"/>
          </a:p>
        </p:txBody>
      </p:sp>
      <p:sp>
        <p:nvSpPr>
          <p:cNvPr id="7" name="Shape 5"/>
          <p:cNvSpPr/>
          <p:nvPr/>
        </p:nvSpPr>
        <p:spPr>
          <a:xfrm>
            <a:off x="640080" y="4977384"/>
            <a:ext cx="3467405"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977384"/>
            <a:ext cx="346740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 → V/m ⇒ hız mⁿ katı</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Hacim ve basınç değişimi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Shape 4"/>
          <p:cNvSpPr/>
          <p:nvPr/>
        </p:nvSpPr>
        <p:spPr>
          <a:xfrm>
            <a:off x="2480066" y="1234440"/>
            <a:ext cx="723156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denklemi-07.png">    </p:cNvPr>
          <p:cNvPicPr>
            <a:picLocks noChangeAspect="1"/>
          </p:cNvPicPr>
          <p:nvPr/>
        </p:nvPicPr>
        <p:blipFill>
          <a:blip r:embed="rId1"/>
          <a:stretch>
            <a:fillRect/>
          </a:stretch>
        </p:blipFill>
        <p:spPr>
          <a:xfrm>
            <a:off x="2708666" y="1325880"/>
            <a:ext cx="677436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Solda hacim V, sağda V/2. İki kapta 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4 NO ve 2 O₂ molekülü var; sağdakinde aynı tanecikler yarı hacme sığmış: birim hacimdeki tanecik sayısı iki katı, tanecikler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 kat sık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NO ve O₂ derişimleri ikişer katına çıkar; Hız = k·[NO]²·[O₂] olduğu için hız 2² · 2 =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8 katına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çıkar.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Hacim ve basınç değişimi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Katı varsa hacim değişimi yalnız gazları etkiler: C(k) + O₂(g) → CO₂(g) için hacim yarıya inince hız yalnız 2 katına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Çözeltiye su eklemek de bir çeşit hacim artışıdır; çözünenlerin hepsinin derişimi düşer.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03 numaralı laboratuvarda pistonu it ve hız çarpanını kendin gör.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Hacim ve basınç değişimi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Hacim küçülünce bütün gazların derişimi aynı oranda artar. Hacim m'de birine inerse hız mⁿ katına çıkar; n, gazların toplam derecesidir. Katılar bu hesaba girmez.</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Sabit hacimli kaba helyum gazı eklemek tepkimenin hızını değiştirir mi?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07 · Hacim ve basınç değişimi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Sabit hacimli kaba helyum gazı eklemek tepkimenin hızını değiştirir mi?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Değiştirmez. Toplam basınç artar, ama kaptaki NO ve O₂ miktarı da hacim de aynı kaldığı için derişimleri değişmez. Hızı değiştiren toplam basınç değil, tepkenlerin derişimidir.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sabiti k ve birimi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bütün derişimler 1 M olduğunda tepkimenin hızıdır.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tepkimenin kendine özgü bir k'si vardır ve k üç şeyle değişir: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sıcaklık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(sıcaklık artınca k büyür),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katalizör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ve katıların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temas yüzeyi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Derişim, hacim ve basınç ise k'yı değiştirmez; onlar yalnız denklemdeki köşeli parantezli terimleri değiştirir.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sabiti k ve birimi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k'nın birimi toplam dereceye bağlıdır.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 M/s olduğuna göre k = Hız / ([X]ᵃ·[Y]ᵇ) yazılır; paydada n tane M çarpılır:</a:t>
            </a:r>
            <a:endParaRPr lang="en-US" sz="2200" dirty="0"/>
          </a:p>
        </p:txBody>
      </p:sp>
      <p:sp>
        <p:nvSpPr>
          <p:cNvPr id="7" name="Shape 5"/>
          <p:cNvSpPr/>
          <p:nvPr/>
        </p:nvSpPr>
        <p:spPr>
          <a:xfrm>
            <a:off x="640080" y="2866644"/>
            <a:ext cx="3745382"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374538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k = Hız / ([X]ᵃ · [Y]ᵇ)</a:t>
            </a:r>
            <a:endParaRPr lang="en-US" sz="1800" dirty="0"/>
          </a:p>
        </p:txBody>
      </p:sp>
      <p:sp>
        <p:nvSpPr>
          <p:cNvPr id="9" name="Shape 7"/>
          <p:cNvSpPr/>
          <p:nvPr/>
        </p:nvSpPr>
        <p:spPr>
          <a:xfrm>
            <a:off x="4531766" y="2866644"/>
            <a:ext cx="4996282"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531766" y="2866644"/>
            <a:ext cx="499628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birim(k) = (M/s) ÷ Mⁿ = M¹⁻ⁿ·s⁻¹</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sabiti k ve birimi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2727884"/>
                <a:gridCol w="3777070"/>
                <a:gridCol w="4406582"/>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Toplam derece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Örnek hız denklemi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k'nın 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Hız = 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M·s⁻¹ = mol/(L·s)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Hız = k·[X]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s⁻¹</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Hız = k·[X]·[Y]</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M⁻¹·s⁻¹ = L/(mol·s)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Hız = k·[X]²·[Y]</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M⁻²·s⁻¹ = L²/(mol²·s)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sabiti k ve birimi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651939" y="1234440"/>
            <a:ext cx="688781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denklemi-08.png">    </p:cNvPr>
          <p:cNvPicPr>
            <a:picLocks noChangeAspect="1"/>
          </p:cNvPicPr>
          <p:nvPr/>
        </p:nvPicPr>
        <p:blipFill>
          <a:blip r:embed="rId1"/>
          <a:stretch>
            <a:fillRect/>
          </a:stretch>
        </p:blipFill>
        <p:spPr>
          <a:xfrm>
            <a:off x="2880539" y="1325880"/>
            <a:ext cx="643061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1. dereceden bir tepkimede Hız = k·[X] bir doğrudur ve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 bu doğrunun eğimidir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Derişim 0,10 M'den 0,20 M'ye çıkınca nokta aynı doğru üzerinde kayar: hız iki katına çıkar ama k aynı kalır. Sıcaklık artınca (T₂) doğrunun kendisi dikleşir: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 büyür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Bu tepkimede k'nın birimi s⁻¹'dir.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sabiti k ve birimi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k sıcaklığa, katalizöre ve temas yüzeyine bağlıdır; derişim ve hacimle değişmez. Birimi toplam dereceye göre değişir: M¹⁻ⁿ·s⁻¹.</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[X] iki katına çıkınca hız da iki katına çıktı. k değişti mi?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Hız sabiti k ve birimi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[X] iki katına çıkınca hız da iki katına çıktı. k değişti mi?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Hız ile derişim birlikte iki katına çıktığı için oranları, yani k, aynı kaldı. k'yı değiştirmek için sıcaklığı değiştirmen, katalizör eklemen ya da katıyı ufalaman gerekir.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hız ne kadar değişir?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2NO(g) + O₂(g) → 2NO₂(g) tepkimesinin hız sabiti 25 °C'de yaklaşık 7·10³ M⁻²·s⁻¹'dir.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 = k·[NO]²·[O₂] ile hesaplanan hızlar: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hız ne kadar değişir?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2238264"/>
                <a:gridCol w="2238264"/>
                <a:gridCol w="2518047"/>
                <a:gridCol w="3916961"/>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[NO] (M)</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[O₂] (M)</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Hız (M/s)</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1. satıra göre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0,010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0,010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7,0·10⁻³</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 kat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0,010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0,020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1,4·10⁻²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 kat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0,020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0,010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2,8·10⁻²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 kat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0,020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0,020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5,6·10⁻²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 kat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0,001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0,010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7,0·10⁻⁵</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1/100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hız ne kadar değişir?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üç düzen okunur:</a:t>
            </a:r>
            <a:endParaRPr lang="en-US" sz="2200" dirty="0"/>
          </a:p>
        </p:txBody>
      </p:sp>
      <p:sp>
        <p:nvSpPr>
          <p:cNvPr id="7" name="Text 5"/>
          <p:cNvSpPr txBox="1"/>
          <p:nvPr/>
        </p:nvSpPr>
        <p:spPr>
          <a:xfrm>
            <a:off x="640080" y="200406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Karesel olan daha etkili: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NO'yu iki katına çıkarmak hızı 4, O₂'yi iki katına çıkarmak 2 katına çıkarıyor.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İkisi birden iki katı = hacim yarıya: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derişim birden iki katına çıkınca hız 8 katı oluyor.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Seyrelme çok yavaşlatır: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NO 10 kat seyrelince hız 100 kat düşüyor. Egzozdan çıkan NO havaya karışıp seyrelince bu tepkime çok yavaşlar.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hız ne kadar değişir?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490658" y="1234440"/>
            <a:ext cx="7210379"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denklemi-09.png">    </p:cNvPr>
          <p:cNvPicPr>
            <a:picLocks noChangeAspect="1"/>
          </p:cNvPicPr>
          <p:nvPr/>
        </p:nvPicPr>
        <p:blipFill>
          <a:blip r:embed="rId1"/>
          <a:stretch>
            <a:fillRect/>
          </a:stretch>
        </p:blipFill>
        <p:spPr>
          <a:xfrm>
            <a:off x="2719258" y="1325880"/>
            <a:ext cx="6753179"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Dört gerçek gaz tepkimesinde kabın hacmi yarıya iniyor, yani bütün derişimler iki katına çıkıyor. Hız çarpanı 2ⁿ'dir: toplam derece 0, 1, 2, 3 için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1, 2, 4, 8 kat</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NO₂ + CO tepkimesinde CO hız denkleminde olmadığı için çarpan 4'te kalır. NH₃'ün ayrışması sıcak tungsten yüzeyinde yürür ve yüzey dolu olduğu için hiç hızlanmaz.</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hız ne kadar değişir?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Aynı değişiklik farklı tepkimeleri farklı hızlandırır. Kabın hacmi yarıya inince hız, toplam derece 0, 1, 2, 3 için 1, 2, 4, 8 katına çıkar.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400" dirty="0">
                <a:solidFill>
                  <a:srgbClr val="C3CEE8"/>
                </a:solidFill>
                <a:latin typeface="Calibri" pitchFamily="34" charset="0"/>
                <a:ea typeface="Calibri" pitchFamily="34" charset="-122"/>
                <a:cs typeface="Calibri" pitchFamily="34" charset="-120"/>
              </a:rPr>
              <a:t>Derinleş: hız denklemini deney tablosundan bul, çok basamaklı tepkimelerde yavaş basamağı, ara ürünü ve katalizörü tanı, hız denklemini gerçek dünyada gör.</a:t>
            </a:r>
            <a:endParaRPr lang="en-US" sz="14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Hız denklemini deneyle bulmak</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Çok basamaklı tepkimeler ve yavaş basamak</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Mekanizmayı ipuçlarından okumak</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Hız denklemi gerçek dünyada</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hiz-denklemi-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Şehrin alt katlarını saran turuncu-kahverengi pus</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böyle kalabalık şehirlerde çoğu zaman fotokimyasal dumandır. Motorlardan çıkan NO havada NO₂'ye dönüşür; kahverengi renk NO₂'den gelir. Güneş ışığı NO₂'yi parçalar, açığa çıkan oksijen atomları ozon oluşturur. Bu basamaklar art arda yürüdüğü ve güneş ışığına ihtiyaç duyduğu için ozon, sabah trafiğinden birkaç saat sonra, öğleden sonra en yüksek düzeye çıkar.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dersler.perinet.org/hiz-denklemi.html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denklemini deneyle bulmak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Üsler katsayılardan okunamıyorsa nasıl bulunur?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Kimyacılar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başlangıç hızları yöntemini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kullanır: derişimleri farklı birkaç karışım hazırlanır, her birinde tepkimenin ilk anlardaki hızı ölçülür.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Altın kural şudur: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karşılaştırdığın iki deneyde yalnız bir derişim değişmiş olsun.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 zaman hızdaki değişim yalnız o maddeden gelir.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denklemini deneyle bulmak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Belli bir sıcaklıkta H₂(g) + 2ICl(g) → I₂(g) + 2HCl(g) tepkimesi için ölçülen başlangıç hızları:</a:t>
            </a:r>
            <a:endParaRPr lang="en-US" sz="22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640080" y="2389632"/>
          <a:ext cx="10911535" cy="914400"/>
        </p:xfrm>
        <a:graphic>
          <a:graphicData uri="http://schemas.openxmlformats.org/drawingml/2006/table">
            <a:tbl>
              <a:tblPr/>
              <a:tblGrid>
                <a:gridCol w="1759925"/>
                <a:gridCol w="2815880"/>
                <a:gridCol w="3167865"/>
                <a:gridCol w="3167865"/>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Deney</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[H₂] (M)</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[ICl] (M)</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Hız (M/s)</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5,0·10⁻⁴</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0,20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1,0·10⁻³</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0,20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0,30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3,0·10⁻³</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9" name="Shape 5"/>
          <p:cNvSpPr/>
          <p:nvPr/>
        </p:nvSpPr>
        <p:spPr>
          <a:xfrm>
            <a:off x="640080" y="6382512"/>
            <a:ext cx="128016" cy="128016"/>
          </a:xfrm>
          <a:prstGeom prst="roundRect">
            <a:avLst>
              <a:gd name="adj" fmla="val 28571"/>
            </a:avLst>
          </a:prstGeom>
          <a:solidFill>
            <a:srgbClr val="A9E648"/>
          </a:solidFill>
          <a:ln/>
        </p:spPr>
      </p:sp>
      <p:sp>
        <p:nvSpPr>
          <p:cNvPr id="10"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1"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denklemini deneyle bulmak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205990"/>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1 ve 2:</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[ICl] sabit, [H₂] 2 katı, hız 2 katı → 2ᵃ = 2, a = 1.</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2 ve 3:</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[H₂] sabit, [ICl] 3 katı, hız 3 katı → 3ᵇ = 3, b = 1.</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Hız denklemi: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Hız = k·[H₂]·[ICl]; toplam derece 2.</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1. deneyden k = 5,0·10⁻⁴ ÷ (0,10 · 0,10) = 0,050 M⁻¹·s⁻¹. 3. deneyle kontrol: 0,050 · 0,20 · 0,30 = 3,0·10⁻³ M/s ✓</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denklemini deneyle bulmak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2288781" y="1234440"/>
            <a:ext cx="761413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denklemi-10.png">    </p:cNvPr>
          <p:cNvPicPr>
            <a:picLocks noChangeAspect="1"/>
          </p:cNvPicPr>
          <p:nvPr/>
        </p:nvPicPr>
        <p:blipFill>
          <a:blip r:embed="rId1"/>
          <a:stretch>
            <a:fillRect/>
          </a:stretch>
        </p:blipFill>
        <p:spPr>
          <a:xfrm>
            <a:off x="2517381" y="1325880"/>
            <a:ext cx="715693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Deneyleri ikişer ikişer karşılaştır. 1'den 2'ye yalnız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[H₂]</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değişiyor ve hız onunla aynı oranda artıyor: a = 1. 2'den 3'e yalnız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[ICl]</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değişiyor; 3 kat derişim 3 kat hız veriyor: b = 1. Değişen derişim her kartta mavi.</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denklemini deneyle bulmak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229362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Sonuçtaki ipucuna dikkat et: ICl'nin katsayısı 2, ama üssü 1.</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 tek basamaklı olsaydı üs 2 olurdu.</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Demek ki bu tepkime birden çok basamakta yürüyor.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01 numaralı laboratuvarda gizli bir tepkimenin hız denklemini aynı yöntemle kendin bulabilirsin.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denklemini deneyle bulmak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Hız denklemi deneyle bulunur: yalnız bir derişimi değişen iki deney karşılaştırılır ve hız oranı, derişim oranının üssü olarak yazılır. Sonra herhangi bir satırdan k hesaplanır.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İki derişimin birden değiştiği bir deney satırı işe yaramaz mı?</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Hız denklemini deneyle bulmak</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İki derişimin birden değiştiği bir deney satırı işe yaramaz mı?</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Yarar, ama ikinci adımda. Önce yalnız bir derişimin değiştiği iki satırdan bir üssü bul. Sonra iki derişimin birden değiştiği satırda bilinen maddenin etkisini hesaptan çıkar; kalan çarpan öteki maddeden gelir.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Çok basamaklı tepkimeler ve yavaş basamak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4310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Birçok tepkime, art arda gelen basit adımlar zinciriyle yürür.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adıma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basamak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zincirin tamamına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tepkime mekanizması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NO₂ ile CO'nun tepkimesi (hepsi gaz) iki basamaklıdır:</a:t>
            </a:r>
            <a:endParaRPr lang="en-US" sz="2200" dirty="0"/>
          </a:p>
        </p:txBody>
      </p:sp>
      <p:sp>
        <p:nvSpPr>
          <p:cNvPr id="7" name="Shape 5"/>
          <p:cNvSpPr/>
          <p:nvPr/>
        </p:nvSpPr>
        <p:spPr>
          <a:xfrm>
            <a:off x="640080" y="2958084"/>
            <a:ext cx="4162349"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958084"/>
            <a:ext cx="416234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1) 2NO₂ → NO₃ + NO (yavaş)</a:t>
            </a:r>
            <a:endParaRPr lang="en-US" sz="1800" dirty="0"/>
          </a:p>
        </p:txBody>
      </p:sp>
      <p:sp>
        <p:nvSpPr>
          <p:cNvPr id="9" name="Shape 7"/>
          <p:cNvSpPr/>
          <p:nvPr/>
        </p:nvSpPr>
        <p:spPr>
          <a:xfrm>
            <a:off x="4948733" y="2958084"/>
            <a:ext cx="4857293"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948733" y="2958084"/>
            <a:ext cx="4857293"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2) NO₃ + CO → NO₂ + CO₂ (hızlı)</a:t>
            </a:r>
            <a:endParaRPr lang="en-US" sz="1800" dirty="0"/>
          </a:p>
        </p:txBody>
      </p:sp>
      <p:sp>
        <p:nvSpPr>
          <p:cNvPr id="11" name="Shape 9"/>
          <p:cNvSpPr/>
          <p:nvPr/>
        </p:nvSpPr>
        <p:spPr>
          <a:xfrm>
            <a:off x="640080" y="3671316"/>
            <a:ext cx="3884371"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640080" y="3671316"/>
            <a:ext cx="388437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net: NO₂ + CO → NO + CO₂</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Çok basamaklı tepkimeler ve yavaş basamak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Basamaklar toplanınca iki tarafta da bulunan maddeler sadeleşir ve net denklem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 basamakta oluşup 2. basamakta harcanan NO₃ bir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ara üründür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net denklemde görünmez.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Bütün tepkimenin hızını, kuyruğun önündeki kamyon gibi,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en yavaş basamak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belirler.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 denklemi bu yüzden yavaş basamağın girenlerinden yazılır: Hız = k·[NO₂]².</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Çok basamaklı tepkimeler ve yavaş basamak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Deneyde ölçülen hız denklemi de budur.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04 numaralı laboratuvarda basamakları hızlandır: ürün hep en yavaş basamağın hızında oluşur.</a:t>
            </a:r>
            <a:endParaRPr lang="en-US" sz="2200" dirty="0"/>
          </a:p>
        </p:txBody>
      </p:sp>
      <p:sp>
        <p:nvSpPr>
          <p:cNvPr id="7" name="Text 5"/>
          <p:cNvSpPr txBox="1"/>
          <p:nvPr/>
        </p:nvSpPr>
        <p:spPr>
          <a:xfrm>
            <a:off x="640080" y="2866644"/>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Enerji grafiğinde her basamak bir tepedir; tepeler arasındaki çukurlar ara ürünlerdir.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basamağın aktifleşme enerjisi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kendi başlangıç seviyesinden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ölçülür.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Aktifleşme enerjisi en büyük olan basamak en yavaştır.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Çok basamaklı tepkimeler ve yavaş basamak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3076602" y="1234440"/>
            <a:ext cx="6038491"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denklemi-11.png">    </p:cNvPr>
          <p:cNvPicPr>
            <a:picLocks noChangeAspect="1"/>
          </p:cNvPicPr>
          <p:nvPr/>
        </p:nvPicPr>
        <p:blipFill>
          <a:blip r:embed="rId1"/>
          <a:stretch>
            <a:fillRect/>
          </a:stretch>
        </p:blipFill>
        <p:spPr>
          <a:xfrm>
            <a:off x="3305202" y="1325880"/>
            <a:ext cx="5581291"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İki basamaklı bir tepkimenin enerji grafiği (sayılar örnek olarak seçildi).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İki tepe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iki basamak demektir; aradaki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çukur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ara üründür. 1. basamağın aktifleşme enerjisi 100 kJ, 2. basamağınki çukurdan ölçülünce yalnız 30 kJ. Engeli büyük olan 1. basamak yavaştır ve hızı o belirler.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Çok basamaklı tepkimeler ve yavaş basamak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Çok basamaklı tepkimede net denklem basamakların toplamıdır, ara ürünler sadeleşir. Hız denklemi en yavaş basamaktan yazılır. Enerji grafiğinde tepe sayısı basamak sayısıdır; Ea'sı en büyük basamak en yavaştır.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NO₂ + CO tepkimesinde CO'nun derişimini iki katına çıkarmak hızı neden değiştirmez?</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Çok basamaklı tepkimeler ve yavaş basamak</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NO₂ + CO tepkimesinde CO'nun derişimini iki katına çıkarmak hızı neden değiştirmez?</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CO yalnız hızlı basamakta yer alır. Hızlı basamak, yavaş basamağın ürettiği NO₃'ü zaten hemen tüketir. CO'yu artırmak bu tüketimi biraz daha hızlandırır ama NO₃'ün üretimini hızlandırmaz; ürün yine yavaş basamağın hızında oluşur.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Mekanizmayı ipuçlarından okumak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Mekanizma doğrudan görülmez; kimyacılar onu ipuçlarından çıkarır.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Beş ipucu işini kolaylaştırır: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Mekanizmayı ipuçlarından okumak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321868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Üsler katsayılara uymuyorsa tepkime çok basamaklıdır.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Uyuyorsa tek basamaklı olabilir, ama bu kesin değildir.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Üçten çok tanecik aynı anda çarpışmaz.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Üç taneciğin aynı anda, doğru yönelimle buluşması bile nadirdir. Girenler tarafında dört tanecik olan N₂ + 3H₂ → 2NH₃ tek basamakta yürüyemez.</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Eksik basamak çıkarmayla bulunur.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basamaklı bir tepkimede net denklemden bilinen basamak çıkarılır. 2NO₂ + F₂ → 2NO₂F tepkimesinin yavaş basamağı NO₂ + F₂ → NO₂F + F ise hızlı basamak NO₂ + F → NO₂F'dir.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Mekanizmayı ipuçlarından okumak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202311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Bir giren hız denkleminde yoksa ya katı ya da saf sıvıdır, ya da yalnız hızlı bir basamakta harcanır.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NO₂ + CO tepkimesindeki CO ikinci duruma örnektir.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Katalizör önce harcanır, sonra geri oluşur; ara ürün önce oluşur, sonra harcanır.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İkisi de net denklemde görünmez, ama katalizör hız denkleminde yer alabilir.</a:t>
            </a:r>
            <a:endParaRPr lang="en-US" sz="2100" dirty="0"/>
          </a:p>
        </p:txBody>
      </p:sp>
      <p:sp>
        <p:nvSpPr>
          <p:cNvPr id="7" name="Text 5"/>
          <p:cNvSpPr txBox="1"/>
          <p:nvPr/>
        </p:nvSpPr>
        <p:spPr>
          <a:xfrm>
            <a:off x="640080" y="3550158"/>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 ipucunu fil diş macunu gösterisindeki tepkimeyle görelim.</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Mekanizmayı ipuçlarından okumak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KI'den gelen I⁻ iyonları, sulu çözeltide hidrojen peroksidin ayrışmasını hızlandırır:</a:t>
            </a:r>
            <a:endParaRPr lang="en-US" sz="2200" dirty="0"/>
          </a:p>
        </p:txBody>
      </p:sp>
      <p:sp>
        <p:nvSpPr>
          <p:cNvPr id="7" name="Shape 5"/>
          <p:cNvSpPr/>
          <p:nvPr/>
        </p:nvSpPr>
        <p:spPr>
          <a:xfrm>
            <a:off x="640080" y="2389632"/>
            <a:ext cx="4996282"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389632"/>
            <a:ext cx="499628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1) H₂O₂ + I⁻ → H₂O + IO⁻ (yavaş)</a:t>
            </a:r>
            <a:endParaRPr lang="en-US" sz="1800" dirty="0"/>
          </a:p>
        </p:txBody>
      </p:sp>
      <p:sp>
        <p:nvSpPr>
          <p:cNvPr id="9" name="Shape 7"/>
          <p:cNvSpPr/>
          <p:nvPr/>
        </p:nvSpPr>
        <p:spPr>
          <a:xfrm>
            <a:off x="5782666" y="2389632"/>
            <a:ext cx="5691226"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5782666" y="2389632"/>
            <a:ext cx="5691226"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2) H₂O₂ + IO⁻ → H₂O + O₂ + I⁻ (hızlı)</a:t>
            </a:r>
            <a:endParaRPr lang="en-US" sz="1800" dirty="0"/>
          </a:p>
        </p:txBody>
      </p:sp>
      <p:sp>
        <p:nvSpPr>
          <p:cNvPr id="11" name="Shape 9"/>
          <p:cNvSpPr/>
          <p:nvPr/>
        </p:nvSpPr>
        <p:spPr>
          <a:xfrm>
            <a:off x="640080" y="3102864"/>
            <a:ext cx="3606394"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640080" y="3102864"/>
            <a:ext cx="36063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net: 2H₂O₂ → 2H₂O + O₂</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Mekanizmayı ipuçlarından okumak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229362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 ilk basamakta harcanıp ikincide geri oluştuğu için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katalizördür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IO⁻ ilk basamakta oluşup ikincide harcandığı için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ara üründür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Yavaş basamakta I⁻ bulunduğu için ölçülen hız denklemi Hız = k·[H₂O₂]·[I⁻]'dir: katalizör hız denkleminde var, net denklemde yok.</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KI'yi artırmak köpürmeyi bu yüzden hızlandırır.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Mekanizmayı ipuçlarından okumak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764310" y="1234440"/>
            <a:ext cx="6663075"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denklemi-12.png">    </p:cNvPr>
          <p:cNvPicPr>
            <a:picLocks noChangeAspect="1"/>
          </p:cNvPicPr>
          <p:nvPr/>
        </p:nvPicPr>
        <p:blipFill>
          <a:blip r:embed="rId1"/>
          <a:stretch>
            <a:fillRect/>
          </a:stretch>
        </p:blipFill>
        <p:spPr>
          <a:xfrm>
            <a:off x="2992910" y="1325880"/>
            <a:ext cx="6205875"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 bir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döngü</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içinde çalışır: soldaki yavaş basamakta bir H₂O₂ ile tepkiyip IO⁻'ye dönüşür, sağdaki hızlı basamakta ikinci bir H₂O₂ ile tepkiyip geri gelir. Döngünün her turunda iki H₂O₂ harcanır, iki H₂O ve bir O₂ çıkar; I⁻ ise tükenmez. Katalizörün “harcanmadan hızlandırması” budur.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Mekanizmayı ipuçlarından okumak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Üsler katsayılara uymuyorsa ya da girenlerde üçten çok tanecik varsa tepkime çok basamaklıdır. Eksik basamak çıkarmayla bulunur. Katalizör önce harcanıp sonra geri oluşur; ara ürün önce oluşup sonra harcanır.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madde hız denkleminde var ama net denklemde yok. Bu madde ne olabilir?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12 · Mekanizmayı ipuçlarından okumak</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madde hız denkleminde var ama net denklemde yok. Bu madde ne olabilir?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Büyük olasılıkla bir katalizördür. Katalizör yavaş basamağın girenleri arasında olabilir; ama sonraki bir basamakta geri oluştuğu için net denklemde sadeleşir. H₂O₂'nin ayrışmasındaki I⁻ buna örnektir.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 denklemi yalnız bir sınav konusu değildir; şehrin havasından ilacın dozuna kadar pek çok kararın arkasında durur.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12724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Fotokimyasal duman: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NO'nun 2NO + O₂ ile NO₂'ye dönüşmesi NO derişiminin karesine bağlıdır. NO derişimi yüksekken görece hızlıdır, havaya karışıp seyrelince çok yavaşlar. Şehir havasında NO'yu NO₂'ye çeviren tepkimelerin başında bu yüzden ozonla yürüyen tek basamaklı NO + O₃ → NO₂ + O₂ gelir.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Endüstriyel reaktörler: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Mühendisler reaktörün boyunu, sıcaklığını ve basıncını hız denklemine göre seçer. Toplam derecesi büyük bir gaz tepkimesinde basıncı artırmak hızı çok artırır; 0. dereceden bir yüzey tepkimesinde ise işe yaramaz, katalizör yüzeyini büyütmek gerekir.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15636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İlaç dozu aralıkları: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Vücut çoğu ilacı 1. dereceden bir hızla atar: derişim yüksekken hızlı, düşükken yavaş. Bu yüzden kandaki derişim her eşit sürede yarıya iner ve dozlar bu süreye göre aralıklanır. Kandaki alkol ise yaklaşık 0. dereceden, her saat hemen hemen aynı miktar azalır.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813313" y="1234440"/>
            <a:ext cx="6565070"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denklemi-13.png">    </p:cNvPr>
          <p:cNvPicPr>
            <a:picLocks noChangeAspect="1"/>
          </p:cNvPicPr>
          <p:nvPr/>
        </p:nvPicPr>
        <p:blipFill>
          <a:blip r:embed="rId1"/>
          <a:stretch>
            <a:fillRect/>
          </a:stretch>
        </p:blipFill>
        <p:spPr>
          <a:xfrm>
            <a:off x="3041913" y="1325880"/>
            <a:ext cx="6107870"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Aynı başlangıç, iki farklı derece.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0. derecede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(mor) derişim her saat aynı miktar azalır, grafik düz bir doğrudur.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1. derecede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(mavi) hız derişimle orantılı olduğu için azalma giderek yavaşlar: bu örnekteki ilacın derişimi her 2 saatte yarıya iner (100 → 50 → 25 → 12,5). Yarılanma süresi ilaçtan ilaca değişir; doz aralığını bu süre belirler.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denklemi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Hız denklemi; şehir havasında ozonun ne zaman artacağını, bir reaktörde basıncın işe yarayıp yaramayacağını ve bir ilacın ne sıklıkla alınacağını önceden hesaplamayı sağlar.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Sıra sende soruları ve hız denklemi sorularında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15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8 ÇÖZÜMLÜ ÖRNEK</a:t>
            </a:r>
            <a:endParaRPr lang="en-US" sz="1050" dirty="0"/>
          </a:p>
        </p:txBody>
      </p:sp>
      <p:sp>
        <p:nvSpPr>
          <p:cNvPr id="9" name="Shape 7"/>
          <p:cNvSpPr/>
          <p:nvPr/>
        </p:nvSpPr>
        <p:spPr>
          <a:xfrm>
            <a:off x="6172200" y="1481328"/>
            <a:ext cx="5379415" cy="468630"/>
          </a:xfrm>
          <a:prstGeom prst="roundRect">
            <a:avLst>
              <a:gd name="adj" fmla="val 19512"/>
            </a:avLst>
          </a:prstGeom>
          <a:solidFill>
            <a:srgbClr val="1C2542"/>
          </a:solidFill>
          <a:ln w="9525">
            <a:solidFill>
              <a:srgbClr val="2C3860"/>
            </a:solidFill>
            <a:prstDash val="solid"/>
          </a:ln>
        </p:spPr>
      </p:sp>
      <p:sp>
        <p:nvSpPr>
          <p:cNvPr id="10" name="Text 8"/>
          <p:cNvSpPr txBox="1"/>
          <p:nvPr/>
        </p:nvSpPr>
        <p:spPr>
          <a:xfrm>
            <a:off x="6400800" y="148132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Tek basamaklı tepkimelerin hız denklemi</a:t>
            </a:r>
            <a:endParaRPr lang="en-US" sz="1300" dirty="0"/>
          </a:p>
        </p:txBody>
      </p:sp>
      <p:sp>
        <p:nvSpPr>
          <p:cNvPr id="11" name="Text 9"/>
          <p:cNvSpPr txBox="1"/>
          <p:nvPr/>
        </p:nvSpPr>
        <p:spPr>
          <a:xfrm>
            <a:off x="10362895" y="1481328"/>
            <a:ext cx="1005840" cy="468630"/>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41398"/>
            <a:ext cx="5379415" cy="468630"/>
          </a:xfrm>
          <a:prstGeom prst="roundRect">
            <a:avLst>
              <a:gd name="adj" fmla="val 19512"/>
            </a:avLst>
          </a:prstGeom>
          <a:solidFill>
            <a:srgbClr val="1C2542"/>
          </a:solidFill>
          <a:ln w="9525">
            <a:solidFill>
              <a:srgbClr val="2C3860"/>
            </a:solidFill>
            <a:prstDash val="solid"/>
          </a:ln>
        </p:spPr>
      </p:sp>
      <p:sp>
        <p:nvSpPr>
          <p:cNvPr id="13" name="Text 11"/>
          <p:cNvSpPr txBox="1"/>
          <p:nvPr/>
        </p:nvSpPr>
        <p:spPr>
          <a:xfrm>
            <a:off x="6400800" y="204139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Derişimler değişince hız</a:t>
            </a:r>
            <a:endParaRPr lang="en-US" sz="1300" dirty="0"/>
          </a:p>
        </p:txBody>
      </p:sp>
      <p:sp>
        <p:nvSpPr>
          <p:cNvPr id="14" name="Text 12"/>
          <p:cNvSpPr txBox="1"/>
          <p:nvPr/>
        </p:nvSpPr>
        <p:spPr>
          <a:xfrm>
            <a:off x="10362895" y="2041398"/>
            <a:ext cx="1005840" cy="468630"/>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01468"/>
            <a:ext cx="5379415" cy="468630"/>
          </a:xfrm>
          <a:prstGeom prst="roundRect">
            <a:avLst>
              <a:gd name="adj" fmla="val 19512"/>
            </a:avLst>
          </a:prstGeom>
          <a:solidFill>
            <a:srgbClr val="1C2542"/>
          </a:solidFill>
          <a:ln w="9525">
            <a:solidFill>
              <a:srgbClr val="2C3860"/>
            </a:solidFill>
            <a:prstDash val="solid"/>
          </a:ln>
        </p:spPr>
      </p:sp>
      <p:sp>
        <p:nvSpPr>
          <p:cNvPr id="16" name="Text 14"/>
          <p:cNvSpPr txBox="1"/>
          <p:nvPr/>
        </p:nvSpPr>
        <p:spPr>
          <a:xfrm>
            <a:off x="6400800" y="260146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Hacim değişimi ve katı madde</a:t>
            </a:r>
            <a:endParaRPr lang="en-US" sz="1300" dirty="0"/>
          </a:p>
        </p:txBody>
      </p:sp>
      <p:sp>
        <p:nvSpPr>
          <p:cNvPr id="17" name="Text 15"/>
          <p:cNvSpPr txBox="1"/>
          <p:nvPr/>
        </p:nvSpPr>
        <p:spPr>
          <a:xfrm>
            <a:off x="10362895" y="2601468"/>
            <a:ext cx="1005840" cy="468630"/>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161538"/>
            <a:ext cx="5379415" cy="468630"/>
          </a:xfrm>
          <a:prstGeom prst="roundRect">
            <a:avLst>
              <a:gd name="adj" fmla="val 19512"/>
            </a:avLst>
          </a:prstGeom>
          <a:solidFill>
            <a:srgbClr val="1C2542"/>
          </a:solidFill>
          <a:ln w="9525">
            <a:solidFill>
              <a:srgbClr val="2C3860"/>
            </a:solidFill>
            <a:prstDash val="solid"/>
          </a:ln>
        </p:spPr>
      </p:sp>
      <p:sp>
        <p:nvSpPr>
          <p:cNvPr id="19" name="Text 17"/>
          <p:cNvSpPr txBox="1"/>
          <p:nvPr/>
        </p:nvSpPr>
        <p:spPr>
          <a:xfrm>
            <a:off x="6400800" y="316153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Hız sabitinin değeri ve birimi</a:t>
            </a:r>
            <a:endParaRPr lang="en-US" sz="1300" dirty="0"/>
          </a:p>
        </p:txBody>
      </p:sp>
      <p:sp>
        <p:nvSpPr>
          <p:cNvPr id="20" name="Text 18"/>
          <p:cNvSpPr txBox="1"/>
          <p:nvPr/>
        </p:nvSpPr>
        <p:spPr>
          <a:xfrm>
            <a:off x="10362895" y="3161538"/>
            <a:ext cx="1005840" cy="468630"/>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721608"/>
            <a:ext cx="5379415" cy="468630"/>
          </a:xfrm>
          <a:prstGeom prst="roundRect">
            <a:avLst>
              <a:gd name="adj" fmla="val 19512"/>
            </a:avLst>
          </a:prstGeom>
          <a:solidFill>
            <a:srgbClr val="1C2542"/>
          </a:solidFill>
          <a:ln w="9525">
            <a:solidFill>
              <a:srgbClr val="2C3860"/>
            </a:solidFill>
            <a:prstDash val="solid"/>
          </a:ln>
        </p:spPr>
      </p:sp>
      <p:sp>
        <p:nvSpPr>
          <p:cNvPr id="22" name="Text 20"/>
          <p:cNvSpPr txBox="1"/>
          <p:nvPr/>
        </p:nvSpPr>
        <p:spPr>
          <a:xfrm>
            <a:off x="6400800" y="372160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Deney tablosundan hız denklemi</a:t>
            </a:r>
            <a:endParaRPr lang="en-US" sz="1300" dirty="0"/>
          </a:p>
        </p:txBody>
      </p:sp>
      <p:sp>
        <p:nvSpPr>
          <p:cNvPr id="23" name="Text 21"/>
          <p:cNvSpPr txBox="1"/>
          <p:nvPr/>
        </p:nvSpPr>
        <p:spPr>
          <a:xfrm>
            <a:off x="10362895" y="3721608"/>
            <a:ext cx="1005840" cy="468630"/>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281678"/>
            <a:ext cx="5379415" cy="468630"/>
          </a:xfrm>
          <a:prstGeom prst="roundRect">
            <a:avLst>
              <a:gd name="adj" fmla="val 19512"/>
            </a:avLst>
          </a:prstGeom>
          <a:solidFill>
            <a:srgbClr val="1C2542"/>
          </a:solidFill>
          <a:ln w="9525">
            <a:solidFill>
              <a:srgbClr val="2C3860"/>
            </a:solidFill>
            <a:prstDash val="solid"/>
          </a:ln>
        </p:spPr>
      </p:sp>
      <p:sp>
        <p:nvSpPr>
          <p:cNvPr id="25" name="Text 23"/>
          <p:cNvSpPr txBox="1"/>
          <p:nvPr/>
        </p:nvSpPr>
        <p:spPr>
          <a:xfrm>
            <a:off x="6400800" y="428167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İki derişimin birden değiştiği tablo</a:t>
            </a:r>
            <a:endParaRPr lang="en-US" sz="1300" dirty="0"/>
          </a:p>
        </p:txBody>
      </p:sp>
      <p:sp>
        <p:nvSpPr>
          <p:cNvPr id="26" name="Text 24"/>
          <p:cNvSpPr txBox="1"/>
          <p:nvPr/>
        </p:nvSpPr>
        <p:spPr>
          <a:xfrm>
            <a:off x="10362895" y="4281678"/>
            <a:ext cx="1005840" cy="468630"/>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4841748"/>
            <a:ext cx="5379415" cy="468630"/>
          </a:xfrm>
          <a:prstGeom prst="roundRect">
            <a:avLst>
              <a:gd name="adj" fmla="val 19512"/>
            </a:avLst>
          </a:prstGeom>
          <a:solidFill>
            <a:srgbClr val="1C2542"/>
          </a:solidFill>
          <a:ln w="9525">
            <a:solidFill>
              <a:srgbClr val="2C3860"/>
            </a:solidFill>
            <a:prstDash val="solid"/>
          </a:ln>
        </p:spPr>
      </p:sp>
      <p:sp>
        <p:nvSpPr>
          <p:cNvPr id="28" name="Text 26"/>
          <p:cNvSpPr txBox="1"/>
          <p:nvPr/>
        </p:nvSpPr>
        <p:spPr>
          <a:xfrm>
            <a:off x="6400800" y="484174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Üç tepeli enerji grafiği</a:t>
            </a:r>
            <a:endParaRPr lang="en-US" sz="1300" dirty="0"/>
          </a:p>
        </p:txBody>
      </p:sp>
      <p:sp>
        <p:nvSpPr>
          <p:cNvPr id="29" name="Text 27"/>
          <p:cNvSpPr txBox="1"/>
          <p:nvPr/>
        </p:nvSpPr>
        <p:spPr>
          <a:xfrm>
            <a:off x="10362895" y="4841748"/>
            <a:ext cx="1005840" cy="468630"/>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172200" y="5401818"/>
            <a:ext cx="5379415" cy="468630"/>
          </a:xfrm>
          <a:prstGeom prst="roundRect">
            <a:avLst>
              <a:gd name="adj" fmla="val 19512"/>
            </a:avLst>
          </a:prstGeom>
          <a:solidFill>
            <a:srgbClr val="1C2542"/>
          </a:solidFill>
          <a:ln w="9525">
            <a:solidFill>
              <a:srgbClr val="2C3860"/>
            </a:solidFill>
            <a:prstDash val="solid"/>
          </a:ln>
        </p:spPr>
      </p:sp>
      <p:sp>
        <p:nvSpPr>
          <p:cNvPr id="31" name="Text 29"/>
          <p:cNvSpPr txBox="1"/>
          <p:nvPr/>
        </p:nvSpPr>
        <p:spPr>
          <a:xfrm>
            <a:off x="6400800" y="540181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8   Beş tanecikli bir tepkimenin mekanizması</a:t>
            </a:r>
            <a:endParaRPr lang="en-US" sz="1300" dirty="0"/>
          </a:p>
        </p:txBody>
      </p:sp>
      <p:sp>
        <p:nvSpPr>
          <p:cNvPr id="32" name="Text 30"/>
          <p:cNvSpPr txBox="1"/>
          <p:nvPr/>
        </p:nvSpPr>
        <p:spPr>
          <a:xfrm>
            <a:off x="10362895" y="5401818"/>
            <a:ext cx="1005840" cy="468630"/>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3" name="Shape 31"/>
          <p:cNvSpPr/>
          <p:nvPr/>
        </p:nvSpPr>
        <p:spPr>
          <a:xfrm>
            <a:off x="640080" y="6382512"/>
            <a:ext cx="128016" cy="128016"/>
          </a:xfrm>
          <a:prstGeom prst="roundRect">
            <a:avLst>
              <a:gd name="adj" fmla="val 28571"/>
            </a:avLst>
          </a:prstGeom>
          <a:solidFill>
            <a:srgbClr val="C6F36B"/>
          </a:solidFill>
          <a:ln/>
        </p:spPr>
      </p:sp>
      <p:sp>
        <p:nvSpPr>
          <p:cNvPr id="34" name="Text 3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dersler.perinet.org/hiz-denklemi.html</a:t>
            </a:r>
            <a:endParaRPr lang="en-US" sz="1050" dirty="0"/>
          </a:p>
        </p:txBody>
      </p:sp>
      <p:sp>
        <p:nvSpPr>
          <p:cNvPr id="35" name="Text 3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Tek basamaklı tepkimelerin hız denklemi</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Aşağıdaki tepkimeler tek basamakta gerçekleşiyor. Her birinin hız denklemini ve toplam derecesini yaz. (a) O(g) + O₃(g) → 2O₂(g) · (b) 2NO(g) + Cl₂(g) → 2NOCl(g) · (c) S(k) + O₂(g) → SO₂(g)</a:t>
            </a:r>
            <a:endParaRPr lang="en-US" sz="2000" dirty="0"/>
          </a:p>
        </p:txBody>
      </p:sp>
      <p:sp>
        <p:nvSpPr>
          <p:cNvPr id="11" name="Shape 9"/>
          <p:cNvSpPr/>
          <p:nvPr/>
        </p:nvSpPr>
        <p:spPr>
          <a:xfrm>
            <a:off x="3688252" y="3474720"/>
            <a:ext cx="4815191"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denklemi-14.png">    </p:cNvPr>
          <p:cNvPicPr>
            <a:picLocks noChangeAspect="1"/>
          </p:cNvPicPr>
          <p:nvPr/>
        </p:nvPicPr>
        <p:blipFill>
          <a:blip r:embed="rId1"/>
          <a:stretch>
            <a:fillRect/>
          </a:stretch>
        </p:blipFill>
        <p:spPr>
          <a:xfrm>
            <a:off x="3916852" y="3584448"/>
            <a:ext cx="4357991"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Tek basamaklı tepkimelerin hız denklemi</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Aşağıdaki tepkimeler tek basamakta gerçekleşiyor. Her birinin hız denklemini ve toplam derecesini yaz. (a) O(g) + O₃(g) → 2O₂(g) · (b) 2NO(g) + Cl₂(g) → 2NOCl(g) · (c) S(k) + O₂(g) → SO₂(g)</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üç tepkime de tek basamaklı → üsler girenlerin katsayılarıdır</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S(k) katıdır</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her tepkimenin hız denklemi ve toplam derecesi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Tek basamaklı tepkimelerin hız denklemi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Bir O ve bir O₃ çarpışır: Hız = k·[O]·[O₃]; toplam derece 1 + 1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İki NO ve bir Cl₂ çarpışır: Hız = k·[NO]²·[Cl₂]; toplam derece 2 + 1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Tek basamaklı tepkimelerin hız denklemi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 S katıdır, yazılmaz: Hız = k·[O₂]; toplam derece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Ürünler (O₂, NOCl, SO₂) hiçbir hız denkleminde yer almaz.</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Derişimler değişince hız</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Tek basamakta gerçekleşen 2NO(g) + Br₂(g) → 2NOBr(g) tepkimesinde [NO] 0,10 M'den 0,30 M'ye çıkarılıyor, [Br₂] 0,20 M'den 0,10 M'ye indiriliyor. Tepkime hızı kaç katına çıkar?</a:t>
            </a:r>
            <a:endParaRPr lang="en-US" sz="2000" dirty="0"/>
          </a:p>
        </p:txBody>
      </p:sp>
      <p:sp>
        <p:nvSpPr>
          <p:cNvPr id="11" name="Shape 9"/>
          <p:cNvSpPr/>
          <p:nvPr/>
        </p:nvSpPr>
        <p:spPr>
          <a:xfrm>
            <a:off x="3428848" y="3474720"/>
            <a:ext cx="5334000"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denklemi-15.png">    </p:cNvPr>
          <p:cNvPicPr>
            <a:picLocks noChangeAspect="1"/>
          </p:cNvPicPr>
          <p:nvPr/>
        </p:nvPicPr>
        <p:blipFill>
          <a:blip r:embed="rId1"/>
          <a:stretch>
            <a:fillRect/>
          </a:stretch>
        </p:blipFill>
        <p:spPr>
          <a:xfrm>
            <a:off x="3657448" y="3584448"/>
            <a:ext cx="4876800"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Derişimler değişince hız</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Tek basamakta gerçekleşen 2NO(g) + Br₂(g) → 2NOBr(g) tepkimesinde [NO] 0,10 M'den 0,30 M'ye çıkarılıyor, [Br₂] 0,20 M'den 0,10 M'ye indiriliyor. Tepkime hızı kaç katına çıkar?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tek basamaklı → Hız = k·[NO]²·[Br₂]</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[NO]: 0,10 → 0,30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[Br₂]: 0,20 → 0,10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sıcaklık sabit → k aynı</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yeni hızın eski hıza oranı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Derişimler değişince hız</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[NO] çarpanı: 0,30 ÷ 0,10 = 3 → katkısı 3² = 9.</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[Br₂] çarpanı: 0,10 ÷ 0,20 = ½ → katkısı (½)¹ = ½.</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Derişimler değişince hız</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Hız çarpanı: 9 · ½ = 4,5 → hız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4,5 katına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çıkar.</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NO'daki artış Br₂'deki azalmadan daha etkili, çünkü NO'nun üssü daha büyük.</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Hacim değişimi ve katı madde</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Tek basamaklı X(k) + 2Y(g) → XY₂(g) tepkimesi pistonlu bir kapta yürüyor. (a) Kabın hacmi yarıya indirilirse hız kaç katına çıkar? (b) Hacim değişmeden kaba bir miktar daha X(k) eklenirse hız ne olur? (c) k'nın birimi nedir?</a:t>
            </a:r>
            <a:endParaRPr lang="en-US" sz="2000" dirty="0"/>
          </a:p>
        </p:txBody>
      </p:sp>
      <p:sp>
        <p:nvSpPr>
          <p:cNvPr id="11" name="Shape 9"/>
          <p:cNvSpPr/>
          <p:nvPr/>
        </p:nvSpPr>
        <p:spPr>
          <a:xfrm>
            <a:off x="3123930" y="3474720"/>
            <a:ext cx="5943836"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denklemi-16.png">    </p:cNvPr>
          <p:cNvPicPr>
            <a:picLocks noChangeAspect="1"/>
          </p:cNvPicPr>
          <p:nvPr/>
        </p:nvPicPr>
        <p:blipFill>
          <a:blip r:embed="rId1"/>
          <a:stretch>
            <a:fillRect/>
          </a:stretch>
        </p:blipFill>
        <p:spPr>
          <a:xfrm>
            <a:off x="3352530" y="3584448"/>
            <a:ext cx="5486636"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Hacim değişimi ve katı madde</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Tek basamaklı X(k) + 2Y(g) → XY₂(g) tepkimesi pistonlu bir kapta yürüyor. (a) Kabın hacmi yarıya indirilirse hız kaç katına çıkar? (b) Hacim değişmeden kaba bir miktar daha X(k) eklenirse hız ne olur? (c) k'nın birimi nedir?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tek basamaklı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X katı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Y gaz, katsayısı 2</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sıcaklık sabit</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hacim yarıya inince hız çarpanı</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X(k) eklenince hız</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k'nın birimi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Hacim değişimi ve katı madde</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Hız denklemi: X katı olduğu için yazılmaz → Hız = k·[Y]²; toplam derece 2.</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Hacim yarıya → [Y] 2 katı → hız 2²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 katına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çıkar.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Hacim değişimi ve katı madde</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Katının derişimi sabittir; X eklemek [Y]'yi değiştirmez → temas yüzeyi aynı kaldıkça hız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değişmez</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 n = 2 → M¹⁻²·s⁻¹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M⁻¹·s⁻¹</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yani L/(mol·s).</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Hız sabitinin değeri ve birimi</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Hız denklemi Hız = k·[A]²·[B] olan bir tepkimede [A] = 0,20 M ve [B] = 0,10 M iken hız 6,0·10⁻³ M/s ölçülüyor. (a) k'nın değeri ve birimi nedir? (b) Aynı sıcaklıkta [A] = 0,10 M, [B] = 0,40 M olursa hız ne olur?</a:t>
            </a:r>
            <a:endParaRPr lang="en-US" sz="2000" dirty="0"/>
          </a:p>
        </p:txBody>
      </p:sp>
      <p:sp>
        <p:nvSpPr>
          <p:cNvPr id="11" name="Shape 9"/>
          <p:cNvSpPr/>
          <p:nvPr/>
        </p:nvSpPr>
        <p:spPr>
          <a:xfrm>
            <a:off x="3195498" y="3474720"/>
            <a:ext cx="5800700"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denklemi-17.png">    </p:cNvPr>
          <p:cNvPicPr>
            <a:picLocks noChangeAspect="1"/>
          </p:cNvPicPr>
          <p:nvPr/>
        </p:nvPicPr>
        <p:blipFill>
          <a:blip r:embed="rId1"/>
          <a:stretch>
            <a:fillRect/>
          </a:stretch>
        </p:blipFill>
        <p:spPr>
          <a:xfrm>
            <a:off x="3424098" y="3584448"/>
            <a:ext cx="5343500"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Hız sabitinin değeri ve birimi</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Hız denklemi Hız = k·[A]²·[B] olan bir tepkimede [A] = 0,20 M ve [B] = 0,10 M iken hız 6,0·10⁻³ M/s ölçülüyor. (a) k'nın değeri ve birimi nedir? (b) Aynı sıcaklıkta [A] = 0,10 M, [B] = 0,40 M olursa hız ne olur?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Hız = k·[A]²·[B]</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 0,20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 0,10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Hız = 6,0·10⁻³ M/s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sıcaklık aynı → k aynı</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k ve birimi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yeni derişimlerde hız</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Hız sabitinin değeri ve birimi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 = Hız ÷ ([A]²·[B]) = 6,0·10⁻³ ÷ (0,20² · 0,10) = 6,0·10⁻³ ÷ 4,0·10⁻³</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1,5 M⁻²·s⁻¹</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toplam derece 3 olduğu için birim M¹⁻³·s⁻¹ = L²/(mol²·s).</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Hız sabitinin değeri ve birimi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Hız = 1,5 · 0,10² · 0,40 = 1,5 · 4,0·10⁻³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6,0·10⁻³ M/s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[A] yarıya → (½)² = ¼; [B] 4 katı → 4; ¼ · 4 = 1, hız değişmedi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Deney tablosundan hız denklemi</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Belli bir sıcaklıkta 2NO(g) + 2H₂(g) → N₂(g) + 2H₂O(g) tepkimesi için üç deney yapılıyor; sonuçlar çizimde. Hız denklemini ve k'yı bul. Bu tepkime tek basamaklı olabilir mi?</a:t>
            </a:r>
            <a:endParaRPr lang="en-US" sz="2000" dirty="0"/>
          </a:p>
        </p:txBody>
      </p:sp>
      <p:sp>
        <p:nvSpPr>
          <p:cNvPr id="11" name="Shape 9"/>
          <p:cNvSpPr/>
          <p:nvPr/>
        </p:nvSpPr>
        <p:spPr>
          <a:xfrm>
            <a:off x="3409293" y="3474720"/>
            <a:ext cx="5373109"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denklemi-18.png">    </p:cNvPr>
          <p:cNvPicPr>
            <a:picLocks noChangeAspect="1"/>
          </p:cNvPicPr>
          <p:nvPr/>
        </p:nvPicPr>
        <p:blipFill>
          <a:blip r:embed="rId1"/>
          <a:stretch>
            <a:fillRect/>
          </a:stretch>
        </p:blipFill>
        <p:spPr>
          <a:xfrm>
            <a:off x="3637893" y="3584448"/>
            <a:ext cx="4915909"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Deney tablosundan hız denklemi</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Belli bir sıcaklıkta 2NO(g) + 2H₂(g) → N₂(g) + 2H₂O(g) tepkimesi için üç deney yapılıyor; sonuçlar çizimde. Hız denklemini ve k'yı bul. Bu tepkime tek basamaklı olabilir mi?</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750" dirty="0">
                <a:solidFill>
                  <a:srgbClr val="0E1426"/>
                </a:solidFill>
                <a:latin typeface="Calibri" pitchFamily="34" charset="0"/>
                <a:ea typeface="Calibri" pitchFamily="34" charset="-122"/>
                <a:cs typeface="Calibri" pitchFamily="34" charset="-120"/>
              </a:rPr>
              <a:t>([NO], [H₂] → Hız) Deney 1: 0,10 M, 0,10 M → 4,0·10⁻³ M/s</a:t>
            </a:r>
            <a:endParaRPr lang="en-US" sz="1750" dirty="0"/>
          </a:p>
          <a:p>
            <a:pPr marL="203200" indent="-203200">
              <a:lnSpc>
                <a:spcPct val="110000"/>
              </a:lnSpc>
              <a:spcAft>
                <a:spcPts val="500"/>
              </a:spcAft>
              <a:buSzPct val="100000"/>
              <a:buChar char="▪"/>
            </a:pPr>
            <a:r>
              <a:rPr lang="en-US" sz="1750" dirty="0">
                <a:solidFill>
                  <a:srgbClr val="0E1426"/>
                </a:solidFill>
                <a:latin typeface="Calibri" pitchFamily="34" charset="0"/>
                <a:ea typeface="Calibri" pitchFamily="34" charset="-122"/>
                <a:cs typeface="Calibri" pitchFamily="34" charset="-120"/>
              </a:rPr>
              <a:t>Deney 2: 0,10 M, 0,20 M → 8,0·10⁻³ M/s</a:t>
            </a:r>
            <a:endParaRPr lang="en-US" sz="1750" dirty="0"/>
          </a:p>
          <a:p>
            <a:pPr marL="203200" indent="-203200">
              <a:lnSpc>
                <a:spcPct val="110000"/>
              </a:lnSpc>
              <a:spcAft>
                <a:spcPts val="500"/>
              </a:spcAft>
              <a:buSzPct val="100000"/>
              <a:buChar char="▪"/>
            </a:pPr>
            <a:r>
              <a:rPr lang="en-US" sz="1750" dirty="0">
                <a:solidFill>
                  <a:srgbClr val="0E1426"/>
                </a:solidFill>
                <a:latin typeface="Calibri" pitchFamily="34" charset="0"/>
                <a:ea typeface="Calibri" pitchFamily="34" charset="-122"/>
                <a:cs typeface="Calibri" pitchFamily="34" charset="-120"/>
              </a:rPr>
              <a:t>Deney 3: 0,30 M, 0,20 M → 7,2·10⁻² M/s</a:t>
            </a:r>
            <a:endParaRPr lang="en-US" sz="175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hız denklemindeki üsler x ve y</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k</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tek basamaklı mı?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Deney tablosundan hız denklemi</a:t>
            </a:r>
            <a:endParaRPr lang="en-US" sz="1450" dirty="0"/>
          </a:p>
        </p:txBody>
      </p:sp>
      <p:sp>
        <p:nvSpPr>
          <p:cNvPr id="8" name="Shape 6"/>
          <p:cNvSpPr/>
          <p:nvPr/>
        </p:nvSpPr>
        <p:spPr>
          <a:xfrm>
            <a:off x="640080" y="1645920"/>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18599"/>
            <a:ext cx="420624" cy="420624"/>
          </a:xfrm>
          <a:prstGeom prst="roundRect">
            <a:avLst>
              <a:gd name="adj" fmla="val 26000"/>
            </a:avLst>
          </a:prstGeom>
          <a:solidFill>
            <a:srgbClr val="A56209"/>
          </a:solidFill>
          <a:ln/>
        </p:spPr>
      </p:sp>
      <p:sp>
        <p:nvSpPr>
          <p:cNvPr id="10" name="Text 8"/>
          <p:cNvSpPr txBox="1"/>
          <p:nvPr/>
        </p:nvSpPr>
        <p:spPr>
          <a:xfrm>
            <a:off x="914400" y="2218599"/>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 ve 2: [NO] sabit, [H₂] 2 katı, hız 8,0·10⁻³ ÷ 4,0·10⁻³ = 2 katı → 2ʸ = 2,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y = 1</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3376494"/>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949174"/>
            <a:ext cx="420624" cy="420624"/>
          </a:xfrm>
          <a:prstGeom prst="roundRect">
            <a:avLst>
              <a:gd name="adj" fmla="val 26000"/>
            </a:avLst>
          </a:prstGeom>
          <a:solidFill>
            <a:srgbClr val="A56209"/>
          </a:solidFill>
          <a:ln/>
        </p:spPr>
      </p:sp>
      <p:sp>
        <p:nvSpPr>
          <p:cNvPr id="14" name="Text 12"/>
          <p:cNvSpPr txBox="1"/>
          <p:nvPr/>
        </p:nvSpPr>
        <p:spPr>
          <a:xfrm>
            <a:off x="914400" y="394917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31358"/>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2 ve 3: [H₂] sabit, [NO] 3 katı, hız 7,2·10⁻² ÷ 8,0·10⁻³ = 9 katı → 3ˣ = 9,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x = 2</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5107069"/>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415606"/>
            <a:ext cx="420624" cy="420624"/>
          </a:xfrm>
          <a:prstGeom prst="roundRect">
            <a:avLst>
              <a:gd name="adj" fmla="val 26000"/>
            </a:avLst>
          </a:prstGeom>
          <a:solidFill>
            <a:srgbClr val="A56209"/>
          </a:solidFill>
          <a:ln/>
        </p:spPr>
      </p:sp>
      <p:sp>
        <p:nvSpPr>
          <p:cNvPr id="18" name="Text 16"/>
          <p:cNvSpPr txBox="1"/>
          <p:nvPr/>
        </p:nvSpPr>
        <p:spPr>
          <a:xfrm>
            <a:off x="914400" y="541560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5161933"/>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Hız = k·[NO]²·[H₂]; toplam derece 3.</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Deney tablosundan hız denklemi</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 = 4,0·10⁻³ ÷ (0,10² · 0,10)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4,0 M⁻²·s⁻¹</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Kontrol (3. deney): 4,0 · 0,30² · 0,20 = 7,2·10⁻² ✓</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Tek basamaklı olsaydı [H₂]'nin üssü 2 olurdu; girenlerde dört tanecik de var. Tepkime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çok basamaklıdır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derişimin birden değiştiği tablo</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2NO₂(g) + F₂(g) → 2NO₂F(g) tepkimesinin dört deneyi çizimdeki tabloda. (a) Hız denklemini ve k'yı bul. (b) 4. deneydeki hızı hesapla. (c) Tepkime tek basamaklı olabilir mi?</a:t>
            </a:r>
            <a:endParaRPr lang="en-US" sz="2000" dirty="0"/>
          </a:p>
        </p:txBody>
      </p:sp>
      <p:sp>
        <p:nvSpPr>
          <p:cNvPr id="11" name="Shape 9"/>
          <p:cNvSpPr/>
          <p:nvPr/>
        </p:nvSpPr>
        <p:spPr>
          <a:xfrm>
            <a:off x="3428848" y="3474720"/>
            <a:ext cx="5334000"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denklemi-19.png">    </p:cNvPr>
          <p:cNvPicPr>
            <a:picLocks noChangeAspect="1"/>
          </p:cNvPicPr>
          <p:nvPr/>
        </p:nvPicPr>
        <p:blipFill>
          <a:blip r:embed="rId1"/>
          <a:stretch>
            <a:fillRect/>
          </a:stretch>
        </p:blipFill>
        <p:spPr>
          <a:xfrm>
            <a:off x="3657448" y="3584448"/>
            <a:ext cx="4876800"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derişimin birden değiştiği tablo</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2NO₂(g) + F₂(g) → 2NO₂F(g) tepkimesinin dört deneyi çizimdeki tabloda. (a) Hız denklemini ve k'yı bul. (b) 4. deneydeki hızı hesapla. (c) Tepkime tek basamaklı olabilir mi?</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([NO₂], [F₂] → Hız) Deney 1: 0,10; 0,10 → 5,0·10⁻⁴</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Deney 2: 0,20; 0,10 → 1,0·10⁻³</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Deney 3: 0,40; 0,05 → 1,0·10⁻³</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Deney 4: 0,30; 0,20 → ?</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hız denklemi ve k</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4. deneydeki hız</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tek basamaklı mı?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derişimin birden değiştiği tablo</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 ve 2: [F₂] sabit, [NO₂] 2 katı, hız 2 katı → [NO₂]'nin üssü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x = 1</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2 ve 3: [NO₂] 2 katı (katkısı 2¹ = 2), [F₂] yarıya, hız değişmedi → 2 · (½)ʸ = 1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y = 1</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66709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993234"/>
            <a:ext cx="420624" cy="420624"/>
          </a:xfrm>
          <a:prstGeom prst="roundRect">
            <a:avLst>
              <a:gd name="adj" fmla="val 26000"/>
            </a:avLst>
          </a:prstGeom>
          <a:solidFill>
            <a:srgbClr val="A56209"/>
          </a:solidFill>
          <a:ln/>
        </p:spPr>
      </p:sp>
      <p:sp>
        <p:nvSpPr>
          <p:cNvPr id="18" name="Text 16"/>
          <p:cNvSpPr txBox="1"/>
          <p:nvPr/>
        </p:nvSpPr>
        <p:spPr>
          <a:xfrm>
            <a:off x="914400" y="499323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72196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Hız = k·[NO₂]·[F₂]; k = 5,0·10⁻⁴ ÷ (0,10 · 0,10)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0,050 M⁻¹·s⁻¹</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derişimin birden değiştiği tablo</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Hız₄ = 0,050 · 0,30 · 0,20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3,0·10⁻³ M/s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2165299"/>
          </a:xfrm>
          <a:prstGeom prst="roundRect">
            <a:avLst>
              <a:gd name="adj" fmla="val 675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20555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 Tek basamaklı olsaydı Hız = k·[NO₂]²·[F₂] olurdu; ölçülen üs 1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çok basamaklıdır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Yavaş basamakta bir NO₂ ile bir F₂ çarpışır (“Mekanizmayı ipuçlarından okumak” bölümüne bak).</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Üç tepeli enerji grafiği</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Üç basamakta yürüyen bir tepkimenin potansiyel enerji grafiği çizimde. (a) Hangi basamak en yavaştır? (b) Tepkimenin ΔH'si nedir, tepkime ekzotermik mi? (c) Kaç ara ürün vardır?</a:t>
            </a:r>
            <a:endParaRPr lang="en-US" sz="2000" dirty="0"/>
          </a:p>
        </p:txBody>
      </p:sp>
      <p:sp>
        <p:nvSpPr>
          <p:cNvPr id="11" name="Shape 9"/>
          <p:cNvSpPr/>
          <p:nvPr/>
        </p:nvSpPr>
        <p:spPr>
          <a:xfrm>
            <a:off x="3818992" y="3474720"/>
            <a:ext cx="4553712"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denklemi-20.png">    </p:cNvPr>
          <p:cNvPicPr>
            <a:picLocks noChangeAspect="1"/>
          </p:cNvPicPr>
          <p:nvPr/>
        </p:nvPicPr>
        <p:blipFill>
          <a:blip r:embed="rId1"/>
          <a:stretch>
            <a:fillRect/>
          </a:stretch>
        </p:blipFill>
        <p:spPr>
          <a:xfrm>
            <a:off x="4047592" y="3584448"/>
            <a:ext cx="4096512"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Üç tepeli enerji grafiği</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Üç basamakta yürüyen bir tepkimenin potansiyel enerji grafiği çizimde. (a) Hangi basamak en yavaştır? (b) Tepkimenin ΔH'si nedir, tepkime ekzotermik mi? (c) Kaç ara ürün vardır?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seviyeler (kJ): girenler 0</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1. tepe 80</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1. çukur −20</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2. tepe 70</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2. çukur 10</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3. tepe 40</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ürünler −50</a:t>
            </a:r>
            <a:endParaRPr lang="en-US" sz="125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en yavaş basamak</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ΔH ve tepkimenin türü</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ara ürün sayısı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Üç tepeli enerji grafiği</a:t>
            </a:r>
            <a:endParaRPr lang="en-US" sz="1450" dirty="0"/>
          </a:p>
        </p:txBody>
      </p:sp>
      <p:sp>
        <p:nvSpPr>
          <p:cNvPr id="8" name="Shape 6"/>
          <p:cNvSpPr/>
          <p:nvPr/>
        </p:nvSpPr>
        <p:spPr>
          <a:xfrm>
            <a:off x="640080" y="1645920"/>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18599"/>
            <a:ext cx="420624" cy="420624"/>
          </a:xfrm>
          <a:prstGeom prst="roundRect">
            <a:avLst>
              <a:gd name="adj" fmla="val 26000"/>
            </a:avLst>
          </a:prstGeom>
          <a:solidFill>
            <a:srgbClr val="A56209"/>
          </a:solidFill>
          <a:ln/>
        </p:spPr>
      </p:sp>
      <p:sp>
        <p:nvSpPr>
          <p:cNvPr id="10" name="Text 8"/>
          <p:cNvSpPr txBox="1"/>
          <p:nvPr/>
        </p:nvSpPr>
        <p:spPr>
          <a:xfrm>
            <a:off x="914400" y="2218599"/>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Her basamağın Ea'sı kendi başlangıç seviyesinden ölçülür: Ea₁ = 80 − 0 = 80 kJ.</a:t>
            </a:r>
            <a:endParaRPr lang="en-US" sz="2000" dirty="0"/>
          </a:p>
        </p:txBody>
      </p:sp>
      <p:sp>
        <p:nvSpPr>
          <p:cNvPr id="12" name="Shape 10"/>
          <p:cNvSpPr/>
          <p:nvPr/>
        </p:nvSpPr>
        <p:spPr>
          <a:xfrm>
            <a:off x="640080" y="3376494"/>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685032"/>
            <a:ext cx="420624" cy="420624"/>
          </a:xfrm>
          <a:prstGeom prst="roundRect">
            <a:avLst>
              <a:gd name="adj" fmla="val 26000"/>
            </a:avLst>
          </a:prstGeom>
          <a:solidFill>
            <a:srgbClr val="A56209"/>
          </a:solidFill>
          <a:ln/>
        </p:spPr>
      </p:sp>
      <p:sp>
        <p:nvSpPr>
          <p:cNvPr id="14" name="Text 12"/>
          <p:cNvSpPr txBox="1"/>
          <p:nvPr/>
        </p:nvSpPr>
        <p:spPr>
          <a:xfrm>
            <a:off x="914400" y="3685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31358"/>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Ea₂ = 70 − (−20) = 90 kJ; Ea₃ = 40 − 10 = 30 kJ.</a:t>
            </a:r>
            <a:endParaRPr lang="en-US" sz="2000" dirty="0"/>
          </a:p>
        </p:txBody>
      </p:sp>
      <p:sp>
        <p:nvSpPr>
          <p:cNvPr id="16" name="Shape 14"/>
          <p:cNvSpPr/>
          <p:nvPr/>
        </p:nvSpPr>
        <p:spPr>
          <a:xfrm>
            <a:off x="640080" y="4578786"/>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151465"/>
            <a:ext cx="420624" cy="420624"/>
          </a:xfrm>
          <a:prstGeom prst="roundRect">
            <a:avLst>
              <a:gd name="adj" fmla="val 26000"/>
            </a:avLst>
          </a:prstGeom>
          <a:solidFill>
            <a:srgbClr val="A56209"/>
          </a:solidFill>
          <a:ln/>
        </p:spPr>
      </p:sp>
      <p:sp>
        <p:nvSpPr>
          <p:cNvPr id="18" name="Text 16"/>
          <p:cNvSpPr txBox="1"/>
          <p:nvPr/>
        </p:nvSpPr>
        <p:spPr>
          <a:xfrm>
            <a:off x="914400" y="515146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633650"/>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En büyük Ea 2. basamakta: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en yavaş basamak 2.</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En yüksek tepe 1. basamakta olsa da 2. basamak daha derin bir çukurdan başlar.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Üç tepeli enerji grafiği</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ΔH = −50 − 0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−50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ürünler girenlerden aşağıda, tepkime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ekzotermik</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 İki çukur var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iki ara ürün</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125</a:t>
            </a:r>
            <a:endParaRPr lang="en-US" sz="10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Beş tanecikli bir tepkimenin mekanizması</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4HBr(g) + O₂(g) → 2H₂O(g) + 2Br₂(g) tepkimesinin deneysel hız denklemi Hız = k·[HBr]·[O₂]'dir. Önerilen mekanizmanın basamakları çizimde. (a) Tepkime tek basamaklı olabilir mi? (b) Hangi basamak yavaştır? (c) Ara ürünler hangileri, 3. basamak kaç kez yürümeli? (d) Kabın hacmi yarıya inerse hız kaç katına çıkar?</a:t>
            </a:r>
            <a:endParaRPr lang="en-US" sz="1900" dirty="0"/>
          </a:p>
        </p:txBody>
      </p:sp>
      <p:sp>
        <p:nvSpPr>
          <p:cNvPr id="11" name="Shape 9"/>
          <p:cNvSpPr/>
          <p:nvPr/>
        </p:nvSpPr>
        <p:spPr>
          <a:xfrm>
            <a:off x="3827690" y="3757574"/>
            <a:ext cx="4536316"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denklemi-21.png">    </p:cNvPr>
          <p:cNvPicPr>
            <a:picLocks noChangeAspect="1"/>
          </p:cNvPicPr>
          <p:nvPr/>
        </p:nvPicPr>
        <p:blipFill>
          <a:blip r:embed="rId1"/>
          <a:stretch>
            <a:fillRect/>
          </a:stretch>
        </p:blipFill>
        <p:spPr>
          <a:xfrm>
            <a:off x="4056290" y="3867302"/>
            <a:ext cx="4079116"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126</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8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Beş tanecikli bir tepkimenin mekanizması</a:t>
            </a:r>
            <a:endParaRPr lang="en-US" sz="1450" dirty="0"/>
          </a:p>
        </p:txBody>
      </p:sp>
      <p:sp>
        <p:nvSpPr>
          <p:cNvPr id="8" name="Shape 6"/>
          <p:cNvSpPr/>
          <p:nvPr/>
        </p:nvSpPr>
        <p:spPr>
          <a:xfrm>
            <a:off x="640080" y="1645920"/>
            <a:ext cx="10911535" cy="2377440"/>
          </a:xfrm>
          <a:prstGeom prst="roundRect">
            <a:avLst>
              <a:gd name="adj" fmla="val 615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828800"/>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4HBr(g) + O₂(g) → 2H₂O(g) + 2Br₂(g) tepkimesinin deneysel hız denklemi Hız = k·[HBr]·[O₂]'dir. Önerilen mekanizmanın basamakları çizimde. (a) Tepkime tek basamaklı olabilir mi? (b) Hangi basamak yavaştır? (c) Ara ürünler hangileri, 3. basamak kaç kez yürümeli? (d) Kabın hacmi yarıya inerse hız kaç katına çıkar?</a:t>
            </a:r>
            <a:endParaRPr lang="en-US" sz="2000" dirty="0"/>
          </a:p>
        </p:txBody>
      </p:sp>
      <p:sp>
        <p:nvSpPr>
          <p:cNvPr id="11" name="Shape 9"/>
          <p:cNvSpPr/>
          <p:nvPr/>
        </p:nvSpPr>
        <p:spPr>
          <a:xfrm>
            <a:off x="640080"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389120"/>
            <a:ext cx="54864" cy="1591056"/>
          </a:xfrm>
          <a:prstGeom prst="rect">
            <a:avLst/>
          </a:prstGeom>
          <a:solidFill>
            <a:srgbClr val="2957D4"/>
          </a:solidFill>
          <a:ln/>
        </p:spPr>
      </p:sp>
      <p:sp>
        <p:nvSpPr>
          <p:cNvPr id="13" name="Text 11"/>
          <p:cNvSpPr txBox="1"/>
          <p:nvPr/>
        </p:nvSpPr>
        <p:spPr>
          <a:xfrm>
            <a:off x="914400" y="4370832"/>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650" dirty="0">
                <a:solidFill>
                  <a:srgbClr val="0E1426"/>
                </a:solidFill>
                <a:latin typeface="Calibri" pitchFamily="34" charset="0"/>
                <a:ea typeface="Calibri" pitchFamily="34" charset="-122"/>
                <a:cs typeface="Calibri" pitchFamily="34" charset="-120"/>
              </a:rPr>
              <a:t>net denklem</a:t>
            </a:r>
            <a:endParaRPr lang="en-US" sz="1650" dirty="0"/>
          </a:p>
          <a:p>
            <a:pPr marL="203200" indent="-203200">
              <a:lnSpc>
                <a:spcPct val="110000"/>
              </a:lnSpc>
              <a:spcAft>
                <a:spcPts val="500"/>
              </a:spcAft>
              <a:buSzPct val="100000"/>
              <a:buChar char="▪"/>
            </a:pPr>
            <a:r>
              <a:rPr lang="en-US" sz="1650" dirty="0">
                <a:solidFill>
                  <a:srgbClr val="0E1426"/>
                </a:solidFill>
                <a:latin typeface="Calibri" pitchFamily="34" charset="0"/>
                <a:ea typeface="Calibri" pitchFamily="34" charset="-122"/>
                <a:cs typeface="Calibri" pitchFamily="34" charset="-120"/>
              </a:rPr>
              <a:t>deneysel Hız = k·[HBr]·[O₂]</a:t>
            </a:r>
            <a:endParaRPr lang="en-US" sz="1650" dirty="0"/>
          </a:p>
          <a:p>
            <a:pPr marL="203200" indent="-203200">
              <a:lnSpc>
                <a:spcPct val="110000"/>
              </a:lnSpc>
              <a:spcAft>
                <a:spcPts val="500"/>
              </a:spcAft>
              <a:buSzPct val="100000"/>
              <a:buChar char="▪"/>
            </a:pPr>
            <a:r>
              <a:rPr lang="en-US" sz="1650" dirty="0">
                <a:solidFill>
                  <a:srgbClr val="0E1426"/>
                </a:solidFill>
                <a:latin typeface="Calibri" pitchFamily="34" charset="0"/>
                <a:ea typeface="Calibri" pitchFamily="34" charset="-122"/>
                <a:cs typeface="Calibri" pitchFamily="34" charset="-120"/>
              </a:rPr>
              <a:t>basamaklar: HBr + O₂ → HOOBr; HOOBr + HBr → 2HOBr; HOBr + HBr → H₂O + Br₂</a:t>
            </a:r>
            <a:endParaRPr lang="en-US" sz="1650" dirty="0"/>
          </a:p>
        </p:txBody>
      </p:sp>
      <p:sp>
        <p:nvSpPr>
          <p:cNvPr id="15" name="Shape 13"/>
          <p:cNvSpPr/>
          <p:nvPr/>
        </p:nvSpPr>
        <p:spPr>
          <a:xfrm>
            <a:off x="6233008"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389120"/>
            <a:ext cx="54864" cy="1591056"/>
          </a:xfrm>
          <a:prstGeom prst="rect">
            <a:avLst/>
          </a:prstGeom>
          <a:solidFill>
            <a:srgbClr val="5F4BD8"/>
          </a:solidFill>
          <a:ln/>
        </p:spPr>
      </p:sp>
      <p:sp>
        <p:nvSpPr>
          <p:cNvPr id="17" name="Text 15"/>
          <p:cNvSpPr txBox="1"/>
          <p:nvPr/>
        </p:nvSpPr>
        <p:spPr>
          <a:xfrm>
            <a:off x="6507328" y="4370832"/>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(a) tek basamaklı mı</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(b) yavaş basamak</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(c) ara ürünler ve 3. basamağın sayısı</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(d) hız çarpanı</a:t>
            </a:r>
            <a:endParaRPr lang="en-US" sz="155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127</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Beş tanecikli bir tepkimenin mekanizması</a:t>
            </a:r>
            <a:endParaRPr lang="en-US" sz="1450" dirty="0"/>
          </a:p>
        </p:txBody>
      </p:sp>
      <p:sp>
        <p:nvSpPr>
          <p:cNvPr id="8" name="Shape 6"/>
          <p:cNvSpPr/>
          <p:nvPr/>
        </p:nvSpPr>
        <p:spPr>
          <a:xfrm>
            <a:off x="640080" y="1645920"/>
            <a:ext cx="10911535" cy="1389888"/>
          </a:xfrm>
          <a:prstGeom prst="roundRect">
            <a:avLst>
              <a:gd name="adj" fmla="val 105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130552"/>
            <a:ext cx="420624" cy="420624"/>
          </a:xfrm>
          <a:prstGeom prst="roundRect">
            <a:avLst>
              <a:gd name="adj" fmla="val 26000"/>
            </a:avLst>
          </a:prstGeom>
          <a:solidFill>
            <a:srgbClr val="A56209"/>
          </a:solidFill>
          <a:ln/>
        </p:spPr>
      </p:sp>
      <p:sp>
        <p:nvSpPr>
          <p:cNvPr id="10" name="Text 8"/>
          <p:cNvSpPr txBox="1"/>
          <p:nvPr/>
        </p:nvSpPr>
        <p:spPr>
          <a:xfrm>
            <a:off x="914400" y="213055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28016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Girenlerde 4 + 1 = 5 tanecik var; beş taneciğin aynı anda çarpışması olanaksızdır. Üsler de katsayılara uymuyor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çok basamaklı</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3200400"/>
            <a:ext cx="10911535" cy="1389888"/>
          </a:xfrm>
          <a:prstGeom prst="roundRect">
            <a:avLst>
              <a:gd name="adj" fmla="val 105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685032"/>
            <a:ext cx="420624" cy="420624"/>
          </a:xfrm>
          <a:prstGeom prst="roundRect">
            <a:avLst>
              <a:gd name="adj" fmla="val 26000"/>
            </a:avLst>
          </a:prstGeom>
          <a:solidFill>
            <a:srgbClr val="A56209"/>
          </a:solidFill>
          <a:ln/>
        </p:spPr>
      </p:sp>
      <p:sp>
        <p:nvSpPr>
          <p:cNvPr id="14" name="Text 12"/>
          <p:cNvSpPr txBox="1"/>
          <p:nvPr/>
        </p:nvSpPr>
        <p:spPr>
          <a:xfrm>
            <a:off x="914400" y="3685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255264"/>
            <a:ext cx="9859975" cy="128016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Yavaş basamağın girenleri, hız denklemindekilerle aynıdır: bir HBr ve bir O₂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 basamak</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754880"/>
            <a:ext cx="10911535" cy="1389888"/>
          </a:xfrm>
          <a:prstGeom prst="roundRect">
            <a:avLst>
              <a:gd name="adj" fmla="val 1052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239512"/>
            <a:ext cx="420624" cy="420624"/>
          </a:xfrm>
          <a:prstGeom prst="roundRect">
            <a:avLst>
              <a:gd name="adj" fmla="val 26000"/>
            </a:avLst>
          </a:prstGeom>
          <a:solidFill>
            <a:srgbClr val="A56209"/>
          </a:solidFill>
          <a:ln/>
        </p:spPr>
      </p:sp>
      <p:sp>
        <p:nvSpPr>
          <p:cNvPr id="18" name="Text 16"/>
          <p:cNvSpPr txBox="1"/>
          <p:nvPr/>
        </p:nvSpPr>
        <p:spPr>
          <a:xfrm>
            <a:off x="914400" y="523951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809744"/>
            <a:ext cx="9859975" cy="128016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 HOOBr 1. basamakta oluşup 2.'de, HOBr 2.'de oluşup 3.'de harcanır: ikisi de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ara üründür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128</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Beş tanecikli bir tepkimenin mekanizması</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2. basamak 2 HOBr verir; ikisinin de harcanması için 3. basamak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 kez</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yürür. Toplam: 4HBr + O₂ → 2H₂O + 2Br₂ ✓</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 Hacim yarıya → [HBr] ve [O₂] ikişer katı → hız 2 · 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 katına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çıkar.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129</a:t>
            </a:r>
            <a:endParaRPr lang="en-US" sz="10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Tek basamakta gerçekleşen NO(g) + NO₃(g) → 2NO₂(g) tepkimesinin hız denklemi ve toplam derecesi nedir?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sıcaklık hep sabit.</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130</a:t>
            </a:r>
            <a:endParaRPr lang="en-US" sz="10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Tek basamakta gerçekleşen NO(g) + NO₃(g) → 2NO₂(g) tepkimesinin hız denklemi ve toplam derecesi nedir?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Tek basamaklı olduğu için üsler katsayılardır: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Hız = k·[NO]·[NO₃]</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toplam derece 1 + 1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Ürün NO₂ yazılmaz.</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131</a:t>
            </a:r>
            <a:endParaRPr lang="en-US" sz="10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Hız denklemi Hız = k·[X]²·[Y] olan bir tepkimede [X] yarıya indirilirse hız kaç katına çıkar?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sıcaklık hep sabit.</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132</a:t>
            </a:r>
            <a:endParaRPr lang="en-US" sz="10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Hız denklemi Hız = k·[X]²·[Y] olan bir tepkimede [X] yarıya indirilirse hız kaç katına çıkar?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X'in katkısı (½)² = ¼; Y değişmedi. Hız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dörtte birine</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düşer.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133</a:t>
            </a:r>
            <a:endParaRPr lang="en-US" sz="10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Hız denklemi Hız = k·[A]·[B]² olan bir tepkimede k'nın birimi nedir?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sıcaklık hep sabit.</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134</a:t>
            </a:r>
            <a:endParaRPr lang="en-US" sz="10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Hız denklemi Hız = k·[A]·[B]² olan bir tepkimede k'nın birimi nedir?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Toplam derece 1 + 2 = 3 → k'nın birimi M¹⁻³·s⁻¹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M⁻²·s⁻¹</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yani L²/(mol²·s). Kontrol: k·M³ = M⁻²·s⁻¹·M³ = M/s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135</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Tek basamaklı 2X(g) + Y(k) → X₂Y(g) tepkimesinde kabın hacmi üç katına çıkarılırsa hız kaç katına çıkar?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sıcaklık hep sabit.</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136</a:t>
            </a:r>
            <a:endParaRPr lang="en-US" sz="10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Tek basamaklı 2X(g) + Y(k) → X₂Y(g) tepkimesinde kabın hacmi üç katına çıkarılırsa hız kaç katına çıkar?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Y katı, yazılmaz: Hız = k·[X]². Hacim 3 katına çıkınca [X] üçte birine iner; hız (⅓)²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1/9'una</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düşer.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137</a:t>
            </a:r>
            <a:endParaRPr lang="en-US" sz="10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Basamakları A₂ + K → A₂K (yavaş) ve A₂K + B → A₂B + K (hızlı) olan tepkimenin net denklemi, hız denklemi, katalizörü ve ara ürünü nedir?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sıcaklık hep sabit.</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138</a:t>
            </a:r>
            <a:endParaRPr lang="en-US" sz="10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Basamakları A₂ + K → A₂K (yavaş) ve A₂K + B → A₂B + K (hızlı) olan tepkimenin net denklemi, hız denklemi, katalizörü ve ara ürünü nedir?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Toplayınca A₂K ve K sadeleşir: net denklem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A₂ + B → A₂B</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Hız yavaş basamaktan: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Hız = k·[A₂]·[K]</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 önce harcanıp sonra geri oluştuğu için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katalizör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A₂K önce oluşup sonra harcandığı için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ara üründür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139</a:t>
            </a:r>
            <a:endParaRPr lang="en-US" sz="10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721614"/>
          </a:xfrm>
          <a:prstGeom prst="rect">
            <a:avLst/>
          </a:prstGeom>
          <a:noFill/>
          <a:ln/>
        </p:spPr>
        <p:txBody>
          <a:bodyPr wrap="square" lIns="0" tIns="0" rIns="0" bIns="0" rtlCol="0" anchor="t"/>
          <a:lstStyle/>
          <a:p>
            <a:pPr indent="0" marL="0">
              <a:lnSpc>
                <a:spcPct val="108000"/>
              </a:lnSpc>
              <a:buNone/>
            </a:pPr>
            <a:r>
              <a:rPr lang="en-US" sz="1850" b="1" dirty="0">
                <a:solidFill>
                  <a:srgbClr val="0E1426"/>
                </a:solidFill>
                <a:latin typeface="Calibri" pitchFamily="34" charset="0"/>
                <a:ea typeface="Calibri" pitchFamily="34" charset="-122"/>
                <a:cs typeface="Calibri" pitchFamily="34" charset="-120"/>
              </a:rPr>
              <a:t>“Üsler her zaman denklemdeki katsayılardır.”</a:t>
            </a:r>
            <a:endParaRPr lang="en-US" sz="1850" dirty="0"/>
          </a:p>
        </p:txBody>
      </p:sp>
      <p:sp>
        <p:nvSpPr>
          <p:cNvPr id="11" name="Shape 9"/>
          <p:cNvSpPr/>
          <p:nvPr/>
        </p:nvSpPr>
        <p:spPr>
          <a:xfrm>
            <a:off x="841248" y="2586990"/>
            <a:ext cx="310896" cy="310896"/>
          </a:xfrm>
          <a:prstGeom prst="roundRect">
            <a:avLst>
              <a:gd name="adj" fmla="val 26471"/>
            </a:avLst>
          </a:prstGeom>
          <a:solidFill>
            <a:srgbClr val="EAF7DC"/>
          </a:solidFill>
          <a:ln/>
        </p:spPr>
      </p:sp>
      <p:sp>
        <p:nvSpPr>
          <p:cNvPr id="12" name="Text 10"/>
          <p:cNvSpPr txBox="1"/>
          <p:nvPr/>
        </p:nvSpPr>
        <p:spPr>
          <a:xfrm>
            <a:off x="841248" y="258699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68702"/>
            <a:ext cx="4523080" cy="1107186"/>
          </a:xfrm>
          <a:prstGeom prst="rect">
            <a:avLst/>
          </a:prstGeom>
          <a:noFill/>
          <a:ln/>
        </p:spPr>
        <p:txBody>
          <a:bodyPr wrap="square" lIns="0" tIns="0" rIns="0" bIns="0" rtlCol="0" anchor="t"/>
          <a:lstStyle/>
          <a:p>
            <a:pPr indent="0" marL="0">
              <a:lnSpc>
                <a:spcPct val="108000"/>
              </a:lnSpc>
              <a:buNone/>
            </a:pPr>
            <a:r>
              <a:rPr lang="en-US" sz="1650" dirty="0">
                <a:solidFill>
                  <a:srgbClr val="4A5470"/>
                </a:solidFill>
                <a:latin typeface="Calibri" pitchFamily="34" charset="0"/>
                <a:ea typeface="Calibri" pitchFamily="34" charset="-122"/>
                <a:cs typeface="Calibri" pitchFamily="34" charset="-120"/>
              </a:rPr>
              <a:t> Yalnız tek basamaklı tepkimede öyledir. Genel olarak üsler deneyle bulunur; iyot saatinde I⁻'nin katsayısı 2, üssü 1'dir.</a:t>
            </a:r>
            <a:endParaRPr lang="en-US" sz="165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21614"/>
          </a:xfrm>
          <a:prstGeom prst="rect">
            <a:avLst/>
          </a:prstGeom>
          <a:noFill/>
          <a:ln/>
        </p:spPr>
        <p:txBody>
          <a:bodyPr wrap="square" lIns="0" tIns="0" rIns="0" bIns="0" rtlCol="0" anchor="t"/>
          <a:lstStyle/>
          <a:p>
            <a:pPr indent="0" marL="0">
              <a:lnSpc>
                <a:spcPct val="108000"/>
              </a:lnSpc>
              <a:buNone/>
            </a:pPr>
            <a:r>
              <a:rPr lang="en-US" sz="1850" b="1" dirty="0">
                <a:solidFill>
                  <a:srgbClr val="0E1426"/>
                </a:solidFill>
                <a:latin typeface="Calibri" pitchFamily="34" charset="0"/>
                <a:ea typeface="Calibri" pitchFamily="34" charset="-122"/>
                <a:cs typeface="Calibri" pitchFamily="34" charset="-120"/>
              </a:rPr>
              <a:t>Katıları ve saf sıvıları hız denklemine yazmak.</a:t>
            </a:r>
            <a:endParaRPr lang="en-US" sz="1850" dirty="0"/>
          </a:p>
        </p:txBody>
      </p:sp>
      <p:sp>
        <p:nvSpPr>
          <p:cNvPr id="18" name="Shape 16"/>
          <p:cNvSpPr/>
          <p:nvPr/>
        </p:nvSpPr>
        <p:spPr>
          <a:xfrm>
            <a:off x="6406744" y="2586990"/>
            <a:ext cx="310896" cy="310896"/>
          </a:xfrm>
          <a:prstGeom prst="roundRect">
            <a:avLst>
              <a:gd name="adj" fmla="val 26471"/>
            </a:avLst>
          </a:prstGeom>
          <a:solidFill>
            <a:srgbClr val="EAF7DC"/>
          </a:solidFill>
          <a:ln/>
        </p:spPr>
      </p:sp>
      <p:sp>
        <p:nvSpPr>
          <p:cNvPr id="19" name="Text 17"/>
          <p:cNvSpPr txBox="1"/>
          <p:nvPr/>
        </p:nvSpPr>
        <p:spPr>
          <a:xfrm>
            <a:off x="6406744" y="258699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68702"/>
            <a:ext cx="4523080" cy="1107186"/>
          </a:xfrm>
          <a:prstGeom prst="rect">
            <a:avLst/>
          </a:prstGeom>
          <a:noFill/>
          <a:ln/>
        </p:spPr>
        <p:txBody>
          <a:bodyPr wrap="square" lIns="0" tIns="0" rIns="0" bIns="0" rtlCol="0" anchor="t"/>
          <a:lstStyle/>
          <a:p>
            <a:pPr indent="0" marL="0">
              <a:lnSpc>
                <a:spcPct val="108000"/>
              </a:lnSpc>
              <a:buNone/>
            </a:pPr>
            <a:r>
              <a:rPr lang="en-US" sz="1650" dirty="0">
                <a:solidFill>
                  <a:srgbClr val="4A5470"/>
                </a:solidFill>
                <a:latin typeface="Calibri" pitchFamily="34" charset="0"/>
                <a:ea typeface="Calibri" pitchFamily="34" charset="-122"/>
                <a:cs typeface="Calibri" pitchFamily="34" charset="-120"/>
              </a:rPr>
              <a:t> Derişimleri sabittir; hız denkleminde yalnız gazlar ve çözeltideki maddeler yer alır.</a:t>
            </a:r>
            <a:endParaRPr lang="en-US" sz="165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397383"/>
          </a:xfrm>
          <a:prstGeom prst="rect">
            <a:avLst/>
          </a:prstGeom>
          <a:noFill/>
          <a:ln/>
        </p:spPr>
        <p:txBody>
          <a:bodyPr wrap="square" lIns="0" tIns="0" rIns="0" bIns="0" rtlCol="0" anchor="t"/>
          <a:lstStyle/>
          <a:p>
            <a:pPr indent="0" marL="0">
              <a:lnSpc>
                <a:spcPct val="108000"/>
              </a:lnSpc>
              <a:buNone/>
            </a:pPr>
            <a:r>
              <a:rPr lang="en-US" sz="1850" b="1" dirty="0">
                <a:solidFill>
                  <a:srgbClr val="0E1426"/>
                </a:solidFill>
                <a:latin typeface="Calibri" pitchFamily="34" charset="0"/>
                <a:ea typeface="Calibri" pitchFamily="34" charset="-122"/>
                <a:cs typeface="Calibri" pitchFamily="34" charset="-120"/>
              </a:rPr>
              <a:t>“Derişim artınca k da artar.”</a:t>
            </a:r>
            <a:endParaRPr lang="en-US" sz="1850" dirty="0"/>
          </a:p>
        </p:txBody>
      </p:sp>
      <p:sp>
        <p:nvSpPr>
          <p:cNvPr id="25" name="Shape 23"/>
          <p:cNvSpPr/>
          <p:nvPr/>
        </p:nvSpPr>
        <p:spPr>
          <a:xfrm>
            <a:off x="841248" y="4603623"/>
            <a:ext cx="310896" cy="310896"/>
          </a:xfrm>
          <a:prstGeom prst="roundRect">
            <a:avLst>
              <a:gd name="adj" fmla="val 26471"/>
            </a:avLst>
          </a:prstGeom>
          <a:solidFill>
            <a:srgbClr val="EAF7DC"/>
          </a:solidFill>
          <a:ln/>
        </p:spPr>
      </p:sp>
      <p:sp>
        <p:nvSpPr>
          <p:cNvPr id="26" name="Text 24"/>
          <p:cNvSpPr txBox="1"/>
          <p:nvPr/>
        </p:nvSpPr>
        <p:spPr>
          <a:xfrm>
            <a:off x="841248" y="4603623"/>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585335"/>
            <a:ext cx="4523080" cy="1431417"/>
          </a:xfrm>
          <a:prstGeom prst="rect">
            <a:avLst/>
          </a:prstGeom>
          <a:noFill/>
          <a:ln/>
        </p:spPr>
        <p:txBody>
          <a:bodyPr wrap="square" lIns="0" tIns="0" rIns="0" bIns="0" rtlCol="0" anchor="t"/>
          <a:lstStyle/>
          <a:p>
            <a:pPr indent="0" marL="0">
              <a:lnSpc>
                <a:spcPct val="108000"/>
              </a:lnSpc>
              <a:buNone/>
            </a:pPr>
            <a:r>
              <a:rPr lang="en-US" sz="1650" dirty="0">
                <a:solidFill>
                  <a:srgbClr val="4A5470"/>
                </a:solidFill>
                <a:latin typeface="Calibri" pitchFamily="34" charset="0"/>
                <a:ea typeface="Calibri" pitchFamily="34" charset="-122"/>
                <a:cs typeface="Calibri" pitchFamily="34" charset="-120"/>
              </a:rPr>
              <a:t> k derişimle ve hacimle değişmez; sıcaklık, katalizör ve temas yüzeyiyle değişir. Birimi de her tepkimede aynı değildir: M¹⁻ⁿ·s⁻¹.</a:t>
            </a:r>
            <a:endParaRPr lang="en-US" sz="165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21614"/>
          </a:xfrm>
          <a:prstGeom prst="rect">
            <a:avLst/>
          </a:prstGeom>
          <a:noFill/>
          <a:ln/>
        </p:spPr>
        <p:txBody>
          <a:bodyPr wrap="square" lIns="0" tIns="0" rIns="0" bIns="0" rtlCol="0" anchor="t"/>
          <a:lstStyle/>
          <a:p>
            <a:pPr indent="0" marL="0">
              <a:lnSpc>
                <a:spcPct val="108000"/>
              </a:lnSpc>
              <a:buNone/>
            </a:pPr>
            <a:r>
              <a:rPr lang="en-US" sz="1850" b="1" dirty="0">
                <a:solidFill>
                  <a:srgbClr val="0E1426"/>
                </a:solidFill>
                <a:latin typeface="Calibri" pitchFamily="34" charset="0"/>
                <a:ea typeface="Calibri" pitchFamily="34" charset="-122"/>
                <a:cs typeface="Calibri" pitchFamily="34" charset="-120"/>
              </a:rPr>
              <a:t>“Hacim yarıya inince hız iki katına çıkar.”</a:t>
            </a:r>
            <a:endParaRPr lang="en-US" sz="1850" dirty="0"/>
          </a:p>
        </p:txBody>
      </p:sp>
      <p:sp>
        <p:nvSpPr>
          <p:cNvPr id="32" name="Shape 30"/>
          <p:cNvSpPr/>
          <p:nvPr/>
        </p:nvSpPr>
        <p:spPr>
          <a:xfrm>
            <a:off x="6406744" y="4927854"/>
            <a:ext cx="310896" cy="310896"/>
          </a:xfrm>
          <a:prstGeom prst="roundRect">
            <a:avLst>
              <a:gd name="adj" fmla="val 26471"/>
            </a:avLst>
          </a:prstGeom>
          <a:solidFill>
            <a:srgbClr val="EAF7DC"/>
          </a:solidFill>
          <a:ln/>
        </p:spPr>
      </p:sp>
      <p:sp>
        <p:nvSpPr>
          <p:cNvPr id="33" name="Text 31"/>
          <p:cNvSpPr txBox="1"/>
          <p:nvPr/>
        </p:nvSpPr>
        <p:spPr>
          <a:xfrm>
            <a:off x="6406744" y="4927854"/>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09566"/>
            <a:ext cx="4523080" cy="1107186"/>
          </a:xfrm>
          <a:prstGeom prst="rect">
            <a:avLst/>
          </a:prstGeom>
          <a:noFill/>
          <a:ln/>
        </p:spPr>
        <p:txBody>
          <a:bodyPr wrap="square" lIns="0" tIns="0" rIns="0" bIns="0" rtlCol="0" anchor="t"/>
          <a:lstStyle/>
          <a:p>
            <a:pPr indent="0" marL="0">
              <a:lnSpc>
                <a:spcPct val="108000"/>
              </a:lnSpc>
              <a:buNone/>
            </a:pPr>
            <a:r>
              <a:rPr lang="en-US" sz="1650" dirty="0">
                <a:solidFill>
                  <a:srgbClr val="4A5470"/>
                </a:solidFill>
                <a:latin typeface="Calibri" pitchFamily="34" charset="0"/>
                <a:ea typeface="Calibri" pitchFamily="34" charset="-122"/>
                <a:cs typeface="Calibri" pitchFamily="34" charset="-120"/>
              </a:rPr>
              <a:t> Hacim yarıya inince bütün gazların derişimi iki katına çıkar; hız 2ⁿ katına çıkar (n: gazların toplam derecesi).</a:t>
            </a:r>
            <a:endParaRPr lang="en-US" sz="165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140</a:t>
            </a:r>
            <a:endParaRPr lang="en-US" sz="10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“Sıfırıncı dereceden tepkimenin hızı sıfırdır.”</a:t>
            </a:r>
            <a:endParaRPr lang="en-US" sz="1900" dirty="0"/>
          </a:p>
        </p:txBody>
      </p:sp>
      <p:sp>
        <p:nvSpPr>
          <p:cNvPr id="11" name="Shape 9"/>
          <p:cNvSpPr/>
          <p:nvPr/>
        </p:nvSpPr>
        <p:spPr>
          <a:xfrm>
            <a:off x="841248" y="2604516"/>
            <a:ext cx="310896" cy="310896"/>
          </a:xfrm>
          <a:prstGeom prst="roundRect">
            <a:avLst>
              <a:gd name="adj" fmla="val 26471"/>
            </a:avLst>
          </a:prstGeom>
          <a:solidFill>
            <a:srgbClr val="EAF7DC"/>
          </a:solidFill>
          <a:ln/>
        </p:spPr>
      </p:sp>
      <p:sp>
        <p:nvSpPr>
          <p:cNvPr id="12" name="Text 10"/>
          <p:cNvSpPr txBox="1"/>
          <p:nvPr/>
        </p:nvSpPr>
        <p:spPr>
          <a:xfrm>
            <a:off x="841248"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Sıfırıncı derece, hızın derişime bağlı olmadığını söyler: Hız = k, sabit ve sıfırdan büyük bir değerdir.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Çok basamaklı tepkimede hız denklemini net denklemden yazmak.</a:t>
            </a:r>
            <a:endParaRPr lang="en-US" sz="1900" dirty="0"/>
          </a:p>
        </p:txBody>
      </p:sp>
      <p:sp>
        <p:nvSpPr>
          <p:cNvPr id="18" name="Shape 16"/>
          <p:cNvSpPr/>
          <p:nvPr/>
        </p:nvSpPr>
        <p:spPr>
          <a:xfrm>
            <a:off x="6406744" y="2604516"/>
            <a:ext cx="310896" cy="310896"/>
          </a:xfrm>
          <a:prstGeom prst="roundRect">
            <a:avLst>
              <a:gd name="adj" fmla="val 26471"/>
            </a:avLst>
          </a:prstGeom>
          <a:solidFill>
            <a:srgbClr val="EAF7DC"/>
          </a:solidFill>
          <a:ln/>
        </p:spPr>
      </p:sp>
      <p:sp>
        <p:nvSpPr>
          <p:cNvPr id="19" name="Text 17"/>
          <p:cNvSpPr txBox="1"/>
          <p:nvPr/>
        </p:nvSpPr>
        <p:spPr>
          <a:xfrm>
            <a:off x="6406744"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Hız denklemi en yavaş basamağın girenlerinden yazılır.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En yüksek tepeyi her zaman yavaş basamak sanmak.</a:t>
            </a:r>
            <a:endParaRPr lang="en-US" sz="1900" dirty="0"/>
          </a:p>
        </p:txBody>
      </p:sp>
      <p:sp>
        <p:nvSpPr>
          <p:cNvPr id="25" name="Shape 23"/>
          <p:cNvSpPr/>
          <p:nvPr/>
        </p:nvSpPr>
        <p:spPr>
          <a:xfrm>
            <a:off x="841248" y="4945380"/>
            <a:ext cx="310896" cy="310896"/>
          </a:xfrm>
          <a:prstGeom prst="roundRect">
            <a:avLst>
              <a:gd name="adj" fmla="val 26471"/>
            </a:avLst>
          </a:prstGeom>
          <a:solidFill>
            <a:srgbClr val="EAF7DC"/>
          </a:solidFill>
          <a:ln/>
        </p:spPr>
      </p:sp>
      <p:sp>
        <p:nvSpPr>
          <p:cNvPr id="26" name="Text 24"/>
          <p:cNvSpPr txBox="1"/>
          <p:nvPr/>
        </p:nvSpPr>
        <p:spPr>
          <a:xfrm>
            <a:off x="841248"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Her basamağın Ea'sı kendi başlangıç seviyesinden ölçülür; Ea'sı en büyük olan basamak en yavaştır.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Ara ürünle katalizörü karıştırmak.</a:t>
            </a:r>
            <a:endParaRPr lang="en-US" sz="1900" dirty="0"/>
          </a:p>
        </p:txBody>
      </p:sp>
      <p:sp>
        <p:nvSpPr>
          <p:cNvPr id="32" name="Shape 30"/>
          <p:cNvSpPr/>
          <p:nvPr/>
        </p:nvSpPr>
        <p:spPr>
          <a:xfrm>
            <a:off x="6406744" y="4945380"/>
            <a:ext cx="310896" cy="310896"/>
          </a:xfrm>
          <a:prstGeom prst="roundRect">
            <a:avLst>
              <a:gd name="adj" fmla="val 26471"/>
            </a:avLst>
          </a:prstGeom>
          <a:solidFill>
            <a:srgbClr val="EAF7DC"/>
          </a:solidFill>
          <a:ln/>
        </p:spPr>
      </p:sp>
      <p:sp>
        <p:nvSpPr>
          <p:cNvPr id="33" name="Text 31"/>
          <p:cNvSpPr txBox="1"/>
          <p:nvPr/>
        </p:nvSpPr>
        <p:spPr>
          <a:xfrm>
            <a:off x="6406744"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Ara ürün önce oluşur, sonra harcanır; katalizör önce harcanır, sonra geri oluşur. İkisi de net denklemde görünmez.</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dersler.perinet.org/hiz-denklemi.html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141</a:t>
            </a:r>
            <a:endParaRPr lang="en-US" sz="10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Hız = k·[X]ᵃ·[Y]ᵇ</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Derece = </a:t>
            </a:r>
            <a:pPr indent="0" marL="0">
              <a:buNone/>
            </a:pPr>
            <a:r>
              <a:rPr lang="en-US" sz="1500" b="1" dirty="0">
                <a:solidFill>
                  <a:srgbClr val="FFFFFF"/>
                </a:solidFill>
                <a:latin typeface="Calibri" pitchFamily="34" charset="0"/>
                <a:ea typeface="Calibri" pitchFamily="34" charset="-122"/>
                <a:cs typeface="Calibri" pitchFamily="34" charset="-120"/>
              </a:rPr>
              <a:t>a + b</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Katı ve saf sıvı </a:t>
            </a:r>
            <a:pPr indent="0" marL="0">
              <a:buNone/>
            </a:pPr>
            <a:r>
              <a:rPr lang="en-US" sz="1500" b="1" dirty="0">
                <a:solidFill>
                  <a:srgbClr val="FFFFFF"/>
                </a:solidFill>
                <a:latin typeface="Calibri" pitchFamily="34" charset="0"/>
                <a:ea typeface="Calibri" pitchFamily="34" charset="-122"/>
                <a:cs typeface="Calibri" pitchFamily="34" charset="-120"/>
              </a:rPr>
              <a:t>yazılmaz</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En yavaş basamak</a:t>
            </a:r>
            <a:pPr indent="0" marL="0">
              <a:buNone/>
            </a:pPr>
            <a:r>
              <a:rPr lang="en-US" sz="1500" dirty="0">
                <a:solidFill>
                  <a:srgbClr val="C3CEE8"/>
                </a:solidFill>
                <a:latin typeface="Calibri" pitchFamily="34" charset="0"/>
                <a:ea typeface="Calibri" pitchFamily="34" charset="-122"/>
                <a:cs typeface="Calibri" pitchFamily="34" charset="-120"/>
              </a:rPr>
              <a:t> belirler</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206197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Hız = k·[X]ᵃ·[Y]ᵇ</a:t>
            </a:r>
            <a:endParaRPr lang="en-US" sz="1350" dirty="0"/>
          </a:p>
        </p:txBody>
      </p:sp>
      <p:sp>
        <p:nvSpPr>
          <p:cNvPr id="16" name="Text 14"/>
          <p:cNvSpPr txBox="1"/>
          <p:nvPr/>
        </p:nvSpPr>
        <p:spPr>
          <a:xfrm>
            <a:off x="8782812" y="2395728"/>
            <a:ext cx="258592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hız denklemi</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746504"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derece = a + b</a:t>
            </a:r>
            <a:endParaRPr lang="en-US" sz="1350" dirty="0"/>
          </a:p>
        </p:txBody>
      </p:sp>
      <p:sp>
        <p:nvSpPr>
          <p:cNvPr id="19" name="Text 17"/>
          <p:cNvSpPr txBox="1"/>
          <p:nvPr/>
        </p:nvSpPr>
        <p:spPr>
          <a:xfrm>
            <a:off x="8467344" y="3218688"/>
            <a:ext cx="2901391"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tepkime derecesi</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2798064"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[X] 2 katı → hız 2ᵃ katı</a:t>
            </a:r>
            <a:endParaRPr lang="en-US" sz="1350" dirty="0"/>
          </a:p>
        </p:txBody>
      </p:sp>
      <p:sp>
        <p:nvSpPr>
          <p:cNvPr id="22" name="Text 20"/>
          <p:cNvSpPr txBox="1"/>
          <p:nvPr/>
        </p:nvSpPr>
        <p:spPr>
          <a:xfrm>
            <a:off x="9518904" y="4041648"/>
            <a:ext cx="1849831"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derişimin etkisi</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258775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k'nın birimi: M¹⁻ⁿ·s⁻¹</a:t>
            </a:r>
            <a:endParaRPr lang="en-US" sz="1350" dirty="0"/>
          </a:p>
        </p:txBody>
      </p:sp>
      <p:sp>
        <p:nvSpPr>
          <p:cNvPr id="25" name="Text 23"/>
          <p:cNvSpPr txBox="1"/>
          <p:nvPr/>
        </p:nvSpPr>
        <p:spPr>
          <a:xfrm>
            <a:off x="9308592" y="4864608"/>
            <a:ext cx="206014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n: derece</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dersler.perinet.org/hiz-denklemi.html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142</Slides>
  <Notes>142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142</vt:i4>
      </vt:variant>
    </vt:vector>
  </HeadingPairs>
  <TitlesOfParts>
    <vt:vector size="1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Hız denklemi — Dersler</dc:title>
  <dc:subject>Kimya · Kimyasal Tepkimelerde Hız</dc:subject>
  <dc:creator>Dersler</dc:creator>
  <cp:lastModifiedBy>Dersler</cp:lastModifiedBy>
  <cp:revision>1</cp:revision>
  <dcterms:created xsi:type="dcterms:W3CDTF">2026-10-02T16:21:32Z</dcterms:created>
  <dcterms:modified xsi:type="dcterms:W3CDTF">2026-10-02T16:21:32Z</dcterms:modified>
</cp:coreProperties>
</file>