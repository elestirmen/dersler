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Lst>
  <p:notesMasterIdLst>
    <p:notesMasterId r:id="rId1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notesMaster" Target="notesMasters/notesMaster1.xml"/><Relationship Id="rId155" Type="http://schemas.openxmlformats.org/officeDocument/2006/relationships/presProps" Target="presProps.xml"/><Relationship Id="rId156" Type="http://schemas.openxmlformats.org/officeDocument/2006/relationships/viewProps" Target="viewProps.xml"/><Relationship Id="rId157" Type="http://schemas.openxmlformats.org/officeDocument/2006/relationships/theme" Target="theme/theme1.xml"/><Relationship Id="rId1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Kamp ateşinin başında yüzün neden ısınır? Sporcunun dizine bastırdığı kompres, buzdolabına hiç girmeden nasıl buz gibi olur? Kibrit de odun da yanar; peki bir kibrit neden çaydanlığı kaynatmaya yetmez? Cevaplar aynı yerden çıkar: her fiziksel ve kimyasal olay bir enerji alışverişidir. Madde ya çevresine ısı verir ya da çevresinden ısı çeker; tıpkı bir hesaba para yatırmak ya da hesaptan para çekmek gibi. Anlatım dört basamakta ilerliyor: önce ısınan ve soğuyan olayları gözleyip ısı alanları ve verenleri ayıracağız, sonra bu alışverişi entalpiyle sayıya döküp kalorimetreyle ölçeceğiz, ardından yakıtları, hidrojeni ve besinleri karşılaştıracağız. En sonda kolaydan zora sıralanmış örneklerle hepsini birlikte kullanacağız.
Kapak görseli: Kamp ateşi ve çaydanlık. Yanan odun, havadaki oksijenle tepkimeye girip çevresine ısı ve ışık veren bir ekzotermik olaydır. Bu ısının bir kısmı çaydanlıktaki suya geçer: su önce ısınır, sonra kaynayıp buhara dönüşür. Suyun buharlaşması ise ısı alan, endotermik bir olaydır. Tek sahnede iki yönlü bir alışveriş var: odun ısı verir, su ısı 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Kamp ateşinin başında yüzün neden ısınır? Sporcunun dizine bastırdığı kompres, buzdolabına hiç girmeden nasıl buz gibi olur? Kibrit de odun da yanar; peki bir kibrit neden çaydanlığı kaynatmaya yetmez? Cevaplar aynı yerden çıkar: her fiziksel ve kimyasal olay bir enerji alışverişidir. Madde ya çevresine ısı verir ya da çevresinden ısı çeker; tıpkı bir hesaba para yatırmak ya da hesaptan para çekmek gibi. Anlatım dört basamakta ilerliyor: önce ısınan ve soğuyan olayları gözleyip ısı alanları ve verenleri ayıracağız, sonra bu alışverişi entalpiyle sayıya döküp kalorimetreyle ölçeceğiz, ardından yakıtları, hidrojeni ve besinleri karşılaştıracağız.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ısınan ve soğuyan olaylara bak, sistemi çevreden ayır, ısı alan ve ısı veren olayları formülsüz tanı.
   01 Önce gözlemle: ısınan ve soğuyan olaylar
   02 Sistem, çevre ve evren
   03 Endotermik olaylar: ısı alanlar
   04 Ekzotermik olaylar: ısı verenler
2. Orta — Bağıntılar: alınan ya da verilen ısıyı entalpi değişimiyle sayıya dök, işaretini oku, madde miktarıyla ölçekle ve kalorimetreyle ölç.
   05 Entalpi ve ΔH'nin işareti
   06 Isı, madde miktarıyla orantılıdır
   07 Isıyı ölçmek: kalorimetre ve q = m·c·ΔT
   08 Sayılarla hisset: kaç kJ, kaç derece?
3. İleri — Derinleşme: yakıtları ve besinleri enerji kaynağı olarak karşılaştır; CO₂'nin bedelini, hidrojenin zorluklarını ve günlük uygulamaları gör.
   09 Yakıtlar: mol başına mı, gram başına mı?
   10 Fosil yakıtlar ve CO₂
   11 Hidrojen: temiz ama zor bir yakıt
   12 Besinler: vücudun yakıtı
   13 Enerji değişimi gerçek dünyada
4. Pekiştir — Kolaydan zora çözümlü örnekler ve enerji sorularında puan kaybettiren klasik hatalar.
   14 Çözümlü örnekler
   15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Sıcaklık: bir şeyin ne kadar sıcak ya da soğuk olduğu; termometreyle derece (°C) cinsinden ölçülür.
• Isı: sıcaklık farkı yüzünden bir yerden ötekine geçen enerji. Birimi joule (J); 1 kJ = 1000 J. Isı her zaman sıcaktan soğuğa akar.
• Fiziksel ve kimyasal olay: fiziksel olayda madde değişmez (buz erir, yine sudur); kimyasal olayda yeni maddeler oluşur (odun yanar, CO₂ ve su oluşur).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Mol: tanecik sayma paketi; 1 mol = 6,02·10²³ tanecik, tıpkı 1 düzine = 12 tane gibi.
• Mol kütlesi: 1 molün gram cinsinden kütlesi. CH₄ için 12 + 4·1 = 16 g/mol; mol sayısı n = m / M ile bulunur.
• Hâl simgeleri: (k) katı, (s) sıvı, (g) gaz, (suda) suda çözünmüş.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ısınan ve soğuyan olaylara bak, sistemi çevreden ayır, ısı alan ve ısı veren olayları formülsüz tanı.
01 Önce gözlemle: ısınan ve soğuyan olaylar
02 Sistem, çevre ve evren
03 Endotermik olaylar: ısı alanlar
04 Ekzotermik olaylar: ısı verenler
Görsel: Dizdeki soğuk kompres buzdolabına girmeden soğur. Paket sıkılınca içindeki ince su kesesi yırtılır ve yanındaki katı (çoğu zaman amonyum nitrat, NH₄NO₃) suda çözünür. Bu çözünme ısıyı çevresinden, yani paketi tutan elden ve dizden çeker; paket bu yüzden soğuk gelir. Yüzeydeki damlacıklar, havadaki su buharının soğuk paketin üstünde yoğuşmasıyla oluşur.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ısınan ve soğuyan olaylar — adım 1/5
• Enerji alışverişini çoğu zaman gözünle değil, teninle hissedersin.
• Aşağıdaki olayların her birinde bir madde değişiyor ve yakınındaki her şeyin sıcaklığı değişiyor: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ısınan ve soğuyan olaylar — adım 2/5
• Kolonya serinletir: alkolü buharlaşırken elinden ısı çeker.
• Ateş ısıtır: yanan odun havaya, taşlara ve sana ısı verir.
• Buz içeceği soğutur: buz erirken içeceğin ısısını alır.
• Soğuk kompres buz gibi olur: sıkılınca içindeki katı suda çözünür ve çevresinden ısı çeker.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ısınan ve soğuyan olaylar — adım 3/5
• Cep ısıtıcısı ısınır: içindeki demir tozu havayla paslanırken ısı verir.
• Kireç söndürülürken su fokurdar: sönmemiş kireç (CaO) suyla tepkimeye girerken karışım kaynayacak kadar ısınabilir.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ısınan ve soğuyan olaylar — adım 4/5
• İlk bakışta iki grup var: ateşte, cep ısıtıcısında ve kireçte çevre ısınır; kolonyada, buzda ve kompreste çevre soğur.
• Ölçüt, ısının hangi yöne aktığıdır; ısı her zaman sıcaktan soğuğa akar.
• Soğuk paket eline “soğukluk” vermez, elin pakete ısı verir.
• Bu altı örnekte ısıtanların hepsi kimyasal, soğutanların hepsi fiziksel; ama bu bir kural değil: suyun donması ve buharın yoğuşması fiziksel olduğu hâlde çevreyi ısıtır, kireç taşının ayrışması ve fotosentez kimyasal olduğu hâlde ısı 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ısınan ve soğuyan olaylar — şekil
Ateşte ısı sistemden çevreye akar: hava, taşlar ve yüzün ısınır. Soğuk pakette ısı çevreden sisteme akar: paketi tutan el ve diz ısı kaybeder, bu yüzden serinler. İki durumda da ısı sıcak olandan soğuk olana gider; pakete “soğukluk” girmez, paketten ısı çıkmaz, tersine pakete ısı girer.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Her fiziksel ve kimyasal olayda madde ile çevresi arasında ısı alışverişi olur. Bazı olaylar çevresini ısıtır, bazıları soğutur; ısı her zaman sıcaktan soğuğa akar.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Çaydanlığın ağzından yükselen beyaz bulut gerçekten su buharı mıdır?
Sınıfa sorun, birkaç tahmin alın; sonra cevap slaytına geçin.
Cevap: Tam değil. Su buharı renksiz bir gazdır; ağzın hemen önündeki kısa, görünmez boşluk gerçek buhardır. Buhar soğuk havada yoğuşup minik damlacıklara döner; gördüğün beyaz bulut bu damlacıklardır. Yoğuşurken havaya ısı verir; buhar yanığının aynı sıcaklıktaki suyun yanığından tehlikeli olması da bundandır.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Tam değil. Su buharı renksiz bir gazdır; ağzın hemen önündeki kısa, görünmez boşluk gerçek buhardır. Buhar soğuk havada yoğuşup minik damlacıklara döner; gördüğün beyaz bulut bu damlacıklardır. Yoğuşurken havaya ısı verir; buhar yanığının aynı sıcaklıktaki suyun yanığından tehlikeli olması da bundandır.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Sistem, çevre ve evren — adım 1/5
• Bir olayın enerjisini konuşmadan önce bir sınır çizeriz.
• İncelemek için seçtiğimiz parçaya sistem, onun dışında kalıp onunla etkileşen her şeye çevre (ortam) denir; ikisi birlikte evreni oluşturur.
• Kimyada sistem çoğu zaman tepkimeye giren maddelerdir; kaptaki su, kabın kendisi ve hava çevredir.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Sistem, çevre ve evren — adım 2/5
• Enerjinin hiç değişmeyen bir kuralı var: enerji yoktan var edilemez, yok da edilemez; yalnızca biçim ya da yer değiştirir.
• Buna enerjinin korunumu (termodinamiğin birinci yasası) denir.
• Sistemin verdiği ısının tamamı çevreye geçer; evrenin toplam enerjisi değişmez.
• Bankadaki hesaplar gibi düşün: bir hesaptan çıkan para başka bir hesaba girer, bankadaki toplam aynı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Sistem, çevre ve evren — şekil
Sistem, incelemek için seçtiğin parçadır; burada suda tepkimeye giren maddeler. Su, kap ve hava çevredir; ikisi birlikte evreni oluşturur. Sistem Q kadar ısı verirse çevre tam Q kadar ısı alır: evrenin toplam enerjisi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Sistem, çevre ve evren — adım 4/5
• Sınırından neyin geçebildiğine göre üç tür sistem vardır:
• Açık sistem: madde de enerji de geçer; kapağı açık, kaynayan tencere buhar ve ısı kaybeder.
• Kapalı sistem: yalnız enerji geçer; ağzı sıkı kapalı bir kavanoz ısınıp soğuyabilir, içindeki madde çıkamaz.
• Yalıtılmış sistem: ne madde ne enerji geçer; iyi bir termos buna yaklaşır.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Sistem, çevre ve evren — şekil
Açık sistem madde de enerji de alıp verir: kaynayan tencereden buhar ve ısı çıkar. Kapalı sistemde madde içeride kalır, yalnızca ısı geçer. Yalıtılmış sistemde ikisi de geçemez; iyi bir termos ya da kalorimetre buna yaklaşır, tam yalıtım ise gerçekte yoktur.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Sistem incelediğimiz parça, çevre onun dışında kalıp onunla etkileşen her şeydir; ikisi birlikte evreni oluşturur. Enerji korunur: sistemin verdiği ısının tamamı çevreye geçer, evrenin toplam enerjisi değişmez.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Yalıtılmış bir kabın içinde ısı veren bir tepkime olursa kabın içi ne olur?
Sınıfa sorun, birkaç tahmin alın; sonra cevap slaytına geçin.
Cevap: Isı dışarı kaçamaz, içerideki maddelerde kalır: sıcaklık yükselir. Isı alan bir tepkimede ise gereken ısı dışarıdan gelemez; tepkime onu içerideki maddelerden çeker ve sıcaklık düşer. Kalorimetreler bu fikre dayanır.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Isı dışarı kaçamaz, içerideki maddelerde kalır: sıcaklık yükselir. Isı alan bir tepkimede ise gereken ısı dışarıdan gelemez; tepkime onu içerideki maddelerden çeker ve sıcaklık düşer. Kalorimetreler bu fikre dayanır.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Endotermik olaylar: ısı alanlar — adım 1/6
• Çevresinden ısı alarak gerçekleşen olaylara endotermik (ısı alan) olaylar denir; “endo” içeri demektir.
• Sistemin enerjisi artar, çevrenin enerjisi aynı miktarda azalır: çevre soğur.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Endotermik olaylar: ısı alanlar — adım 2/6
• Fiziksel endotermik olayların başında hâl değişimleri gelir: tanecikleri bir arada tutan çekimi gevşetmek ya da koparmak enerji ister.
• 1 mol buzu 0 °C'de eritmek 6,01 kJ, 1 mol suyu 100 °C'de buharlaştırmak 40,7 kJ ister; tanecikleri koparmak, gevşetmekten yaklaşık yedi kat zordur.
• Kuru buzun (katı CO₂) doğrudan gaza dönüşmesi, yani süblimleşme de ısı 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Endotermik olaylar: ısı alanlar — adım 3/6
• NH₄NO₃ ve NH₄Cl gibi bazı tuzların suda çözünmesi de fiziksel bir endotermik olaydır: suyu soğutur.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Endotermik olaylar: ısı alanlar — şekil
Taneciklerin arasını açan her hâl değişimi (erime, buharlaşma, süblimleşme) ısı alır: tanecikleri birbirine bağlayan çekimi gevşetmek ya da koparmak enerji ister. Ters yöndeki değişimler (donma, yoğuşma, kırağılaşma) aynı miktarda ısıyı geri verir. Su için 1 mol buzu eritmek 6,01 kJ, 1 mol suyu 100 °C'de buharlaştırmak 40,7 kJ 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Endotermik olaylar: ısı alanlar — adım 5/6
• Kimyasal endotermik olaylara örnekler:
• Isıyla ayrışma: kireç taşı (CaCO₃) ancak fırında sönmemiş kirece ve CO₂'ye ayrışır.
• Elektroliz: elektrik akımı suyu hidrojen ve oksijene ayırır.
• Fotosentez: bitki glikoz yaparken gereken enerjiyi Güneş ışığından alır.
• Bağ kırılması ve iyonlaşma: H₂'yi iki H atomuna ayırmak ya da bir atomdan elektron koparmak enerji 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Endotermik olaylar: ısı alanlar — adım 6/6
• Azotun yanması: N₂ ile O₂ yalnızca şimşekte ya da motorda NO'ya dönüşür ve ısı alır.
• Endotermik olay, gereken ısıyı çevresinden aldığı sürece ilerler.
• Isı bir fırından ya da Güneş'ten geliyorsa kaynak kesilince olay durur: fırın sönünce ayrışma, Güneş batınca fotosentez durur.
• Denklemde ısı, girenlerin yanına yazılır:
CaCO₃(k) + 178,3 kJ →   CaO(k) + CO₂(g)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Endotermik olaylar çevresinden ısı alır; sistemin enerjisi artar, çevre soğur. Erime, buharlaşma, süblimleşme, ısıyla ayrışma, elektroliz, fotosentez, bağ kırılması ve bazı tuzların çözünmesi bu gruptadır.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Ekzotermik olaylar: ısı verenler — adım 1/5
• Çevresine ısı vererek gerçekleşen olaylara ekzotermik (ısı veren) olaylar denir; “ekzo” dışarı demektir.
• Sistemin enerjisi azalır, çevre ısınır.
• Her endotermik olayın tersi ekzotermiktir: eriyen buz ısı alıyorsa, donan su aynı ısıyı geri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Ekzotermik olaylar: ısı verenler — adım 2/5
• Hâl değişimleri: donma, yoğuşma ve kırağılaşma; kış sabahı camdaki buz çiçekleri, su buharının doğrudan katıya dönmesidir.
• Yanma: odun, doğal gaz, benzin ve mum ısı ve ışık verir; bilinen istisna azotun yanmasıdır.
• Solunum: hücrelerin glikozu oksijenle “yavaşça yakar”.
• Nötrleşme ve metal–asit: asit ile baz karışınca ya da magnezyum asitte çözünürken tüp ısınır.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Ekzotermik olaylar: ısı verenler — adım 3/5
• Paslanma ve bağ oluşumu: demirin paslanması, iki H atomunun birleşip H₂ oluşturması.
• Elektron alma: Cl(g) + e⁻ → Cl⁻(g) ısı verir.
• Bazı katıların çözünmesi: NaOH, KOH ve CaCl₂ suda çözünürken suyu ısıtır.
• Ekzotermik tepkimede ısı ürünlerin yanına yazılır.
• Sayfanın 02 numaralı bölümünde olayları tek tek sınıflandırabilirsin.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Ekzotermik olaylar: ısı verenler — şekil
1 mol metan iki mol oksijenle yanınca bir mol CO₂ ve iki mol su oluşur ve çevreye 890 kJ ısı verilir (su sıvı hâlde oluşursa). Ekzotermik bir tepkimede ısı, sanki bir ürünmüş gibi ürünlerin yanına yazılır. Ocakta tencereyi ısıtan enerji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Ekzotermik olaylar: ısı verenler — adım 5/5
Isı veren tepkime de bir “itiş” isteyebilir. Ocaktaki gaz kıvılcım olmadan yanmaz; ama kıvılcım yalnızca başlatır. Tepkime başlayınca verdiği ısı yeni tanecikleri tutuşturur ve kendiliğinden sürer. Endotermik olaylar ise iki türlüdür: bazıları, kireç taşının ayrışması gibi, ancak dışarıdan sürekli ısı verilirse sürer ve ısıtma kesilince durur; bazıları ise, NH₄NO₃'ın çözünmesi gibi, gereken ısıyı çevresinden çekerek kendiliğinden ilerler ve çevreyi soğutur. Başlatma enerjisini “Tepkimelerin gerçekleşme şartları” konusunda göreceksin.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Ekzotermik olaylar çevresine ısı verir; sistemin enerjisi azalır, çevre ısınır. Donma, yoğuşma, kırağılaşma, yanma, solunum, nötrleşme, paslanma ve bağ oluşumu bu gruptadır; bazıları başlamak için bir kıvılcım ister.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Bahçıvanlar don gecelerinde meyve ağaçlarına neden su püskürtür?
Sınıfa sorun, birkaç tahmin alın; sonra cevap slaytına geçin.
Cevap: Tomurcuğun üstündeki su donarken ısı verir. Donma sürdükçe açığa çıkan bu ısı tomurcuğu 0 °C civarında tutar; hava daha da soğusa bile tomurcuk geç donar.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Tomurcuğun üstündeki su donarken ısı verir. Donma sürdükçe açığa çıkan bu ısı tomurcuğu 0 °C civarında tutar; hava daha da soğusa bile tomurcuk geç donar.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alınan ya da verilen ısıyı entalpi değişimiyle sayıya dök, işaretini oku, madde miktarıyla ölçekle ve kalorimetreyle ölç.
05 Entalpi ve ΔH'nin işareti
06 Isı, madde miktarıyla orantılıdır
07 Isıyı ölçmek: kalorimetre ve q = m·c·ΔT
08 Sayılarla hisset: kaç kJ, kaç derece?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Entalpi ve ΔH'nin işareti — adım 1/5
• Bir maddenin taneciklerinin hareketinde ve aralarındaki bağlarda depolanmış bir enerji vardır.
• Sabit basınçta bir maddenin sahip olduğu bu toplam enerjiye entalpi (ısı kapsamı) denir ve H ile gösterilir.
• Entalpinin kendisini ölçemeyiz, ama bir olayda ne kadar değiştiğini ölçebiliriz: açık havada, yani sabit basınçta gerçekleşen bir tepkimede alınan ya da verilen ısı, entalpideki değişime eşittir.
• Bu değişime tepkime entalpisi denir:
ΔH = H(ürünler) − H(girenler)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Entalpi ve ΔH'nin işareti — adım 2/5
• Ekzotermik: ürünlerin entalpisi girenlerinkinden düşüktür, ΔH &lt; 0. Sistem ısı verdi.
• Endotermik: ürünlerin entalpisi girenlerinkinden yüksektir, ΔH &gt; 0. Sistem ısı aldı.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Entalpi ve ΔH'nin işareti — adım 3/5
• İşareti hep sistemin gözünden oku: eksi “sistem verdi”, artı “sistem aldı” demektir; çevre için tam tersi geçerlidir.
• Isıyı bir denkleme iki biçimde yazabilirsin.
• Ya ısı terimini ürünlerin yanına koyarsın: H₂(g) + ½O₂(g) → H₂O(s) + 285,8 kJ.
• Ya da denklemin yanına ΔH'yi yazarsın:
H₂(g) + ½O₂(g) → H₂O(s)   ΔH = −285,8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Entalpi ve ΔH'nin işareti — adım 4/5
• İki yazım aynı şeyi söyler; ΔH'yi yazınca ısıyı denklemin içine ayrıca yazmazsın.
• Endotermik örnekte işaret artıdır: CaCO₃(k) → CaO(k) + CO₂(g) için ΔH = +178,3 kJ.
• Hâl simgeleri de önemlidir: aynı tepkimede su buhar olarak, yani H₂O(g) oluşursa 241,8 kJ açığa çıkar.
• Aradaki 44 kJ, 25 °C'de buharın sıvıya yoğuşurken verdiği ısıdır (100 °C'de 40,7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Entalpi ve ΔH'nin işareti — şekil
Ekzotermik tepkimede ürünlerin entalpisi girenlerinkinden düşüktür; aradaki fark çevreye ısı olarak verilir ve ΔH eksi çıkar. Endotermik tepkimede ürünler daha yüksektedir; fark çevreden alınır ve ΔH artı çıkar. İki diyagram aynı ölçekle çizildi: okların boyu 285,8 ile 178,3 kJ'nin oranındadır.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Entalpi (H), sabit basınçta maddenin enerjisidir; ölçülen değişimidir: ΔH = H(ürünler) − H(girenler). Ekzotermikte ΔH &lt; 0 ve ısı ürünlerin yanına, endotermikte ΔH &gt; 0 ve ısı girenlerin yanına yazılır.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Bir tepkimede ürünlerin entalpisi girenlerinkinden büyükse, kaptaki su ısınır mı, soğur mu?
Sınıfa sorun, birkaç tahmin alın; sonra cevap slaytına geçin.
Cevap: Soğur. Ürünlerin entalpisi büyükse ΔH &gt; 0'dır: sistem ısı almıştır. Bu ısı en yakın kaynaktan, yani tepkimenin olduğu kaptaki sudan gelir; su ısı kaybeder ve sıcaklığı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Soğur. Ürünlerin entalpisi büyükse ΔH &gt; 0'dır: sistem ısı almıştır. Bu ısı en yakın kaynaktan, yani tepkimenin olduğu kaptaki sudan gelir; su ısı kaybeder ve sıcaklığı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Isı, madde miktarıyla orantılıdır — adım 1/4
• Bir kibrit çöpü de bir kucak odun da yanar, ama çaydanlığı yalnızca odun kaynatır.
• Açığa çıkan ısı, tepkimeye giren madde miktarıyla doğru orantılıdır.
• Bir denklemin yanındaki ΔH, katsayıların söylediği mol sayıları için geçerlidir.
• Buradan üç kural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Isı, madde miktarıyla orantılıdır — adım 2/4
• Katsayıları çarparsan ΔH de çarpılır: 2H₂(g) + O₂(g) → 2H₂O(s) için ΔH = 2·(−285,8) = −571,6 kJ. Katsayıları yarıya indirirsen ΔH de yarıya iner.
• Tepkimeyi ters çevirirsen ΔH'nin işareti değişir: 2H₂O(s) → 2H₂(g) + O₂(g) için ΔH = +571,6 kJ. Suyu ayrıştırmak, hidrojen yanarken açığa çıkan ısının tamamını geri ister.
• Isı mol sayısıyla orantılıdır: ΔH'si 1 mol için verilmiş bir maddeden n mol tepkimeye girerse alınan ya da verilen ısı Q = n·|ΔH| olur.
Q = n · |ΔH|   n = m /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Isı, madde miktarıyla orantılıdır — adım 3/4
• |ΔH| yazımı “yalnızca büyüklüğü al” demektir; ısının yönünü işaretten ayrıca okursun.
• Örneğin 4 g hidrojen 2 mol eder (M = 2 g/mol); yanınca 2 · 285,8 = 571,6 kJ ısı verir.
• Bu ısı, kayıpsız aktarılsa yaklaşık 1,7 kg suyu 20 °C'den kaynama noktasına getirirdi.
• Bir kibrit çöpünün kütlesi ise bir gramın onda biri kadardır; verdiği ısı bir çay bardağı suyu bile kaynatmaya yetmez.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Isı, madde miktarıyla orantılıdır — şekil
Üst çizgi elementlerin seviyesi. Katsayıları iki katına çıkarınca ok da iki kat uzar: 2 mol su oluşurken 571,6 kJ açığa çıkar. Tepkimeyi ters çevirince ok aynı boyda kalır ama yön değiştirir: suyu hidrojen ve oksijene ayırmak, hidrojen yanınca verdiği ısının tamamını geri 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ΔH denklemdeki mol sayıları için geçerlidir. Katsayılar çarpılırsa ΔH de çarpılır, tepkime ters çevrilirse ΔH'nin işareti değişir; n mol için ısı Q = n·|ΔH| ile bulunur.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Aynı suya iki kat NaOH atarsan sıcaklık artışı ne olur; suyu da iki katına çıkarırsan?
Sınıfa sorun, birkaç tahmin alın; sonra cevap slaytına geçin.
Cevap: İlk durumda açığa çıkan ısı iki katına çıkar, ısınan su aynı kalır: sıcaklık artışı da iki katına çıkar. İkinci durumda ısı yine iki katına çıkar, ama onu paylaşan su da iki katıdır; sıcaklık artışı değişmez. Isı madde miktarına bağlıdır; sıcaklık değişimi ise bu ısının ne kadar maddeye dağıldığına.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İlk durumda açığa çıkan ısı iki katına çıkar, ısınan su aynı kalır: sıcaklık artışı da iki katına çıkar. İkinci durumda ısı yine iki katına çıkar, ama onu paylaşan su da iki katıdır; sıcaklık artışı değişmez. Isı madde miktarına bağlıdır; sıcaklık değişimi ise bu ısının ne kadar maddeye dağıldığına.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Isıyı ölçmek: kalorimetre ve q = m·c·ΔT — adım 1/6
• Bir tepkimenin ısısını doğrudan göremeyiz; ama bu ısının bir miktar suyu ne kadar ısıttığını ya da soğuttuğunu ölçebiliriz.
• Bu işe yarayan düzeneğe kalorimetre denir.
• Okulda en kolayı köpük bardak kalorimetresidir: iç içe geçmiş iki köpük bardak, delikli bir kapak, termometre ve karıştırıcı.
• Su, tepkimenin çevresidir: sistemin verdiği ısıyı alır ya da aldığı ısıyı karşılar.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Isıyı ölçmek: kalorimetre ve q = m·c·ΔT — adım 2/6
• Suyun aldığı ısı, suyun kütlesine, sıcaklığının ne kadar değiştiğine ve suyun öz ısısına bağlıdır.
• Öz ısı, 1 g maddenin sıcaklığını 1 °C artırmak için gereken ısıdır; su için 4,18 J'dür.
q(su) = m · c · ΔT   ΔH = −q(su) /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Isıyı ölçmek: kalorimetre ve q = m·c·ΔT — adım 3/6
Formüldeki harfler ne anlama geliyor?
Sembol | Anlamı | Birimi
q | suyun aldığı (+) ya da verdiği (−) ısı | J ya da kJ
m | suyun (çözeltinin) kütlesi; 1 mL su ≈ 1 g | g
c | öz ısı: 1 g'ı 1 °C ısıtmak için gereken ısı; su için 4,18 | J/(g·°C)
ΔT | sıcaklık değişimi: T(son) − T(ilk) | °C
n | tepkimeye giren maddenin mol sayısı | mol
ΔH | 1 mol için tepkime entalpisi | kJ/mol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Isıyı ölçmek: kalorimetre ve q = m·c·ΔT — adım 4/6
Bağıntı nereden geliyor?
• Isı korunur: bardak yalıtılmış sayıldığı için sistemin verdiği ısının tamamı suya geçer: q(sistem) = −q(su).
• Suyun payı: 1 g su 1 °C ısınınca 4,18 J alır; m gram su ΔT kadar ısınınca m·c·ΔT alır.
• Mol başına: sistemin ısısını tepkimeye giren mol sayısına bölünce 1 mol için değer, yani ΔH bulunur.
• İşaret: su ısındıysa (ΔT &gt; 0) sistem ısı vermiştir ve ΔH eksi çıkar; su soğuduysa ΔH artı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Isıyı ölçmek: kalorimetre ve q = m·c·ΔT — adım 5/6
• Birimlere dikkat: g × J/(g·°C) × °C = J. ΔH'yi kJ/mol bulmak için J'yi 1000'e bölmeyi unutma.
• Sayfanın 01 numaralı Kalorimetre laboratuvarında maddeyi ve su kütlesini değiştirip termometrenin nasıl tepki verdiğini izleyebilirsin.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Isıyı ölçmek: kalorimetre ve q = m·c·ΔT — şekil
Köpük ısıyı çok kötü iletir; iç içe iki bardak ve kapak, tepkimenin ısısının havaya kaçmasını büyük ölçüde önler. Tepkimeye giren madde sistem, onu saran su çevredir. Sistemin verdiği ya da aldığı ısı suyun sıcaklığını değiştirir; termometre bu değişimi, karıştırıcı da sıcaklığın her yerde aynı olmasını sağlar.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Kalorimetre, tepkimenin ısısını suyun sıcaklık değişiminden ölçer: q(su) = m·c·ΔT. Sistem ile su arasında ısı korunduğu için ΔH = −q(su)/n olur; su ısınırsa ΔH eksi, soğursa artı çıkar.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Kalorimetrede cam beher yerine neden iç içe iki köpük bardak kullanılır?
Sınıfa sorun, birkaç tahmin alın; sonra cevap slaytına geçin.
Cevap: Cam, ısıyı köpükten yaklaşık 30 kat daha iyi iletir. Cam beherde ısının bir kısmı havaya kaçar ya da camı ısıtmaya gider ve ölçülen ΔT olduğundan küçük çıkar. Köpük bardak ve kapak bu kaybı çok azaltır. Yine de kayıp sıfır olmaz: okul deneylerinde bulunan değerler tablodakilerden biraz küçük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Cam, ısıyı köpükten yaklaşık 30 kat daha iyi iletir. Cam beherde ısının bir kısmı havaya kaçar ya da camı ısıtmaya gider ve ölçülen ΔT olduğundan küçük çıkar. Köpük bardak ve kapak bu kaybı çok azaltır. Yine de kayıp sıfır olmaz: okul deneylerinde bulunan değerler tablodakilerden biraz küçük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kaç kJ, kaç derece? — adım 1/5
• Kalorimetre laboratuvarındaki gibi, 100 g suya 0,10 mol katı atıldığını düşün.
• Suyun sıcaklığı ne kadar değişir?
• Tablodaki değerler ΔT = −n·ΔH / (m·c) ile hesaplandı (ΔH joule cinsinden):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kaç kJ, kaç derece? — adım 2/5
Katı | ΔH (kJ/mol) | Isı | ΔT
CaCl₂ | −81,3 | 8,13 kJ verir | +19,4 °C
NaOH | −44,5 | 4,45 kJ verir | +10,6 °C
LiCl | −37,0 | 3,70 kJ verir | +8,9 °C
NH₄Cl | +14,8 | 1,48 kJ alır | −3,5 °C
NH₄NO₃ | +25,7 | 2,57 kJ alır | −6,1 °C
KNO₃ | +34,9 | 3,49 kJ alır | −8,3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kaç kJ, kaç derece? — adım 3/5
• Tablodan ve tanıdık birkaç hesaptan dört düzen okunur:
• Birkaç kJ yeter: 100 g suyu 10 °C ısıtmak için 4,18 kJ yeterlidir; 4 g NaOH bunu sağlar.
• Isı mol sayısıyla, ΔT su miktarıyla değişir: 0,20 mol NaOH aynı suyu 21,3 °C ısıtır; 200 g suda ise artış yine 10,6 °C olur.
• Erime ve buharlaşma: 1 kg buzu eritmek (334 kJ), 1 kg suyu 20 °C'den 100 °C'ye ısıtmak kadar enerji ister; 1 kg suyu 100 °C'de buharlaştırmak (2260 kJ) bunun yaklaşık yedi katıdır.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kaç kJ, kaç derece? — adım 4/5
• Bir mol yakıt çok daha güçlüdür: 1 mol metanın (16 g) yanması 890 kJ verir; kayıpsız aktarılsa 2,7 kg suyu 20 °C'den kaynama noktasına getirirdi.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kaç kJ, kaç derece? — şekil
Aynı miktarda (0,10 mol) katı, aynı miktarda (100 g) suda çözünüyor. Çözünmesi ekzotermik olan CaCl₂, NaOH ve LiCl suyu ısıtır; endotermik olan NH₄Cl, NH₄NO₃ ve KNO₃ suyu soğutur. Çubukların boyu ΔT = −n·ΔH/(m·c) ile hesaplandı; bardağın aldığı ısı ihmal edildi.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100 g suya atılan 0,10 mol katı suyu yaklaşık 20 °C ısıtabilir ya da 8 °C soğutabilir. Isı mol sayısıyla orantılıdır; sıcaklık değişimi ise ısının paylaşıldığı su kütlesine bağlıdır.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yakıtları ve besinleri enerji kaynağı olarak karşılaştır; CO₂'nin bedelini, hidrojenin zorluklarını ve günlük uygulamaları gör.
09 Yakıtlar: mol başına mı, gram başına mı?
10 Fosil yakıtlar ve CO₂
11 Hidrojen: temiz ama zor bir yakıt
12 Besinler: vücudun yakıtı
13 Enerji değişimi gerçek dünyada
Görsel: Hidrojenle çalışan otobüs depoya yakıt olarak sıkıştırılmış H₂ gazı alır. Yakıt hücresinde hidrojen, havadaki oksijenle alevsiz birleşir ve açığa çıkan enerjinin yaklaşık yarısı doğrudan elektriğe dönüşür; motoru bu elektrik çalıştırır. Tepkimenin tek ürünü sudur: otobüsün altından damlayan berrak sıvı, egzozdan çıkan sudur.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Yakıtlar: mol başına mı, gram başına mı? — adım 1/6
• Yanarken ısı açığa çıkaran ve bu ısısı için kullanılan maddelere yakıt denir.
• Bir yakıtın 1 molü tamamen yandığında açığa çıkan ısıya molar yanma ısısı denir.
• Ama yakıtı mol mol satın almayız; kilogramla ya da litreyle alır, taşır, depoya koyarız.
• Bu yüzden yakıtları karşılaştırmanın doğru ölçüsü gram başına yanma ısısıdır:
kJ/g = (kJ/mol) ÷ (g/mol)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Yakıtlar: mol başına mı, gram başına mı? — adım 2/6
Yakıt | kJ/mol | g/mol | kJ/g
Hidrojen H₂ | 285,8 | 2 | 142,9
Metan CH₄ (doğal gaz) | 890 | 16 | 55,6
Propan C₃H₈ | 2220 | 44 | 50,5
Benzin (izooktan C₈H₁₈) | 5460 | 114 | 47,9
Karbon C (kömür) | 393,5 | 12 | 32,8
Etanol C₂H₅OH | 1367 | 46 | 29,7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Yakıtlar: mol başına mı, gram başına mı? — adım 3/6
Yakıt | kJ/mol | g/mol | kJ/g
Glikoz C₆H₁₂O₆ | 2803 | 180 | 15,6
• Değerler tam yanma içindir; ürünlerdeki su sıvı hâlde alındı. kJ/g, tam sayılı mol kütleleriyle (H 1, C 12, O 16) bulundu: 285,8 ÷ 2 = 142,9.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Yakıtlar: mol başına mı, gram başına mı? — adım 4/6
• Sıralama mol başına ve gram başına tamamen değişir.
• İzooktan molü başına en çok ısıyı verir, çünkü molekülü büyüktür: bir molünde 8 mol karbon, 18 mol hidrojen atomu vardır.
• Hidrojen molü başına en azı verir, ama 1 molü yalnızca 2 g olduğu için gram başına açık ara birincidir.
• Gram başına ısıyı kabaca yakıttaki hidrojen ve karbon payı belirler.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Yakıtlar: mol başına mı, gram başına mı? — adım 5/6
• Etanol ve glikoz molekülleri zaten oksijen taşır; bir anlamda “yarı yanmış” maddelerdir ve gram başına daha az ısı verir.
• Sayfanın 03 numaralı bölümünde yakıtları iki ölçüyle yan yana karşılaştırabilirsin.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Yakıtlar: mol başına mı, gram başına mı? — şekil
Aynı beş yakıt, iki ayrı ölçü. Mol başına bakınca hidrojen en sonda, propan en öndedir; gram başına bakınca sıralama tamamen değişir ve hidrojen açık ara birinci olur. Yakıtı kütleyle aldığımız ve taşıdığımız için doğru karşılaştırma sağdaki grafiktir.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Yakıtlar gram başına yanma ısısıyla karşılaştırılır: kJ/g = (kJ/mol) ÷ (g/mol). Mol başına sıralama yanıltır; hidrojen mol başına en az, gram başına en çok ısıyı verir.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Propan mol başına metandan 2,5 kat çok ısı veriyorsa, 1 gramı neden daha az ısı verir?
Sınıfa sorun, birkaç tahmin alın; sonra cevap slaytına geçin.
Cevap: Çünkü 1 mol propan 44 g, 1 mol metan 16 g'dır. 1 g metan 1/16 mol, 1 g propan 1/44 mol eder; 1 g'da propanın mol sayısı metanınkinin 2,75'te biri kadardır. Mol başına 2,5 kat fazla ısı, 2,75 kat az mol yüzünden geride kalır: 890 ÷ 16 ≈ 55,6 kJ/g, 2220 ÷ 44 ≈ 50,5 kJ/g.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Çünkü 1 mol propan 44 g, 1 mol metan 16 g'dır. 1 g metan 1/16 mol, 1 g propan 1/44 mol eder; 1 g'da propanın mol sayısı metanınkinin 2,75'te biri kadardır. Mol başına 2,5 kat fazla ısı, 2,75 kat az mol yüzünden geride kalır: 890 ÷ 16 ≈ 55,6 kJ/g, 2220 ÷ 44 ≈ 50,5 kJ/g.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Fosil yakıtlar ve CO₂ — adım 1/6
• Kömür, petrol ürünleri (benzin, motorin, LPG) ve doğal gaz fosil yakıtlardır: milyonlarca yıl önce yaşamış bitkilerin ve deniz canlılarının toprak altında ısı ve basınçla dönüşmüş kalıntılarıdır.
• İçlerindeki enerji, o canlıların fotosentezle tuttuğu Güneş enerjisidir.
• Fotosentez endotermik, yanma ekzotermiktir: bir fosil yakıtı yaktığında, milyonlarca yıl önce depolanmış Güneş ışığını birkaç saniyede geri alırsın.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Fosil yakıtlar ve CO₂ — adım 2/6
• Bugün dünyada kullanılan enerjinin dörtte üçünden fazlası hâlâ fosil yakıtlardan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Fosil yakıtlar ve CO₂ — adım 3/6
• Bedeli, yanmanın kaçınılmaz bir ürünüdür: karbon içeren her yakıt yanınca CO₂ oluşur.
• CO₂, Dünya'nın uzaya yaydığı ısının bir kısmını tutan bir sera gazıdır; atmosferdeki miktarı arttıkça sera etkisi güçlenir, ortalama sıcaklık yükselir ve iklim değişir.
• Yakıtları bu açıdan karşılaştırmanın iyi bir ölçüsü, elde edilen enerji başına çıkan CO₂'dir.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Fosil yakıtlar ve CO₂ — adım 4/6
• Metan için hesap kısadır: 1 mol CH₄ yanınca 1 mol, yani 44 g CO₂ oluşur ve 890 kJ = 0,890 MJ ısı açığa çıkar; 44 ÷ 0,890 ≈ 49 g CO₂/MJ.
• Kömür en çok CO₂ çıkarır: onu saf karbon (grafit) gibi düşünürsek bütün enerjisi C → CO₂ dönüşümünden gelir: yaklaşık 112 g CO₂/MJ. Gerçek kömür biraz hidrojen de içerdiği için bu değer biraz daha düşüktür.
• Doğal gaz en az CO₂ çıkaran fosil yakıttır: metanın enerjisinin önemli bir kısmı hidrojenin suya dönüşmesinden gelir. Kömürden doğal gaza geçmek, aynı ısı için CO₂'yi yaklaşık yarıya indirir.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Fosil yakıtlar ve CO₂ — adım 5/6
• Eksik yanma tehlikelidir: oksijen yetmezse CO₂ yerine karbon monoksit (CO) oluşur. CO renksiz, kokusuz ve çok zehirlidir; kapalı yerde yanan soba, şofben ya da mangal bu yüzden öldürücü olabilir.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Fosil yakıtlar ve CO₂ — şekil
Aynı ısıyı elde etmek için kömür, burada saf karbon (grafit) gibi düşünüldüğünde, metanın iki katından fazla CO₂ çıkarır; hidrojen de içeren gerçek kömürde fark biraz küçülür. Metanın enerjisinin önemli bir kısmı, içindeki hidrojenin suya dönüşmesinden gelir; saf karbonun bütün enerjisi ise CO₂ oluşumundan. Değerler 1 MJ = 1000 kJ ısı için hesaplandı (metan: 44 g CO₂ ÷ 0,890 MJ ≈ 49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Fosil yakıtlar fotosentezle depolanmış eski Güneş enerjisidir; yanınca CO₂ verir ve sera etkisini artırır. Aynı enerji için kömür en çok, doğal gaz en az CO₂ çıkarır; eksik yanmada zehirli CO oluşur.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Hidrojen: temiz ama zor bir yakıt — adım 1/5
• Hidrojen kâğıt üzerinde ideal bir yakıttır.
• Gram başına bütün yakıtlardan çok ısı verir ve yanınca yalnızca su oluşur:
H₂(g) + ½O₂(g) → H₂O(s)   ΔH = −285,8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Hidrojen: temiz ama zor bir yakıt — adım 2/5
• Ama hidrojenin önünde dört büyük engel var:
• Doğada hazır bulunmaz: Dünya'daki hidrojenin neredeyse tamamı su ve hidrokarbonlar gibi bileşiklerin içindedir. Onu serbest bırakmak endotermik bir iştir: suyu elektrolizle ayrıştırmak, en az hidrojen yanınca açığa çıkan enerji kadar enerji ister (2H₂O(s) → 2H₂(g) + O₂(g), ΔH = +571,6 kJ). Bu yüzden hidrojen bir enerji kaynağı değil, şarjlı bir pil gibi enerji taşıyıcısıdır.
• Nasıl üretildiği önemlidir: bugün hidrojenin çoğu doğal gazdan üretilir ve bu üretim CO₂ salar. Güneş ve rüzgâr elektriğiyle elektroliz yapılarak üretilen hidrojene yeşil hidrojen denir; gerçekten temiz olan odur.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Hidrojen: temiz ama zor bir yakıt — adım 3/5
• Depolamak zordur: hidrojen en hafif gazdır. 1 kg hidrojen 500 mol eder ve normal koşullarda 500 · 22,4 L = 11,2 m³ yer kaplar. Bu yüzden atmosfer basıncının yüzlerce katı basınçlı tanklarda ya da −253 °C'ye soğutulup sıvılaştırılarak saklanır.
• Güvenlik ve maliyet: küçük molekülleri en ufak aralıktan sızar; havayla çok geniş bir oranda yanıcı karışım oluşturur ve alevi gün ışığında zor görülür. Üretim, depo ve dolum istasyonları da pahalıdır.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Hidrojen: temiz ama zor bir yakıt — adım 4/5
• Hidrojeni yakmak yerine yakıt hücresinde kullanmak daha verimlidir: hidrojen ile oksijen alevsiz, kontrollü biçimde birleşir ve açığa çıkan enerjinin yaklaşık yarısı doğrudan elektriğe dönüşür.
• Bu oran, benzinli bir motorun yakıttan elde ettiği iş oranından belirgin biçimde yüksektir.
• Ürün yine yalnızca sudur.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Hidrojen: temiz ama zor bir yakıt — şekil
Normal koşullarda 1 kg hidrojen 500 mol eder ve 500 · 22,4 L = 11,2 m³ yer kaplar: kenarı yaklaşık 2,2 m olan bir küp. Aynı kütlede benzin bir sürahiye sığar. Gram başına hidrojen benzinin üç katı enerji taşır, ama hacim başına çok geride kalır; bu yüzden basınçlı tanklarda ya da sıvılaştırılarak saklanır. Çizim ölçeklidir: küçük sarı küp benzindir.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Hidrojen gram başına en çok ısıyı verir ve yanınca yalnızca su oluşur. Ama doğada serbest bulunmaz; üretmek, en az yanınca verdiği kadar enerji ister. Hidrojen bir enerji taşıyıcısıdır; temizliği nasıl üretildiğine bağlıdır.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Hidrojen yanınca yalnızca su oluşuyorsa, hidrojenle çalışan bir otobüs hiç CO₂'ye yol açmaz mı?
Sınıfa sorun, birkaç tahmin alın; sonra cevap slaytına geçin.
Cevap: Otobüsün egzozundan CO₂ çıkmaz; ama hesap depoda başlamaz. Hidrojen doğal gazdan üretildiyse CO₂ üretim tesisinde salınmıştır. Elektroliz kömür santralinin elektriğiyle yapıldıysa CO₂ santralin bacasından çıkmıştır. Hidrojen ancak Güneş, rüzgâr gibi kaynaklardan gelen elektrikle üretildiğinde, yani yeşil hidrojen olduğunda gerçekten temizdir.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Otobüsün egzozundan CO₂ çıkmaz; ama hesap depoda başlamaz. Hidrojen doğal gazdan üretildiyse CO₂ üretim tesisinde salınmıştır. Elektroliz kömür santralinin elektriğiyle yapıldıysa CO₂ santralin bacasından çıkmıştır. Hidrojen ancak Güneş, rüzgâr gibi kaynaklardan gelen elektrikle üretildiğinde, yani yeşil hidrojen olduğunda gerçekten temizdir.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Besinler: vücudun yakıtı — adım 1/8
• Vücut da bir yakıt kullanır: besinler.
• Hücrelerinde glikoz oksijenle tepkimeye girer; bu olaya solunum denir:
C₆H₁₂O₆(k) + 6O₂(g) →   6CO₂(g) + 6H₂O(s)   ΔH ≈ −2803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Besinler: vücudun yakıtı — adım 2/8
• Bu, glikozun bir alevde yanmasıyla aynı tepkimedir ve aynı toplam enerjiyi (ΔH ≈ −2803 kJ) verir.
• Fark hızdadır: alevde enerji bir anda ısı ve ışık olarak çıkar; hücrede ise enzimlerin yönettiği onlarca küçük adımda, yavaş yavaş açığa çıkar.
• Enerjinin bir kısmı hücrenin kullanacağı kimyasal enerji olarak (ATP molekülünde) saklanır, bir kısmı ısıya dönüşür ve vücut sıcaklığını 37 °C civarında tutar.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Besinler: vücudun yakıtı — adım 3/8
• Bitkiler aynı tepkimenin tersini, fotosentezi, Güneş enerjisiyle yürütür.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Besinler: vücudun yakıtı — şekil
Glikoz alevde de hücrede de aynı ürünlere dönüşür, bu yüzden açığa çıkan toplam enerji aynıdır: yaklaşık 2803 kJ/mol. Alevde bu enerji bir anda ısı ve ışık olarak çıkar; hücrede ise enzimlerin yönettiği küçük adımlarla, bir kısmı ATP'de saklanarak açığa çıkar. Merdivendeki basamakların sayısı ve boyları temsilîdir; toplam düşüş soldaki okla aynıdır.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Besinler: vücudun yakıtı — adım 5/8
• Besinlerin enerjisi üç ana bileşenden gelir:
Bileşen | kJ/g | kcal/g | Nerelerde bol?
Karbonhidrat | ≈ 17 | 4 | ekmek, makarna, pirinç, meyve, bal
Protein | ≈ 17 | 4 | yumurta, et, peynir, baklagiller
Yağ | ≈ 37 | 9 | zeytinyağı, tereyağı, ceviz, zeytin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Besinler: vücudun yakıtı — adım 6/8
• Besin etiketlerinde enerji çoğu zaman kilokalori (kcal) ile yazılır; 1 kcal = 4,184 kJ.
• Yağın gram başına iki kattan fazla enerji vermesi yakıtlardaki kurala uyar: yağ molekülleri büyük ölçüde karbon ve hidrojenden oluşur, karbonhidratlar ise içlerinde çok oksijen taşır.
• Ortalama bir genç günde yaklaşık 2000–2800 kcal (8400–11 700 kJ) harcar; bunun büyük kısmı vücudu sıcak tutmaya ve organları çalıştırmaya gider, hareket bunun üstüne eklenir.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Besinler: vücudun yakıtı — adım 7/8
• Sayfanın 04 numaralı bölümünde bir kahvaltı tabağının enerjisini kendin hesaplayabilirsin.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Besinler: vücudun yakıtı — şekil
Bir kahvaltı tabağı, bir yakıt deposudur. Ekmek ve bal enerjisinin çoğunu karbonhidrattan, yumurta ve peynir proteinden ve yağdan, zeytin ve ceviz büyük ölçüde yağdan verir. Gram başına en çok enerjiyi yağ taşır (≈ 37 kJ/g); domates ve salatalık ise çoğunlukla su olduğu için çok az enerji verir. Şekersiz çayın enerjisi yok denecek kadar azdır.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Besinler vücudun yakıtıdır: solunum, glikozun adım adım ve yavaş yanmasıdır, ΔH ≈ −2803 kJ. Karbonhidrat ve protein gram başına ≈ 17 kJ, yağ ≈ 37 kJ verir; 1 kcal = 4,184 kJ.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Yanan bir şeker küpü ile vücudunda kullanılan aynı şeker küpü aynı enerjiyi mi verir?
Sınıfa sorun, birkaç tahmin alın; sonra cevap slaytına geçin.
Cevap: Evet. Başlangıç maddeleri (şeker ve oksijen) ve son ürünler (CO₂ ve su) iki durumda da aynı olduğu için toplam enerji farkı da aynıdır; yol değişse de sonuç değişmez. Fark, enerjinin veriliş biçimindedir: alev onu bir anda ısı ve ışık olarak saçar, hücre ise küçük adımlarla açığa çıkarır ve bir kısmını işine yarayacak biçimde saklar.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Evet. Başlangıç maddeleri (şeker ve oksijen) ve son ürünler (CO₂ ve su) iki durumda da aynı olduğu için toplam enerji farkı da aynıdır; yol değişse de sonuç değişmez. Fark, enerjinin veriliş biçimindedir: alev onu bir anda ısı ve ışık olarak saçar, hücre ise küçük adımlarla açığa çıkarır ve bir kısmını işine yarayacak biçimde saklar.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Enerji değişimi gerçek dünyada — adım 1/5
• Isı alan ve ısı veren olaylar gündelik hayatta bilerek kullanılır.
• İnsanlar bazen ısıyı istedikleri yerde üretmek, bazen bir yerden çekip almak, bazen de kimyasal enerjiyi doğrudan elektriğe çevirmek 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Enerji değişimi gerçek dünyada — adım 2/5
• Soğuk paket: NH₄NO₃(k) → NH₄⁺(suda) + NO₃⁻(suda), ΔH = +25,7 kJ. Çözünme ısıyı paketi tutan dizden çeker; burkulmada şişliği azaltmak için kullanılır.
• Sıcak paket: CaCl₂(k) → Ca²⁺(suda) + 2Cl⁻(suda), ΔH = −81,3 kJ. Aynı tasarım, ısı veren bir tuzla çalışır.
• Kendiliğinden ısınan yemek kutuları: dış bölmede sönmemiş kireç ile su ayrı durur; düğmeye basınca karışırlar: CaO(k) + H₂O(s) → Ca(OH)₂(k), ΔH = −65,2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Enerji değişimi gerçek dünyada — adım 3/5
• El ısıtıcıları: tek kullanımlıklarda demir tozu havayla paslanır. Jel olanlarda aşırı doymuş sodyum asetat çözeltisi, içindeki metal pul bükülünce kristallenir ve ısı verir; kaynar suda bekletilince yeniden kullanılabilir.
• Buzdolabı ve klima: soğutucu akışkan, soğutulan yerde (buzdolabının içinde ya da odada) buharlaşırken ısı çeker; kompresörde sıkıştırılıp dıştaki borularda yoğuşurken bu ısıyı verir: buzdolabı arkasındaki ızgaradan odaya, klima dış ünitesinden dışarıya.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Enerji değişimi gerçek dünyada — adım 4/5
• Yakıt hücreli otobüs: hidrojen ile havadaki oksijenden elektrik üretir; egzozundan yalnızca su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Enerji değişimi gerçek dünyada — şekil
İki paketin yapısı aynıdır: dış torbada bir katı ve ince bir su kesesi. Paketi sıkınca kese yırtılır ve katı suda çözünür. Fark yalnızca katının türündedir: NH₄NO₃'ın çözünmesi endotermiktir ve paket soğur; CaCl₂'nin çözünmesi ekzotermiktir ve paket ısınır.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Soğuk paketler endotermik, sıcak paketler ve kendiliğinden ısınan kutular ekzotermik çözünme ya da tepkime kullanır. Buzdolabı buharlaşmayla ısı çeker; yakıt hücresi hidrojenin enerjisini alevsiz elektriğe çevirir.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enerji sorularında puan kaybettiren klasik hatalar.
14 Çözümlü örnekler
15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Isı hangi yöne akıyor?
Aşağıdaki olayların her birinde sistem ısı mı alıyor, ısı mı veriyor? Olayları endotermik ve ekzotermik diye ayırınız. (a) Eline dökülen kolonyanın buharlaşması (b) Mumun yanması (c) Suyun elektrolizle hidrojen ve oksijene ayrışması (d) Soğuk bir gecede su birikintisinin donması
Durum çizimi: Durum: dört olayda sistem kesikli daireyle, çevre sağ tarafta gösterildi. Her olayda ısının sistemden çevreye mi, çevreden sisteme mi aktığı ve olayın türü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Isı hangi yöne akıyor?
Aşağıdaki olayların her birinde sistem ısı mı alıyor, ısı mı veriyor? Olayları endotermik ve ekzotermik diye ayırınız. (a) Eline dökülen kolonyanın buharlaşması (b) Mumun yanması (c) Suyun elektrolizle hidrojen ve oksijene ayrışması (d) Soğuk bir gecede su birikintisinin donması
Verilenler: dört olay: buharlaşma (fiziksel) · yanma (kimyasal) · elektroliz (kimyasal, elektrik akımıyla) · donma (fiziksel)
İstenen: her olayda ısının yönü (sisteme mi, çevreye mi) ve olayın türü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Isı hangi yöne akıyor? — çözüm
1. Kolonya buharlaşırken elinden ısı çeker, el serinler: (a) endotermik.
2. Mum yanarken çevresine ısı ve ışık verir: (b) ekzotermik.
3. Elektroliz ancak akım verildikçe sürer, sistem enerji alır: (c) endotermik.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Isı hangi yöne akıyor? — çözüm
4. Su donarken çevresine ısı verir: (d) ekzotermik. Donmanın tersi olan erime endotermiktir.
5. İpucu: “çevre ısınıyor mu, soğuyor mu?” diye sor. Çevre ısınıyorsa olay ekzotermiktir.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Isıyı denkleme yazmak
1 mol karbon (grafit) oksijenle tamamen yanıp CO₂ oluştururken çevreye 393,5 kJ ısı veriyor. (a) Olay ekzotermik mi, endotermik mi? (b) Tepkimeyi ısı terimiyle yazınız. (c) Aynı tepkimeyi ΔH ile yazınız.
Durum çizimi: Durum: 1 mol karbon oksijenle yanıp CO₂ oluştururken çevreye 393,5 kJ ısı veriliyor. Olayın türü, ısının denklemdeki yeri ve ΔH'nin işaretli değeri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Isıyı denkleme yazmak
1 mol karbon (grafit) oksijenle tamamen yanıp CO₂ oluştururken çevreye 393,5 kJ ısı veriyor. (a) Olay ekzotermik mi, endotermik mi? (b) Tepkimeyi ısı terimiyle yazınız. (c) Aynı tepkimeyi ΔH ile yazınız.
Verilenler: C(grafit) + O₂(g) → CO₂(g) · 1 mol C yanınca çevreye 393,5 kJ ısı veriliyor
İstenen: (a) olayın türü · (b) ısı terimli denklem · (c) ΔH'nin işaretli değeri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Isıyı denkleme yazmak — çözüm
1. Isı çevreye veriliyor, çevre ısınıyor: (a) ekzotermik.
2. Ekzotermikte ısı ürünlerin yanına yazılır: C(grafit) + O₂(g) → CO₂(g) + 393,5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Isıyı denkleme yazmak — çözüm
3. Sistem ısı kaybettiği için ΔH eksi işaretlidir: ΔH = −393,5 kJ.
4. ΔH ile yazarken ısı terimi denklemde ayrıca yazılmaz: C(grafit) + O₂(g) → CO₂(g), ΔH = −393,5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Kalorimetreyle çözünme entalpisi
Köpük bardak kalorimetrede 21,0 °C'deki 100 g suya 4,0 g NaOH(k) atılıyor ve karıştırılıyor. Katı tamamen çözününce termometre 31,6 °C gösteriyor. (a) Suyun aldığı ısıyı, (b) NaOH'ın molar çözünme entalpisini bulunuz.
Durum çizimi: Durum: 21,0 °C'deki 100 g suya 4,0 g NaOH(k) atılıyor ve çözünme bitince termometre 31,6 °C gösteriyor. Suyun aldığı ısı q ve NaOH'ın 1 molü için çözünme entalpisi ΔH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Kalorimetreyle çözünme entalpisi
Köpük bardak kalorimetrede 21,0 °C'deki 100 g suya 4,0 g NaOH(k) atılıyor ve karıştırılıyor. Katı tamamen çözününce termometre 31,6 °C gösteriyor. (a) Suyun aldığı ısıyı, (b) NaOH'ın molar çözünme entalpisini bulunuz.
Verilenler: m(su) = 100 g · c = 4,18 J/(g·°C) · T(ilk) = 21,0 °C · T(son) = 31,6 °C · m(NaOH) = 4,0 g · M(NaOH) = 23 + 16 + 1 = 40 g/mol
İstenen: (a) suyun aldığı ısı q · (b) çözünme entalpisi ΔH (kJ/mol)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Kalorimetreyle çözünme entalpisi — çözüm
1. ΔT = 31,6 − 21,0 = 10,6 °C. Su ısındı: çözünme ekzotermik, ΔH eksi çıkacak.
2. q(su) = m·c·ΔT = 100 · 4,18 · 10,6 = 4431 J ≈ 4,43 kJ.
3. n(NaOH) = m / M = 4,0 / 40 = 0,10 mol.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Kalorimetreyle çözünme entalpisi — çözüm
4. ΔH = −q(su) / n = −4,43 / 0,10 = −44,3 kJ/mol.
5. Kontrol: tablodaki değer −44,5 kJ/mol. Fark, termometrenin 0,1 °C'lik okunmasından gelir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Ters tepkime ve madde miktarı
Amonyak oluşumu için N₂(g) + 3H₂(g) → 2NH₃(g), ΔH = −92,2 kJ veriliyor. (a) 2NH₃(g) → N₂(g) + 3H₂(g) tepkimesinin ΔH'si nedir? (b) 1 mol NH₃'ün ayrışması için ΔH nedir? (c) 6,8 g NH₃ ayrışırken kaç kJ ısı alınır?
Durum çizimi: Durum: amonyağın oluşum tepkimesi ve ΔH'si verildi (solda). Sağdaki kapta 6,8 g NH₃ ayrışarak N₂ ve H₂'ye dönüşüyor; ters tepkimenin ΔH'si, 1 mol NH₃ için ΔH ve 6,8 g NH₃'ün aldığı ısı Q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Ters tepkime ve madde miktarı
Amonyak oluşumu için N₂(g) + 3H₂(g) → 2NH₃(g), ΔH = −92,2 kJ veriliyor. (a) 2NH₃(g) → N₂(g) + 3H₂(g) tepkimesinin ΔH'si nedir? (b) 1 mol NH₃'ün ayrışması için ΔH nedir? (c) 6,8 g NH₃ ayrışırken kaç kJ ısı alınır?
Verilenler: N₂(g) + 3H₂(g) → 2NH₃(g), ΔH = −92,2 kJ · m(NH₃) = 6,8 g · M(NH₃) = 14 + 3·1 = 17 g/mol
İstenen: (a) ters tepkimenin ΔH'si · (b) 1 mol NH₃ için ΔH · (c) 6,8 g NH₃'ün aldığı ısı Q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Ters tepkime ve madde miktarı — çözüm
1. (a) Tepkime ters çevrilince işaret değişir: ΔH = +92,2 kJ (2 mol NH₃ için).
2. (b) Katsayıları 2'ye bölünce ΔH de yarıya iner: NH₃(g) → ½N₂(g) + 3/2 H₂(g), ΔH = +46,1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Ters tepkime ve madde miktarı — çözüm
3. (c) n(NH₃) = 6,8 / 17 = 0,40 mol.
4. Q = n·|ΔH| = 0,40 · 46,1 ≈ 18,4 kJ ısı alınır; ayrışma endotermiktir.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Kahvaltının enerjisi
Haşlanmış iki yumurta (100 g) yaklaşık 13 g protein, 10 g yağ ve 1 g karbonhidrat içerir. (a) İki yumurtanın enerjisini kJ ve kcal olarak bulunuz. (b) Tempolu yürüyüşte saatte yaklaşık 1000 kJ harcanıyorsa bu enerji kaç dakikalık yürüyüşe denktir?
Durum çizimi: Durum: iki yumurtanın 100 g'ı içinde yaklaşık 13 g protein, 10 g yağ ve 1 g karbonhidrat var; geri kalanı çoğunlukla sudur. Çubuktaki dilimler kütlelerle orantılı. Toplam enerji (kJ ve kcal) ve bunun kaç dakikalık yürüyüşe denk geldiği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Kahvaltının enerjisi
Haşlanmış iki yumurta (100 g) yaklaşık 13 g protein, 10 g yağ ve 1 g karbonhidrat içerir. (a) İki yumurtanın enerjisini kJ ve kcal olarak bulunuz. (b) Tempolu yürüyüşte saatte yaklaşık 1000 kJ harcanıyorsa bu enerji kaç dakikalık yürüyüşe denktir?
Verilenler: protein 13 g · yağ 10 g · karbonhidrat 1 g · protein ve karbonhidrat ≈ 17 kJ/g · yağ ≈ 37 kJ/g · 1 kcal = 4,184 kJ · yürüyüş ≈ 1000 kJ/saat
İstenen: (a) toplam enerji (kJ ve kcal) · (b) yürüyüş süresi (dakika)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Kahvaltının enerjisi — çözüm
1. Protein: 13 · 17 = 221 kJ · yağ: 10 · 37 = 370 kJ · karbonhidrat: 1 · 17 = 17 kJ.
2. Toplam: 221 + 370 + 17 = 608 kJ.
3. kcal'ye çevir: 608 / 4,184 ≈ 145 kcal.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Kahvaltının enerjisi — çözüm
4. Yürüyüş: 608 / 1000 = 0,608 saat → 0,608 · 60 ≈ 36 dakika.
5. Dikkat: kütlenin yalnızca onda biri yağ, ama enerjinin yarısından fazlası (370 / 608) yağdan geliyor.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Metan mı, propan mı?
Bir çaydanlıktaki 2,0 kg suyu 20 °C'den 100 °C'ye ısıtmak istiyoruz. Ocağın verdiği ısının yalnızca %50'si suya geçiyor. (a) Bu iş için kaç gram metan ya da kaç gram propan yakmak gerekir? (b) Hangisi daha az CO₂ çıkarır?
Durum çizimi: Durum: 2,0 kg su 20 °C'den 100 °C'ye ısıtılacak; ocağın verdiği ısının yarısı suya geçiyor. Bu iş için ya metan ya propan yakılacak. Her yakıttan kaç gram gerektiği ve kaç gram CO₂ çıkacağı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Metan mı, propan mı?
Bir çaydanlıktaki 2,0 kg suyu 20 °C'den 100 °C'ye ısıtmak istiyoruz. Ocağın verdiği ısının yalnızca %50'si suya geçiyor. (a) Bu iş için kaç gram metan ya da kaç gram propan yakmak gerekir? (b) Hangisi daha az CO₂ çıkarır?
Verilenler: m(su) = 2,0 kg = 2000 g · ΔT = 100 − 20 = 80 °C · c = 4,18 J/(g·°C) · verim %50 · CH₄: 890 kJ/mol, 16 g/mol · C₃H₈: 2220 kJ/mol, 44 g/mol · M(CO₂) = 44 g/mol
İstenen: (a) gereken metan ve propan kütleleri · (b) iki durumda oluşan CO₂ kütleleri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Metan mı, propan mı? — çözüm
1. Suyun alacağı ısı: q = 2000 · 4,18 · 80 = 668 800 J ≈ 669 kJ.
2. Verim %50: yakıt 669 / 0,50 ≈ 1338 kJ ısı vermeli.
3. Metan: n = 1338 / 890 ≈ 1,50 mol → 1,50 · 16 ≈ 24 g. Propan: n = 1338 / 2220 ≈ 0,603 mol → 0,603 · 44 ≈ 26,5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Metan mı, propan mı? — çözüm
4. CH₄ + 2O₂ → CO₂ + 2H₂O: 1,50 mol CO₂ → 1,50 · 44 ≈ 66 g. C₃H₈ + 5O₂ → 3CO₂ + 4H₂O: 3 · 0,603 ≈ 1,81 mol CO₂ → 1,81 · 44 ≈ 80 g.
5. Sonuç: metan hem daha az kütleyle işi görür (gram başına ısısı büyük) hem de daha az CO₂ çıkarır (enerjisinin bir kısmı hidrojenden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Soğuk paket tasarlamak
150 g su içeren bir soğuk paket tasarlıyorsun. Paket sıkılınca içindeki NH₄NO₃(k) suda çözünecek ve sıcaklık 25 °C'den 5 °C'ye düşecek. Paketi yalıtılmış kabul edersek içine kaç gram NH₄NO₃ koymalısın?
Durum çizimi: Durum: paketin içinde 150 g su ve henüz çözünmemiş NH₄NO₃ var. Paket sıkılınca tuz suda çözünecek ve sıcaklık 25 °C'den 5 °C'ye düşecek. Bunun için gereken NH₄NO₃ kütlesi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Soğuk paket tasarlamak
150 g su içeren bir soğuk paket tasarlıyorsun. Paket sıkılınca içindeki NH₄NO₃(k) suda çözünecek ve sıcaklık 25 °C'den 5 °C'ye düşecek. Paketi yalıtılmış kabul edersek içine kaç gram NH₄NO₃ koymalısın?
Verilenler: m(su) = 150 g · c = 4,18 J/(g·°C) · T(ilk) = 25 °C · T(son) = 5 °C · ΔH(çözünme) = +25,7 kJ/mol · M(NH₄NO₃) = 2·14 + 4·1 + 3·16 = 80 g/mol · yalnızca suyun soğuduğu kabul ediliyor
İstenen: gereken NH₄NO₃ kütlesi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Soğuk paket tasarlamak — çözüm
1. Suyun vermesi gereken ısı: q = 150 · 4,18 · (25 − 5) = 12 540 J = 12,54 kJ.
2. Çözünme endotermiktir: suyun kaybettiği bu ısıyı çözünen tuz alır. Q = n·|ΔH| → 12,54 = n · 25,7.
3. n = 12,54 / 25,7 ≈ 0,488 mol.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Soğuk paket tasarlamak — çözüm
4. m = n·M = 0,488 · 80 ≈ 39 g NH₄NO₃.
5. Kontrol: 39 g → 0,4875 mol → 0,4875 · 25,7 ≈ 12,53 kJ; 12 530 / (150 · 4,18) ≈ 20 °C düşüş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Buzdolabından çıkardığın soğuk şişenin dışında su damlacıkları belirir. Bu olay endotermik mi, ekzotermik mi?
Öğrencilere 2–3 dakika verin; sonra cevap slaytını açın.
Cevap: Cevap: Havadaki su buharı soğuk şişeye değince yoğuşur. Yoğuşma ekzotermiktir: buhar sıvıya dönerken ısı verir ve şişeyi bir miktar ısıtır.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Havadaki su buharı soğuk şişeye değince yoğuşur. Yoğuşma ekzotermiktir: buhar sıvıya dönerken ısı verir ve şişeyi bir miktar ısıtır.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250 g suyun sıcaklığını 20 °C artırmak için kaç kJ ısı gerekir?
Öğrencilere 2–3 dakika verin; sonra cevap slaytını açın.
Cevap: Cevap: q = m·c·ΔT = 250 · 4,18 · 20 = 20 900 J = 20,9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q = m·c·ΔT = 250 · 4,18 · 20 = 20 900 J = 20,9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H₂(g) + ½O₂(g) → H₂O(s) için ΔH = −285,8 kJ ise 2H₂O(s) → 2H₂(g) + O₂(g) tepkimesinin ΔH'si nedir?
Öğrencilere 2–3 dakika verin; sonra cevap slaytını açın.
Cevap: Cevap: Tepkime ters çevrildi (işaret değişir) ve katsayılar 2 ile çarpıldı (ΔH iki katına çıkar): ΔH = +2 · 285,8 = +571,6 kJ. Suyu ayrıştırmak endotermiktir.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Tepkime ters çevrildi (işaret değişir) ve katsayılar 2 ile çarpıldı (ΔH iki katına çıkar): ΔH = +2 · 285,8 = +571,6 kJ. Suyu ayrıştırmak endotermiktir.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Etanolün molar yanma ısısı 1367 kJ/mol, metanınki 890 kJ/mol. Gram başına hangisi daha çok ısı verir?
Öğrencilere 2–3 dakika verin; sonra cevap slaytını açın.
Cevap: Cevap: M(C₂H₅OH) = 46 g/mol, M(CH₄) = 16 g/mol. Etanol: 1367 / 46 ≈ 29,7 kJ/g; metan: 890 / 16 ≈ 55,6 kJ/g. Mol başına etanol önde, ama gram başına metan neredeyse iki kat çok ısı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M(C₂H₅OH) = 46 g/mol, M(CH₄) = 16 g/mol. Etanol: 1367 / 46 ≈ 29,7 kJ/g; metan: 890 / 16 ≈ 55,6 kJ/g. Mol başına etanol önde, ama gram başına metan neredeyse iki kat çok ısı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İspirto ocağında yanan etanolün ısısının %40'ı beherdeki suya geçiyor. 200 g suyu 25 °C'den 85 °C'ye ısıtmak için kaç gram etanol yanmalıdır? (1367 kJ/mol)
Öğrencilere 2–3 dakika verin; sonra cevap slaytını açın.
Cevap: Cevap: Suyun alacağı ısı: 200 · 4,18 · 60 = 50 160 J ≈ 50,2 kJ. Verim %40 olduğundan etanol 50,2 / 0,40 ≈ 125 kJ vermeli. n = 125 / 1367 ≈ 0,0914 mol → m = 0,0914 · 46 ≈ 4,2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Suyun alacağı ısı: 200 · 4,18 · 60 = 50 160 J ≈ 50,2 kJ. Verim %40 olduğundan etanol 50,2 / 0,40 ≈ 125 kJ vermeli. n = 125 / 1367 ≈ 0,0914 mol → m = 0,0914 · 46 ≈ 4,2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“Soğuk paket eline soğuk verir.” Soğuk diye akan bir şey yoktur; ısı sıcaktan soğuğa akar. Elin pakete ısı verir, bu yüzden üşür.
• “Kıvılcımla başlıyorsa tepkime endotermiktir.” Kıvılcım yalnızca başlatır; olayın türünü çevrenin ısınması ya da soğuması söyler. Doğal gaz kibritle tutuşur ama yanarken çevreyi ısıtır: ekzotermiktir.
• “ΔH eksiyse sistemin enerjisi artmıştır.” Eksi işaret, sistemin ısı verdiğini söyler: sistemin enerjisi azalır, çevre ısınır.
• “Endotermik tepkimede kaptaki su ısınır.” Isı alan olay bu ısıyı çevresinden çeker; kaptaki su ve termometre soğur.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“Isı ile sıcaklık aynı şeydir.” Isı aktarılan enerjidir (J), sıcaklık ise bir cismin ne kadar sıcak olduğunun ölçüsüdür (°C). Bir damla kaynar su bir kova ılık sudan sıcaktır, ama kova çok daha fazla ısı verebilir.
• “Tepkime ters çevrilince ya da katsayılar değişince ΔH aynı kalır.” Ters tepkimede işaret değişir; katsayılar bir sayıyla çarpılınca ΔH de aynı sayıyla çarpılır.
• “En iyi yakıt, molar yanma ısısı en büyük olandır.” Yakıtlar kJ/g ile karşılaştırılır. Propan mol başına metandan çok ısı verir, ama gram başına metanın gerisindedir.
• “Hidrojen bedava ve sınırsız bir enerji kaynağıdır.” Serbest H₂ doğada yok denecek kadar azdır; onu elde etmek, en az yanınca verdiği kadar enerji ister. Hidrojen bir enerji taşıyıcısıdır.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Ekzotermik ΔH &lt; 0 · Endotermik ΔH &gt; 0 · Evrenin enerjisi sabit · Yakıt seçimi kJ/g ile
ΔH = H(ürünler) − H(girenler) — tepkime entalpisi
q = m·c·ΔT — suyun aldığı ısı
Q = n·|ΔH| — n mol için ısı
kJ/g = (kJ/mol) ÷ (g/mol) — gram başına yanma ısısı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jp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1d623a45-0112-427a-9abb-0c648368bda2/scratchpad/sunum/sekiller/enerji-degisimi-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kimya</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KİMYASAL TEPKİMELERDE ENERJİ · KONU 01</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3900" b="1" spc="-100" kern="0" dirty="0">
                <a:solidFill>
                  <a:srgbClr val="FFFFFF"/>
                </a:solidFill>
                <a:latin typeface="Cambria" pitchFamily="34" charset="0"/>
                <a:ea typeface="Cambria" pitchFamily="34" charset="-122"/>
                <a:cs typeface="Cambria" pitchFamily="34" charset="-120"/>
              </a:rPr>
              <a:t>Tepkimelerde enerji değişimi</a:t>
            </a:r>
            <a:endParaRPr lang="en-US" sz="39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Her fiziksel ve kimyasal olay bir enerji alışverişidir: yanan odun çevresini ısıtır, eriyen buz çevresinden ısı çeker. Alışverişin yönü olayın ekzotermik mi endotermik mi olduğunu söyler; yakıtları ve besinleri enerji kaynağı yapan da budur.</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dersler.perinet.org/enerji-degisimi.html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Kamp ateşinin başında yüzün neden ısınır?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Sporcunun dizine bastırdığı kompres, buzdolabına hiç girmeden nasıl buz gibi olur?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Kibrit de odun da yanar; peki bir kibrit neden çaydanlığı kaynatmaya yetmez?</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Cevaplar aynı yerden çıkar: her fiziksel ve kimyasal olay bir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enerji alışverişidir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Madde ya çevresine ısı verir ya da çevresinden ısı çeker; tıpkı bir hesaba para yatırmak ya da hesaptan para çekmek gibi.</a:t>
            </a:r>
            <a:endParaRPr lang="en-US" sz="22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100" dirty="0">
                <a:solidFill>
                  <a:srgbClr val="4A5470"/>
                </a:solidFill>
                <a:latin typeface="Calibri" pitchFamily="34" charset="0"/>
                <a:ea typeface="Calibri" pitchFamily="34" charset="-122"/>
                <a:cs typeface="Calibri" pitchFamily="34" charset="-120"/>
              </a:rPr>
              <a:t>Önce sezgi: ısınan ve soğuyan olaylara bak, sistemi çevreden ayır, ısı alan ve ısı veren olayları formülsüz tanı.</a:t>
            </a:r>
            <a:endParaRPr lang="en-US" sz="11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578358"/>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Önce gözlemle: ısınan ve soğuyan olaylar</a:t>
            </a:r>
            <a:endParaRPr lang="en-US" sz="1200" dirty="0"/>
          </a:p>
        </p:txBody>
      </p:sp>
      <p:sp>
        <p:nvSpPr>
          <p:cNvPr id="15" name="Text 13"/>
          <p:cNvSpPr txBox="1"/>
          <p:nvPr/>
        </p:nvSpPr>
        <p:spPr>
          <a:xfrm>
            <a:off x="859536" y="4199382"/>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Sistem, çevre ve evren</a:t>
            </a:r>
            <a:endParaRPr lang="en-US" sz="1250" dirty="0"/>
          </a:p>
        </p:txBody>
      </p:sp>
      <p:sp>
        <p:nvSpPr>
          <p:cNvPr id="17" name="Text 15"/>
          <p:cNvSpPr txBox="1"/>
          <p:nvPr/>
        </p:nvSpPr>
        <p:spPr>
          <a:xfrm>
            <a:off x="859536" y="4832604"/>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Endotermik olaylar: ısı alanlar</a:t>
            </a:r>
            <a:endParaRPr lang="en-US" sz="1250" dirty="0"/>
          </a:p>
        </p:txBody>
      </p:sp>
      <p:sp>
        <p:nvSpPr>
          <p:cNvPr id="19" name="Text 17"/>
          <p:cNvSpPr txBox="1"/>
          <p:nvPr/>
        </p:nvSpPr>
        <p:spPr>
          <a:xfrm>
            <a:off x="859536" y="5465826"/>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1243584"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Ekzotermik olaylar: ısı verenler</a:t>
            </a:r>
            <a:endParaRPr lang="en-US" sz="1250" dirty="0"/>
          </a:p>
        </p:txBody>
      </p:sp>
      <p:sp>
        <p:nvSpPr>
          <p:cNvPr id="21" name="Shape 19"/>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3601136" y="1645920"/>
            <a:ext cx="2211248" cy="64008"/>
          </a:xfrm>
          <a:prstGeom prst="rect">
            <a:avLst/>
          </a:prstGeom>
          <a:solidFill>
            <a:srgbClr val="2957D4"/>
          </a:solidFill>
          <a:ln/>
        </p:spPr>
      </p:sp>
      <p:sp>
        <p:nvSpPr>
          <p:cNvPr id="23" name="Shape 21"/>
          <p:cNvSpPr/>
          <p:nvPr/>
        </p:nvSpPr>
        <p:spPr>
          <a:xfrm>
            <a:off x="3637712" y="1920240"/>
            <a:ext cx="420624" cy="420624"/>
          </a:xfrm>
          <a:prstGeom prst="roundRect">
            <a:avLst>
              <a:gd name="adj" fmla="val 26000"/>
            </a:avLst>
          </a:prstGeom>
          <a:solidFill>
            <a:srgbClr val="2957D4"/>
          </a:solidFill>
          <a:ln/>
        </p:spPr>
      </p:sp>
      <p:sp>
        <p:nvSpPr>
          <p:cNvPr id="24" name="Text 22"/>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6" name="Text 24"/>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Bağıntılar: alınan ya da verilen ısıyı entalpi değişimiyle sayıya dök, işaretini oku, madde miktarıyla ölçekle ve kalorimetreyle ölç.</a:t>
            </a:r>
            <a:endParaRPr lang="en-US" sz="1000" dirty="0"/>
          </a:p>
        </p:txBody>
      </p:sp>
      <p:sp>
        <p:nvSpPr>
          <p:cNvPr id="27" name="Shape 25"/>
          <p:cNvSpPr/>
          <p:nvPr/>
        </p:nvSpPr>
        <p:spPr>
          <a:xfrm>
            <a:off x="3637712" y="3429000"/>
            <a:ext cx="2138096" cy="0"/>
          </a:xfrm>
          <a:prstGeom prst="line">
            <a:avLst/>
          </a:prstGeom>
          <a:noFill/>
          <a:ln w="9525">
            <a:solidFill>
              <a:srgbClr val="E1E5EE"/>
            </a:solidFill>
            <a:prstDash val="dash"/>
          </a:ln>
        </p:spPr>
      </p:sp>
      <p:sp>
        <p:nvSpPr>
          <p:cNvPr id="28" name="Text 26"/>
          <p:cNvSpPr txBox="1"/>
          <p:nvPr/>
        </p:nvSpPr>
        <p:spPr>
          <a:xfrm>
            <a:off x="3637712" y="3566160"/>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Entalpi ve ΔH'nin işareti</a:t>
            </a:r>
            <a:endParaRPr lang="en-US" sz="1250" dirty="0"/>
          </a:p>
        </p:txBody>
      </p:sp>
      <p:sp>
        <p:nvSpPr>
          <p:cNvPr id="30" name="Text 28"/>
          <p:cNvSpPr txBox="1"/>
          <p:nvPr/>
        </p:nvSpPr>
        <p:spPr>
          <a:xfrm>
            <a:off x="3637712" y="4199382"/>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Isı, madde miktarıyla orantılıdır</a:t>
            </a:r>
            <a:endParaRPr lang="en-US" sz="1250" dirty="0"/>
          </a:p>
        </p:txBody>
      </p:sp>
      <p:sp>
        <p:nvSpPr>
          <p:cNvPr id="32" name="Text 30"/>
          <p:cNvSpPr txBox="1"/>
          <p:nvPr/>
        </p:nvSpPr>
        <p:spPr>
          <a:xfrm>
            <a:off x="3637712" y="4832604"/>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Isıyı ölçmek: kalorimetre ve q = m·c·ΔT</a:t>
            </a:r>
            <a:endParaRPr lang="en-US" sz="1250" dirty="0"/>
          </a:p>
        </p:txBody>
      </p:sp>
      <p:sp>
        <p:nvSpPr>
          <p:cNvPr id="34" name="Text 32"/>
          <p:cNvSpPr txBox="1"/>
          <p:nvPr/>
        </p:nvSpPr>
        <p:spPr>
          <a:xfrm>
            <a:off x="3637712" y="5465826"/>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Sayılarla hisset: kaç kJ, kaç derece?</a:t>
            </a:r>
            <a:endParaRPr lang="en-US" sz="1250" dirty="0"/>
          </a:p>
        </p:txBody>
      </p:sp>
      <p:sp>
        <p:nvSpPr>
          <p:cNvPr id="36" name="Shape 34"/>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7" name="Shape 35"/>
          <p:cNvSpPr/>
          <p:nvPr/>
        </p:nvSpPr>
        <p:spPr>
          <a:xfrm>
            <a:off x="6379312" y="1645920"/>
            <a:ext cx="2211248" cy="64008"/>
          </a:xfrm>
          <a:prstGeom prst="rect">
            <a:avLst/>
          </a:prstGeom>
          <a:solidFill>
            <a:srgbClr val="5F4BD8"/>
          </a:solidFill>
          <a:ln/>
        </p:spPr>
      </p:sp>
      <p:sp>
        <p:nvSpPr>
          <p:cNvPr id="38" name="Shape 36"/>
          <p:cNvSpPr/>
          <p:nvPr/>
        </p:nvSpPr>
        <p:spPr>
          <a:xfrm>
            <a:off x="6415888" y="1920240"/>
            <a:ext cx="420624" cy="420624"/>
          </a:xfrm>
          <a:prstGeom prst="roundRect">
            <a:avLst>
              <a:gd name="adj" fmla="val 26000"/>
            </a:avLst>
          </a:prstGeom>
          <a:solidFill>
            <a:srgbClr val="5F4BD8"/>
          </a:solidFill>
          <a:ln/>
        </p:spPr>
      </p:sp>
      <p:sp>
        <p:nvSpPr>
          <p:cNvPr id="39" name="Text 37"/>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0" name="Text 38"/>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1" name="Text 39"/>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Derinleşme: yakıtları ve besinleri enerji kaynağı olarak karşılaştır; CO₂'nin bedelini, hidrojenin zorluklarını ve günlük uygulamaları gör.</a:t>
            </a:r>
            <a:endParaRPr lang="en-US" sz="1000" dirty="0"/>
          </a:p>
        </p:txBody>
      </p:sp>
      <p:sp>
        <p:nvSpPr>
          <p:cNvPr id="42" name="Shape 40"/>
          <p:cNvSpPr/>
          <p:nvPr/>
        </p:nvSpPr>
        <p:spPr>
          <a:xfrm>
            <a:off x="6415888" y="3429000"/>
            <a:ext cx="2138096" cy="0"/>
          </a:xfrm>
          <a:prstGeom prst="line">
            <a:avLst/>
          </a:prstGeom>
          <a:noFill/>
          <a:ln w="9525">
            <a:solidFill>
              <a:srgbClr val="E1E5EE"/>
            </a:solidFill>
            <a:prstDash val="dash"/>
          </a:ln>
        </p:spPr>
      </p:sp>
      <p:sp>
        <p:nvSpPr>
          <p:cNvPr id="43" name="Text 41"/>
          <p:cNvSpPr txBox="1"/>
          <p:nvPr/>
        </p:nvSpPr>
        <p:spPr>
          <a:xfrm>
            <a:off x="6415888" y="3566160"/>
            <a:ext cx="384048" cy="45171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09</a:t>
            </a:r>
            <a:endParaRPr lang="en-US" sz="1100" dirty="0"/>
          </a:p>
        </p:txBody>
      </p:sp>
      <p:sp>
        <p:nvSpPr>
          <p:cNvPr id="44" name="Text 42"/>
          <p:cNvSpPr txBox="1"/>
          <p:nvPr/>
        </p:nvSpPr>
        <p:spPr>
          <a:xfrm>
            <a:off x="6799936" y="3566160"/>
            <a:ext cx="1754048" cy="45171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Yakıtlar: mol başına mı, gram başına mı?</a:t>
            </a:r>
            <a:endParaRPr lang="en-US" sz="1200" dirty="0"/>
          </a:p>
        </p:txBody>
      </p:sp>
      <p:sp>
        <p:nvSpPr>
          <p:cNvPr id="45" name="Text 43"/>
          <p:cNvSpPr txBox="1"/>
          <p:nvPr/>
        </p:nvSpPr>
        <p:spPr>
          <a:xfrm>
            <a:off x="6415888" y="4072738"/>
            <a:ext cx="384048" cy="45171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4072738"/>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Fosil yakıtlar ve CO₂</a:t>
            </a:r>
            <a:endParaRPr lang="en-US" sz="1250" dirty="0"/>
          </a:p>
        </p:txBody>
      </p:sp>
      <p:sp>
        <p:nvSpPr>
          <p:cNvPr id="47" name="Text 45"/>
          <p:cNvSpPr txBox="1"/>
          <p:nvPr/>
        </p:nvSpPr>
        <p:spPr>
          <a:xfrm>
            <a:off x="6415888" y="4579315"/>
            <a:ext cx="384048" cy="45171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579315"/>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Hidrojen: temiz ama zor bir yakıt</a:t>
            </a:r>
            <a:endParaRPr lang="en-US" sz="1250" dirty="0"/>
          </a:p>
        </p:txBody>
      </p:sp>
      <p:sp>
        <p:nvSpPr>
          <p:cNvPr id="49" name="Text 47"/>
          <p:cNvSpPr txBox="1"/>
          <p:nvPr/>
        </p:nvSpPr>
        <p:spPr>
          <a:xfrm>
            <a:off x="6415888" y="5085893"/>
            <a:ext cx="384048" cy="45171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5085893"/>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Besinler: vücudun yakıtı</a:t>
            </a:r>
            <a:endParaRPr lang="en-US" sz="1250" dirty="0"/>
          </a:p>
        </p:txBody>
      </p:sp>
      <p:sp>
        <p:nvSpPr>
          <p:cNvPr id="51" name="Text 49"/>
          <p:cNvSpPr txBox="1"/>
          <p:nvPr/>
        </p:nvSpPr>
        <p:spPr>
          <a:xfrm>
            <a:off x="6415888" y="5592470"/>
            <a:ext cx="384048" cy="45171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13</a:t>
            </a:r>
            <a:endParaRPr lang="en-US" sz="1100" dirty="0"/>
          </a:p>
        </p:txBody>
      </p:sp>
      <p:sp>
        <p:nvSpPr>
          <p:cNvPr id="52" name="Text 50"/>
          <p:cNvSpPr txBox="1"/>
          <p:nvPr/>
        </p:nvSpPr>
        <p:spPr>
          <a:xfrm>
            <a:off x="6799936" y="5592470"/>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Enerji değişimi gerçek dünyada</a:t>
            </a:r>
            <a:endParaRPr lang="en-US" sz="1250" dirty="0"/>
          </a:p>
        </p:txBody>
      </p:sp>
      <p:sp>
        <p:nvSpPr>
          <p:cNvPr id="53" name="Shape 51"/>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4" name="Shape 52"/>
          <p:cNvSpPr/>
          <p:nvPr/>
        </p:nvSpPr>
        <p:spPr>
          <a:xfrm>
            <a:off x="9157487" y="1645920"/>
            <a:ext cx="2211248" cy="64008"/>
          </a:xfrm>
          <a:prstGeom prst="rect">
            <a:avLst/>
          </a:prstGeom>
          <a:solidFill>
            <a:srgbClr val="A56209"/>
          </a:solidFill>
          <a:ln/>
        </p:spPr>
      </p:sp>
      <p:sp>
        <p:nvSpPr>
          <p:cNvPr id="55" name="Shape 53"/>
          <p:cNvSpPr/>
          <p:nvPr/>
        </p:nvSpPr>
        <p:spPr>
          <a:xfrm>
            <a:off x="9194063" y="1920240"/>
            <a:ext cx="420624" cy="420624"/>
          </a:xfrm>
          <a:prstGeom prst="roundRect">
            <a:avLst>
              <a:gd name="adj" fmla="val 26000"/>
            </a:avLst>
          </a:prstGeom>
          <a:solidFill>
            <a:srgbClr val="A56209"/>
          </a:solidFill>
          <a:ln/>
        </p:spPr>
      </p:sp>
      <p:sp>
        <p:nvSpPr>
          <p:cNvPr id="56" name="Text 54"/>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7" name="Text 55"/>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8" name="Text 56"/>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enerji sorularında puan kaybettiren klasik hatalar.</a:t>
            </a:r>
            <a:endParaRPr lang="en-US" sz="1150" dirty="0"/>
          </a:p>
        </p:txBody>
      </p:sp>
      <p:sp>
        <p:nvSpPr>
          <p:cNvPr id="59" name="Shape 57"/>
          <p:cNvSpPr/>
          <p:nvPr/>
        </p:nvSpPr>
        <p:spPr>
          <a:xfrm>
            <a:off x="9194063" y="3429000"/>
            <a:ext cx="2138096" cy="0"/>
          </a:xfrm>
          <a:prstGeom prst="line">
            <a:avLst/>
          </a:prstGeom>
          <a:noFill/>
          <a:ln w="9525">
            <a:solidFill>
              <a:srgbClr val="E1E5EE"/>
            </a:solidFill>
            <a:prstDash val="dash"/>
          </a:ln>
        </p:spPr>
      </p:sp>
      <p:sp>
        <p:nvSpPr>
          <p:cNvPr id="60" name="Text 58"/>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2" name="Text 60"/>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15</a:t>
            </a:r>
            <a:endParaRPr lang="en-US" sz="1100" dirty="0"/>
          </a:p>
        </p:txBody>
      </p:sp>
      <p:sp>
        <p:nvSpPr>
          <p:cNvPr id="63" name="Text 61"/>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4" name="Shape 62"/>
          <p:cNvSpPr/>
          <p:nvPr/>
        </p:nvSpPr>
        <p:spPr>
          <a:xfrm>
            <a:off x="640080" y="6382512"/>
            <a:ext cx="128016" cy="128016"/>
          </a:xfrm>
          <a:prstGeom prst="roundRect">
            <a:avLst>
              <a:gd name="adj" fmla="val 28571"/>
            </a:avLst>
          </a:prstGeom>
          <a:solidFill>
            <a:srgbClr val="A9E648"/>
          </a:solidFill>
          <a:ln/>
        </p:spPr>
      </p:sp>
      <p:sp>
        <p:nvSpPr>
          <p:cNvPr id="65" name="Text 6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66" name="Text 6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Sıcaklık: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bir şeyin ne kadar sıcak ya da soğuk olduğu; termometreyle derece (°C) cinsinden ölçülür.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Isı:</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sıcaklık farkı yüzünden bir yerden ötekine geçen enerji. Birimi joule (J); 1 kJ = 1000 J. Isı her zaman sıcaktan soğuğa akar.</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Fiziksel ve kimyasal olay:</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fiziksel olayda madde değişmez (buz erir, yine sudur); kimyasal olayda yeni maddeler oluşur (odun yanar, CO₂ ve su oluşur).</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Mol:</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tanecik sayma paketi; 1 mol = 6,02·10²³ tanecik, tıpkı 1 düzine = 12 tane gibi.</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Mol kütlesi:</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1 molün gram cinsinden kütlesi. CH₄ için 12 + 4·1 = 16 g/mol; mol sayısı n = m / M ile bulunur.</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Hâl simgeleri:</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(k) katı, (s) sıvı, (g) gaz, (suda) suda çözünmüş.</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Önce sezgi: ısınan ve soğuyan olaylara bak, sistemi çevreden ayır, ısı alan ve ısı veren olayları formülsüz tanı.</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ısınan ve soğuyan olaylar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Sistem, çevre ve evren</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Endotermik olaylar: ısı alanlar</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Ekzotermik olaylar: ısı verenler</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1d623a45-0112-427a-9abb-0c648368bda2/scratchpad/sunum/sekiller/enerji-degisimi-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Dizdeki soğuk kompres</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buzdolabına girmeden soğur. Paket sıkılınca içindeki ince su kesesi yırtılır ve yanındaki katı (çoğu zaman amonyum nitrat, NH₄NO₃) suda çözünür. Bu çözünme ısıyı çevresinden, yani paketi tutan elden ve dizden çeker; paket bu yüzden soğuk gelir. Yüzeydeki damlacıklar, havadaki su buharının soğuk paketin üstünde yoğuşmasıyla oluşur.</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dersler.perinet.org/enerji-degisimi.html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ısınan ve soğuyan olaylar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Enerji alışverişini çoğu zaman gözünle değil, teninle hissedersin.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Aşağıdaki olayların her birinde bir madde değişiyor ve yakınındaki her şeyin sıcaklığı değişiyor: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ısınan ve soğuyan olaylar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20599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Kolonya serinletir: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alkolü buharlaşırken elinden ısı çeker.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Ateş ısıtır: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yanan odun havaya, taşlara ve sana ısı verir.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Buz içeceği soğutur: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buz erirken içeceğin ısısını alır.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Soğuk kompres buz gibi olur: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sıkılınca içindeki katı suda çözünür ve çevresinden ısı çeker.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ısınan ve soğuyan olaylar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128701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Cep ısıtıcısı ısınır: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içindeki demir tozu havayla paslanırken ısı verir.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Kireç söndürülürken su fokurdar: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sönmemiş kireç (CaO) suyla tepkimeye girerken karışım kaynayacak kadar ısınabilir.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ısınan ve soğuyan olaylar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İlk bakışta iki grup var: ateşte, cep ısıtıcısında ve kireçte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çevre ısınır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kolonyada, buzda ve kompreste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çevre soğur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Ölçüt, ısının hangi yöne aktığıdır; ısı her zaman sıcaktan soğuğa akar.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Soğuk paket eline “soğukluk” vermez, elin pakete ısı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altı örnekte ısıtanların hepsi kimyasal, soğutanların hepsi fiziksel; ama bu bir kural değil: suyun donması ve buharın yoğuşması fiziksel olduğu hâlde çevreyi ısıtır, kireç taşının ayrışması ve fotosentez kimyasal olduğu hâlde ısı alır.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ısınan ve soğuyan olaylar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230187" y="1234440"/>
            <a:ext cx="773132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enerji-degisimi-01.png">    </p:cNvPr>
          <p:cNvPicPr>
            <a:picLocks noChangeAspect="1"/>
          </p:cNvPicPr>
          <p:nvPr/>
        </p:nvPicPr>
        <p:blipFill>
          <a:blip r:embed="rId1"/>
          <a:stretch>
            <a:fillRect/>
          </a:stretch>
        </p:blipFill>
        <p:spPr>
          <a:xfrm>
            <a:off x="2458787" y="1325880"/>
            <a:ext cx="727412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Ateşte ısı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sistemden çevreye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akar: hava, taşlar ve yüzün ısınır. Soğuk pakette ısı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çevreden sisteme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akar: paketi tutan el ve diz ısı kaybeder, bu yüzden serinler. İki durumda da ısı sıcak olandan soğuk olana gider; pakete “soğukluk” girmez, paketten ısı çıkmaz, tersine pakete ısı girer.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ısınan ve soğuyan olaylar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Her fiziksel ve kimyasal olayda madde ile çevresi arasında ısı alışverişi olur. Bazı olaylar çevresini ısıtır, bazıları soğutur; ısı her zaman sıcaktan soğuğa akar.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Çaydanlığın ağzından yükselen beyaz bulut gerçekten su buharı mıdır?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ısınan ve soğuyan olaylar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Çaydanlığın ağzından yükselen beyaz bulut gerçekten su buharı mıdır?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Tam değil. Su buharı renksiz bir gazdır; ağzın hemen önündeki kısa, görünmez boşluk gerçek buhardır. Buhar soğuk havada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yoğuşup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minik damlacıklara döner; gördüğün beyaz bulut bu damlacıklardır. Yoğuşurken havaya ısı verir; buhar yanığının aynı sıcaklıktaki suyun yanığından tehlikeli olması da bundandır.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Sistem, çevre ve evren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olayın enerjisini konuşmadan önce bir sınır çizeriz.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İncelemek için seçtiğimiz parçaya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sistem</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onun dışında kalıp onunla etkileşen her şeye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çevre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(ortam) denir; ikisi birlikte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evreni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oluşturur.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Kimyada sistem çoğu zaman tepkimeye giren maddelerdir; kaptaki su, kabın kendisi ve hava çevredir.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Sistem, çevre ve evren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Enerjinin hiç değişmeyen bir kuralı var: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enerji yoktan var edilemez, yok da edilemez</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yalnızca biçim ya da yer değiştirir.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enerjinin korunumu</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(termodinamiğin birinci yasası)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Sistemin verdiği ısının tamamı çevreye geçer; evrenin toplam enerjisi değişmez.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Bankadaki hesaplar gibi düşün: bir hesaptan çıkan para başka bir hesaba girer, bankadaki toplam aynı kalır.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Sistem, çevre ve evren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2106818" y="1234440"/>
            <a:ext cx="7978059"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enerji-degisimi-02.png">    </p:cNvPr>
          <p:cNvPicPr>
            <a:picLocks noChangeAspect="1"/>
          </p:cNvPicPr>
          <p:nvPr/>
        </p:nvPicPr>
        <p:blipFill>
          <a:blip r:embed="rId1"/>
          <a:stretch>
            <a:fillRect/>
          </a:stretch>
        </p:blipFill>
        <p:spPr>
          <a:xfrm>
            <a:off x="2335418" y="1325880"/>
            <a:ext cx="7520859"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Sistem, incelemek için seçtiğin parçadır; burada suda tepkimeye giren maddeler. Su, kap ve hava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çevredir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ikisi birlikte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evreni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oluşturur. Sistem Q kadar ısı verirse çevre tam Q kadar ısı alır: evrenin toplam enerjisi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değişmez</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Sistem, çevre ve evren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Sınırından neyin geçebildiğine göre üç tür sistem vardır:</a:t>
            </a:r>
            <a:endParaRPr lang="en-US" sz="2200" dirty="0"/>
          </a:p>
        </p:txBody>
      </p:sp>
      <p:sp>
        <p:nvSpPr>
          <p:cNvPr id="7" name="Text 5"/>
          <p:cNvSpPr txBox="1"/>
          <p:nvPr/>
        </p:nvSpPr>
        <p:spPr>
          <a:xfrm>
            <a:off x="640080" y="2004060"/>
            <a:ext cx="10911535" cy="211455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Açık sistem:</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madde de enerji de geçer; kapağı açık, kaynayan tencere buhar ve ısı kaybeder.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Kapalı sistem:</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yalnız enerji geçer; ağzı sıkı kapalı bir kavanoz ısınıp soğuyabilir, içindeki madde çıkamaz.</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Yalıtılmış sistem:</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ne madde ne enerji geçer; iyi bir termos buna yaklaşır.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Sistem, çevre ve evren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1559157" y="1234440"/>
            <a:ext cx="9073381"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enerji-degisimi-03.png">    </p:cNvPr>
          <p:cNvPicPr>
            <a:picLocks noChangeAspect="1"/>
          </p:cNvPicPr>
          <p:nvPr/>
        </p:nvPicPr>
        <p:blipFill>
          <a:blip r:embed="rId1"/>
          <a:stretch>
            <a:fillRect/>
          </a:stretch>
        </p:blipFill>
        <p:spPr>
          <a:xfrm>
            <a:off x="1787757" y="1325880"/>
            <a:ext cx="8616181"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Açık sistem madde de enerji de alıp verir: kaynayan tencereden buhar ve ısı çıkar. Kapalı sistemde madde içeride kalır, yalnızca ısı geçer.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Yalıtılmış</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sistemde ikisi de geçemez; iyi bir termos ya da kalorimetre buna yaklaşır, tam yalıtım ise gerçekte yoktur.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Sistem, çevre ve evren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Sistem incelediğimiz parça, çevre onun dışında kalıp onunla etkileşen her şeydir; ikisi birlikte evreni oluşturur. Enerji korunur: sistemin verdiği ısının tamamı çevreye geçer, evrenin toplam enerjisi değişmez.</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Yalıtılmış bir kabın içinde ısı veren bir tepkime olursa kabın içi ne olur?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02 · Sistem, çevre ve evren</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Yalıtılmış bir kabın içinde ısı veren bir tepkime olursa kabın içi ne 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Isı dışarı kaçamaz, içerideki maddelerde kalır: sıcaklık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yükselir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Isı alan bir tepkimede ise gereken ısı dışarıdan gelemez; tepkime onu içerideki maddelerden çeker ve sıcaklık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düşer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Kalorimetreler bu fikre dayanır.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Endotermik olaylar: ısı alanlar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Çevresinden ısı alarak gerçekleşen olaylara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endotermik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(ısı alan) olaylar denir; “endo” içeri demektir.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Sistemin enerjisi artar, çevrenin enerjisi aynı miktarda azalır: çevre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soğur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Endotermik olaylar: ısı alanlar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Fiziksel endotermik olayların başında hâl değişimleri gelir: tanecikleri bir arada tutan çekimi gevşetmek ya da koparmak enerji ister.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1 mol buzu 0 °C'de eritmek 6,01 kJ, 1 mol suyu 100 °C'de buharlaştırmak 40,7 kJ ister; tanecikleri koparmak, gevşetmekten yaklaşık yedi kat zordur.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Kuru buzun (katı CO₂) doğrudan gaza dönüşmesi, yani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süblimleşme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 ısı alır.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Endotermik olaylar: ısı alanlar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NH₄NO₃ ve NH₄Cl gibi bazı tuzların suda çözünmesi de fiziksel bir endotermik olaydır: suyu soğutur.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Endotermik olaylar: ısı alanlar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Shape 4"/>
          <p:cNvSpPr/>
          <p:nvPr/>
        </p:nvSpPr>
        <p:spPr>
          <a:xfrm>
            <a:off x="2921712" y="1234440"/>
            <a:ext cx="6348271"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enerji-degisimi-04.png">    </p:cNvPr>
          <p:cNvPicPr>
            <a:picLocks noChangeAspect="1"/>
          </p:cNvPicPr>
          <p:nvPr/>
        </p:nvPicPr>
        <p:blipFill>
          <a:blip r:embed="rId1"/>
          <a:stretch>
            <a:fillRect/>
          </a:stretch>
        </p:blipFill>
        <p:spPr>
          <a:xfrm>
            <a:off x="3150312" y="1325880"/>
            <a:ext cx="5891071"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Taneciklerin arasını açan her hâl değişimi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erime, buharlaşma, süblimleşme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ısı alır: tanecikleri birbirine bağlayan çekimi gevşetmek ya da koparmak enerji ister. Ters yöndeki değişimler (donma, yoğuşma, kırağılaşma) aynı miktarda ısıyı geri verir. Su için 1 mol buzu eritmek 6,01 kJ, 1 mol suyu 100 °C'de buharlaştırmak 40,7 kJ ister.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Endotermik olaylar: ısı alanlar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Kimyasal endotermik olaylara örnekler:</a:t>
            </a:r>
            <a:endParaRPr lang="en-US" sz="2200" dirty="0"/>
          </a:p>
        </p:txBody>
      </p:sp>
      <p:sp>
        <p:nvSpPr>
          <p:cNvPr id="7" name="Text 5"/>
          <p:cNvSpPr txBox="1"/>
          <p:nvPr/>
        </p:nvSpPr>
        <p:spPr>
          <a:xfrm>
            <a:off x="640080" y="2004060"/>
            <a:ext cx="10911535" cy="25740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Isıyla ayrışma: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kireç taşı (CaCO₃) ancak fırında sönmemiş kirece ve CO₂'ye ayrışır.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Elektroliz: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elektrik akımı suyu hidrojen ve oksijene ayırır.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Fotosentez: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bitki glikoz yaparken gereken enerjiyi Güneş ışığından alır.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Bağ kırılması ve iyonlaşma: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H₂'yi iki H atomuna ayırmak ya da bir atomdan elektron koparmak enerji ister.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Endotermik olaylar: ısı alanlar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Azotun yanması: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N₂ ile O₂ yalnızca şimşekte ya da motorda NO'ya dönüşür ve ısı alır.</a:t>
            </a:r>
            <a:endParaRPr lang="en-US" sz="2100" dirty="0"/>
          </a:p>
        </p:txBody>
      </p:sp>
      <p:sp>
        <p:nvSpPr>
          <p:cNvPr id="7" name="Text 5"/>
          <p:cNvSpPr txBox="1"/>
          <p:nvPr/>
        </p:nvSpPr>
        <p:spPr>
          <a:xfrm>
            <a:off x="640080" y="23545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Endotermik olay, gereken ısıyı çevresinden aldığı sürece ilerler.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Isı bir fırından ya da Güneş'ten geliyorsa kaynak kesilince olay durur: fırın sönünce ayrışma, Güneş batınca fotosentez durur.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Denklemde ısı, girenlerin yanına yazılır:</a:t>
            </a:r>
            <a:endParaRPr lang="en-US" sz="2200" dirty="0"/>
          </a:p>
        </p:txBody>
      </p:sp>
      <p:sp>
        <p:nvSpPr>
          <p:cNvPr id="8" name="Shape 6"/>
          <p:cNvSpPr/>
          <p:nvPr/>
        </p:nvSpPr>
        <p:spPr>
          <a:xfrm>
            <a:off x="640080" y="4372356"/>
            <a:ext cx="3467405" cy="585216"/>
          </a:xfrm>
          <a:prstGeom prst="roundRect">
            <a:avLst>
              <a:gd name="adj" fmla="val 18750"/>
            </a:avLst>
          </a:prstGeom>
          <a:solidFill>
            <a:srgbClr val="EEF2FC"/>
          </a:solidFill>
          <a:ln w="9525">
            <a:solidFill>
              <a:srgbClr val="CBD7F4"/>
            </a:solidFill>
            <a:prstDash val="solid"/>
          </a:ln>
        </p:spPr>
      </p:sp>
      <p:sp>
        <p:nvSpPr>
          <p:cNvPr id="9" name="Text 7"/>
          <p:cNvSpPr txBox="1"/>
          <p:nvPr/>
        </p:nvSpPr>
        <p:spPr>
          <a:xfrm>
            <a:off x="640080" y="4372356"/>
            <a:ext cx="3467405"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CaCO₃(k) + 178,3 kJ →</a:t>
            </a:r>
            <a:endParaRPr lang="en-US" sz="1800" dirty="0"/>
          </a:p>
        </p:txBody>
      </p:sp>
      <p:sp>
        <p:nvSpPr>
          <p:cNvPr id="10" name="Shape 8"/>
          <p:cNvSpPr/>
          <p:nvPr/>
        </p:nvSpPr>
        <p:spPr>
          <a:xfrm>
            <a:off x="4253789" y="4372356"/>
            <a:ext cx="2633472" cy="585216"/>
          </a:xfrm>
          <a:prstGeom prst="roundRect">
            <a:avLst>
              <a:gd name="adj" fmla="val 18750"/>
            </a:avLst>
          </a:prstGeom>
          <a:solidFill>
            <a:srgbClr val="EEF2FC"/>
          </a:solidFill>
          <a:ln w="9525">
            <a:solidFill>
              <a:srgbClr val="CBD7F4"/>
            </a:solidFill>
            <a:prstDash val="solid"/>
          </a:ln>
        </p:spPr>
      </p:sp>
      <p:sp>
        <p:nvSpPr>
          <p:cNvPr id="11" name="Text 9"/>
          <p:cNvSpPr txBox="1"/>
          <p:nvPr/>
        </p:nvSpPr>
        <p:spPr>
          <a:xfrm>
            <a:off x="4253789" y="4372356"/>
            <a:ext cx="263347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CaO(k) + CO₂(g)</a:t>
            </a:r>
            <a:endParaRPr lang="en-US" sz="1800" dirty="0"/>
          </a:p>
        </p:txBody>
      </p:sp>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Endotermik olaylar: ısı alanlar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Endotermik olaylar çevresinden ısı alır; sistemin enerjisi artar, çevre soğur. Erime, buharlaşma, süblimleşme, ısıyla ayrışma, elektroliz, fotosentez, bağ kırılması ve bazı tuzların çözünmesi bu gruptadır.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Ekzotermik olaylar: ısı verenler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Çevresine ısı vererek gerçekleşen olaylara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ekzotermik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(ısı veren) olaylar denir; “ekzo” dışarı demektir.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Sistemin enerjisi azalır, çevre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ısınır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endotermik olayın tersi ekzotermiktir: eriyen buz ısı alıyorsa, donan su aynı ısıyı geri verir.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Ekzotermik olaylar: ısı verenler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94208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Hâl değişimleri: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donma, yoğuşma ve kırağılaşma; kış sabahı camdaki buz çiçekleri, su buharının doğrudan katıya dönmesidir.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Yanma: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odun, doğal gaz, benzin ve mum ısı ve ışık verir; bilinen istisna azotun yanmasıdır.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Solunum:</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hücrelerin glikozu oksijenle “yavaşça yakar”.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Nötrleşme ve metal–asit: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asit ile baz karışınca ya da magnezyum asitte çözünürken tüp ısınır.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Ekzotermik olaylar: ısı verenler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17465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Paslanma ve bağ oluşumu:</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demirin paslanması, iki H atomunun birleşip H₂ oluşturması.</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Elektron alma: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Cl(g) + e⁻ → Cl⁻(g) ısı verir.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Bazı katıların çözünmesi: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NaOH, KOH ve CaCl₂ suda çözünürken suyu ısıtır.</a:t>
            </a:r>
            <a:endParaRPr lang="en-US" sz="2100" dirty="0"/>
          </a:p>
        </p:txBody>
      </p:sp>
      <p:sp>
        <p:nvSpPr>
          <p:cNvPr id="7" name="Text 5"/>
          <p:cNvSpPr txBox="1"/>
          <p:nvPr/>
        </p:nvSpPr>
        <p:spPr>
          <a:xfrm>
            <a:off x="640080" y="3273552"/>
            <a:ext cx="10911535" cy="9540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Ekzotermik tepkimede ısı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ürünlerin yanına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yazılır.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02 numaralı bölümünde olayları tek tek sınıflandırabilirsin.</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Ekzotermik olaylar: ısı verenler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1975032" y="1234440"/>
            <a:ext cx="8241632"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enerji-degisimi-05.png">    </p:cNvPr>
          <p:cNvPicPr>
            <a:picLocks noChangeAspect="1"/>
          </p:cNvPicPr>
          <p:nvPr/>
        </p:nvPicPr>
        <p:blipFill>
          <a:blip r:embed="rId1"/>
          <a:stretch>
            <a:fillRect/>
          </a:stretch>
        </p:blipFill>
        <p:spPr>
          <a:xfrm>
            <a:off x="2203632" y="1325880"/>
            <a:ext cx="7784432"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1 mol metan iki mol oksijenle yanınca bir mol CO₂ ve iki mol su oluşur ve çevreye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890 kJ</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ısı verilir (su sıvı hâlde oluşursa). Ekzotermik bir tepkimede ısı, sanki bir ürünmüş gibi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ürünlerin yanına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yazılır. Ocakta tencereyi ısıtan enerji budur.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Ekzotermik olaylar: ısı verenler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640080" y="1325880"/>
            <a:ext cx="10911535" cy="2610612"/>
          </a:xfrm>
          <a:prstGeom prst="roundRect">
            <a:avLst>
              <a:gd name="adj" fmla="val 490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2281428"/>
          </a:xfrm>
          <a:prstGeom prst="rect">
            <a:avLst/>
          </a:prstGeom>
          <a:solidFill>
            <a:srgbClr val="3C8C21"/>
          </a:solidFill>
          <a:ln/>
        </p:spPr>
      </p:sp>
      <p:sp>
        <p:nvSpPr>
          <p:cNvPr id="8" name="Text 6"/>
          <p:cNvSpPr txBox="1"/>
          <p:nvPr/>
        </p:nvSpPr>
        <p:spPr>
          <a:xfrm>
            <a:off x="950976" y="1453896"/>
            <a:ext cx="10399471" cy="2354580"/>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Isı veren tepkime de bir “itiş” isteyebilir.</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Ocaktaki gaz kıvılcım olmadan yanmaz; ama kıvılcım yalnızca başlatır. Tepkime başlayınca verdiği ısı yeni tanecikleri tutuşturur ve kendiliğinden sürer. Endotermik olaylar ise iki türlüdür: bazıları, kireç taşının ayrışması gibi, ancak dışarıdan sürekli ısı verilirse sürer ve ısıtma kesilince durur; bazıları ise, NH₄NO₃'ın çözünmesi gibi, gereken ısıyı çevresinden çekerek kendiliğinden ilerler ve çevreyi soğutur. Başlatma enerjisini “Tepkimelerin gerçekleşme şartları” konusunda göreceksin.</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Ekzotermik olaylar: ısı verenler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Ekzotermik olaylar çevresine ısı verir; sistemin enerjisi azalır, çevre ısınır. Donma, yoğuşma, kırağılaşma, yanma, solunum, nötrleşme, paslanma ve bağ oluşumu bu gruptadır; bazıları başlamak için bir kıvılcım ister.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Bahçıvanlar don gecelerinde meyve ağaçlarına neden su püskürtür?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04 · Ekzotermik olaylar: ısı verenler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Bahçıvanlar don gecelerinde meyve ağaçlarına neden su püskürtür?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Tomurcuğun üstündeki su donarken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ısı verir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Donma sürdükçe açığa çıkan bu ısı tomurcuğu 0 °C civarında tutar; hava daha da soğusa bile tomurcuk geç donar.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alınan ya da verilen ısıyı entalpi değişimiyle sayıya dök, işaretini oku, madde miktarıyla ölçekle ve kalorimetreyle ölç.</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Entalpi ve ΔH'nin işareti</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Isı, madde miktarıyla orantılıdır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Isıyı ölçmek: kalorimetre ve q = m·c·ΔT</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Sayılarla hisset: kaç kJ, kaç derece?</a:t>
            </a:r>
            <a:endParaRPr lang="en-US" sz="1300" dirty="0"/>
          </a:p>
        </p:txBody>
      </p:sp>
      <p:sp>
        <p:nvSpPr>
          <p:cNvPr id="10" name="Text 8"/>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1" name="Shape 9"/>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2" name="Text 10"/>
          <p:cNvSpPr txBox="1"/>
          <p:nvPr/>
        </p:nvSpPr>
        <p:spPr>
          <a:xfrm>
            <a:off x="6400800" y="1481328"/>
            <a:ext cx="3276295"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ΔH = H(ürünler) − H(girenler)</a:t>
            </a:r>
            <a:endParaRPr lang="en-US" sz="1500" dirty="0"/>
          </a:p>
        </p:txBody>
      </p:sp>
      <p:sp>
        <p:nvSpPr>
          <p:cNvPr id="13" name="Text 11"/>
          <p:cNvSpPr txBox="1"/>
          <p:nvPr/>
        </p:nvSpPr>
        <p:spPr>
          <a:xfrm>
            <a:off x="9768535" y="1481328"/>
            <a:ext cx="1600200"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tepkime entalpisi</a:t>
            </a:r>
            <a:endParaRPr lang="en-US" sz="1200" dirty="0"/>
          </a:p>
        </p:txBody>
      </p:sp>
      <p:sp>
        <p:nvSpPr>
          <p:cNvPr id="14" name="Shape 12"/>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5" name="Text 13"/>
          <p:cNvSpPr txBox="1"/>
          <p:nvPr/>
        </p:nvSpPr>
        <p:spPr>
          <a:xfrm>
            <a:off x="6400800" y="235000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q = m·c·ΔT</a:t>
            </a:r>
            <a:endParaRPr lang="en-US" sz="1500" dirty="0"/>
          </a:p>
        </p:txBody>
      </p:sp>
      <p:sp>
        <p:nvSpPr>
          <p:cNvPr id="16" name="Text 14"/>
          <p:cNvSpPr txBox="1"/>
          <p:nvPr/>
        </p:nvSpPr>
        <p:spPr>
          <a:xfrm>
            <a:off x="8138160" y="235000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suyun aldığı ısı</a:t>
            </a:r>
            <a:endParaRPr lang="en-US" sz="1200" dirty="0"/>
          </a:p>
        </p:txBody>
      </p:sp>
      <p:sp>
        <p:nvSpPr>
          <p:cNvPr id="17" name="Shape 15"/>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8" name="Text 16"/>
          <p:cNvSpPr txBox="1"/>
          <p:nvPr/>
        </p:nvSpPr>
        <p:spPr>
          <a:xfrm>
            <a:off x="6400800" y="321868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Q = n·|ΔH|</a:t>
            </a:r>
            <a:endParaRPr lang="en-US" sz="1500" dirty="0"/>
          </a:p>
        </p:txBody>
      </p:sp>
      <p:sp>
        <p:nvSpPr>
          <p:cNvPr id="19" name="Text 17"/>
          <p:cNvSpPr txBox="1"/>
          <p:nvPr/>
        </p:nvSpPr>
        <p:spPr>
          <a:xfrm>
            <a:off x="8138160" y="321868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n mol için ısı</a:t>
            </a:r>
            <a:endParaRPr lang="en-US" sz="1200" dirty="0"/>
          </a:p>
        </p:txBody>
      </p:sp>
      <p:sp>
        <p:nvSpPr>
          <p:cNvPr id="20" name="Shape 18"/>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1" name="Text 19"/>
          <p:cNvSpPr txBox="1"/>
          <p:nvPr/>
        </p:nvSpPr>
        <p:spPr>
          <a:xfrm>
            <a:off x="6400800" y="4087368"/>
            <a:ext cx="32461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kJ/g = (kJ/mol) ÷ (g/mol)</a:t>
            </a:r>
            <a:endParaRPr lang="en-US" sz="1500" dirty="0"/>
          </a:p>
        </p:txBody>
      </p:sp>
      <p:sp>
        <p:nvSpPr>
          <p:cNvPr id="22" name="Text 20"/>
          <p:cNvSpPr txBox="1"/>
          <p:nvPr/>
        </p:nvSpPr>
        <p:spPr>
          <a:xfrm>
            <a:off x="9738360" y="4087368"/>
            <a:ext cx="16303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gram başına yanma ısısı</a:t>
            </a:r>
            <a:endParaRPr lang="en-US" sz="1200" dirty="0"/>
          </a:p>
        </p:txBody>
      </p:sp>
      <p:sp>
        <p:nvSpPr>
          <p:cNvPr id="23" name="Shape 21"/>
          <p:cNvSpPr/>
          <p:nvPr/>
        </p:nvSpPr>
        <p:spPr>
          <a:xfrm>
            <a:off x="640080" y="6382512"/>
            <a:ext cx="128016" cy="128016"/>
          </a:xfrm>
          <a:prstGeom prst="roundRect">
            <a:avLst>
              <a:gd name="adj" fmla="val 28571"/>
            </a:avLst>
          </a:prstGeom>
          <a:solidFill>
            <a:srgbClr val="C6F36B"/>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dersler.perinet.org/enerji-degisimi.html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Entalpi ve ΔH'nin işareti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maddenin taneciklerinin hareketinde ve aralarındaki bağlarda depolanmış bir enerji vardır.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Sabit basınçta bir maddenin sahip olduğu bu toplam enerjiye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entalpi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(ısı kapsamı) denir ve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ile gösterilir.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Entalpinin kendisini ölçemeyiz, ama bir olayda ne kadar değiştiğini ölçebiliriz: açık havada, yani sabit basınçta gerçekleşen bir tepkimede alınan ya da verilen ısı, entalpideki değişime eşittir.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değişime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tepkime entalpisi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p:txBody>
      </p:sp>
      <p:sp>
        <p:nvSpPr>
          <p:cNvPr id="7" name="Shape 5"/>
          <p:cNvSpPr/>
          <p:nvPr/>
        </p:nvSpPr>
        <p:spPr>
          <a:xfrm>
            <a:off x="640080" y="4977384"/>
            <a:ext cx="4579315"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977384"/>
            <a:ext cx="4579315"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ΔH = H(ürünler) − H(girenler)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Entalpi ve ΔH'nin işareti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16550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Ekzotermik: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ürünlerin entalpisi girenlerinkinden düşüktür,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ΔH &lt; 0</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Sistem ısı verdi.</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Endotermik: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ürünlerin entalpisi girenlerinkinden yüksektir,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ΔH &gt; 0</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Sistem ısı aldı.</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Entalpi ve ΔH'nin işareti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İşareti hep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sistemin gözünden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oku: eksi “sistem verdi”, artı “sistem aldı” demektir; çevre için tam tersi geçerlidir.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Isıyı bir denkleme iki biçimde yazabilirsin.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 ısı terimini ürünlerin yanına koyarsın: H₂(g) + ½O₂(g) → H₂O(s) + 285,8 kJ.</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 da denklemin yanına ΔH'yi yazarsın:</a:t>
            </a:r>
            <a:endParaRPr lang="en-US" sz="2200" dirty="0"/>
          </a:p>
        </p:txBody>
      </p:sp>
      <p:sp>
        <p:nvSpPr>
          <p:cNvPr id="7" name="Shape 5"/>
          <p:cNvSpPr/>
          <p:nvPr/>
        </p:nvSpPr>
        <p:spPr>
          <a:xfrm>
            <a:off x="640080" y="4206240"/>
            <a:ext cx="3745382"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206240"/>
            <a:ext cx="374538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H₂(g) + ½O₂(g) → H₂O(s)</a:t>
            </a:r>
            <a:endParaRPr lang="en-US" sz="1800" dirty="0"/>
          </a:p>
        </p:txBody>
      </p:sp>
      <p:sp>
        <p:nvSpPr>
          <p:cNvPr id="9" name="Shape 7"/>
          <p:cNvSpPr/>
          <p:nvPr/>
        </p:nvSpPr>
        <p:spPr>
          <a:xfrm>
            <a:off x="4531766" y="4206240"/>
            <a:ext cx="2494483"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531766" y="4206240"/>
            <a:ext cx="2494483"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ΔH = −285,8 kJ</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Entalpi ve ΔH'nin işareti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yazım aynı şeyi söyler; ΔH'yi yazınca ısıyı denklemin içine ayrıca yazmazsın.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Endotermik örnekte işaret artıdır: CaCO₃(k) → CaO(k) + CO₂(g) için ΔH = +178,3 kJ.</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Hâl simgeleri de önemlidir: aynı tepkimede su buhar olarak, yani H₂O(g) oluşursa 241,8 kJ açığa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Aradaki 44 kJ, 25 °C'de buharın sıvıya yoğuşurken verdiği ısıdır (100 °C'de 40,7 kJ).</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Entalpi ve ΔH'nin işareti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400678" y="1234440"/>
            <a:ext cx="739034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enerji-degisimi-06.png">    </p:cNvPr>
          <p:cNvPicPr>
            <a:picLocks noChangeAspect="1"/>
          </p:cNvPicPr>
          <p:nvPr/>
        </p:nvPicPr>
        <p:blipFill>
          <a:blip r:embed="rId1"/>
          <a:stretch>
            <a:fillRect/>
          </a:stretch>
        </p:blipFill>
        <p:spPr>
          <a:xfrm>
            <a:off x="2629278" y="1325880"/>
            <a:ext cx="693314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Ekzotermik tepkimede ürünlerin entalpisi girenlerinkinden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düşüktür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aradaki fark çevreye ısı olarak verilir ve ΔH eksi çıkar. Endotermik tepkimede ürünler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daha yüksektedir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fark çevreden alınır ve ΔH artı çıkar. İki diyagram aynı ölçekle çizildi: okların boyu 285,8 ile 178,3 kJ'nin oranındadır.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Entalpi ve ΔH'nin işareti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Entalpi (H), sabit basınçta maddenin enerjisidir; ölçülen değişimidir: ΔH = H(ürünler) − H(girenler). Ekzotermikte ΔH &lt; 0 ve ısı ürünlerin yanına, endotermikte ΔH &gt; 0 ve ısı girenlerin yanına yazılır.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 tepkimede ürünlerin entalpisi girenlerinkinden büyükse, kaptaki su ısınır mı, soğur mu?</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05 · Entalpi ve ΔH'nin işareti</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 tepkimede ürünlerin entalpisi girenlerinkinden büyükse, kaptaki su ısınır mı, soğur mu?</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Soğur.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Ürünlerin entalpisi büyükse ΔH &gt; 0'dır: sistem ısı almıştır. Bu ısı en yakın kaynaktan, yani tepkimenin olduğu kaptaki sudan gelir; su ısı kaybeder ve sıcaklığı düşer.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Isı, madde miktarıyla orantılıdır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kibrit çöpü de bir kucak odun da yanar, ama çaydanlığı yalnızca odun kaynatır.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Açığa çıkan ısı, tepkimeye giren madde miktarıyla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doğru orantılıdır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denklemin yanındaki ΔH, katsayıların söylediği mol sayıları için geçerlidir.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Buradan üç kural çıkar: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Isı, madde miktarıyla orantılıdır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285064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Katsayıları çarparsan ΔH de çarpılır: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2H₂(g) + O₂(g) → 2H₂O(s) için ΔH = 2·(−285,8) = −571,6 kJ. Katsayıları yarıya indirirsen ΔH de yarıya iner.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Tepkimeyi ters çevirirsen ΔH'nin işareti değişir: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2H₂O(s) → 2H₂(g) + O₂(g) için ΔH = +571,6 kJ. Suyu ayrıştırmak, hidrojen yanarken açığa çıkan ısının tamamını geri ister.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Isı mol sayısıyla orantılıdır: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ΔH'si 1 mol için verilmiş bir maddeden n mol tepkimeye girerse alınan ya da verilen ısı Q = n·|ΔH| olur.</a:t>
            </a:r>
            <a:endParaRPr lang="en-US" sz="2100" dirty="0"/>
          </a:p>
        </p:txBody>
      </p:sp>
      <p:sp>
        <p:nvSpPr>
          <p:cNvPr id="7" name="Shape 5"/>
          <p:cNvSpPr/>
          <p:nvPr/>
        </p:nvSpPr>
        <p:spPr>
          <a:xfrm>
            <a:off x="640080" y="4377690"/>
            <a:ext cx="2216506"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377690"/>
            <a:ext cx="2216506"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Q = n · |ΔH|</a:t>
            </a:r>
            <a:endParaRPr lang="en-US" sz="1800" dirty="0"/>
          </a:p>
        </p:txBody>
      </p:sp>
      <p:sp>
        <p:nvSpPr>
          <p:cNvPr id="9" name="Shape 7"/>
          <p:cNvSpPr/>
          <p:nvPr/>
        </p:nvSpPr>
        <p:spPr>
          <a:xfrm>
            <a:off x="3002890" y="4377690"/>
            <a:ext cx="1799539"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3002890" y="4377690"/>
            <a:ext cx="179953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n = m / M</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Isı, madde miktarıyla orantılıdır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|ΔH| yazımı “yalnızca büyüklüğü al” demektir; ısının yönünü işaretten ayrıca okursun.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Örneğin 4 g hidrojen 2 mol eder (M = 2 g/mol); yanınca 2 · 285,8 = 571,6 kJ ısı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ısı, kayıpsız aktarılsa yaklaşık 1,7 kg suyu 20 °C'den kaynama noktasına getirirdi.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kibrit çöpünün kütlesi ise bir gramın onda biri kadardır; verdiği ısı bir çay bardağı suyu bile kaynatmaya yetmez.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Isı, madde miktarıyla orantılıdır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742405" y="1234440"/>
            <a:ext cx="6706885"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enerji-degisimi-07.png">    </p:cNvPr>
          <p:cNvPicPr>
            <a:picLocks noChangeAspect="1"/>
          </p:cNvPicPr>
          <p:nvPr/>
        </p:nvPicPr>
        <p:blipFill>
          <a:blip r:embed="rId1"/>
          <a:stretch>
            <a:fillRect/>
          </a:stretch>
        </p:blipFill>
        <p:spPr>
          <a:xfrm>
            <a:off x="2971005" y="1325880"/>
            <a:ext cx="6249685"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Üst çizgi elementlerin seviyesi. Katsayıları iki katına çıkarınca ok da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iki kat</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uzar: 2 mol su oluşurken 571,6 kJ açığa çıkar. Tepkimeyi ters çevirince ok aynı boyda kalır ama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yön değiştirir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suyu hidrojen ve oksijene ayırmak, hidrojen yanınca verdiği ısının tamamını geri ister.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Isı, madde miktarıyla orantılıdır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ΔH denklemdeki mol sayıları için geçerlidir. Katsayılar çarpılırsa ΔH de çarpılır, tepkime ters çevrilirse ΔH'nin işareti değişir; n mol için ısı Q = n·|ΔH| ile bulunur.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Aynı suya iki kat NaOH atarsan sıcaklık artışı ne olur; suyu da iki katına çıkarırsan?</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06 · Isı, madde miktarıyla orantılıdır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Aynı suya iki kat NaOH atarsan sıcaklık artışı ne olur; suyu da iki katına çıkarırsan?</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İlk durumda açığa çıkan ısı iki katına çıkar, ısınan su aynı kalır: sıcaklık artışı da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iki katına</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çıkar. İkinci durumda ısı yine iki katına çıkar, ama onu paylaşan su da iki katıdır; sıcaklık artışı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değişmez</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Isı madde miktarına bağlıdır; sıcaklık değişimi ise bu ısının ne kadar maddeye dağıldığına.</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Isıyı ölçmek: kalorimetre ve q = m·c·ΔT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tepkimenin ısısını doğrudan göremeyiz; ama bu ısının bir miktar suyu ne kadar ısıttığını ya da soğuttuğunu ölçebiliriz.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işe yarayan düzeneğe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kalorimetre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Okulda en kolayı köpük bardak kalorimetresidir: iç içe geçmiş iki köpük bardak, delikli bir kapak, termometre ve karıştırıcı.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 tepkimenin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çevresidir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sistemin verdiği ısıyı alır ya da aldığı ısıyı karşılar.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Isıyı ölçmek: kalorimetre ve q = m·c·ΔT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Suyun aldığı ısı, suyun kütlesine, sıcaklığının ne kadar değiştiğine ve suyun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öz ısısına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bağlıdır.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Öz ısı, 1 g maddenin sıcaklığını 1 °C artırmak için gereken ısıdır; su için 4,18 J'dür.</a:t>
            </a:r>
            <a:endParaRPr lang="en-US" sz="2200" dirty="0"/>
          </a:p>
        </p:txBody>
      </p:sp>
      <p:sp>
        <p:nvSpPr>
          <p:cNvPr id="7" name="Shape 5"/>
          <p:cNvSpPr/>
          <p:nvPr/>
        </p:nvSpPr>
        <p:spPr>
          <a:xfrm>
            <a:off x="640080" y="3252216"/>
            <a:ext cx="3050438"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3252216"/>
            <a:ext cx="305043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q(su) = m · c · ΔT</a:t>
            </a:r>
            <a:endParaRPr lang="en-US" sz="1800" dirty="0"/>
          </a:p>
        </p:txBody>
      </p:sp>
      <p:sp>
        <p:nvSpPr>
          <p:cNvPr id="9" name="Shape 7"/>
          <p:cNvSpPr/>
          <p:nvPr/>
        </p:nvSpPr>
        <p:spPr>
          <a:xfrm>
            <a:off x="3836822" y="3252216"/>
            <a:ext cx="2633472"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3836822" y="3252216"/>
            <a:ext cx="263347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ΔH = −q(su) / n</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Isıyı ölçmek: kalorimetre ve q = m·c·ΔT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169093"/>
                <a:gridCol w="7793954"/>
                <a:gridCol w="1948488"/>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q</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suyun aldığı (+) ya da verdiği (−) ısı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J ya da 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suyun (çözeltinin) kütlesi; 1 mL su ≈ 1 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öz ısı: 1 g'ı 1 °C ısıtmak için gereken ısı; su için 4,18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J/(g·°C)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ΔT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sıcaklık değişimi: T(son) − T(ilk)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tepkimeye giren maddenin mol sayısı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mol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ΔH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 mol için tepkime entalpisi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kJ/mol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Isıyı ölçmek: kalorimetre ve q = m·c·ΔT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Bağıntı nereden geliyor?</a:t>
            </a:r>
            <a:endParaRPr lang="en-US" sz="2200" dirty="0"/>
          </a:p>
        </p:txBody>
      </p:sp>
      <p:sp>
        <p:nvSpPr>
          <p:cNvPr id="8" name="Text 6"/>
          <p:cNvSpPr txBox="1"/>
          <p:nvPr/>
        </p:nvSpPr>
        <p:spPr>
          <a:xfrm>
            <a:off x="640080" y="1892808"/>
            <a:ext cx="10911535" cy="3310128"/>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Isı korunur: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bardak yalıtılmış sayıldığı için sistemin verdiği ısının tamamı suya geçer: q(sistem) = −q(su).</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Suyun payı: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1 g su 1 °C ısınınca 4,18 J alır; m gram su ΔT kadar ısınınca m·c·ΔT alır.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Mol başına: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sistemin ısısını tepkimeye giren mol sayısına bölünce 1 mol için değer, yani ΔH bulunur.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İşaret: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su ısındıysa (ΔT &gt; 0) sistem ısı vermiştir ve ΔH eksi çıkar; su soğuduysa ΔH artı çıkar.</a:t>
            </a:r>
            <a:endParaRPr lang="en-US" sz="21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Isıyı ölçmek: kalorimetre ve q = m·c·ΔT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Birimlere dikkat: g × J/(g·°C) × °C = J. ΔH'yi kJ/mol bulmak için J'yi 1000'e bölmeyi unutma.</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01 numaralı Kalorimetre laboratuvarında maddeyi ve su kütlesini değiştirip termometrenin nasıl tepki verdiğini izleyebilirsin.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Isıyı ölçmek: kalorimetre ve q = m·c·ΔT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2909164" y="1234440"/>
            <a:ext cx="6373368"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enerji-degisimi-08.png">    </p:cNvPr>
          <p:cNvPicPr>
            <a:picLocks noChangeAspect="1"/>
          </p:cNvPicPr>
          <p:nvPr/>
        </p:nvPicPr>
        <p:blipFill>
          <a:blip r:embed="rId1"/>
          <a:stretch>
            <a:fillRect/>
          </a:stretch>
        </p:blipFill>
        <p:spPr>
          <a:xfrm>
            <a:off x="3137764" y="1325880"/>
            <a:ext cx="5916168"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Köpük ısıyı çok kötü iletir; iç içe iki bardak ve kapak, tepkimenin ısısının havaya kaçmasını büyük ölçüde önler. Tepkimeye giren madde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sistem</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onu saran su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çevredir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Sistemin verdiği ya da aldığı ısı suyun sıcaklığını değiştirir; termometre bu değişimi, karıştırıcı da sıcaklığın her yerde aynı olmasını sağlar.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Isıyı ölçmek: kalorimetre ve q = m·c·ΔT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Kalorimetre, tepkimenin ısısını suyun sıcaklık değişiminden ölçer: q(su) = m·c·ΔT. Sistem ile su arasında ısı korunduğu için ΔH = −q(su)/n olur; su ısınırsa ΔH eksi, soğursa artı çıkar.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Kalorimetrede cam beher yerine neden iç içe iki köpük bardak kullanılır?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07 · Isıyı ölçmek: kalorimetre ve q = m·c·ΔT</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Kalorimetrede cam beher yerine neden iç içe iki köpük bardak kullanılır?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Cam, ısıyı köpükten yaklaşık 30 kat daha iyi iletir. Cam beherde ısının bir kısmı havaya kaçar ya da camı ısıtmaya gider ve ölçülen ΔT olduğundan küçük çıkar. Köpük bardak ve kapak bu kaybı çok azaltır. Yine de kayıp sıfır olmaz: okul deneylerinde bulunan değerler tablodakilerden biraz küçük çıkar.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kaç kJ, kaç derece?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Kalorimetre laboratuvarındaki gibi, 100 g suya 0,10 mol katı atıldığını düşün.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Suyun sıcaklığı ne kadar değişir?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Tablodaki değerler ΔT = −n·ΔH / (m·c) ile hesaplandı (ΔH joule cinsinden):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kaç kJ, kaç derece?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1722874"/>
                <a:gridCol w="3158602"/>
                <a:gridCol w="3732894"/>
                <a:gridCol w="2297165"/>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Katı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ΔH (kJ/mol)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Isı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ΔT</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CaCl₂</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−81,3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8,13 kJ verir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+19,4 °C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NaOH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−44,5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4,45 kJ verir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+10,6 °C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LiCl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−37,0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3,70 kJ verir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+8,9 °C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NH₄Cl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+14,8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1,48 kJ alır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−3,5 °C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NH₄NO₃</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+25,7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2,57 kJ alır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−6,1 °C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KNO₃</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+34,9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3,49 kJ alır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−8,3 °C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kaç kJ, kaç derece?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ve tanıdık birkaç hesaptan dört düzen okunur:</a:t>
            </a:r>
            <a:endParaRPr lang="en-US" sz="2200" dirty="0"/>
          </a:p>
        </p:txBody>
      </p:sp>
      <p:sp>
        <p:nvSpPr>
          <p:cNvPr id="7" name="Text 5"/>
          <p:cNvSpPr txBox="1"/>
          <p:nvPr/>
        </p:nvSpPr>
        <p:spPr>
          <a:xfrm>
            <a:off x="640080" y="2004060"/>
            <a:ext cx="10911535" cy="285064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Birkaç kJ yeter: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100 g suyu 10 °C ısıtmak için 4,18 kJ yeterlidir; 4 g NaOH bunu sağlar.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Isı mol sayısıyla, ΔT su miktarıyla değişir: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0,20 mol NaOH aynı suyu 21,3 °C ısıtır; 200 g suda ise artış yine 10,6 °C olur.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Erime ve buharlaşma: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1 kg buzu eritmek (334 kJ), 1 kg suyu 20 °C'den 100 °C'ye ısıtmak kadar enerji ister; 1 kg suyu 100 °C'de buharlaştırmak (2260 kJ) bunun yaklaşık yedi katıdır.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kaç kJ, kaç derece?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Bir mol yakıt çok daha güçlüdür: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1 mol metanın (16 g) yanması 890 kJ verir; kayıpsız aktarılsa 2,7 kg suyu 20 °C'den kaynama noktasına getirirdi.</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kaç kJ, kaç derece?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230187" y="1234440"/>
            <a:ext cx="773132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enerji-degisimi-09.png">    </p:cNvPr>
          <p:cNvPicPr>
            <a:picLocks noChangeAspect="1"/>
          </p:cNvPicPr>
          <p:nvPr/>
        </p:nvPicPr>
        <p:blipFill>
          <a:blip r:embed="rId1"/>
          <a:stretch>
            <a:fillRect/>
          </a:stretch>
        </p:blipFill>
        <p:spPr>
          <a:xfrm>
            <a:off x="2458787" y="1325880"/>
            <a:ext cx="727412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miktarda (0,10 mol) katı, aynı miktarda (100 g) suda çözünüyor. Çözünmesi ekzotermik olan CaCl₂, NaOH ve LiCl suyu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ısıtır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endotermik olan NH₄Cl, NH₄NO₃ ve KNO₃ suyu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soğutur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Çubukların boyu ΔT = −n·ΔH/(m·c) ile hesaplandı; bardağın aldığı ısı ihmal edildi.</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kaç kJ, kaç derece?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100 g suya atılan 0,10 mol katı suyu yaklaşık 20 °C ısıtabilir ya da 8 °C soğutabilir. Isı mol sayısıyla orantılıdır; sıcaklık değişimi ise ısının paylaşıldığı su kütlesine bağlıdır.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550" dirty="0">
                <a:solidFill>
                  <a:srgbClr val="C3CEE8"/>
                </a:solidFill>
                <a:latin typeface="Calibri" pitchFamily="34" charset="0"/>
                <a:ea typeface="Calibri" pitchFamily="34" charset="-122"/>
                <a:cs typeface="Calibri" pitchFamily="34" charset="-120"/>
              </a:rPr>
              <a:t>Derinleşme: yakıtları ve besinleri enerji kaynağı olarak karşılaştır; CO₂'nin bedelini, hidrojenin zorluklarını ve günlük uygulamaları gör.</a:t>
            </a:r>
            <a:endParaRPr lang="en-US" sz="1550" dirty="0"/>
          </a:p>
        </p:txBody>
      </p:sp>
      <p:sp>
        <p:nvSpPr>
          <p:cNvPr id="6" name="Text 4"/>
          <p:cNvSpPr txBox="1"/>
          <p:nvPr/>
        </p:nvSpPr>
        <p:spPr>
          <a:xfrm>
            <a:off x="731520" y="4572000"/>
            <a:ext cx="5120640" cy="320040"/>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Yakıtlar: mol başına mı, gram başına mı?</a:t>
            </a:r>
            <a:endParaRPr lang="en-US" sz="1300" dirty="0"/>
          </a:p>
        </p:txBody>
      </p:sp>
      <p:sp>
        <p:nvSpPr>
          <p:cNvPr id="7" name="Text 5"/>
          <p:cNvSpPr txBox="1"/>
          <p:nvPr/>
        </p:nvSpPr>
        <p:spPr>
          <a:xfrm>
            <a:off x="731520" y="4892040"/>
            <a:ext cx="5120640" cy="320040"/>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Fosil yakıtlar ve CO₂</a:t>
            </a:r>
            <a:endParaRPr lang="en-US" sz="1300" dirty="0"/>
          </a:p>
        </p:txBody>
      </p:sp>
      <p:sp>
        <p:nvSpPr>
          <p:cNvPr id="8" name="Text 6"/>
          <p:cNvSpPr txBox="1"/>
          <p:nvPr/>
        </p:nvSpPr>
        <p:spPr>
          <a:xfrm>
            <a:off x="731520" y="5212080"/>
            <a:ext cx="5120640" cy="320040"/>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Hidrojen: temiz ama zor bir yakıt</a:t>
            </a:r>
            <a:endParaRPr lang="en-US" sz="1300" dirty="0"/>
          </a:p>
        </p:txBody>
      </p:sp>
      <p:sp>
        <p:nvSpPr>
          <p:cNvPr id="9" name="Text 7"/>
          <p:cNvSpPr txBox="1"/>
          <p:nvPr/>
        </p:nvSpPr>
        <p:spPr>
          <a:xfrm>
            <a:off x="731520" y="5532120"/>
            <a:ext cx="5120640" cy="320040"/>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Besinler: vücudun yakıtı</a:t>
            </a:r>
            <a:endParaRPr lang="en-US" sz="1300" dirty="0"/>
          </a:p>
        </p:txBody>
      </p:sp>
      <p:sp>
        <p:nvSpPr>
          <p:cNvPr id="10" name="Text 8"/>
          <p:cNvSpPr txBox="1"/>
          <p:nvPr/>
        </p:nvSpPr>
        <p:spPr>
          <a:xfrm>
            <a:off x="731520" y="5852160"/>
            <a:ext cx="5120640" cy="320040"/>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Enerji değişimi gerçek dünyada</a:t>
            </a:r>
            <a:endParaRPr lang="en-US" sz="1300" dirty="0"/>
          </a:p>
        </p:txBody>
      </p:sp>
      <p:sp>
        <p:nvSpPr>
          <p:cNvPr id="11" name="Shape 9"/>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2" name="Image 0" descr="/tmp/claude-1000/-opt-dersler/1d623a45-0112-427a-9abb-0c648368bda2/scratchpad/sunum/sekiller/enerji-degisimi-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3" name="Text 10"/>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Hidrojenle çalışan otobüs</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depoya yakıt olarak sıkıştırılmış H₂ gazı alır. Yakıt hücresinde hidrojen, havadaki oksijenle alevsiz birleşir ve açığa çıkan enerjinin yaklaşık yarısı doğrudan elektriğe dönüşür; motoru bu elektrik çalıştırır. Tepkimenin tek ürünü sudur: otobüsün altından damlayan berrak sıvı, egzozdan çıkan sudur.</a:t>
            </a:r>
            <a:endParaRPr lang="en-US" sz="1150" dirty="0"/>
          </a:p>
        </p:txBody>
      </p:sp>
      <p:sp>
        <p:nvSpPr>
          <p:cNvPr id="14" name="Shape 11"/>
          <p:cNvSpPr/>
          <p:nvPr/>
        </p:nvSpPr>
        <p:spPr>
          <a:xfrm>
            <a:off x="640080" y="6382512"/>
            <a:ext cx="128016" cy="128016"/>
          </a:xfrm>
          <a:prstGeom prst="roundRect">
            <a:avLst>
              <a:gd name="adj" fmla="val 28571"/>
            </a:avLst>
          </a:prstGeom>
          <a:solidFill>
            <a:srgbClr val="C6F36B"/>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dersler.perinet.org/enerji-degisimi.html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Yakıtlar: mol başına mı, gram başına 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Yanarken ısı açığa çıkaran ve bu ısısı için kullanılan maddelere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yakıt</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yakıtın 1 molü tamamen yandığında açığa çıkan ısıya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molar yanma ısısı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Ama yakıtı mol mol satın almayız; kilogramla ya da litreyle alır, taşır, depoya koyarız.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 yakıtları karşılaştırmanın doğru ölçüsü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gram başına yanma ısısıdır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640080" y="4977384"/>
            <a:ext cx="4023360"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977384"/>
            <a:ext cx="402336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kJ/g = (kJ/mol) ÷ (g/mol)</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Yakıtlar: mol başına mı, gram başına 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6435008"/>
                <a:gridCol w="1678698"/>
                <a:gridCol w="1398915"/>
                <a:gridCol w="1398915"/>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Yakıt</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kJ/mol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kJ/g</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Hidrojen H₂</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285,8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142,9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Metan CH₄ (doğal gaz)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890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55,6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Propan C₃H₈</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2220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50,5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Benzin (izooktan C₈H₁₈)</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5460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114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47,9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Karbon C (kömür)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393,5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32,8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Etanol C₂H₅OH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1367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29,7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Yakıtlar: mol başına mı, gram başına 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5267638"/>
                <a:gridCol w="2257559"/>
                <a:gridCol w="1881299"/>
                <a:gridCol w="1505039"/>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Yakıt</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kJ/mol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kJ/g</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Glikoz C₆H₁₂O₆</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2803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180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15,6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40080" y="2382012"/>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Değerler tam yanma içindir; ürünlerdeki su sıvı hâlde alındı. kJ/g, tam sayılı mol kütleleriyle (H 1, C 12, O 16) bulundu: 285,8 ÷ 2 = 142,9.</a:t>
            </a:r>
            <a:endParaRPr lang="en-US" sz="2200" dirty="0"/>
          </a:p>
        </p:txBody>
      </p:sp>
      <p:sp>
        <p:nvSpPr>
          <p:cNvPr id="9" name="Shape 5"/>
          <p:cNvSpPr/>
          <p:nvPr/>
        </p:nvSpPr>
        <p:spPr>
          <a:xfrm>
            <a:off x="640080" y="6382512"/>
            <a:ext cx="128016" cy="128016"/>
          </a:xfrm>
          <a:prstGeom prst="roundRect">
            <a:avLst>
              <a:gd name="adj" fmla="val 28571"/>
            </a:avLst>
          </a:prstGeom>
          <a:solidFill>
            <a:srgbClr val="A9E648"/>
          </a:solidFill>
          <a:ln/>
        </p:spPr>
      </p:sp>
      <p:sp>
        <p:nvSpPr>
          <p:cNvPr id="10"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1"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Yakıtlar: mol başına mı, gram başına 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Sıralama mol başına ve gram başına tamamen değişir.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İzooktan molü başına en çok ısıyı verir, çünkü molekülü büyüktür: bir molünde 8 mol karbon, 18 mol hidrojen atomu vardır.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Hidrojen molü başına en azı verir, ama 1 molü yalnızca 2 g olduğu için gram başına açık ara birincidir.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Gram başına ısıyı kabaca yakıttaki hidrojen ve karbon payı belirler.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Yakıtlar: mol başına mı, gram başına 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Etanol ve glikoz molekülleri zaten oksijen taşır; bir anlamda “yarı yanmış” maddelerdir ve gram başına daha az ısı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03 numaralı bölümünde yakıtları iki ölçüyle yan yana karşılaştırabilirsin.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Yakıtlar: mol başına mı, gram başına 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2042060" y="1234440"/>
            <a:ext cx="8107576"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enerji-degisimi-10.png">    </p:cNvPr>
          <p:cNvPicPr>
            <a:picLocks noChangeAspect="1"/>
          </p:cNvPicPr>
          <p:nvPr/>
        </p:nvPicPr>
        <p:blipFill>
          <a:blip r:embed="rId1"/>
          <a:stretch>
            <a:fillRect/>
          </a:stretch>
        </p:blipFill>
        <p:spPr>
          <a:xfrm>
            <a:off x="2270660" y="1325880"/>
            <a:ext cx="7650376"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beş yakıt, iki ayrı ölçü.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Mol başına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bakınca hidrojen en sonda, propan en öndedir;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gram başına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bakınca sıralama tamamen değişir ve hidrojen açık ara birinci olur. Yakıtı kütleyle aldığımız ve taşıdığımız için doğru karşılaştırma sağdaki grafiktir.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Yakıtlar: mol başına mı, gram başına 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Yakıtlar gram başına yanma ısısıyla karşılaştırılır: kJ/g = (kJ/mol) ÷ (g/mol). Mol başına sıralama yanıltır; hidrojen mol başına en az, gram başına en çok ısıyı verir.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Propan mol başına metandan 2,5 kat çok ısı veriyorsa, 1 gramı neden daha az ısı verir?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09 · Yakıtlar: mol başına mı, gram başına mı?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Propan mol başına metandan 2,5 kat çok ısı veriyorsa, 1 gramı neden daha az ısı verir?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Çünkü 1 mol propan 44 g, 1 mol metan 16 g'dır. 1 g metan 1/16 mol, 1 g propan 1/44 mol eder; 1 g'da propanın mol sayısı metanınkinin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2,75'te biri</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kadardır. Mol başına 2,5 kat fazla ısı, 2,75 kat az mol yüzünden geride kalır: 890 ÷ 16 ≈ 55,6 kJ/g, 2220 ÷ 44 ≈ 50,5 kJ/g.</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Fosil yakıtlar ve CO₂</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Kömür, petrol ürünleri (benzin, motorin, LPG) ve doğal gaz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fosil yakıtlardır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milyonlarca yıl önce yaşamış bitkilerin ve deniz canlılarının toprak altında ısı ve basınçla dönüşmüş kalıntılarıdır.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İçlerindeki enerji, o canlıların fotosentezle tuttuğu Güneş enerjisidir.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Fotosentez endotermik, yanma ekzotermiktir: bir fosil yakıtı yaktığında, milyonlarca yıl önce depolanmış Güneş ışığını birkaç saniyede geri alırsın.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Fosil yakıtlar ve CO₂</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Bugün dünyada kullanılan enerjinin dörtte üçünden fazlası hâlâ fosil yakıtlardan gelir.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Fosil yakıtlar ve CO₂</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Bedeli, yanmanın kaçınılmaz bir ürünüdür: karbon içeren her yakıt yanınca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CO₂</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oluşur.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CO₂, Dünya'nın uzaya yaydığı ısının bir kısmını tutan bir sera gazıdır; atmosferdeki miktarı arttıkça sera etkisi güçlenir, ortalama sıcaklık yükselir ve iklim değişir.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Yakıtları bu açıdan karşılaştırmanın iyi bir ölçüsü, elde edilen enerji başına çıkan CO₂'dir.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Fosil yakıtlar ve CO₂</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Metan için hesap kısadır: 1 mol CH₄ yanınca 1 mol, yani 44 g CO₂ oluşur ve 890 kJ = 0,890 MJ ısı açığa çıkar; 44 ÷ 0,890 ≈ 49 g CO₂/MJ.</a:t>
            </a:r>
            <a:endParaRPr lang="en-US" sz="2200" dirty="0"/>
          </a:p>
        </p:txBody>
      </p:sp>
      <p:sp>
        <p:nvSpPr>
          <p:cNvPr id="7" name="Text 5"/>
          <p:cNvSpPr txBox="1"/>
          <p:nvPr/>
        </p:nvSpPr>
        <p:spPr>
          <a:xfrm>
            <a:off x="640080" y="2389632"/>
            <a:ext cx="10911535" cy="2391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Kömür en çok CO₂ çıkarır: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onu saf karbon (grafit) gibi düşünürsek bütün enerjisi C → CO₂ dönüşümünden gelir: yaklaşık 112 g CO₂/MJ. Gerçek kömür biraz hidrojen de içerdiği için bu değer biraz daha düşüktür.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Doğal gaz en az CO₂ çıkaran fosil yakıttır: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metanın enerjisinin önemli bir kısmı hidrojenin suya dönüşmesinden gelir. Kömürden doğal gaza geçmek, aynı ısı için CO₂'yi yaklaşık yarıya indirir.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Fosil yakıtlar ve CO₂</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119557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Eksik yanma tehlikelidir: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oksijen yetmezse CO₂ yerine karbon monoksit (CO) oluşur. CO renksiz, kokusuz ve çok zehirlidir; kapalı yerde yanan soba, şofben ya da mangal bu yüzden öldürücü olabilir.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Fosil yakıtlar ve CO₂</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2125622" y="1234440"/>
            <a:ext cx="7940452"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enerji-degisimi-11.png">    </p:cNvPr>
          <p:cNvPicPr>
            <a:picLocks noChangeAspect="1"/>
          </p:cNvPicPr>
          <p:nvPr/>
        </p:nvPicPr>
        <p:blipFill>
          <a:blip r:embed="rId1"/>
          <a:stretch>
            <a:fillRect/>
          </a:stretch>
        </p:blipFill>
        <p:spPr>
          <a:xfrm>
            <a:off x="2354222" y="1325880"/>
            <a:ext cx="7483252"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ısıyı elde etmek için kömür, burada saf karbon (grafit) gibi düşünüldüğünde, metanın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iki katından fazla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CO₂ çıkarır; hidrojen de içeren gerçek kömürde fark biraz küçülür. Metanın enerjisinin önemli bir kısmı, içindeki hidrojenin suya dönüşmesinden gelir; saf karbonun bütün enerjisi ise CO₂ oluşumundan. Değerler 1 MJ = 1000 kJ ısı için hesaplandı (metan: 44 g CO₂ ÷ 0,890 MJ ≈ 49 g).</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Fosil yakıtlar ve CO₂</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Fosil yakıtlar fotosentezle depolanmış eski Güneş enerjisidir; yanınca CO₂ verir ve sera etkisini artırır. Aynı enerji için kömür en çok, doğal gaz en az CO₂ çıkarır; eksik yanmada zehirli CO oluşur.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Hidrojen: temiz ama zor bir yakıt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Hidrojen kâğıt üzerinde ideal bir yakıttır.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Gram başına bütün yakıtlardan çok ısı verir ve yanınca yalnızca su oluşur:</a:t>
            </a:r>
            <a:endParaRPr lang="en-US" sz="2200" dirty="0"/>
          </a:p>
        </p:txBody>
      </p:sp>
      <p:sp>
        <p:nvSpPr>
          <p:cNvPr id="7" name="Shape 5"/>
          <p:cNvSpPr/>
          <p:nvPr/>
        </p:nvSpPr>
        <p:spPr>
          <a:xfrm>
            <a:off x="640080" y="2866644"/>
            <a:ext cx="3745382"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866644"/>
            <a:ext cx="374538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H₂(g) + ½O₂(g) → H₂O(s)</a:t>
            </a:r>
            <a:endParaRPr lang="en-US" sz="1800" dirty="0"/>
          </a:p>
        </p:txBody>
      </p:sp>
      <p:sp>
        <p:nvSpPr>
          <p:cNvPr id="9" name="Shape 7"/>
          <p:cNvSpPr/>
          <p:nvPr/>
        </p:nvSpPr>
        <p:spPr>
          <a:xfrm>
            <a:off x="4531766" y="2866644"/>
            <a:ext cx="2494483"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531766" y="2866644"/>
            <a:ext cx="2494483"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ΔH = −285,8 kJ</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Hidrojen: temiz ama zor bir yakıt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Ama hidrojenin önünde dört büyük engel var:</a:t>
            </a:r>
            <a:endParaRPr lang="en-US" sz="2200" dirty="0"/>
          </a:p>
        </p:txBody>
      </p:sp>
      <p:sp>
        <p:nvSpPr>
          <p:cNvPr id="7" name="Text 5"/>
          <p:cNvSpPr txBox="1"/>
          <p:nvPr/>
        </p:nvSpPr>
        <p:spPr>
          <a:xfrm>
            <a:off x="640080" y="2004060"/>
            <a:ext cx="10911535" cy="312724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Doğada hazır bulunmaz: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Dünya'daki hidrojenin neredeyse tamamı su ve hidrokarbonlar gibi bileşiklerin içindedir. Onu serbest bırakmak endotermik bir iştir: suyu elektrolizle ayrıştırmak, en az hidrojen yanınca açığa çıkan enerji kadar enerji ister (2H₂O(s) → 2H₂(g) + O₂(g), ΔH = +571,6 kJ). Bu yüzden hidrojen bir enerji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kaynağı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değil, şarjlı bir pil gibi enerji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taşıyıcısıdır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Nasıl üretildiği önemlidir: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bugün hidrojenin çoğu doğal gazdan üretilir ve bu üretim CO₂ salar. Güneş ve rüzgâr elektriğiyle elektroliz yapılarak üretilen hidrojene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yeşil hidrojen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denir; gerçekten temiz olan odur.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Hidrojen: temiz ama zor bir yakıt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75920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Depolamak zordur: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hidrojen en hafif gazdır. 1 kg hidrojen 500 mol eder ve normal koşullarda 500 · 22,4 L = 11,2 m³ yer kaplar. Bu yüzden atmosfer basıncının yüzlerce katı basınçlı tanklarda ya da −253 °C'ye soğutulup sıvılaştırılarak saklanır.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Güvenlik ve maliyet: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küçük molekülleri en ufak aralıktan sızar; havayla çok geniş bir oranda yanıcı karışım oluşturur ve alevi gün ışığında zor görülür. Üretim, depo ve dolum istasyonları da pahalıdır.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Hidrojen: temiz ama zor bir yakıt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Hidrojeni yakmak yerine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yakıt hücresinde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kullanmak daha verimlidir: hidrojen ile oksijen alevsiz, kontrollü biçimde birleşir ve açığa çıkan enerjinin yaklaşık yarısı doğrudan elektriğe dönüşür.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oran, benzinli bir motorun yakıttan elde ettiği iş oranından belirgin biçimde yüksektir.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Ürün yine yalnızca sudur.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Hidrojen: temiz ama zor bir yakıt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696804" y="1234440"/>
            <a:ext cx="6798087"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enerji-degisimi-12.png">    </p:cNvPr>
          <p:cNvPicPr>
            <a:picLocks noChangeAspect="1"/>
          </p:cNvPicPr>
          <p:nvPr/>
        </p:nvPicPr>
        <p:blipFill>
          <a:blip r:embed="rId1"/>
          <a:stretch>
            <a:fillRect/>
          </a:stretch>
        </p:blipFill>
        <p:spPr>
          <a:xfrm>
            <a:off x="2925404" y="1325880"/>
            <a:ext cx="6340887"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Normal koşullarda 1 kg hidrojen 500 mol eder ve 500 · 22,4 L =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11,2 m³</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yer kaplar: kenarı yaklaşık 2,2 m olan bir küp. Aynı kütlede benzin bir sürahiye sığar. Gram başına hidrojen benzinin üç katı enerji taşır, ama hacim başına çok geride kalır; bu yüzden basınçlı tanklarda ya da sıvılaştırılarak saklanır. Çizim ölçeklidir: küçük sarı küp benzindir.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Hidrojen: temiz ama zor bir yakıt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Hidrojen gram başına en çok ısıyı verir ve yanınca yalnızca su oluşur. Ama doğada serbest bulunmaz; üretmek, en az yanınca verdiği kadar enerji ister. Hidrojen bir enerji taşıyıcısıdır; temizliği nasıl üretildiğine bağlıdır.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Hidrojen yanınca yalnızca su oluşuyorsa, hidrojenle çalışan bir otobüs hiç CO₂'ye yol açmaz mı?</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11 · Hidrojen: temiz ama zor bir yakıt</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Hidrojen yanınca yalnızca su oluşuyorsa, hidrojenle çalışan bir otobüs hiç CO₂'ye yol açmaz mı?</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Otobüsün egzozundan CO₂ çıkmaz; ama hesap depoda başlamaz. Hidrojen doğal gazdan üretildiyse CO₂ üretim tesisinde salınmıştır. Elektroliz kömür santralinin elektriğiyle yapıldıysa CO₂ santralin bacasından çıkmıştır. Hidrojen ancak Güneş, rüzgâr gibi kaynaklardan gelen elektrikle üretildiğinde, yani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yeşil hidrojen</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olduğunda gerçekten temizdir.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Besinler: vücudun yakıtı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8</a:t>
            </a:r>
            <a:endParaRPr lang="en-US" sz="950" dirty="0"/>
          </a:p>
        </p:txBody>
      </p:sp>
      <p:sp>
        <p:nvSpPr>
          <p:cNvPr id="6" name="Text 4"/>
          <p:cNvSpPr txBox="1"/>
          <p:nvPr/>
        </p:nvSpPr>
        <p:spPr>
          <a:xfrm>
            <a:off x="640080" y="1325880"/>
            <a:ext cx="10911535" cy="9540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Vücut da bir yakıt kullanır: besinler.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Hücrelerinde glikoz oksijenle tepkimeye girer; bu olaya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solunum</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p:txBody>
      </p:sp>
      <p:sp>
        <p:nvSpPr>
          <p:cNvPr id="7" name="Shape 5"/>
          <p:cNvSpPr/>
          <p:nvPr/>
        </p:nvSpPr>
        <p:spPr>
          <a:xfrm>
            <a:off x="640080" y="2481072"/>
            <a:ext cx="3467405"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481072"/>
            <a:ext cx="3467405"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C₆H₁₂O₆(k) + 6O₂(g) →</a:t>
            </a:r>
            <a:endParaRPr lang="en-US" sz="1800" dirty="0"/>
          </a:p>
        </p:txBody>
      </p:sp>
      <p:sp>
        <p:nvSpPr>
          <p:cNvPr id="9" name="Shape 7"/>
          <p:cNvSpPr/>
          <p:nvPr/>
        </p:nvSpPr>
        <p:spPr>
          <a:xfrm>
            <a:off x="4253789" y="2481072"/>
            <a:ext cx="2911450"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253789" y="2481072"/>
            <a:ext cx="291145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6CO₂(g) + 6H₂O(s)</a:t>
            </a:r>
            <a:endParaRPr lang="en-US" sz="1800" dirty="0"/>
          </a:p>
        </p:txBody>
      </p:sp>
      <p:sp>
        <p:nvSpPr>
          <p:cNvPr id="11" name="Shape 9"/>
          <p:cNvSpPr/>
          <p:nvPr/>
        </p:nvSpPr>
        <p:spPr>
          <a:xfrm>
            <a:off x="7311542" y="2481072"/>
            <a:ext cx="2355494"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7311542" y="2481072"/>
            <a:ext cx="23554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ΔH ≈ −2803 kJ</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Besinler: vücudun yakıtı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8</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glikozun bir alevde yanmasıyla aynı tepkimedir ve aynı toplam enerjiyi (ΔH ≈ −2803 kJ)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Fark hızdadır: alevde enerji bir anda ısı ve ışık olarak çıkar; hücrede ise enzimlerin yönettiği onlarca küçük adımda, yavaş yavaş açığa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Enerjinin bir kısmı hücrenin kullanacağı kimyasal enerji olarak (ATP molekülünde) saklanır, bir kısmı ısıya dönüşür ve vücut sıcaklığını 37 °C civarında tutar.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Besinler: vücudun yakıtı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8</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Bitkiler aynı tepkimenin tersini, fotosentezi, Güneş enerjisiyle yürütür.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Besinler: vücudun yakıtı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8</a:t>
            </a:r>
            <a:endParaRPr lang="en-US" sz="950" dirty="0"/>
          </a:p>
        </p:txBody>
      </p:sp>
      <p:sp>
        <p:nvSpPr>
          <p:cNvPr id="6" name="Shape 4"/>
          <p:cNvSpPr/>
          <p:nvPr/>
        </p:nvSpPr>
        <p:spPr>
          <a:xfrm>
            <a:off x="2767785" y="1234440"/>
            <a:ext cx="6656124"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enerji-degisimi-13.png">    </p:cNvPr>
          <p:cNvPicPr>
            <a:picLocks noChangeAspect="1"/>
          </p:cNvPicPr>
          <p:nvPr/>
        </p:nvPicPr>
        <p:blipFill>
          <a:blip r:embed="rId1"/>
          <a:stretch>
            <a:fillRect/>
          </a:stretch>
        </p:blipFill>
        <p:spPr>
          <a:xfrm>
            <a:off x="2996385" y="1325880"/>
            <a:ext cx="6198924"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Glikoz alevde de hücrede de aynı ürünlere dönüşür, bu yüzden açığa çıkan toplam enerji aynıdır: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yaklaşık 2803 kJ/mol</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Alevde bu enerji bir anda ısı ve ışık olarak çıkar; hücrede ise enzimlerin yönettiği küçük adımlarla, bir kısmı ATP'de saklanarak açığa çıkar. Merdivendeki basamakların sayısı ve boyları temsilîdir; toplam düşüş soldaki okla aynıdır.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Besinler: vücudun yakıtı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8</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Besinlerin enerjisi üç ana bileşenden gelir:</a:t>
            </a:r>
            <a:endParaRPr lang="en-US" sz="2200" dirty="0"/>
          </a:p>
        </p:txBody>
      </p:sp>
      <p:graphicFrame>
        <p:nvGraphicFramePr>
          <p:cNvPr id="99" name="Table 0"/>
          <p:cNvGraphicFramePr>
            <a:graphicFrameLocks noGrp="1"/>
          </p:cNvGraphicFramePr>
          <p:nvPr>
            <p:extLst>
              <p:ext uri="{D42A27DB-BD31-4B8C-83A1-F6EECF244321}">
                <p14:modId xmlns:p14="http://schemas.microsoft.com/office/powerpoint/2010/main" val="1579011935"/>
              </p:ext>
            </p:extLst>
          </p:nvPr>
        </p:nvGraphicFramePr>
        <p:xfrm>
          <a:off x="640080" y="2004060"/>
          <a:ext cx="10911535" cy="914400"/>
        </p:xfrm>
        <a:graphic>
          <a:graphicData uri="http://schemas.openxmlformats.org/drawingml/2006/table">
            <a:tbl>
              <a:tblPr/>
              <a:tblGrid>
                <a:gridCol w="2247703"/>
                <a:gridCol w="984182"/>
                <a:gridCol w="1123851"/>
                <a:gridCol w="6555799"/>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Bileşen</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kJ/g</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kcal/g</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Nerelerde 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Karbonhidrat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ekmek, makarna, pirinç, meyve, bal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Protein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yumurta, et, peynir, baklagiller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Yağ</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37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zeytinyağı, tereyağı, ceviz, zeytin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9" name="Shape 5"/>
          <p:cNvSpPr/>
          <p:nvPr/>
        </p:nvSpPr>
        <p:spPr>
          <a:xfrm>
            <a:off x="640080" y="6382512"/>
            <a:ext cx="128016" cy="128016"/>
          </a:xfrm>
          <a:prstGeom prst="roundRect">
            <a:avLst>
              <a:gd name="adj" fmla="val 28571"/>
            </a:avLst>
          </a:prstGeom>
          <a:solidFill>
            <a:srgbClr val="A9E648"/>
          </a:solidFill>
          <a:ln/>
        </p:spPr>
      </p:sp>
      <p:sp>
        <p:nvSpPr>
          <p:cNvPr id="10"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1"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Besinler: vücudun yakıtı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8</a:t>
            </a:r>
            <a:endParaRPr lang="en-US" sz="950" dirty="0"/>
          </a:p>
        </p:txBody>
      </p:sp>
      <p:sp>
        <p:nvSpPr>
          <p:cNvPr id="6" name="Text 4"/>
          <p:cNvSpPr txBox="1"/>
          <p:nvPr/>
        </p:nvSpPr>
        <p:spPr>
          <a:xfrm>
            <a:off x="640080" y="1325880"/>
            <a:ext cx="10911535" cy="33588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Besin etiketlerinde enerji çoğu zaman kilokalori (kcal) ile yazılır; 1 kcal = 4,184 kJ.</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Yağın gram başına iki kattan fazla enerji vermesi yakıtlardaki kurala uyar: yağ molekülleri büyük ölçüde karbon ve hidrojenden oluşur, karbonhidratlar ise içlerinde çok oksijen taşır.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Ortalama bir genç günde yaklaşık 2000–2800 kcal (8400–11 700 kJ) harcar; bunun büyük kısmı vücudu sıcak tutmaya ve organları çalıştırmaya gider, hareket bunun üstüne eklenir.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Besinler: vücudun yakıtı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8</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04 numaralı bölümünde bir kahvaltı tabağının enerjisini kendin hesaplayabilirsin.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Besinler: vücudun yakıtı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8 / 8</a:t>
            </a:r>
            <a:endParaRPr lang="en-US" sz="950" dirty="0"/>
          </a:p>
        </p:txBody>
      </p:sp>
      <p:sp>
        <p:nvSpPr>
          <p:cNvPr id="6" name="Shape 4"/>
          <p:cNvSpPr/>
          <p:nvPr/>
        </p:nvSpPr>
        <p:spPr>
          <a:xfrm>
            <a:off x="3445231" y="1271016"/>
            <a:ext cx="5301234" cy="3570732"/>
          </a:xfrm>
          <a:prstGeom prst="roundRect">
            <a:avLst>
              <a:gd name="adj" fmla="val 358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enerji-degisimi-ek1-genis.jpg">    </p:cNvPr>
          <p:cNvPicPr>
            <a:picLocks noChangeAspect="1"/>
          </p:cNvPicPr>
          <p:nvPr/>
        </p:nvPicPr>
        <p:blipFill>
          <a:blip r:embed="rId1"/>
          <a:stretch>
            <a:fillRect/>
          </a:stretch>
        </p:blipFill>
        <p:spPr>
          <a:xfrm>
            <a:off x="3500095" y="1325880"/>
            <a:ext cx="5191506" cy="3461004"/>
          </a:xfrm>
          <a:prstGeom prst="rect">
            <a:avLst/>
          </a:prstGeom>
        </p:spPr>
      </p:pic>
      <p:sp>
        <p:nvSpPr>
          <p:cNvPr id="8" name="Text 5"/>
          <p:cNvSpPr txBox="1"/>
          <p:nvPr/>
        </p:nvSpPr>
        <p:spPr>
          <a:xfrm>
            <a:off x="1249528" y="5024628"/>
            <a:ext cx="9692640" cy="1120140"/>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Bir kahvaltı tabağı, bir yakıt deposudur.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Ekmek ve bal enerjisinin çoğunu karbonhidrattan, yumurta ve peynir proteinden ve yağdan, zeytin ve ceviz büyük ölçüde yağdan verir. Gram başına en çok enerjiyi yağ taşır (≈ 37 kJ/g); domates ve salatalık ise çoğunlukla su olduğu için çok az enerji verir. Şekersiz çayın enerjisi yok denecek kadar azdır.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Besinler: vücudun yakıtı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Besinler vücudun yakıtıdır: solunum, glikozun adım adım ve yavaş yanmasıdır, ΔH ≈ −2803 kJ. Karbonhidrat ve protein gram başına ≈ 17 kJ, yağ ≈ 37 kJ verir; 1 kcal = 4,184 kJ.</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Yanan bir şeker küpü ile vücudunda kullanılan aynı şeker küpü aynı enerjiyi mi verir?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12 · Besinler: vücudun yakıtı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Yanan bir şeker küpü ile vücudunda kullanılan aynı şeker küpü aynı enerjiyi mi verir?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Evet.</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Başlangıç maddeleri (şeker ve oksijen) ve son ürünler (CO₂ ve su) iki durumda da aynı olduğu için toplam enerji farkı da aynıdır; yol değişse de sonuç değişmez. Fark, enerjinin veriliş biçimindedir: alev onu bir anda ısı ve ışık olarak saçar, hücre ise küçük adımlarla açığa çıkarır ve bir kısmını işine yarayacak biçimde saklar.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değişimi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Isı alan ve ısı veren olaylar gündelik hayatta bilerek kullanılır.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İnsanlar bazen ısıyı istedikleri yerde üretmek, bazen bir yerden çekip almak, bazen de kimyasal enerjiyi doğrudan elektriğe çevirmek ister.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değişimi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85064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Soğuk paket: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NH₄NO₃(k) → NH₄⁺(suda) + NO₃⁻(suda), ΔH = +25,7 kJ. Çözünme ısıyı paketi tutan dizden çeker; burkulmada şişliği azaltmak için kullanılır.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Sıcak paket: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CaCl₂(k) → Ca²⁺(suda) + 2Cl⁻(suda), ΔH = −81,3 kJ. Aynı tasarım, ısı veren bir tuzla çalışır.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Kendiliğinden ısınan yemek kutuları: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dış bölmede sönmemiş kireç ile su ayrı durur; düğmeye basınca karışırlar: CaO(k) + H₂O(s) → Ca(OH)₂(k), ΔH = −65,2 kJ.</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değişimi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75920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El ısıtıcıları: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tek kullanımlıklarda demir tozu havayla paslanır. Jel olanlarda aşırı doymuş sodyum asetat çözeltisi, içindeki metal pul bükülünce kristallenir ve ısı verir; kaynar suda bekletilince yeniden kullanılabilir.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Buzdolabı ve klima: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soğutucu akışkan, soğutulan yerde (buzdolabının içinde ya da odada) buharlaşırken ısı çeker; kompresörde sıkıştırılıp dıştaki borularda yoğuşurken bu ısıyı verir: buzdolabı arkasındaki ızgaradan odaya, klima dış ünitesinden dışarıya.</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değişimi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Yakıt hücreli otobüs:</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hidrojen ile havadaki oksijenden elektrik üretir; egzozundan yalnızca su çıkar.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108</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değişimi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259828" y="1234440"/>
            <a:ext cx="7672039"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enerji-degisimi-14.png">    </p:cNvPr>
          <p:cNvPicPr>
            <a:picLocks noChangeAspect="1"/>
          </p:cNvPicPr>
          <p:nvPr/>
        </p:nvPicPr>
        <p:blipFill>
          <a:blip r:embed="rId1"/>
          <a:stretch>
            <a:fillRect/>
          </a:stretch>
        </p:blipFill>
        <p:spPr>
          <a:xfrm>
            <a:off x="2488428" y="1325880"/>
            <a:ext cx="7214839"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İki paketin yapısı aynıdır: dış torbada bir katı ve ince bir su kesesi. Paketi sıkınca kese yırtılır ve katı suda çözünür. Fark yalnızca katının türündedir: NH₄NO₃'ın çözünmesi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endotermiktir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 paket soğur; CaCl₂'nin çözünmesi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ekzotermiktir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 paket ısınır.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109</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Enerji değişimi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Soğuk paketler endotermik, sıcak paketler ve kendiliğinden ısınan kutular ekzotermik çözünme ya da tepkime kullanır. Buzdolabı buharlaşmayla ısı çeker; yakıt hücresi hidrojenin enerjisini alevsiz elektriğe çevirir.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110</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enerji sorularında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15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Isı hangi yöne akıyor?</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Isıyı denkleme yazmak</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Kalorimetreyle çözünme entalpisi</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Ters tepkime ve madde miktarı</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Kahvaltının enerjisi</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Metan mı, propan mı?</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Soğuk paket tasarlamak</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dersler.perinet.org/enerji-degisimi.html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111</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Isı hangi yöne akıyor?</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Aşağıdaki olayların her birinde sistem ısı mı alıyor, ısı mı veriyor? Olayları endotermik ve ekzotermik diye ayırınız. (a) Eline dökülen kolonyanın buharlaşması (b) Mumun yanması (c) Suyun elektrolizle hidrojen ve oksijene ayrışması (d) Soğuk bir gecede su birikintisinin donması</a:t>
            </a:r>
            <a:endParaRPr lang="en-US" sz="1900" dirty="0"/>
          </a:p>
        </p:txBody>
      </p:sp>
      <p:sp>
        <p:nvSpPr>
          <p:cNvPr id="11" name="Shape 9"/>
          <p:cNvSpPr/>
          <p:nvPr/>
        </p:nvSpPr>
        <p:spPr>
          <a:xfrm>
            <a:off x="3627073" y="3757574"/>
            <a:ext cx="4937548"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enerji-degisimi-15.png">    </p:cNvPr>
          <p:cNvPicPr>
            <a:picLocks noChangeAspect="1"/>
          </p:cNvPicPr>
          <p:nvPr/>
        </p:nvPicPr>
        <p:blipFill>
          <a:blip r:embed="rId1"/>
          <a:stretch>
            <a:fillRect/>
          </a:stretch>
        </p:blipFill>
        <p:spPr>
          <a:xfrm>
            <a:off x="3855673" y="3867302"/>
            <a:ext cx="4480348"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112</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Isı hangi yöne akıyor?</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Aşağıdaki olayların her birinde sistem ısı mı alıyor, ısı mı veriyor? Olayları endotermik ve ekzotermik diye ayırınız. (a) Eline dökülen kolonyanın buharlaşması (b) Mumun yanması (c) Suyun elektrolizle hidrojen ve oksijene ayrışması (d) Soğuk bir gecede su birikintisinin donması</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650" dirty="0">
                <a:solidFill>
                  <a:srgbClr val="0E1426"/>
                </a:solidFill>
                <a:latin typeface="Calibri" pitchFamily="34" charset="0"/>
                <a:ea typeface="Calibri" pitchFamily="34" charset="-122"/>
                <a:cs typeface="Calibri" pitchFamily="34" charset="-120"/>
              </a:rPr>
              <a:t>dört olay: buharlaşma (fiziksel)</a:t>
            </a:r>
            <a:endParaRPr lang="en-US" sz="1650" dirty="0"/>
          </a:p>
          <a:p>
            <a:pPr marL="203200" indent="-203200">
              <a:lnSpc>
                <a:spcPct val="110000"/>
              </a:lnSpc>
              <a:spcAft>
                <a:spcPts val="500"/>
              </a:spcAft>
              <a:buSzPct val="100000"/>
              <a:buChar char="▪"/>
            </a:pPr>
            <a:r>
              <a:rPr lang="en-US" sz="1650" dirty="0">
                <a:solidFill>
                  <a:srgbClr val="0E1426"/>
                </a:solidFill>
                <a:latin typeface="Calibri" pitchFamily="34" charset="0"/>
                <a:ea typeface="Calibri" pitchFamily="34" charset="-122"/>
                <a:cs typeface="Calibri" pitchFamily="34" charset="-120"/>
              </a:rPr>
              <a:t>yanma (kimyasal)</a:t>
            </a:r>
            <a:endParaRPr lang="en-US" sz="1650" dirty="0"/>
          </a:p>
          <a:p>
            <a:pPr marL="203200" indent="-203200">
              <a:lnSpc>
                <a:spcPct val="110000"/>
              </a:lnSpc>
              <a:spcAft>
                <a:spcPts val="500"/>
              </a:spcAft>
              <a:buSzPct val="100000"/>
              <a:buChar char="▪"/>
            </a:pPr>
            <a:r>
              <a:rPr lang="en-US" sz="1650" dirty="0">
                <a:solidFill>
                  <a:srgbClr val="0E1426"/>
                </a:solidFill>
                <a:latin typeface="Calibri" pitchFamily="34" charset="0"/>
                <a:ea typeface="Calibri" pitchFamily="34" charset="-122"/>
                <a:cs typeface="Calibri" pitchFamily="34" charset="-120"/>
              </a:rPr>
              <a:t>elektroliz (kimyasal, elektrik akımıyla)</a:t>
            </a:r>
            <a:endParaRPr lang="en-US" sz="1650" dirty="0"/>
          </a:p>
          <a:p>
            <a:pPr marL="203200" indent="-203200">
              <a:lnSpc>
                <a:spcPct val="110000"/>
              </a:lnSpc>
              <a:spcAft>
                <a:spcPts val="500"/>
              </a:spcAft>
              <a:buSzPct val="100000"/>
              <a:buChar char="▪"/>
            </a:pPr>
            <a:r>
              <a:rPr lang="en-US" sz="1650" dirty="0">
                <a:solidFill>
                  <a:srgbClr val="0E1426"/>
                </a:solidFill>
                <a:latin typeface="Calibri" pitchFamily="34" charset="0"/>
                <a:ea typeface="Calibri" pitchFamily="34" charset="-122"/>
                <a:cs typeface="Calibri" pitchFamily="34" charset="-120"/>
              </a:rPr>
              <a:t>donma (fiziksel)</a:t>
            </a:r>
            <a:endParaRPr lang="en-US" sz="165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her olayda ısının yönü (sisteme mi, çevreye mi) ve olayın türü</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113</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Isı hangi yöne akıyor?</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Kolonya buharlaşırken elinden ısı çeker, el serinler: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 endotermik</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Mum yanarken çevresine ısı ve ışık verir: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 ekzotermik</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4120896"/>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720133"/>
            <a:ext cx="420624" cy="420624"/>
          </a:xfrm>
          <a:prstGeom prst="roundRect">
            <a:avLst>
              <a:gd name="adj" fmla="val 26000"/>
            </a:avLst>
          </a:prstGeom>
          <a:solidFill>
            <a:srgbClr val="A56209"/>
          </a:solidFill>
          <a:ln/>
        </p:spPr>
      </p:sp>
      <p:sp>
        <p:nvSpPr>
          <p:cNvPr id="18" name="Text 16"/>
          <p:cNvSpPr txBox="1"/>
          <p:nvPr/>
        </p:nvSpPr>
        <p:spPr>
          <a:xfrm>
            <a:off x="914400" y="4720133"/>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Elektroliz ancak akım verildikçe sürer, sistem enerji alır: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(c) endotermik</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114</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Isı hangi yöne akıyor?</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Su donarken çevresine ısı verir: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(d) ekzotermik</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Donmanın tersi olan erime endotermiktir.</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İpucu: “çevre ısınıyor mu, soğuyor mu?” diye sor. Çevre ısınıyorsa olay ekzotermiktir.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115</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Isıyı denkleme yazmak</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1 mol karbon (grafit) oksijenle tamamen yanıp CO₂ oluştururken çevreye 393,5 kJ ısı veriyor. (a) Olay ekzotermik mi, endotermik mi? (b) Tepkimeyi ısı terimiyle yazınız. (c) Aynı tepkimeyi ΔH ile yazınız.</a:t>
            </a:r>
            <a:endParaRPr lang="en-US" sz="2000" dirty="0"/>
          </a:p>
        </p:txBody>
      </p:sp>
      <p:sp>
        <p:nvSpPr>
          <p:cNvPr id="11" name="Shape 9"/>
          <p:cNvSpPr/>
          <p:nvPr/>
        </p:nvSpPr>
        <p:spPr>
          <a:xfrm>
            <a:off x="2732085" y="3474720"/>
            <a:ext cx="6727525"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enerji-degisimi-16.png">    </p:cNvPr>
          <p:cNvPicPr>
            <a:picLocks noChangeAspect="1"/>
          </p:cNvPicPr>
          <p:nvPr/>
        </p:nvPicPr>
        <p:blipFill>
          <a:blip r:embed="rId1"/>
          <a:stretch>
            <a:fillRect/>
          </a:stretch>
        </p:blipFill>
        <p:spPr>
          <a:xfrm>
            <a:off x="2960685" y="3584448"/>
            <a:ext cx="6270325"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116</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Isıyı denkleme yazmak</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1 mol karbon (grafit) oksijenle tamamen yanıp CO₂ oluştururken çevreye 393,5 kJ ısı veriyor. (a) Olay ekzotermik mi, endotermik mi? (b) Tepkimeyi ısı terimiyle yazınız. (c) Aynı tepkimeyi ΔH ile yazınız.</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C(grafit) + O₂(g) → CO₂(g)</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1 mol C yanınca çevreye 393,5 kJ ısı veriliyor</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olayın türü</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ısı terimli denklem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ΔH'nin işaretli değeri</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117</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Isıyı denkleme yazmak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Isı çevreye veriliyor, çevre ısınıyor: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 ekzotermik</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Ekzotermikte ısı ürünlerin yanına yazılır: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C(grafit) + O₂(g) → CO₂(g) + 393,5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118</a:t>
            </a:r>
            <a:endParaRPr lang="en-US" sz="10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Isıyı denkleme yazmak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Sistem ısı kaybettiği için ΔH eksi işaretlidir: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ΔH = −393,5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ΔH ile yazarken ısı terimi denklemde ayrıca yazılmaz: C(grafit) + O₂(g) → CO₂(g), ΔH = −393,5 kJ.</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119</a:t>
            </a:r>
            <a:endParaRPr lang="en-US" sz="10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Kalorimetreyle çözünme entalpisi</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Köpük bardak kalorimetrede 21,0 °C'deki 100 g suya 4,0 g NaOH(k) atılıyor ve karıştırılıyor. Katı tamamen çözününce termometre 31,6 °C gösteriyor. (a) Suyun aldığı ısıyı, (b) NaOH'ın molar çözünme entalpisini bulunuz.</a:t>
            </a:r>
            <a:endParaRPr lang="en-US" sz="2000" dirty="0"/>
          </a:p>
        </p:txBody>
      </p:sp>
      <p:sp>
        <p:nvSpPr>
          <p:cNvPr id="11" name="Shape 9"/>
          <p:cNvSpPr/>
          <p:nvPr/>
        </p:nvSpPr>
        <p:spPr>
          <a:xfrm>
            <a:off x="3521873" y="3474720"/>
            <a:ext cx="5147949"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enerji-degisimi-17.png">    </p:cNvPr>
          <p:cNvPicPr>
            <a:picLocks noChangeAspect="1"/>
          </p:cNvPicPr>
          <p:nvPr/>
        </p:nvPicPr>
        <p:blipFill>
          <a:blip r:embed="rId1"/>
          <a:stretch>
            <a:fillRect/>
          </a:stretch>
        </p:blipFill>
        <p:spPr>
          <a:xfrm>
            <a:off x="3750473" y="3584448"/>
            <a:ext cx="4690749"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120</a:t>
            </a:r>
            <a:endParaRPr lang="en-US" sz="10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Kalorimetreyle çözünme entalpisi</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Köpük bardak kalorimetrede 21,0 °C'deki 100 g suya 4,0 g NaOH(k) atılıyor ve karıştırılıyor. Katı tamamen çözününce termometre 31,6 °C gösteriyor. (a) Suyun aldığı ısıyı, (b) NaOH'ın molar çözünme entalpisini bulunuz.</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m(su) = 100 g</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c = 4,18 J/(g·°C)</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T(ilk) = 21,0 °C</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T(son) = 31,6 °C</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m(NaOH) = 4,0 g</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M(NaOH) = 23 + 16 + 1 = 40 g/mol</a:t>
            </a:r>
            <a:endParaRPr lang="en-US" sz="15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suyun aldığı ısı q</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çözünme entalpisi ΔH (kJ/mol)</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121</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Kalorimetreyle çözünme entalpisi</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ΔT = 31,6 − 21,0 = 10,6 °C. Su ısındı: çözünme ekzotermik, ΔH eksi çıkacak.</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q(su) = m·c·ΔT = 100 · 4,18 · 10,6 = 4431 J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4,43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466709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993234"/>
            <a:ext cx="420624" cy="420624"/>
          </a:xfrm>
          <a:prstGeom prst="roundRect">
            <a:avLst>
              <a:gd name="adj" fmla="val 26000"/>
            </a:avLst>
          </a:prstGeom>
          <a:solidFill>
            <a:srgbClr val="A56209"/>
          </a:solidFill>
          <a:ln/>
        </p:spPr>
      </p:sp>
      <p:sp>
        <p:nvSpPr>
          <p:cNvPr id="18" name="Text 16"/>
          <p:cNvSpPr txBox="1"/>
          <p:nvPr/>
        </p:nvSpPr>
        <p:spPr>
          <a:xfrm>
            <a:off x="914400" y="499323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72196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n(NaOH) = m / M = 4,0 / 40 = 0,10 mol.</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122</a:t>
            </a:r>
            <a:endParaRPr lang="en-US" sz="10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Kalorimetreyle çözünme entalpisi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ΔH = −q(su) / n = −4,43 / 0,10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−44,3 kJ/mol</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tablodaki değer −44,5 kJ/mol. Fark, termometrenin 0,1 °C'lik okunmasından gelir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123</a:t>
            </a:r>
            <a:endParaRPr lang="en-US" sz="10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Ters tepkime ve madde miktarı</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Amonyak oluşumu için N₂(g) + 3H₂(g) → 2NH₃(g), ΔH = −92,2 kJ veriliyor. (a) 2NH₃(g) → N₂(g) + 3H₂(g) tepkimesinin ΔH'si nedir? (b) 1 mol NH₃'ün ayrışması için ΔH nedir? (c) 6,8 g NH₃ ayrışırken kaç kJ ısı alınır?</a:t>
            </a:r>
            <a:endParaRPr lang="en-US" sz="2000" dirty="0"/>
          </a:p>
        </p:txBody>
      </p:sp>
      <p:sp>
        <p:nvSpPr>
          <p:cNvPr id="11" name="Shape 9"/>
          <p:cNvSpPr/>
          <p:nvPr/>
        </p:nvSpPr>
        <p:spPr>
          <a:xfrm>
            <a:off x="3409293" y="3474720"/>
            <a:ext cx="5373109"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enerji-degisimi-18.png">    </p:cNvPr>
          <p:cNvPicPr>
            <a:picLocks noChangeAspect="1"/>
          </p:cNvPicPr>
          <p:nvPr/>
        </p:nvPicPr>
        <p:blipFill>
          <a:blip r:embed="rId1"/>
          <a:stretch>
            <a:fillRect/>
          </a:stretch>
        </p:blipFill>
        <p:spPr>
          <a:xfrm>
            <a:off x="3637893" y="3584448"/>
            <a:ext cx="4915909"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124</a:t>
            </a:r>
            <a:endParaRPr lang="en-US" sz="10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Ters tepkime ve madde miktarı</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Amonyak oluşumu için N₂(g) + 3H₂(g) → 2NH₃(g), ΔH = −92,2 kJ veriliyor. (a) 2NH₃(g) → N₂(g) + 3H₂(g) tepkimesinin ΔH'si nedir? (b) 1 mol NH₃'ün ayrışması için ΔH nedir? (c) 6,8 g NH₃ ayrışırken kaç kJ ısı alınır?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N₂(g) + 3H₂(g) → 2NH₃(g), ΔH = −92,2 kJ</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m(NH₃) = 6,8 g</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M(NH₃) = 14 + 3·1 = 17 g/mol</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ters tepkimenin ΔH'si</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1 mol NH₃ için ΔH</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6,8 g NH₃'ün aldığı ısı Q</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125</a:t>
            </a:r>
            <a:endParaRPr lang="en-US" sz="10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Ters tepkime ve madde miktarı</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Tepkime ters çevrilince işaret değişir: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ΔH = +92,2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(2 mol NH₃ için).</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Katsayıları 2'ye bölünce ΔH de yarıya iner: NH₃(g) → ½N₂(g) + 3/2 H₂(g),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ΔH = +46,1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126</a:t>
            </a:r>
            <a:endParaRPr lang="en-US" sz="10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Ters tepkime ve madde miktarı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 n(NH₃) = 6,8 / 17 = 0,40 mol.</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Q = n·|ΔH| = 0,40 · 46,1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18,4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ısı alınır; ayrışma endotermiktir.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127</a:t>
            </a:r>
            <a:endParaRPr lang="en-US" sz="10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Kahvaltının enerjisi</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Haşlanmış iki yumurta (100 g) yaklaşık 13 g protein, 10 g yağ ve 1 g karbonhidrat içerir. (a) İki yumurtanın enerjisini kJ ve kcal olarak bulunuz. (b) Tempolu yürüyüşte saatte yaklaşık 1000 kJ harcanıyorsa bu enerji kaç dakikalık yürüyüşe denktir?</a:t>
            </a:r>
            <a:endParaRPr lang="en-US" sz="1900" dirty="0"/>
          </a:p>
        </p:txBody>
      </p:sp>
      <p:sp>
        <p:nvSpPr>
          <p:cNvPr id="11" name="Shape 9"/>
          <p:cNvSpPr/>
          <p:nvPr/>
        </p:nvSpPr>
        <p:spPr>
          <a:xfrm>
            <a:off x="3511200" y="3757574"/>
            <a:ext cx="5169295"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enerji-degisimi-19.png">    </p:cNvPr>
          <p:cNvPicPr>
            <a:picLocks noChangeAspect="1"/>
          </p:cNvPicPr>
          <p:nvPr/>
        </p:nvPicPr>
        <p:blipFill>
          <a:blip r:embed="rId1"/>
          <a:stretch>
            <a:fillRect/>
          </a:stretch>
        </p:blipFill>
        <p:spPr>
          <a:xfrm>
            <a:off x="3739800" y="3867302"/>
            <a:ext cx="4712095"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128</a:t>
            </a:r>
            <a:endParaRPr lang="en-US" sz="10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Kahvaltının enerjisi</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Haşlanmış iki yumurta (100 g) yaklaşık 13 g protein, 10 g yağ ve 1 g karbonhidrat içerir. (a) İki yumurtanın enerjisini kJ ve kcal olarak bulunuz. (b) Tempolu yürüyüşte saatte yaklaşık 1000 kJ harcanıyorsa bu enerji kaç dakikalık yürüyüşe denktir?</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2339264"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protein 13 g</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yağ 10 g</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karbonhidrat 1 g</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protein ve karbonhidrat ≈ 17 kJ/g</a:t>
            </a:r>
            <a:endParaRPr lang="en-US" sz="1550" dirty="0"/>
          </a:p>
        </p:txBody>
      </p:sp>
      <p:sp>
        <p:nvSpPr>
          <p:cNvPr id="15" name="Text 13"/>
          <p:cNvSpPr txBox="1"/>
          <p:nvPr/>
        </p:nvSpPr>
        <p:spPr>
          <a:xfrm>
            <a:off x="3381680" y="4447032"/>
            <a:ext cx="2339264"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yağ ≈ 37 kJ/g</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1 kcal = 4,184 kJ</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yürüyüş ≈ 1000 kJ/saat</a:t>
            </a:r>
            <a:endParaRPr lang="en-US" sz="1550" dirty="0"/>
          </a:p>
        </p:txBody>
      </p:sp>
      <p:sp>
        <p:nvSpPr>
          <p:cNvPr id="16" name="Shape 14"/>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6251296" y="4136136"/>
            <a:ext cx="54864" cy="1844040"/>
          </a:xfrm>
          <a:prstGeom prst="rect">
            <a:avLst/>
          </a:prstGeom>
          <a:solidFill>
            <a:srgbClr val="5F4BD8"/>
          </a:solidFill>
          <a:ln/>
        </p:spPr>
      </p:sp>
      <p:sp>
        <p:nvSpPr>
          <p:cNvPr id="18" name="Text 16"/>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9" name="Text 17"/>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toplam enerji (kJ ve kcal)</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yürüyüş süresi (dakika)</a:t>
            </a:r>
            <a:endParaRPr lang="en-US" sz="18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129</a:t>
            </a:r>
            <a:endParaRPr lang="en-US" sz="10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Kahvaltının enerjisi</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Protein: 13 · 17 = 221 kJ · yağ: 10 · 37 = 370 kJ · karbonhidrat: 1 · 17 = 17 kJ.</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Toplam: 221 + 370 + 17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608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466709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993234"/>
            <a:ext cx="420624" cy="420624"/>
          </a:xfrm>
          <a:prstGeom prst="roundRect">
            <a:avLst>
              <a:gd name="adj" fmla="val 26000"/>
            </a:avLst>
          </a:prstGeom>
          <a:solidFill>
            <a:srgbClr val="A56209"/>
          </a:solidFill>
          <a:ln/>
        </p:spPr>
      </p:sp>
      <p:sp>
        <p:nvSpPr>
          <p:cNvPr id="18" name="Text 16"/>
          <p:cNvSpPr txBox="1"/>
          <p:nvPr/>
        </p:nvSpPr>
        <p:spPr>
          <a:xfrm>
            <a:off x="914400" y="499323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72196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kcal'ye çevir: 608 / 4,184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145 kcal</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130</a:t>
            </a:r>
            <a:endParaRPr lang="en-US" sz="10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Kahvaltının enerjisi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Yürüyüş: 608 / 1000 = 0,608 saat → 0,608 · 60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36 dakika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Dikkat: kütlenin yalnızca onda biri yağ, ama enerjinin yarısından fazlası (370 / 608) yağdan geliyor.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131</a:t>
            </a:r>
            <a:endParaRPr lang="en-US" sz="10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Metan mı, propan mı?</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Bir çaydanlıktaki 2,0 kg suyu 20 °C'den 100 °C'ye ısıtmak istiyoruz. Ocağın verdiği ısının yalnızca %50'si suya geçiyor. (a) Bu iş için kaç gram metan ya da kaç gram propan yakmak gerekir? (b) Hangisi daha az CO₂ çıkarır?</a:t>
            </a:r>
            <a:endParaRPr lang="en-US" sz="2000" dirty="0"/>
          </a:p>
        </p:txBody>
      </p:sp>
      <p:sp>
        <p:nvSpPr>
          <p:cNvPr id="11" name="Shape 9"/>
          <p:cNvSpPr/>
          <p:nvPr/>
        </p:nvSpPr>
        <p:spPr>
          <a:xfrm>
            <a:off x="3428848" y="3474720"/>
            <a:ext cx="5334000"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enerji-degisimi-20.png">    </p:cNvPr>
          <p:cNvPicPr>
            <a:picLocks noChangeAspect="1"/>
          </p:cNvPicPr>
          <p:nvPr/>
        </p:nvPicPr>
        <p:blipFill>
          <a:blip r:embed="rId1"/>
          <a:stretch>
            <a:fillRect/>
          </a:stretch>
        </p:blipFill>
        <p:spPr>
          <a:xfrm>
            <a:off x="3657448" y="3584448"/>
            <a:ext cx="4876800"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132</a:t>
            </a:r>
            <a:endParaRPr lang="en-US" sz="10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Metan mı, propan mı?</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çaydanlıktaki 2,0 kg suyu 20 °C'den 100 °C'ye ısıtmak istiyoruz. Ocağın verdiği ısının yalnızca %50'si suya geçiyor. (a) Bu iş için kaç gram metan ya da kaç gram propan yakmak gerekir? (b) Hangisi daha az CO₂ çıkarır?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m(su) = 2,0 kg = 2000 g</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ΔT = 100 − 20 = 80 °C</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c = 4,18 J/(g·°C)</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verim %50</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CH₄: 890 kJ/mol, 16 g/mol</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C₃H₈: 2220 kJ/mol, 44 g/mol</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M(CO₂) = 44 g/mol</a:t>
            </a:r>
            <a:endParaRPr lang="en-US" sz="125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gereken metan ve propan kütleleri</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iki durumda oluşan CO₂ kütleleri</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133</a:t>
            </a:r>
            <a:endParaRPr lang="en-US" sz="10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Metan mı, propan mı?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Suyun alacağı ısı: q = 2000 · 4,18 · 80 = 668 800 J ≈ 669 kJ.</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Verim %50: yakıt 669 / 0,50 ≈ 1338 kJ ısı vermeli.</a:t>
            </a:r>
            <a:endParaRPr lang="en-US" sz="2000" dirty="0"/>
          </a:p>
        </p:txBody>
      </p:sp>
      <p:sp>
        <p:nvSpPr>
          <p:cNvPr id="16" name="Shape 14"/>
          <p:cNvSpPr/>
          <p:nvPr/>
        </p:nvSpPr>
        <p:spPr>
          <a:xfrm>
            <a:off x="640080" y="4120896"/>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720133"/>
            <a:ext cx="420624" cy="420624"/>
          </a:xfrm>
          <a:prstGeom prst="roundRect">
            <a:avLst>
              <a:gd name="adj" fmla="val 26000"/>
            </a:avLst>
          </a:prstGeom>
          <a:solidFill>
            <a:srgbClr val="A56209"/>
          </a:solidFill>
          <a:ln/>
        </p:spPr>
      </p:sp>
      <p:sp>
        <p:nvSpPr>
          <p:cNvPr id="18" name="Text 16"/>
          <p:cNvSpPr txBox="1"/>
          <p:nvPr/>
        </p:nvSpPr>
        <p:spPr>
          <a:xfrm>
            <a:off x="914400" y="4720133"/>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Metan: n = 1338 / 890 ≈ 1,50 mol → 1,50 · 16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24 g</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Propan: n = 1338 / 2220 ≈ 0,603 mol → 0,603 · 44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26,5 g</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134</a:t>
            </a:r>
            <a:endParaRPr lang="en-US" sz="10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Metan mı, propan mı?</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CH₄ + 2O₂ → CO₂ + 2H₂O: 1,50 mol CO₂ → 1,50 · 44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66 g</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C₃H₈ + 5O₂ → 3CO₂ + 4H₂O: 3 · 0,603 ≈ 1,81 mol CO₂ → 1,81 · 44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80 g</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Sonuç: metan hem daha az kütleyle işi görür (gram başına ısısı büyük) hem de daha az CO₂ çıkarır (enerjisinin bir kısmı hidrojenden gelir).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135</a:t>
            </a:r>
            <a:endParaRPr lang="en-US" sz="10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Soğuk paket tasarlamak</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150 g su içeren bir soğuk paket tasarlıyorsun. Paket sıkılınca içindeki NH₄NO₃(k) suda çözünecek ve sıcaklık 25 °C'den 5 °C'ye düşecek. Paketi yalıtılmış kabul edersek içine kaç gram NH₄NO₃ koymalısın?</a:t>
            </a:r>
            <a:endParaRPr lang="en-US" sz="2000" dirty="0"/>
          </a:p>
        </p:txBody>
      </p:sp>
      <p:sp>
        <p:nvSpPr>
          <p:cNvPr id="11" name="Shape 9"/>
          <p:cNvSpPr/>
          <p:nvPr/>
        </p:nvSpPr>
        <p:spPr>
          <a:xfrm>
            <a:off x="3148266" y="3474720"/>
            <a:ext cx="5895163"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enerji-degisimi-21.png">    </p:cNvPr>
          <p:cNvPicPr>
            <a:picLocks noChangeAspect="1"/>
          </p:cNvPicPr>
          <p:nvPr/>
        </p:nvPicPr>
        <p:blipFill>
          <a:blip r:embed="rId1"/>
          <a:stretch>
            <a:fillRect/>
          </a:stretch>
        </p:blipFill>
        <p:spPr>
          <a:xfrm>
            <a:off x="3376866" y="3584448"/>
            <a:ext cx="5437963"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136</a:t>
            </a:r>
            <a:endParaRPr lang="en-US" sz="10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Soğuk paket tasarlamak</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150 g su içeren bir soğuk paket tasarlıyorsun. Paket sıkılınca içindeki NH₄NO₃(k) suda çözünecek ve sıcaklık 25 °C'den 5 °C'ye düşecek. Paketi yalıtılmış kabul edersek içine kaç gram NH₄NO₃ koymalısın?</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m(su) = 150 g</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c = 4,18 J/(g·°C)</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T(ilk) = 25 °C</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T(son) = 5 °C</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ΔH(çözünme) = +25,7 kJ/mol</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M(NH₄NO₃) = 2·14 + 4·1 + 3·16 = 80 g/mol</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yalnızca suyun soğuduğu kabul ediliyor</a:t>
            </a:r>
            <a:endParaRPr lang="en-US" sz="125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gereken NH₄NO₃ kütlesi</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137</a:t>
            </a:r>
            <a:endParaRPr lang="en-US" sz="10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Soğuk paket tasarlamak</a:t>
            </a:r>
            <a:endParaRPr lang="en-US" sz="1450" dirty="0"/>
          </a:p>
        </p:txBody>
      </p:sp>
      <p:sp>
        <p:nvSpPr>
          <p:cNvPr id="8" name="Shape 6"/>
          <p:cNvSpPr/>
          <p:nvPr/>
        </p:nvSpPr>
        <p:spPr>
          <a:xfrm>
            <a:off x="640080" y="1645920"/>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18599"/>
            <a:ext cx="420624" cy="420624"/>
          </a:xfrm>
          <a:prstGeom prst="roundRect">
            <a:avLst>
              <a:gd name="adj" fmla="val 26000"/>
            </a:avLst>
          </a:prstGeom>
          <a:solidFill>
            <a:srgbClr val="A56209"/>
          </a:solidFill>
          <a:ln/>
        </p:spPr>
      </p:sp>
      <p:sp>
        <p:nvSpPr>
          <p:cNvPr id="10" name="Text 8"/>
          <p:cNvSpPr txBox="1"/>
          <p:nvPr/>
        </p:nvSpPr>
        <p:spPr>
          <a:xfrm>
            <a:off x="914400" y="2218599"/>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Suyun vermesi gereken ısı: q = 150 · 4,18 · (25 − 5) = 12 540 J = 12,54 kJ.</a:t>
            </a:r>
            <a:endParaRPr lang="en-US" sz="2000" dirty="0"/>
          </a:p>
        </p:txBody>
      </p:sp>
      <p:sp>
        <p:nvSpPr>
          <p:cNvPr id="12" name="Shape 10"/>
          <p:cNvSpPr/>
          <p:nvPr/>
        </p:nvSpPr>
        <p:spPr>
          <a:xfrm>
            <a:off x="640080" y="3376494"/>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949174"/>
            <a:ext cx="420624" cy="420624"/>
          </a:xfrm>
          <a:prstGeom prst="roundRect">
            <a:avLst>
              <a:gd name="adj" fmla="val 26000"/>
            </a:avLst>
          </a:prstGeom>
          <a:solidFill>
            <a:srgbClr val="A56209"/>
          </a:solidFill>
          <a:ln/>
        </p:spPr>
      </p:sp>
      <p:sp>
        <p:nvSpPr>
          <p:cNvPr id="14" name="Text 12"/>
          <p:cNvSpPr txBox="1"/>
          <p:nvPr/>
        </p:nvSpPr>
        <p:spPr>
          <a:xfrm>
            <a:off x="914400" y="394917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31358"/>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Çözünme endotermiktir: suyun kaybettiği bu ısıyı çözünen tuz alır. Q = n·|ΔH| → 12,54 = n · 25,7.</a:t>
            </a:r>
            <a:endParaRPr lang="en-US" sz="2000" dirty="0"/>
          </a:p>
        </p:txBody>
      </p:sp>
      <p:sp>
        <p:nvSpPr>
          <p:cNvPr id="16" name="Shape 14"/>
          <p:cNvSpPr/>
          <p:nvPr/>
        </p:nvSpPr>
        <p:spPr>
          <a:xfrm>
            <a:off x="640080" y="5107069"/>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415606"/>
            <a:ext cx="420624" cy="420624"/>
          </a:xfrm>
          <a:prstGeom prst="roundRect">
            <a:avLst>
              <a:gd name="adj" fmla="val 26000"/>
            </a:avLst>
          </a:prstGeom>
          <a:solidFill>
            <a:srgbClr val="A56209"/>
          </a:solidFill>
          <a:ln/>
        </p:spPr>
      </p:sp>
      <p:sp>
        <p:nvSpPr>
          <p:cNvPr id="18" name="Text 16"/>
          <p:cNvSpPr txBox="1"/>
          <p:nvPr/>
        </p:nvSpPr>
        <p:spPr>
          <a:xfrm>
            <a:off x="914400" y="541560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5161933"/>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 = 12,54 / 25,7 ≈ 0,488 mol.</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138</a:t>
            </a:r>
            <a:endParaRPr lang="en-US" sz="10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Soğuk paket tasarlamak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m = n·M = 0,488 · 80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39 g</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NH₄NO₃.</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39 g → 0,4875 mol → 0,4875 · 25,7 ≈ 12,53 kJ; 12 530 / (150 · 4,18) ≈ 20 °C düşüş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139</a:t>
            </a:r>
            <a:endParaRPr lang="en-US" sz="10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Buzdolabından çıkardığın soğuk şişenin dışında su damlacıkları belirir. Bu olay endotermik mi, ekzotermik mi?</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(c = 4,18 J/(g·°C); H 1, C 12, O 16 g/mol)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140</a:t>
            </a:r>
            <a:endParaRPr lang="en-US" sz="10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Buzdolabından çıkardığın soğuk şişenin dışında su damlacıkları belirir. Bu olay endotermik mi, ekzotermik mi?</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Havadaki su buharı soğuk şişeye değince yoğuşur. Yoğuşma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ekzotermiktir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buhar sıvıya dönerken ısı verir ve şişeyi bir miktar ısıtır.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141</a:t>
            </a:r>
            <a:endParaRPr lang="en-US" sz="10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250 g suyun sıcaklığını 20 °C artırmak için kaç kJ ısı gerekir?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(c = 4,18 J/(g·°C); H 1, C 12, O 16 g/mol)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142</a:t>
            </a:r>
            <a:endParaRPr lang="en-US" sz="10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250 g suyun sıcaklığını 20 °C artırmak için kaç kJ ısı gerekir?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q = m·c·ΔT = 250 · 4,18 · 20 = 20 900 J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20,9 kJ</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143</a:t>
            </a:r>
            <a:endParaRPr lang="en-US" sz="10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H₂(g) + ½O₂(g) → H₂O(s) için ΔH = −285,8 kJ ise 2H₂O(s) → 2H₂(g) + O₂(g) tepkimesinin ΔH'si nedir?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(c = 4,18 J/(g·°C); H 1, C 12, O 16 g/mol)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144</a:t>
            </a:r>
            <a:endParaRPr lang="en-US" sz="10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H₂(g) + ½O₂(g) → H₂O(s) için ΔH = −285,8 kJ ise 2H₂O(s) → 2H₂(g) + O₂(g) tepkimesinin ΔH'si nedir?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Tepkime ters çevrildi (işaret değişir) ve katsayılar 2 ile çarpıldı (ΔH iki katına çıkar): ΔH = +2 · 285,8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+571,6 kJ</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Suyu ayrıştırmak endotermiktir.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145</a:t>
            </a:r>
            <a:endParaRPr lang="en-US" sz="10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Etanolün molar yanma ısısı 1367 kJ/mol, metanınki 890 kJ/mol. Gram başına hangisi daha çok ısı verir?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(c = 4,18 J/(g·°C); H 1, C 12, O 16 g/mol)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146</a:t>
            </a:r>
            <a:endParaRPr lang="en-US" sz="10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Etanolün molar yanma ısısı 1367 kJ/mol, metanınki 890 kJ/mol. Gram başına hangisi daha çok ısı verir?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M(C₂H₅OH) = 46 g/mol, M(CH₄) = 16 g/mol. Etanol: 1367 / 46 ≈ 29,7 kJ/g; metan: 890 / 16 ≈ 55,6 kJ/g. Mol başına etanol önde, ama gram başına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metan</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neredeyse iki kat çok ısı verir.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147</a:t>
            </a:r>
            <a:endParaRPr lang="en-US" sz="10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İspirto ocağında yanan etanolün ısısının %40'ı beherdeki suya geçiyor. 200 g suyu 25 °C'den 85 °C'ye ısıtmak için kaç gram etanol yanmalıdır? (1367 kJ/mol)</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(c = 4,18 J/(g·°C); H 1, C 12, O 16 g/mol)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148</a:t>
            </a:r>
            <a:endParaRPr lang="en-US" sz="10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İspirto ocağında yanan etanolün ısısının %40'ı beherdeki suya geçiyor. 200 g suyu 25 °C'den 85 °C'ye ısıtmak için kaç gram etanol yanmalıdır? (1367 kJ/mol)</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Suyun alacağı ısı: 200 · 4,18 · 60 = 50 160 J ≈ 50,2 kJ. Verim %40 olduğundan etanol 50,2 / 0,40 ≈ 125 kJ vermeli. n = 125 / 1367 ≈ 0,0914 mol → m = 0,0914 · 46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4,2 g</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149</a:t>
            </a:r>
            <a:endParaRPr lang="en-US" sz="10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379857"/>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“Soğuk paket eline soğuk verir.”</a:t>
            </a:r>
            <a:endParaRPr lang="en-US" sz="1750" dirty="0"/>
          </a:p>
        </p:txBody>
      </p:sp>
      <p:sp>
        <p:nvSpPr>
          <p:cNvPr id="11" name="Shape 9"/>
          <p:cNvSpPr/>
          <p:nvPr/>
        </p:nvSpPr>
        <p:spPr>
          <a:xfrm>
            <a:off x="841248" y="2245233"/>
            <a:ext cx="310896" cy="310896"/>
          </a:xfrm>
          <a:prstGeom prst="roundRect">
            <a:avLst>
              <a:gd name="adj" fmla="val 26471"/>
            </a:avLst>
          </a:prstGeom>
          <a:solidFill>
            <a:srgbClr val="EAF7DC"/>
          </a:solidFill>
          <a:ln/>
        </p:spPr>
      </p:sp>
      <p:sp>
        <p:nvSpPr>
          <p:cNvPr id="12" name="Text 10"/>
          <p:cNvSpPr txBox="1"/>
          <p:nvPr/>
        </p:nvSpPr>
        <p:spPr>
          <a:xfrm>
            <a:off x="841248" y="2245233"/>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26945"/>
            <a:ext cx="4523080" cy="1448943"/>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Soğuk diye akan bir şey yoktur; ısı sıcaktan soğuğa akar. Elin pakete ısı verir, bu yüzden üşür.</a:t>
            </a:r>
            <a:endParaRPr lang="en-US" sz="155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“Kıvılcımla başlıyorsa tepkime endotermiktir.”</a:t>
            </a:r>
            <a:endParaRPr lang="en-US" sz="1750" dirty="0"/>
          </a:p>
        </p:txBody>
      </p:sp>
      <p:sp>
        <p:nvSpPr>
          <p:cNvPr id="18" name="Shape 16"/>
          <p:cNvSpPr/>
          <p:nvPr/>
        </p:nvSpPr>
        <p:spPr>
          <a:xfrm>
            <a:off x="6406744" y="2551938"/>
            <a:ext cx="310896" cy="310896"/>
          </a:xfrm>
          <a:prstGeom prst="roundRect">
            <a:avLst>
              <a:gd name="adj" fmla="val 26471"/>
            </a:avLst>
          </a:prstGeom>
          <a:solidFill>
            <a:srgbClr val="EAF7DC"/>
          </a:solidFill>
          <a:ln/>
        </p:spPr>
      </p:sp>
      <p:sp>
        <p:nvSpPr>
          <p:cNvPr id="19" name="Text 17"/>
          <p:cNvSpPr txBox="1"/>
          <p:nvPr/>
        </p:nvSpPr>
        <p:spPr>
          <a:xfrm>
            <a:off x="6406744" y="2551938"/>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33650"/>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Kıvılcım yalnızca başlatır; olayın türünü çevrenin ısınması ya da soğuması söyler. Doğal gaz kibritle tutuşur ama yanarken çevreyi ısıtır: ekzotermiktir.</a:t>
            </a:r>
            <a:endParaRPr lang="en-US" sz="155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“ΔH eksiyse sistemin enerjisi artmıştır.”</a:t>
            </a:r>
            <a:endParaRPr lang="en-US" sz="1750" dirty="0"/>
          </a:p>
        </p:txBody>
      </p:sp>
      <p:sp>
        <p:nvSpPr>
          <p:cNvPr id="25" name="Shape 23"/>
          <p:cNvSpPr/>
          <p:nvPr/>
        </p:nvSpPr>
        <p:spPr>
          <a:xfrm>
            <a:off x="841248" y="4892802"/>
            <a:ext cx="310896" cy="310896"/>
          </a:xfrm>
          <a:prstGeom prst="roundRect">
            <a:avLst>
              <a:gd name="adj" fmla="val 26471"/>
            </a:avLst>
          </a:prstGeom>
          <a:solidFill>
            <a:srgbClr val="EAF7DC"/>
          </a:solidFill>
          <a:ln/>
        </p:spPr>
      </p:sp>
      <p:sp>
        <p:nvSpPr>
          <p:cNvPr id="26" name="Text 24"/>
          <p:cNvSpPr txBox="1"/>
          <p:nvPr/>
        </p:nvSpPr>
        <p:spPr>
          <a:xfrm>
            <a:off x="841248" y="489280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874514"/>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Eksi işaret, sistemin ısı verdiğini söyler: sistemin enerjisi azalır, çevre ısınır.</a:t>
            </a:r>
            <a:endParaRPr lang="en-US" sz="155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“Endotermik tepkimede kaptaki su ısınır.”</a:t>
            </a:r>
            <a:endParaRPr lang="en-US" sz="1750" dirty="0"/>
          </a:p>
        </p:txBody>
      </p:sp>
      <p:sp>
        <p:nvSpPr>
          <p:cNvPr id="32" name="Shape 30"/>
          <p:cNvSpPr/>
          <p:nvPr/>
        </p:nvSpPr>
        <p:spPr>
          <a:xfrm>
            <a:off x="6406744" y="4892802"/>
            <a:ext cx="310896" cy="310896"/>
          </a:xfrm>
          <a:prstGeom prst="roundRect">
            <a:avLst>
              <a:gd name="adj" fmla="val 26471"/>
            </a:avLst>
          </a:prstGeom>
          <a:solidFill>
            <a:srgbClr val="EAF7DC"/>
          </a:solidFill>
          <a:ln/>
        </p:spPr>
      </p:sp>
      <p:sp>
        <p:nvSpPr>
          <p:cNvPr id="33" name="Text 31"/>
          <p:cNvSpPr txBox="1"/>
          <p:nvPr/>
        </p:nvSpPr>
        <p:spPr>
          <a:xfrm>
            <a:off x="6406744" y="489280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874514"/>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Isı alan olay bu ısıyı çevresinden çeker; kaptaki su ve termometre soğur.</a:t>
            </a:r>
            <a:endParaRPr lang="en-US" sz="155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150</a:t>
            </a:r>
            <a:endParaRPr lang="en-US" sz="10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379857"/>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“Isı ile sıcaklık aynı şeydir.”</a:t>
            </a:r>
            <a:endParaRPr lang="en-US" sz="1750" dirty="0"/>
          </a:p>
        </p:txBody>
      </p:sp>
      <p:sp>
        <p:nvSpPr>
          <p:cNvPr id="11" name="Shape 9"/>
          <p:cNvSpPr/>
          <p:nvPr/>
        </p:nvSpPr>
        <p:spPr>
          <a:xfrm>
            <a:off x="841248" y="2245233"/>
            <a:ext cx="310896" cy="310896"/>
          </a:xfrm>
          <a:prstGeom prst="roundRect">
            <a:avLst>
              <a:gd name="adj" fmla="val 26471"/>
            </a:avLst>
          </a:prstGeom>
          <a:solidFill>
            <a:srgbClr val="EAF7DC"/>
          </a:solidFill>
          <a:ln/>
        </p:spPr>
      </p:sp>
      <p:sp>
        <p:nvSpPr>
          <p:cNvPr id="12" name="Text 10"/>
          <p:cNvSpPr txBox="1"/>
          <p:nvPr/>
        </p:nvSpPr>
        <p:spPr>
          <a:xfrm>
            <a:off x="841248" y="2245233"/>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26945"/>
            <a:ext cx="4523080" cy="1448943"/>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Isı aktarılan enerjidir (J), sıcaklık ise bir cismin ne kadar sıcak olduğunun ölçüsüdür (°C). Bir damla kaynar su bir kova ılık sudan sıcaktır, ama kova çok daha fazla ısı verebilir.</a:t>
            </a:r>
            <a:endParaRPr lang="en-US" sz="155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“Tepkime ters çevrilince ya da katsayılar değişince ΔH aynı kalır.”</a:t>
            </a:r>
            <a:endParaRPr lang="en-US" sz="1750" dirty="0"/>
          </a:p>
        </p:txBody>
      </p:sp>
      <p:sp>
        <p:nvSpPr>
          <p:cNvPr id="18" name="Shape 16"/>
          <p:cNvSpPr/>
          <p:nvPr/>
        </p:nvSpPr>
        <p:spPr>
          <a:xfrm>
            <a:off x="6406744" y="2551938"/>
            <a:ext cx="310896" cy="310896"/>
          </a:xfrm>
          <a:prstGeom prst="roundRect">
            <a:avLst>
              <a:gd name="adj" fmla="val 26471"/>
            </a:avLst>
          </a:prstGeom>
          <a:solidFill>
            <a:srgbClr val="EAF7DC"/>
          </a:solidFill>
          <a:ln/>
        </p:spPr>
      </p:sp>
      <p:sp>
        <p:nvSpPr>
          <p:cNvPr id="19" name="Text 17"/>
          <p:cNvSpPr txBox="1"/>
          <p:nvPr/>
        </p:nvSpPr>
        <p:spPr>
          <a:xfrm>
            <a:off x="6406744" y="2551938"/>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33650"/>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Ters tepkimede işaret değişir; katsayılar bir sayıyla çarpılınca ΔH de aynı sayıyla çarpılır.</a:t>
            </a:r>
            <a:endParaRPr lang="en-US" sz="155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“En iyi yakıt, molar yanma ısısı en büyük olandır.”</a:t>
            </a:r>
            <a:endParaRPr lang="en-US" sz="1750" dirty="0"/>
          </a:p>
        </p:txBody>
      </p:sp>
      <p:sp>
        <p:nvSpPr>
          <p:cNvPr id="25" name="Shape 23"/>
          <p:cNvSpPr/>
          <p:nvPr/>
        </p:nvSpPr>
        <p:spPr>
          <a:xfrm>
            <a:off x="841248" y="4892802"/>
            <a:ext cx="310896" cy="310896"/>
          </a:xfrm>
          <a:prstGeom prst="roundRect">
            <a:avLst>
              <a:gd name="adj" fmla="val 26471"/>
            </a:avLst>
          </a:prstGeom>
          <a:solidFill>
            <a:srgbClr val="EAF7DC"/>
          </a:solidFill>
          <a:ln/>
        </p:spPr>
      </p:sp>
      <p:sp>
        <p:nvSpPr>
          <p:cNvPr id="26" name="Text 24"/>
          <p:cNvSpPr txBox="1"/>
          <p:nvPr/>
        </p:nvSpPr>
        <p:spPr>
          <a:xfrm>
            <a:off x="841248" y="489280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874514"/>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Yakıtlar kJ/g ile karşılaştırılır. Propan mol başına metandan çok ısı verir, ama gram başına metanın gerisindedir.</a:t>
            </a:r>
            <a:endParaRPr lang="en-US" sz="155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“Hidrojen bedava ve sınırsız bir enerji kaynağıdır.”</a:t>
            </a:r>
            <a:endParaRPr lang="en-US" sz="1750" dirty="0"/>
          </a:p>
        </p:txBody>
      </p:sp>
      <p:sp>
        <p:nvSpPr>
          <p:cNvPr id="32" name="Shape 30"/>
          <p:cNvSpPr/>
          <p:nvPr/>
        </p:nvSpPr>
        <p:spPr>
          <a:xfrm>
            <a:off x="6406744" y="4892802"/>
            <a:ext cx="310896" cy="310896"/>
          </a:xfrm>
          <a:prstGeom prst="roundRect">
            <a:avLst>
              <a:gd name="adj" fmla="val 26471"/>
            </a:avLst>
          </a:prstGeom>
          <a:solidFill>
            <a:srgbClr val="EAF7DC"/>
          </a:solidFill>
          <a:ln/>
        </p:spPr>
      </p:sp>
      <p:sp>
        <p:nvSpPr>
          <p:cNvPr id="33" name="Text 31"/>
          <p:cNvSpPr txBox="1"/>
          <p:nvPr/>
        </p:nvSpPr>
        <p:spPr>
          <a:xfrm>
            <a:off x="6406744" y="489280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874514"/>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Serbest H₂ doğada yok denecek kadar azdır; onu elde etmek, en az yanınca verdiği kadar enerji ister. Hidrojen bir enerji taşıyıcısıdır.</a:t>
            </a:r>
            <a:endParaRPr lang="en-US" sz="155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dersler.perinet.org/enerji-degisimi.html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151</a:t>
            </a:r>
            <a:endParaRPr lang="en-US" sz="10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Ekzotermik </a:t>
            </a:r>
            <a:pPr indent="0" marL="0">
              <a:buNone/>
            </a:pPr>
            <a:r>
              <a:rPr lang="en-US" sz="1500" b="1" dirty="0">
                <a:solidFill>
                  <a:srgbClr val="FFFFFF"/>
                </a:solidFill>
                <a:latin typeface="Calibri" pitchFamily="34" charset="0"/>
                <a:ea typeface="Calibri" pitchFamily="34" charset="-122"/>
                <a:cs typeface="Calibri" pitchFamily="34" charset="-120"/>
              </a:rPr>
              <a:t>ΔH &lt; 0</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Endotermik </a:t>
            </a:r>
            <a:pPr indent="0" marL="0">
              <a:buNone/>
            </a:pPr>
            <a:r>
              <a:rPr lang="en-US" sz="1500" b="1" dirty="0">
                <a:solidFill>
                  <a:srgbClr val="FFFFFF"/>
                </a:solidFill>
                <a:latin typeface="Calibri" pitchFamily="34" charset="0"/>
                <a:ea typeface="Calibri" pitchFamily="34" charset="-122"/>
                <a:cs typeface="Calibri" pitchFamily="34" charset="-120"/>
              </a:rPr>
              <a:t>ΔH &gt; 0</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Evrenin enerjisi </a:t>
            </a:r>
            <a:pPr indent="0" marL="0">
              <a:buNone/>
            </a:pPr>
            <a:r>
              <a:rPr lang="en-US" sz="1500" b="1" dirty="0">
                <a:solidFill>
                  <a:srgbClr val="FFFFFF"/>
                </a:solidFill>
                <a:latin typeface="Calibri" pitchFamily="34" charset="0"/>
                <a:ea typeface="Calibri" pitchFamily="34" charset="-122"/>
                <a:cs typeface="Calibri" pitchFamily="34" charset="-120"/>
              </a:rPr>
              <a:t>sabit</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Yakıt seçimi </a:t>
            </a:r>
            <a:pPr indent="0" marL="0">
              <a:buNone/>
            </a:pPr>
            <a:r>
              <a:rPr lang="en-US" sz="1500" b="1" dirty="0">
                <a:solidFill>
                  <a:srgbClr val="FFFFFF"/>
                </a:solidFill>
                <a:latin typeface="Calibri" pitchFamily="34" charset="0"/>
                <a:ea typeface="Calibri" pitchFamily="34" charset="-122"/>
                <a:cs typeface="Calibri" pitchFamily="34" charset="-120"/>
              </a:rPr>
              <a:t>kJ/g</a:t>
            </a:r>
            <a:pPr indent="0" marL="0">
              <a:buNone/>
            </a:pPr>
            <a:r>
              <a:rPr lang="en-US" sz="1500" dirty="0">
                <a:solidFill>
                  <a:srgbClr val="C3CEE8"/>
                </a:solidFill>
                <a:latin typeface="Calibri" pitchFamily="34" charset="0"/>
                <a:ea typeface="Calibri" pitchFamily="34" charset="-122"/>
                <a:cs typeface="Calibri" pitchFamily="34" charset="-120"/>
              </a:rPr>
              <a:t> ile</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2910535"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ΔH = H(ürünler) − H(girenler)</a:t>
            </a:r>
            <a:endParaRPr lang="en-US" sz="1350" dirty="0"/>
          </a:p>
        </p:txBody>
      </p:sp>
      <p:sp>
        <p:nvSpPr>
          <p:cNvPr id="16" name="Text 14"/>
          <p:cNvSpPr txBox="1"/>
          <p:nvPr/>
        </p:nvSpPr>
        <p:spPr>
          <a:xfrm>
            <a:off x="9631375" y="2395728"/>
            <a:ext cx="1737360"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tepkime entalpisi</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q = m·c·ΔT</a:t>
            </a:r>
            <a:endParaRPr lang="en-US" sz="1350" dirty="0"/>
          </a:p>
        </p:txBody>
      </p:sp>
      <p:sp>
        <p:nvSpPr>
          <p:cNvPr id="19" name="Text 17"/>
          <p:cNvSpPr txBox="1"/>
          <p:nvPr/>
        </p:nvSpPr>
        <p:spPr>
          <a:xfrm>
            <a:off x="8183880" y="321868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suyun aldığı ısı</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Q = n·|ΔH|</a:t>
            </a:r>
            <a:endParaRPr lang="en-US" sz="1350" dirty="0"/>
          </a:p>
        </p:txBody>
      </p:sp>
      <p:sp>
        <p:nvSpPr>
          <p:cNvPr id="22" name="Text 20"/>
          <p:cNvSpPr txBox="1"/>
          <p:nvPr/>
        </p:nvSpPr>
        <p:spPr>
          <a:xfrm>
            <a:off x="8183880" y="404164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n mol için ısı</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290322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kJ/g = (kJ/mol) ÷ (g/mol)</a:t>
            </a:r>
            <a:endParaRPr lang="en-US" sz="1350" dirty="0"/>
          </a:p>
        </p:txBody>
      </p:sp>
      <p:sp>
        <p:nvSpPr>
          <p:cNvPr id="25" name="Text 23"/>
          <p:cNvSpPr txBox="1"/>
          <p:nvPr/>
        </p:nvSpPr>
        <p:spPr>
          <a:xfrm>
            <a:off x="9624060" y="4864608"/>
            <a:ext cx="174467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gram başına yanma ısısı</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dersler.perinet.org/enerji-degisimi.html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02 · Bağ enerjileri ve tepkime entalpisi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152</Slides>
  <Notes>152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152</vt:i4>
      </vt:variant>
    </vt:vector>
  </HeadingPairs>
  <TitlesOfParts>
    <vt:vector size="1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Tepkimelerde enerji değişimi — Dersler</dc:title>
  <dc:subject>Kimya · Kimyasal Tepkimelerde Enerji</dc:subject>
  <dc:creator>Dersler</dc:creator>
  <cp:lastModifiedBy>Dersler</cp:lastModifiedBy>
  <cp:revision>1</cp:revision>
  <dcterms:created xsi:type="dcterms:W3CDTF">2026-10-02T16:19:51Z</dcterms:created>
  <dcterms:modified xsi:type="dcterms:W3CDTF">2026-10-02T16:19:51Z</dcterms:modified>
</cp:coreProperties>
</file>