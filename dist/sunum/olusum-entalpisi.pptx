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slideMasters/slideMaster146.xml" ContentType="application/vnd.openxmlformats-officedocument.presentationml.slideMaster+xml"/>
  <Override PartName="/ppt/slides/slide146.xml" ContentType="application/vnd.openxmlformats-officedocument.presentationml.slide+xml"/>
  <Override PartName="/ppt/slideMasters/slideMaster147.xml" ContentType="application/vnd.openxmlformats-officedocument.presentationml.slideMaster+xml"/>
  <Override PartName="/ppt/slides/slide147.xml" ContentType="application/vnd.openxmlformats-officedocument.presentationml.slide+xml"/>
  <Override PartName="/ppt/slideMasters/slideMaster148.xml" ContentType="application/vnd.openxmlformats-officedocument.presentationml.slideMaster+xml"/>
  <Override PartName="/ppt/slides/slide148.xml" ContentType="application/vnd.openxmlformats-officedocument.presentationml.slide+xml"/>
  <Override PartName="/ppt/slideMasters/slideMaster149.xml" ContentType="application/vnd.openxmlformats-officedocument.presentationml.slideMaster+xml"/>
  <Override PartName="/ppt/slides/slide149.xml" ContentType="application/vnd.openxmlformats-officedocument.presentationml.slide+xml"/>
  <Override PartName="/ppt/slideMasters/slideMaster150.xml" ContentType="application/vnd.openxmlformats-officedocument.presentationml.slideMaster+xml"/>
  <Override PartName="/ppt/slides/slide150.xml" ContentType="application/vnd.openxmlformats-officedocument.presentationml.slide+xml"/>
  <Override PartName="/ppt/slideMasters/slideMaster151.xml" ContentType="application/vnd.openxmlformats-officedocument.presentationml.slideMaster+xml"/>
  <Override PartName="/ppt/slides/slide151.xml" ContentType="application/vnd.openxmlformats-officedocument.presentationml.slide+xml"/>
  <Override PartName="/ppt/slideMasters/slideMaster152.xml" ContentType="application/vnd.openxmlformats-officedocument.presentationml.slideMaster+xml"/>
  <Override PartName="/ppt/slides/slide152.xml" ContentType="application/vnd.openxmlformats-officedocument.presentationml.slide+xml"/>
  <Override PartName="/ppt/slideMasters/slideMaster153.xml" ContentType="application/vnd.openxmlformats-officedocument.presentationml.slideMaster+xml"/>
  <Override PartName="/ppt/slides/slide1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Lst>
  <p:notesMasterIdLst>
    <p:notesMasterId r:id="rId1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notesMaster" Target="notesMasters/notesMaster1.xml"/><Relationship Id="rId156" Type="http://schemas.openxmlformats.org/officeDocument/2006/relationships/presProps" Target="presProps.xml"/><Relationship Id="rId157" Type="http://schemas.openxmlformats.org/officeDocument/2006/relationships/viewProps" Target="viewProps.xml"/><Relationship Id="rId158" Type="http://schemas.openxmlformats.org/officeDocument/2006/relationships/theme" Target="theme/theme1.xml"/><Relationship Id="rId1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_rels/notesSlide1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1.xml"/>
		</Relationships>
</file>

<file path=ppt/notesSlides/_rels/notesSlide1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2.xml"/>
		</Relationships>
</file>

<file path=ppt/notesSlides/_rels/notesSlide1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Yüzükteki elmas ile kurşun kalemin ucu aynı elementten, saf karbondan yapılmıştır. Peki hangisi daha çok enerji taşır? Bir maddenin içindeki enerjiyi tek başına ölçemiyorsak, bir yakıtın ne kadar ısı vereceğini onu hiç yakmadan nasıl bilebiliriz? Dağların yüksekliğini Dünya'nın merkezinden değil, deniz seviyesinden ölçeriz. Kimyacılar da maddelerin entalpisini ortak bir sıfır noktasından ölçer: elementlerin en kararlı hâli. Her bileşiğin bu sıfıra göre “yüksekliği” bir tabloya yazılır ve her tepkimenin ısısı tek bir bağıntıyla bulunur: ΔH° = ΣnΔH°f(ürünler) − ΣnΔH°f(girenler). Anlatım dört basamakta ilerliyor: önce ispirto ocağından, elmastan ve grafitten yola çıkıp sıfır noktasını ve oluşum entalpisini formülsüz kavrayacağız, sonra tabloyu okuyup tepkime entalpisini elementler yoluyla adım adım hesaplayacağız, ardından gram ve litreyle ısı hesabına, ölçülen ısıdan bilinmeyen bir değeri bulmaya ve bağ enerjisiyle karşılaştırmaya geçeceğiz. En sonda kolaydan zora sıralanmış örneklerle hepsini birlikte kullanacağız.
Kapak görseli: Aynı element, iki farklı hâl. Elmas da grafit de yalnızca karbon atomlarından oluşur; farklı olan atomların diziliş biçimidir. Kurşun kalemin gri çekirdeği de grafitle kilin karışımıdır. 25 °C ve 1 atm'de karbonun en kararlı hâli grafittir; bu yüzden oluşum entalpisi tablolarında sıfır noktası olarak grafit seçilir. Elmas grafitten yalnızca 1,9 kJ/mol daha yüksek entalpidedir, ama oda koşullarında grafite dönüşmesi öylesine yavaştır ki pratikte hiç gerçekleşmez.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Açılış sorusu — sınıfa sorup birkaç cevap alın, sonra konuya geçin.
Yüzükteki elmas ile kurşun kalemin ucu aynı elementten, saf karbondan yapılmıştır. Peki hangisi daha çok enerji taşır? Bir maddenin içindeki enerjiyi tek başına ölçemiyorsak, bir yakıtın ne kadar ısı vereceğini onu hiç yakmadan nasıl bilebiliriz? Dağların yüksekliğini Dünya'nın merkezinden değil, deniz seviyesinden ölçeriz. Kimyacılar da maddelerin entalpisini ortak bir sıfır noktasından ölçer: elementlerin en kararlı hâli. Her bileşiğin bu sıfıra göre “yüksekliği” bir tabloya yazılır ve her tepkimenin ısısı tek bir bağıntıyla bulunur: ΔH° = ΣnΔH°f(ürünler) − ΣnΔH°f(girenler). Anlatım dört basamakta ilerliyor: önce ispirto ocağından, elmastan ve grafitten yola çıkıp sıfır noktasını ve oluşum entalpisini formülsüz kavrayacağız, sonra tabloyu okuyup tepkime entalpisini elementler yoluyla adım adım hesaplayacağız, ardından gram ve litreyle ısı hesabına, ölçülen ısıdan bilinmeyen bir değeri bulmaya ve bağ enerjisiyle karşılaştırmaya geçeceğiz. En sonda kolaydan zora sıralanmış örneklerle hepsini birlikte kullanacağız.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derste:
1. Temel — Önce sezgi: ispirto ocağıyla başla, entalpiyi ölçmek için neden ortak bir sıfır noktası gerektiğini ve oluşum entalpisinin ne anlattığını formülsüz kavra.
   01 Önce gözlemle: ispirto ocağının ısısı nereden gelir?
   02 Neden bir başlangıç noktası gerekir?
   03 Standart koşullar ve elementlerin sıfır noktası
   04 Standart oluşum entalpisi
2. Orta — Bağıntılar: oluşum entalpileri tablosunu oku, tepkime entalpisini elementler yoluyla adım adım çıkar, etanolle uygula ve fiziksel hâlin farkını gör.
   05 Oluşum entalpileri tablosu
   06 Tepkime entalpisini hesaplamak
   07 Adım adım: etanolün yanması
   08 Fiziksel hâl ΔH°f'yi değiştirir
   09 Sayılarla hisset: bir tablo, bütün yakıtlar
3. İleri — Derinleşme: gram ve litreyle ısı hesabı, ölçülen ısıdan bilinmeyen ΔH°f'yi bulmak, bağ enerjisiyle karşılaştırma ve oluşum entalpisinin gerçek hayattaki yeri.
   10 Miktar hesapları: mol, gram, litre
   11 Geri hesap: bilinmeyen ΔH°f
   12 İki yöntem: bağ enerjisi mi, oluşum entalpisi mi?
   13 Oluşum entalpisi gerçek dünyada
4. Pekiştir — Kolaydan zora çözümlü örnekler ve oluşum entalpisi sorularında puan kaybettiren klasik hatalar.
   14 Çözümlü örnekler
   15 Sık yapılan hatalar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hatırlayalım:
• Entalpi (H): bir maddenin sabit basınçta taşıdığı ısı içeriği. Tek başına ölçülemez; ölçülen, tepkimedeki değişimidir: ΔH = H(ürünler) − H(girenler).
• Ekzotermik ve endotermik: ısı veren olayda ΔH &lt; 0, ısı alan olayda ΔH &gt; 0 olur. Yanan odun ekzotermik, eriyen buz endotermiktir.
• Mol: 6,02·10²³ taneciklik madde miktarı. Kütleden mol sayısı n = m / M ile bulunur: 18 g su 1 moldür.
Her maddeyi sınıfa sorarak hatırlatın.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hatırlayalım:
• Element ve bileşik: element tek tür atomdan oluşur (O₂, Fe, C); bileşikte birden çok element birleşmiştir (H₂O, CO₂).
• Hâl simgeleri: (k) katı, (s) sıvı, (g) gaz. H₂O(s) sıvı su, H₂O(g) su buharıdır.
• Katsayılar: 2H₂(g) + O₂(g) → 2H₂O(s) denklemindeki 2, 1, 2 sayıları mol oranını verir. Katsayılar iki katına çıkınca ΔH de iki katına çıkar.
Her maddeyi sınıfa sorarak hatırlatın.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1 — Temel: Önce sezgi: ispirto ocağıyla başla, entalpiyi ölçmek için neden ortak bir sıfır noktası gerektiğini ve oluşum entalpisinin ne anlattığını formülsüz kavra.
01 Önce gözlemle: ispirto ocağının ısısı nereden gelir?
02 Neden bir başlangıç noktası gerekir?
03 Standart koşullar ve elementlerin sıfır noktası
04 Standart oluşum entalpisi
Görsel: İspirto ocağı beherdeki suyu ısıtıyor. Fitilden yükselen etanol buharı havanın oksijeniyle yanar; karbondioksit ve su buharı oluşur. Termometrenin yükselişi, açığa çıkan ısının suya geçen kısmını gösterir; ısının bir bölümü alevin çevresindeki havaya kaçar. Beherin dibindeki küçük kabarcıklar, ısınan sudan ayrılan çözünmüş havadır: kaynama henüz başlamamıştır.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ispirto ocağının ısısı nereden gelir? — adım 1/6
• Okul laboratuvarında beherdeki suyu ısıtmanın en eski yolu ispirto ocağıdır: cam bir haznede ispirto, içinde pamuk bir fitil, ucunda sakin, mavimsi bir alev.
• Ocağı yakıp beherin altına koyduğunda şunları gözlersin: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ispirto ocağının ısısı nereden gelir? — adım 2/6
• Su ısınır: termometre dakikalar içinde yükselir, beherin dibinde küçük kabarcıklar belirir.
• İspirto azalır: ocağı deneyden önce ve sonra tartarsan kütlesinin azaldığını görürsün; ısı, yakıt harcandıkça çıkar.
• Daha çok yakıt, daha çok ısı: iki kat ispirto yakarsan su da yaklaşık iki kat ısı alır.
• Soğuk cam buğulanır: alevin üstüne tutulan soğuk bir cam bardağın içi buğulanır; yanma ürünlerinden biri sudur, öteki karbondioksittir.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ispirto ocağının ısısı nereden gelir? — adım 3/6
• Başka yakıt, başka ısı: aynı kütlede mum ya da doğal gaz yaksaydın suyun sıcaklığı farklı miktarda artardı.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ispirto ocağının ısısı nereden gelir? — adım 4/6
• İspirtonun büyük kısmı etanoldür.
• Etanol havadaki oksijenle yanarken karbondioksit ve su oluşur.
• Isı bu dönüşümden gelir: girenlerin, yani etanol ile oksijenin toplam entalpisi, ürünlerin, yani karbondioksit ile suyun toplam entalpisinden yüksektir.
• Aradaki fark çevreye ısı olarak çıkar; bir kısmı beherdeki suya, kalanı havaya gider.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ispirto ocağının ısısı nereden gelir? — adım 5/6
• Asıl soru şu: bu farkı, yakıtı hiç yakmadan bir tablodan hesaplayabilir miyiz?
• Cevap evet; ama önce entalpiyi ölçmek için bir başlangıç noktası seçmemiz gerekiyor.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ispirto ocağının ısısı nereden gelir? — şekil
Yanmada girenlerin toplam entalpisi ürünlerinkinden yüksektir. Aradaki fark ısı olarak çevreye çıkar ve beherdeki suyu ısıtır. Bu fark yanan yakıtın miktarıyla orantılıdır: iki kat ispirto, iki kat ısı demektir.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İspirto ocağında etanol oksijenle yanıp karbondioksit ve suya dönüşür. Girenlerin entalpisi ürünlerinkinden yüksek olduğu için aradaki fark ısı olarak çıkar; ısı, yanan yakıtın miktarıyla orantılıdır.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İspirto ocağını söndürüp bir hafta sonra yeniden yaksan, 1 gram ispirto yine aynı ısıyı verir mi?
Sınıfa sorun, birkaç tahmin alın; sonra cevap slaytına geçin.
Cevap: Evet. Açığa çıkan ısı yalnızca neyin yandığına ve neyin oluştuğuna bağlıdır: 1 g etanolün tamamen yanması her seferinde aynı farkı verir. Ocağın ne zaman yakıldığı ya da alevin kaç kez söndürüldüğü bu farkı değiştirmez. Değişebilen tek şey, ısının ne kadarının suya, ne kadarının havaya gittiğidir.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Evet. Açığa çıkan ısı yalnızca neyin yandığına ve neyin oluştuğuna bağlıdır: 1 g etanolün tamamen yanması her seferinde aynı farkı verir. Ocağın ne zaman yakıldığı ya da alevin kaç kez söndürüldüğü bu farkı değiştirmez. Değişebilen tek şey, ısının ne kadarının suya, ne kadarının havaya gittiğidir.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Neden bir başlangıç noktası gerekir? — adım 1/5
• Bir dağın yüksekliğini nasıl söylersin?
• “Ağrı Dağı 5137 m'dir” derken yüksekliği Dünya'nın merkezinden değil, deniz seviyesinden ölçersin.
• Deniz seviyesi doğanın verdiği bir sıfır değildir; herkesin anlaştığı ortak bir başlangıçtır.
• Bu anlaşma sayesinde iki dağın yükseklik farkını tek bir çıkarma işlemiyle bulursun: Ağrı ile Erciyes arasındaki fark 5137 − 3917 = 1220 m'dir.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Neden bir başlangıç noktası gerekir? — adım 2/5
• Lut Gölü'nün kıyısı gibi deniz seviyesinin altında kalan yerler ise eksi işaretli bir yükseklik alır.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Neden bir başlangıç noktası gerekir? — adım 3/5
• Maddelerin entalpisinde de aynı durumla karşılaşırız.
• Bir maddenin mutlak entalpisi, yani içinde sakladığı enerjinin tamamı ölçülemez: atomlarının, elektronlarının ve çekirdeklerinin bütün enerjisini sayacak bir alet yoktur.
• Kalorimetre yalnızca bir değişimi, yani bir tepkimede alınan ya da verilen ısıyı ölçer.
• Bu yüzden kimyacılar da bir “deniz seviyesi” seçmiştir: elementlerin en kararlı hâllerinin entalpisi sıfır kabul edilir.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Neden bir başlangıç noktası gerekir? — adım 4/5
• Bir bileşiğin bu sıfıra göre yüksekliği ölçülebilir, çünkü bileşik elementlerinden oluşurken alınan ya da verilen ısı ölçülebilir.
• Seçim keyfîdir ama sonuçları değiştirmez: iki dağ arasındaki fark, sıfırı nereye koyduğuna bağlı değildir.
• Tepkimelerde de bize gereken zaten bir farktır: ΔH.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Neden bir başlangıç noktası gerekir? — şekil
Solda yükseklikler deniz seviyesinden, sağda entalpiler elementlerin en kararlı hâlinden ölçülüyor. İki ölçekte de sıfır bir anlaşmadır; önemli olan farklardır. Sıfırın altındaki bileşikler elementlerinden oluşurken ısı verir, üstündekiler ısı alır. İki panelin ölçekleri ayrıdır; her panel kendi içinde orantılıdır.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Bir maddenin mutlak entalpisi ölçülemez, yalnızca değişimi ölçülür. Bu yüzden deniz seviyesi gibi ortak bir sıfır seçilir: elementlerin en kararlı hâllerinin entalpisi sıfır kabul edilir.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Dağların yüksekliğini deniz seviyesi yerine Dünya'nın merkezinden ölçseydik, iki dağ arasındaki yükseklik farkı değişir miydi?
Sınıfa sorun, birkaç tahmin alın; sonra cevap slaytına geçin.
Cevap: Hayır. İki dağın yüksekliğine de aynı sayı, yani Dünya'nın yarıçapı eklenirdi; fark aynı kalırdı. Entalpide sıfır noktasını başka bir yere koysaydık her maddenin değeri, içindeki atomlara göre bir miktar kayardı. Tepkimede atomlar korunduğu için girenler ve ürünler aynı toplam kadar kayar; tepkimelerin ΔH'si hiç değişmezdi.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Hayır. İki dağın yüksekliğine de aynı sayı, yani Dünya'nın yarıçapı eklenirdi; fark aynı kalırdı. Entalpide sıfır noktasını başka bir yere koysaydık her maddenin değeri, içindeki atomlara göre bir miktar kayardı. Tepkimede atomlar korunduğu için girenler ve ürünler aynı toplam kadar kayar; tepkimelerin ΔH'si hiç değişmezdi.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Standart koşullar ve elementlerin sıfır noktası — adım 1/5
• Bir maddenin entalpisi sıcaklığa ve basınca bağlıdır; değerleri karşılaştırabilmek için koşullar da ortak seçilir.
• Kimyada standart koşullar 25 °C ve 1 atm'dir.
• Bu koşullardaki değerler bir derece işaretiyle gösterilir: ΔH°.
• Bunu, gaz hacmi hesaplarında kullandığın normal koşullarla (0 °C ve 1 atm) karıştırma.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Standart koşullar ve elementlerin sıfır noktası — adım 2/5
• Sıfır noktası, her elementin standart koşullardaki en kararlı hâlidir.
• Bir element birden çok biçimde bulunabilir; sıfırı yalnızca en kararlı olanı alır: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Standart koşullar ve elementlerin sıfır noktası — adım 3/5
• Karbon: grafit 0, elmas +1,9 kJ/mol. İkisi de saf karbondur ama grafit daha kararlıdır.
• Oksijen: O₂(g) 0; ozon O₃(g) +142,7 kJ/mol, tek tek O atomları +249,2 kJ/mol.
• Brom ve iyot: 25 °C'de brom sıvı, iyot katıdır. Br₂(s) ve I₂(k) sıfırdır; Br₂(g) +30,9, I₂(g) +62,4 kJ/mol.
• Hidrojen ve diğer gazlar: H₂(g), N₂(g), Cl₂(g) sıfırdır; atom hâlleri, örneğin H(g) +218,0 kJ/mol, sıfır değildir.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Standart koşullar ve elementlerin sıfır noktası — adım 4/5
• Metaller: Na, Mg, Al, Fe ve Cu katı hâlde sıfırdır; cıva oda sıcaklığında sıvı olduğu için Hg(s) sıfırdır.
• Atom hâllerinin değerleri bir önceki konudan tanıdık gelmeli.
• H–H bağ enerjisi 436 kJ/mol'dür ve 1 mol H₂ molekülü kırılınca 2 mol H atomu oluşur.
• 1 mol H atomuna 436 / 2 = 218 kJ düşer; tablodaki +218,0 tam olarak budur.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Standart koşullar ve elementlerin sıfır noktası — şekil
Her satırda solda elementin en kararlı hâli (sıfır), sağda aynı elementin başka bir hâli var. Çubuklar değerlerle orantılı: elmasın grafitten farkı o kadar küçük ki çubuğu bir çizgi kadar kalıyor, ama sıfır değildir. Atom hâline geçmek bağ kırmayı gerektirdiği için en büyük değer atomdadır.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Standart koşullar 25 °C ve 1 atm'dir. Her elementin bu koşullardaki en kararlı hâlinin oluşum entalpisi sıfırdır: grafit, O₂(g) ve Br₂(s) sıfır; elmas, O₃(g), Br₂(g) ve H(g) sıfır değildir.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Elmas grafitten daha yüksek entalpideyse elmaslar neden kendiliğinden grafite dönüşmüyor?
Sınıfa sorun, birkaç tahmin alın; sonra cevap slaytına geçin.
Cevap: Dönüşüm enerji bakımından mümkündür ama son derece yavaştır. Elmastaki güçlü C–C bağlarının kopup grafitin katmanlarına yeniden dizilmesi için çok yüksek bir enerji engeli aşılmalıdır; oda sıcaklığında bu, milyonlarca yılda bile fark edilmez. Bir tepkimenin ısı vermesi, hızlı olacağı anlamına gelmez. Bunu bir sonraki ünitede, tepkime hızında göreceksin.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Dönüşüm enerji bakımından mümkündür ama son derece yavaştır. Elmastaki güçlü C–C bağlarının kopup grafitin katmanlarına yeniden dizilmesi için çok yüksek bir enerji engeli aşılmalıdır; oda sıcaklığında bu, milyonlarca yılda bile fark edilmez. Bir tepkimenin ısı vermesi, hızlı olacağı anlamına gelmez. Bunu bir sonraki ünitede, tepkime hızında göreceksin.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Standart oluşum entalpisi — adım 1/6
• Sıfır noktasını seçtik; şimdi maddelerin “yüksekliğini” tanımlayalım.
• Standart oluşum entalpisi (ΔH°f), standart koşullarda 1 mol maddenin (bir bileşiğin ya da bir elementin en kararlı olmayan bir hâlinin), elementlerinin en kararlı hâllerinden oluşması sırasındaki entalpi değişimidir.
• Birimi kJ/mol'dür; elmasın +1,9 kJ/mol'lük değeri de C(grafit) → C(elmas) dönüşümünün entalpisidir.
• Tanımın üç şartını suyun oluşum denkleminde görebilirsin:
H₂(g) + ½O₂(g) → H₂O(s)   ΔH°f = −285,8 kJ/mol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Standart oluşum entalpisi — adım 2/6
• 1 mol ürün: denklem tam 1 mol bileşik verecek biçimde yazılır. Bu yüzden katsayılar kesirli olabilir: ½O₂ yarım mol, yani 16 g oksijen demektir.
• Yalnızca elementler: girenler arasında bileşik olamaz. CO(g) + ½O₂(g) → CO₂(g) tepkimesi CO₂'nin oluşum denklemi değildir.
• En kararlı hâller: karbon için grafit, oksijen için O₂(g) yazılır; elmas ya da O atomu kullanılmaz.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Standart oluşum entalpisi — şekil
Molekül sayarken 1 N₂ ve 3 H₂ birleşip 2 NH₃ verir. Oluşum denklemi 1 mol ürün için yazıldığından bütün katsayılar ikiye bölünür. Yarım mol tuhaf görünse de gerçek bir miktardır: ½ mol N₂ 14 g, 3/2 mol H₂ 3 g eder ve toplam 17 g, yani tam 1 mol NH₃ oluşur.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Standart oluşum entalpisi — adım 4/6
• İşaretin anlamı. ΔH°f eksiyse bileşik elementlerinden oluşurken ısı verir ve elementlerinden daha düşük entalpidedir; enerji bakımından elementlerine göre daha kararlıdır.
• Su (−285,8), karbondioksit (−393,5) ve amonyak (−46,1) böyledir. ΔH°f artıysa bileşik oluşurken ısı alır ve elementlerinden yukarıda durur: azot monoksit (+90,3), etilen (+52,3) ve asetilen (+226,7) elementlerine göre daha az kararlıdır.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Standart oluşum entalpisi — adım 5/6
• Isıyı denklemin içinde göstermek istersen ekzotermik oluşumda ürünler tarafına, endotermik oluşumda girenler tarafına yazarsın:
H₂(g) + ½O₂(g)   → H₂O(s) + 285,8 kJ
½N₂(g) + ½O₂(g) + 90,3 kJ   → NO(g)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Standart oluşum entalpisi — şekil
Sıfır çizgisi elementlerdir. Oluşum entalpisi artı olan NO yukarıda, eksi olan HCl ile CO₂ aşağıda durur. NO ile HCl'nin değerleri neredeyse aynı büyüklükte ama işaretleri zıttır: biri oluşurken 90 kJ alır, öteki 92 kJ verir. Ok boyları değerlerle orantılıdır.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ΔH°f, 1 mol maddenin (bileşiğin ya da elementin en kararlı olmayan bir hâlinin) elementlerinin en kararlı hâllerinden oluşurken entalpi değişimidir; katsayılar kesirli olabilir. Eksi değer sıfır noktasından daha kararlı, artı değer daha az kararlı bir madde demektir.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Suyun oluşum entalpisi −285,8 kJ/mol ise 1 mol suyu elementlerine ayırmak için ne gerekir?
Sınıfa sorun, birkaç tahmin alın; sonra cevap slaytına geçin.
Cevap: Ters tepkime aynı miktarda ısıyı ters yönde ister: H₂O(s) → H₂(g) + ½O₂(g) için ΔH = +285,8 kJ. Suyu elektrolizle hidrojene ve oksijene ayırmanın bu kadar çok enerji istemesi bundandır.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Ters tepkime aynı miktarda ısıyı ters yönde ister: H₂O(s) → H₂(g) + ½O₂(g) için ΔH = +285,8 kJ. Suyu elektrolizle hidrojene ve oksijene ayırmanın bu kadar çok enerji istemesi bundandır.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2 — Orta: Bağıntılar: oluşum entalpileri tablosunu oku, tepkime entalpisini elementler yoluyla adım adım çıkar, etanolle uygula ve fiziksel hâlin farkını gör.
05 Oluşum entalpileri tablosu
06 Tepkime entalpisini hesaplamak
07 Adım adım: etanolün yanması
08 Fiziksel hâl ΔH°f'yi değiştirir
09 Sayılarla hisset: bir tablo, bütün yakıtlar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Oluşum entalpileri tablosu — adım 1/7
• Oluşum entalpileri ölçülüp tablolara yazılmıştır; bir kimyacı için bu tablo, dağların yüksekliklerini gösteren bir harita gibidir.
• Aşağıdaki değerler 25 °C ve 1 atm içindir.
• Bu konudaki hesaplarda bileşiklerin değerleri bu tablodan alınacak: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Oluşum entalpileri tablosu — adım 2/7
Madde | ΔH°f (kJ/mol) | Madde | ΔH°f (kJ/mol)
H₂O(k) | −291,8 | C₆H₁₂O₆(k) | −1274
H₂O(s) | −285,8 | NH₃(g) | −46,1
H₂O(g) | −241,8 | NO(g) | +90,3
CO₂(g) | −393,5 | NO₂(g) | +33,2
CO(g) | −110,5 | HCl(g) | −92,3
CH₄(g) | −74,8 | SO₂(g) | −296,8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Oluşum entalpileri tablosu — adım 3/7
Madde | ΔH°f (kJ/mol) | Madde | ΔH°f (kJ/mol)
C₂H₆(g) | −84,7 | SO₃(g) | −395,7
C₂H₄(g) | +52,3 | CaCO₃(k) | −1206,9
C₂H₂(g) | +226,7 | CaO(k) | −635,1
C₃H₈(g) | −103,8 | Ca(OH)₂(k) | −986,1
C₄H₁₀(g) | −125,6 | Fe₂O₃(k) | −824,2
C₂H₅OH(s) | −277,7 | Al₂O₃(k) | −1675,7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Oluşum entalpileri tablosu — adım 4/7
• Tabloyu okurken üç şeye dikkat et:
• Değerler 1 mol içindir: −393,5 kJ/mol, 1 mol (44 g) CO₂ oluşurken açığa çıkan ısıyı söyler. 2 mol için iki katını alırsın.
• Hâl simgesi değerin parçasıdır: H₂O(s) ile H₂O(g) ayrı satırlardır ve değerleri farklıdır.
• Kararlı elementler tabloda yoktur: O₂(g), H₂(g), C(grafit), Fe(k) gibi elementlerin değeri sıfırdır; yazılmaz ama hesapta sıfır olarak yer alır.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Oluşum entalpileri tablosu — adım 5/7
• Tablodan bir düzen de okunur.
• Metal oksitlerinin değerleri büyük eksi sayılardır: Al₂O₃ −1675,7, Fe₂O₃ −824,2, CaO −635,1.
• Bu maddeler elementlerinden oluşurken çok ısı vermiştir ve kolay kolay ayrışmaz.
• Azot oksitleri (NO, NO₂) ise sıfırın üstündedir.
• Küçük hidrokarbonlar sıfıra yakındır, bazıları sıfırın üstündedir.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Oluşum entalpileri tablosu — adım 6/7
• İyi bir yakıtın sırrı buradadır: yakıt sıfıra yakın ya da sıfırın üstünde durur, yanma ürünleri olan CO₂ ve H₂O ise çok aşağıdadır.
• Düşüş ne kadar büyükse açığa çıkan ısı o kadar çoktur.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Oluşum entalpileri tablosu — şekil
Çubuklar oluşum entalpilerini aynı ölçekte gösteriyor. Soldakiler elementlerinden oluşurken ısı verir; sağdakiler (etilen, azot monoksit, asetilen) ısı alır ve elementlerine göre daha az kararlıdır. Yakıt olan metan sıfıra yakın, yanma ürünleri CO₂ ve H₂O ise en solda durur: yanmanın ısısı bu farktan gelir.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Oluşum entalpileri 25 °C ve 1 atm'de 1 mol madde için tablolanır; hâl simgesi değerin parçasıdır, kararlı elementler sıfırdır. İyi yakıtlar sıfıra yakın, yanma ürünleri CO₂ ve H₂O ise çok aşağıdadır.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Tepkime entalpisini hesaplamak — adım 1/5
• Elimizde bir tablo var; bir tepkimenin ΔH°'sini nasıl buluruz?
• Fikir şu: tepkimenin gerçekte hangi yoldan yürüdüğünü bilmesek de onu hayalî iki adımda düşünebiliriz.
• Entalpi, dağdaki yükseklik gibi yalnızca bulunulan yere bağlıdır; hangi yoldan gidildiği farkı değiştirmez.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Tepkime entalpisini hesaplamak — adım 2/5
• Girenleri elementlerine ayır. Bu adım oluşumun tersidir; ΔH'si −ΣnΔH°f(girenler) olur.
• Elementlerden ürünleri kur. Bu adımın ΔH'si +ΣnΔH°f(ürünler) olur.
• İki adımı topla. Elementler arada sadeleşir; geriye ürünler ile girenlerin farkı kalır.
ΔH° = ΣnΔH°f(ürünler)   − ΣnΔH°f(girenler)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Tepkime entalpisini hesaplamak — adım 3/5
Formüldeki harfler ne anlama geliyor?
Sembol | Anlamı | Birimi
ΔH° | standart tepkime entalpisi: denklemde yazılan miktarlar tepkiyince alınan ya da verilen ısı | kJ
ΔH°f | bir maddenin standart oluşum entalpisi; tablodan okunur | kJ/mol
n | maddenin denklemdeki katsayısı | mol
Σ | “topla” işareti: bütün ürünlerin ya da bütün girenlerin n·ΔH°f değerleri toplanır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Tepkime entalpisini hesaplamak — adım 4/5
• Birim kontrolü: mol × kJ/mol = kJ.
• Bir örnekle bak: 2CO(g) + O₂(g) → 2CO₂(g).
• Girenlerin toplamı 2·(−110,5) + 1·0 = −221 kJ, ürünlerinki 2·(−393,5) = −787 kJ'dir.
• Birinci adımda girenleri elementlerine ayırmak 221 kJ ister; ikinci adımda elementlerden ürünleri kurmak 787 kJ verir.
• Net sonuç ΔH° = −787 − (−221) = −566 kJ; tepkime ekzotermiktir.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Tepkime entalpisini hesaplamak — şekil
Tepkimeyi elementler üzerinden giden hayalî bir yol olarak düşün: önce girenleri elementlerine ayır (mavi ok, +221 kJ), sonra elementlerden ürünleri kur (yeşil ok, −787 kJ). İki adımın toplamı, girenlerden ürünlere doğrudan inen sarı oka eşittir: ΔH° = −566 kJ. Ok boyları değerlerle orantılıdır.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Tepkimeyi hayalî iki adımda düşün: girenleri elementlerine ayır, elementlerden ürünleri kur. Toplamı ΔH° = ΣnΔH°f(ürünler) − ΣnΔH°f(girenler) verir; birim mol × kJ/mol = kJ olur.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Tepkime gerçekte önce elementlerine ayrılıp sonra yeniden birleşmiyorsa, bu hayalî yol neden doğru sonucu verir?
Sınıfa sorun, birkaç tahmin alın; sonra cevap slaytına geçin.
Cevap: Çünkü entalpi bir hâl fonksiyonudur: değeri yalnızca maddenin o anki durumuna bağlıdır, oraya nasıl gelindiğine bağlı değildir. İki şehir arasındaki yükseklik farkı da hangi yoldan gittiğine bağlı değildir. Başlangıç (girenler) ve son (ürünler) aynı kaldıkça hangi yolu hayal edersek edelim fark aynı çıkar.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Çünkü entalpi bir hâl fonksiyonudur: değeri yalnızca maddenin o anki durumuna bağlıdır, oraya nasıl gelindiğine bağlı değildir. İki şehir arasındaki yükseklik farkı da hangi yoldan gittiğine bağlı değildir. Başlangıç (girenler) ve son (ürünler) aynı kaldıkça hangi yolu hayal edersek edelim fark aynı çıkar.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Adım adım: etanolün yanması — adım 1/5
• Bağıntıyı ispirto ocağındaki yakıta, etanole uygulayalım.
• Su sıvı olarak oluşsun:
C₂H₅OH(s) + 3O₂(g)   → 2CO₂(g) + 3H₂O(s)
• Önce denklemin denk olduğunu denetle: solda 2 C, 6 H ve 1 + 6 = 7 O; sağda 2 C, 6 H ve 4 + 3 = 7 O var.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Adım adım: etanolün yanması — adım 2/5
• Sonra her madde için katsayıyı tablodaki değerle çarpan bir tablo kur:
Madde | n (mol) | ΔH°f (kJ/mol) | n·ΔH°f (kJ)
C₂H₅OH(s) | 1 | −277,7 | −277,7
O₂(g) | 3 | 0 | 0
CO₂(g) | 2 | −393,5 | −787,0
H₂O(s) | 3 | −285,8 | −857,4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Adım adım: etanolün yanması — adım 3/5
• Girenler: Σ = −277,7 + 0 = −277,7 kJ.
• Ürünler: Σ = −787,0 + (−857,4) = −1644,4 kJ.
• Fark: ΔH° = −1644,4 − (−277,7) = −1644,4 + 277,7 = −1366,7 kJ.
• Yorum: 1 mol (46 g) etanol yanınca 1366,7 kJ ısı açığa çıkar; tepkime ekzotermiktir.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Adım adım: etanolün yanması — şekil
Her molekülün altında katsayı × oluşum entalpisi yazıyor. Oksijen element olduğu için katkısı sıfırdır. Girenler ve ürünler ayrı ayrı toplanır, sonra ürünlerden girenler çıkarılır. Modellerdeki atomları katsayılarla çarparak sayarsan iki yanda da 2 C, 6 H ve 7 O atomu bulursun.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Adım adım: etanolün yanması — adım 5/5
• Bu hesapta en sık yapılan hata, son adımdaki çift eksidir: −(−277,7) = +277,7.
• Etanolün oluşum entalpisi eksi olduğu için onu elementlerine ayırmak ısı ister; bu yüzden sonucun büyüklüğü ürünlerin toplamınınkinden 277,7 kJ az çıkar (1644,4 yerine 1366,7).
• Sayfanın 01 numaralı laboratuvarında C₂H₅OH yanma düğmesini seçip Yolu göster'e bas; bu iki adımı ok ok izleyebilirsin.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Hesap için bir tablo kur: her maddenin katsayısını ΔH°f ile çarp, ürünleri ve girenleri ayrı topla, farkı al. Etanolün yanması (su sıvı) için ΔH° = −1644,4 − (−277,7) = −1366,7 kJ çıkar.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Fiziksel hâl ΔH°f'yi değiştirir — adım 1/5
• Su üç hâlde bulunabilir ve her hâlin oluşum entalpisi farklıdır:
Hâl | Oluşum denklemi | ΔH°f (kJ/mol)
Buz | H₂(g) + ½O₂(g) → H₂O(k) | −291,8
Sıvı su | H₂(g) + ½O₂(g) → H₂O(s) | −285,8
Su buharı | H₂(g) + ½O₂(g) → H₂O(g) | −241,8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Fiziksel hâl ΔH°f'yi değiştirir — adım 2/5
• Neden farklı?
• Buharda moleküller birbirinden uzaktır.
• Sıvıda ve buzda ise moleküller birbirini çeker ve bu çekim kurulurken ısı açığa çıkar.
• Bu yüzden aynı elementlerden buz oluşurken en çok, buhar oluşurken en az ısı açığa çıkar.
• Aradaki farklar tanıdık hâl değişimi ısılarıdır: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Fiziksel hâl ΔH°f'yi değiştirir — adım 3/5
• Buharlaşma: H₂O(s) → H₂O(g) için ΔH = −241,8 − (−285,8) = +44,0 kJ/mol (25 °C'de).
• Erime: H₂O(k) → H₂O(s) için ΔH = −285,8 − (−291,8) = +6,0 kJ/mol.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Fiziksel hâl ΔH°f'yi değiştirir — adım 4/5
• Bu fark yanma hesaplarına doğrudan yansır.
• Metan yanarken su sıvı oluşursa ΔH° = −890,3 kJ, buhar oluşursa −802,3 kJ'dir.
• Aradaki 88,0 kJ, 2 mol suyun buharlaşma ısısıdır (2 · 44,0).
• Bu yüzden hesaplarda hâl simgesi asla atlanmaz: soruda ürün buharsa tablodan H₂O(g) satırını alırsın.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Fiziksel hâl ΔH°f'yi değiştirir — şekil
Solda tam ölçek: suyun üç hâli de elementlerin çok altında ve birbirine çok yakın. Sağda aynı bölge 4 kat büyütülmüş: buhar sıvıya yoğuşurken 44,0 kJ/mol, sıvı donarken 6,0 kJ/mol daha ısı açığa çıkar. Bu yüzden buz, elementlerine göre en aşağıdaki, yani en düşük entalpili hâldir.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Aynı bileşiğin her hâlinin ΔH°f'si farklıdır: H₂O(k) −291,8, H₂O(s) −285,8, H₂O(g) −241,8 kJ/mol. Farklar hâl değişimi ısılarıdır; metanın yanmasında su buhar olursa ısı 88 kJ azalır.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Yoğuşmalı kombiler aynı ısıyı neden daha az doğal gazla sağlar?
Sınıfa sorun, birkaç tahmin alın; sonra cevap slaytına geçin.
Cevap: Doğal gazın, yani metanın yanmasında oluşan su sıradan bir kombide bacadan buhar olarak gider ve 1 mol metan başına 88 kJ'lik buharlaşma ısısını da yanında götürür. Yoğuşmalı kombi baca gazını soğutup bu buharı suya yoğuşturur ve açığa çıkan ısıyı ısıtma suyuna aktarır. Böylece 802 kJ yerine 890 kJ'ye yaklaşan bir ısıdan yararlanır; kullanılabilen ısı yaklaşık %11 artar.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Doğal gazın, yani metanın yanmasında oluşan su sıradan bir kombide bacadan buhar olarak gider ve 1 mol metan başına 88 kJ'lik buharlaşma ısısını da yanında götürür. Yoğuşmalı kombi baca gazını soğutup bu buharı suya yoğuşturur ve açığa çıkan ısıyı ısıtma suyuna aktarır. Böylece 802 kJ yerine 890 kJ'ye yaklaşan bir ısıdan yararlanır; kullanılabilen ısı yaklaşık %11 artar.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bir tablo, bütün yakıtlar — adım 1/6
• Oluşum entalpileri tablosundaki bir avuç sayıdan bütün yakıtların yanma ısısı çıkar.
• Aşağıdaki her satır, etanol için yaptığımız hesabın aynısıdır (su sıvı oluşuyor; mol kütleleri H 1, C 12, O 16 g/mol):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bir tablo, bütün yakıtlar — adım 2/6
Yakıt | ΔH°f (kJ/mol) | Yanma ΔH° (kJ/mol) | 1 g için (kJ)
Hidrojen H₂ | 0 | −285,8 | 142,9
Metan CH₄ | −74,8 | −890,3 | 55,6
Propan C₃H₈ | −103,8 | −2219,9 | 50,5
Grafit C | 0 | −393,5 | 32,8
Etanol C₂H₅OH | −277,7 | −1366,7 | 29,7
Glikoz C₆H₁₂O₆ | −1274 | −2801,8 | 15,6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bir tablo, bütün yakıtlar — adım 3/6
• Bu sayıları gündelik bir işe bağlayalım.
• 1 L suyu 20 °C'den 100 °C'ye ısıtmak için q = m·c·ΔT = 1000 g · 4,18 J/(g·°C) · 80 °C ≈ 334 kJ gerekir.
• Isının tamamı suya geçseydi bunun için yaklaşık 2,3 g hidrojen, 6,0 g metan ya da 11,3 g etanol yeterdi.
• İspirto ocağında ısının çoğu havaya kaçtığı için gerçekte bunun birkaç katı ispirto yanar.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bir tablo, bütün yakıtlar — adım 4/6
• Tablodan dört düzen okunur:
• Hidrojen gram başına açık ara öndedir: molekülü çok hafif olduğu için 1 g'ı, metanın 2,5 katından fazla ısı verir.
• Hidrojenin yanma entalpisi, H₂O(s)'nin oluşum entalpisine eşittir (−285,8 kJ): H₂(g) + ½O₂(g) → H₂O(s) aynı denklemdir. Grafitin yanma entalpisi de CO₂'nin oluşum entalpisidir (−393,5 kJ).
• Oksijen taşıyan yakıt daha az ısı verir: etanol ve glikoz kısmen “yanmış” sayılır; ΔH°f'leri daha aşağıdan başlar.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bir tablo, bütün yakıtlar — adım 5/6
• Mol başına büyük, gram başına küçük olabilir: 1 mol glikoz metanın üç katından çok ısı verir, ama 1 g glikoz metanın üçte birinden az ısı verir.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bir tablo, bütün yakıtlar — şekil
Gram başına karşılaştırınca hidrojen açık ara öndedir; metan ile propan birbirine yakındır, grafit ile etanol onların yarısından biraz fazlasını verir. Molekülünde oksijen taşıyan glikoz en arkadadır. Bütün bu sayılar, yanma tepkimeleri tek tek ölçülmeden oluşum entalpileri tablosundan hesaplandı.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Bir avuç ΔH°f değerinden bütün yakıtların yanma ısısı hesaplanır. Gram başına hidrojen (142,9 kJ/g) en öndedir; oksijen taşıyan etanol (29,7 kJ/g) ve glikoz (15,6 kJ/g) daha az ısı verir.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3 — İleri: Derinleşme: gram ve litreyle ısı hesabı, ölçülen ısıdan bilinmeyen ΔH°f'yi bulmak, bağ enerjisiyle karşılaştırma ve oluşum entalpisinin gerçek hayattaki yeri.
10 Miktar hesapları: mol, gram, litre
11 Geri hesap: bilinmeyen ΔH°f
12 İki yöntem: bağ enerjisi mi, oluşum entalpisi mi?
13 Oluşum entalpisi gerçek dünyada
Görsel: Termit kaynağıyla ray birleştirme. Potada alüminyum tozu demir(III) oksitle tepkimeye girer; ürünler demir ve alüminyum oksittir. Al₂O₃'ün oluşum entalpisi (−1675,7 kJ/mol), Fe₂O₃'ünkinden (−824,2 kJ/mol) çok daha aşağıda olduğu için 1 mol Fe₂O₃ başına 851,5 kJ ısı açığa çıkar. Bu ısı oluşan demiri eritir; erimiş demir kalıba akıp iki rayın arasındaki boşluğu doldurur, hafif alüminyum oksit cürufu ise üstte yüzer.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Miktar hesapları: mol, gram, litre — adım 1/5
• Hesapladığın ΔH°, denklemde yazılan miktarlar için geçerlidir.
• Propanın yanmasına bak:
C₃H₈(g) + 5O₂(g)   → 3CO₂(g) + 4H₂O(s)   ΔH° = −2219,9 kJ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Miktar hesapları: mol, gram, litre — adım 2/5
• Bu tek sayı aynı anda dört şey söyler: 1 mol propan yandığında, 5 mol oksijen harcandığında, 3 mol CO₂ ya da 4 mol su oluştuğunda 2219,9 kJ ısı açığa çıkar.
• Soruda hangi madde verilirse verilsin önce onun mol sayısını bulursun, sonra katsayısıyla oranlarsın:
n = m / M   n = V / 22,4 (NK'da gaz)   Q = (n / katsayı) · |ΔH°|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Miktar hesapları: mol, gram, litre — adım 3/5
• Gramla: 11 g propan → n = 11 / 44 = 0,25 mol → Q = 0,25 · 2219,9 ≈ 555 kJ.
• Litreyle: NK'da 33,6 L CO₂ oluşmuşsa n(CO₂) = 33,6 / 22,4 = 1,5 mol'dür; katsayı 3 olduğundan 1,5 / 3 = 0,5 “denklem kadar” tepkime olmuştur → Q = 0,5 · 2219,9 ≈ 1110 kJ.
• Tersten: 4439,8 kJ ısı için 4439,8 / 2219,9 = 2 mol, yani 2 · 44 = 88 g propan yakılmalıdır.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Miktar hesapları: mol, gram, litre — adım 4/5
• Q bir ısı miktarıdır ve artı yazılır: “tepkimede 555 kJ ısı açığa çıkar” denir.
• Isının yönünü ΔH'nin işareti söyler.
• Normal koşullar (0 °C, 1 atm) yalnızca gaz hacmini mole çevirmek için kullanılır; ΔH° değerleri yine 25 °C'ye aittir.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Miktar hesapları: mol, gram, litre — şekil
Isı hesabının yolu hep molden geçer: gramı mol kütlesine, NK'daki gaz hacmini 22,4'e bölerek mole çevir, sonra katsayıyla oranlayıp |ΔH°| ile çarp. 11 g propan da NK'da 5,6 L propan da 0,25 mol eder ve aynı ısıyı, yaklaşık 555 kJ'yi verir. Isı verilip kütle sorulursa aynı yolu tersinden yürürsün.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ΔH° denklemde yazılan miktarlar içindir. Verilen gramı (n = m/M) ya da NK'daki litreyi (n = V/22,4) mole çevir, katsayıyla oranla ve |ΔH°| ile çarp. Açığa çıkan ısı artı bir miktar olarak yazılır.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Aynı kütlede elmas ve grafit tamamen yakılırsa hangisi daha çok ısı verir?
Sınıfa sorun, birkaç tahmin alın; sonra cevap slaytına geçin.
Cevap: Elmas. İki yanma da aynı ürünü, CO₂(g)'yi verir; ama elmas yanmaya 1,9 kJ/mol daha yukarıdan başlar. 1 mol elmas için ΔH° = −393,5 − 1,9 = −395,4 kJ, 1 mol grafit için −393,5 kJ olur. Fark küçüktür: 12 g karbonda yalnızca 1,9 kJ.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Elmas. İki yanma da aynı ürünü, CO₂(g)'yi verir; ama elmas yanmaya 1,9 kJ/mol daha yukarıdan başlar. 1 mol elmas için ΔH° = −393,5 − 1,9 = −395,4 kJ, 1 mol grafit için −393,5 kJ olur. Fark küçüktür: 12 g karbonda yalnızca 1,9 kJ.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Geri hesap: bilinmeyen ΔH°f — adım 1/4
• Glikozun oluşum entalpisini nasıl ölçeriz?
• Bir kaba grafit, hidrojen ve oksijen koyup glikoz oluşmasını bekleyemeyiz; bu tepkime laboratuvarda yürümez.
• Ama glikozu yakmak kolaydır.
• Bomba kalorimetresi denen kapalı, sağlam bir kapta 1 mol glikoz tamamen yakılınca 2803 kJ ısı ölçülür. ΔH° bağıntısında bilinmeyen tek bir değer kalırsa onu çözebiliriz:
C₆H₁₂O₆(k) + 6O₂(g)   → 6CO₂(g) + 6H₂O(s)   ΔH° = −2803 kJ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Geri hesap: bilinmeyen ΔH°f — adım 2/4
• Bağıntıyı yaz: −2803 = [6·(−393,5) + 6·(−285,8)] − [x + 6·0]
• Bilinenleri topla: ürünler −2361,0 + (−1714,8) = −4075,8 kJ, yani −2803 = −4075,8 − x
• Bilinmeyeni yalnız bırak: x = −4075,8 + 2803 = −1272,8 ≈ −1273 kJ/mol
• Denetle: tablodaki −1274 kJ/mol ile uyumlu; 1 kJ'lik fark ölçümden gelir.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Geri hesap: bilinmeyen ΔH°f — adım 3/4
• Tablolardaki değerlerin çoğu böyle bulunmuştur: madde yakılır ya da başka bir tepkimeye sokulur, ölçülen ısıdan geriye doğru hesap yapılır.
• Oluşum entalpisi, bileşik elementlerinden hiç oluşturulmasa da tanımlıdır; yalnızca ölçme yolu dolaylıdır.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Geri hesap: bilinmeyen ΔH°f — şekil
Elementlerden ürünlere inen toplam düşüş (yeşil, −4075,8 kJ) iki parçadan oluşur: elementlerden glikoza inen bilinmeyen x (mor) ve glikozun ölçülen yanması (sarı, −2803 kJ). Bütünden bilinen parçayı çıkarınca x ≈ −1273 kJ/mol kalır. Ok boyları değerlerle orantılıdır.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ΔH° bağıntısında tek bilinmeyen kalırsa çözülür. Glikozun ölçülen yanma ısısından (−2803 kJ) ΔH°f = −4075,8 + 2803 ≈ −1273 kJ/mol bulunur; tablolardaki değerlerin çoğu böyle dolaylı ölçülür.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Fotosentezle 1 mol glikoz oluşurken bitki ne kadar enerji depolar?
Sınıfa sorun, birkaç tahmin alın; sonra cevap slaytına geçin.
Cevap: Fotosentez, yanmanın tersidir: 6CO₂(g) + 6H₂O(s) → C₆H₁₂O₆(k) + 6O₂(g) için ΔH° = +2803 kJ. Bitki bu enerjiyi güneş ışığından alır ve glikozda saklar. Sen o glikozu solunumla “yaktığında” aynı enerji geri açığa çıkar.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Fotosentez, yanmanın tersidir: 6CO₂(g) + 6H₂O(s) → C₆H₁₂O₆(k) + 6O₂(g) için ΔH° = +2803 kJ. Bitki bu enerjiyi güneş ışığından alır ve glikozda saklar. Sen o glikozu solunumla “yaktığında” aynı enerji geri açığa çıkar.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İki yöntem: bağ enerjisi mi, oluşum entalpisi mi? — adım 1/6
• Bir önceki konuda tepkime entalpisini bağ enerjileriyle hesaplamıştın.
• İki yöntemin bağıntıları birbirinin aynası gibidir; sıraya dikkat et:
ΔH = ΣE(kırılan) − ΣE(oluşan)   ΔH° = Σ(ürünler) − Σ(girenler)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İki yöntem: bağ enerjisi mi, oluşum entalpisi mi? — adım 2/6
• Bağ enerjisinde girenler önce gelir, çünkü girenlerin bağlarını kırmak enerji ister.
• Oluşum entalpisinde ise ürünler önce gelir.
• İki yöntem bazı tepkimelerde neredeyse aynı sonucu verir, bazılarında ayrılır: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İki yöntem: bağ enerjisi mi, oluşum entalpisi mi? — adım 3/6
Tepkime (hepsi gaz) | Bağ enerjisiyle | ΔH°f ile
H₂ + Cl₂ → 2HCl | −183 kJ | −184,6 kJ
N₂ + 3H₂ → 2NH₃ | −93 kJ | −92,2 kJ
C₂H₄ + H₂ → C₂H₆ | −123 kJ | −137,0 kJ
CH₄ yanması, H₂O(g) | −802 kJ | −802,3 kJ
CH₄ yanması, H₂O(s) | doğrudan bulunamaz | −890,3 kJ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İki yöntem: bağ enerjisi mi, oluşum entalpisi mi? — adım 4/6
• Bağ enerjileri ortalamadır: C–H bağının enerjisi metanda, etanda ve etilende biraz farklıdır; tabloda bir ortalama yazar. C=C, C–C ve C–H değerlerinin hepsi ortalama olduğu için etilen satırında 14 kJ fark çıkar.
• Bağ enerjileri gaz hâli içindir: sıvı ya da katı bir madde varsa moleküller arası çekimler hesaba girmez. Metanın yanmasında su sıvıysa bağ yöntemi 88 kJ eksik kalır.
• ΔH°f değerleri ölçümdür: her madde ve her hâl için ayrı ölçülmüştür; bu yüzden ΔH°f yöntemi daha doğru sonuç verir.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İki yöntem: bağ enerjisi mi, oluşum entalpisi mi? — adım 5/6
• Bağ enerjisinin üstünlüğü: ΔH°f'si bilinmeyen yeni bir molekül için de tahmin verir ve ısının hangi bağlardan geldiğini gösterir.
• İki yöntem atomlarda buluşur: H(g)'nin oluşum entalpisi (+218,0 kJ/mol), H–H bağ enerjisinin (436 kJ/mol) tam yarısıdır.
• O(g) +249,2 ile O=O 498, N(g) +472,7 ile N≡N 945 kJ/mol de aynı ilişkiyi taşır.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İki yöntem: bağ enerjisi mi, oluşum entalpisi mi? — şekil
Mavi çubuklar bağ enerjileriyle, yeşil çubuklar oluşum entalpileriyle hesaplanan ΔH'nin büyüklüğünü (kJ) gösteriyor. Küçük gaz moleküllerinde iki yöntem neredeyse aynı sonucu verir; etilende ortalama bağ enerjisi yüzünden ayrılır. Su sıvı oluştuğunda bağ yöntemi yoğuşma ısısını hiç göremez ve gaz hâlindeki sonuçta kalır.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Bağ enerjisiyle ΔH = Σkırılan − Σoluşan, oluşum entalpisiyle ΔH° = Σürünler − Σgirenler yazılır. Bağ enerjileri gaz hâli için ortalama değerlerdir; ölçülmüş ΔH°f değerleri daha doğru sonuç verir.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Su sıvı oluşan bir yanmada bağ enerjileriyle hesaplanan ısı neden ölçülenden az çıkar?
Sınıfa sorun, birkaç tahmin alın; sonra cevap slaytına geçin.
Cevap: Bağ enerjileri yalnızca gaz hâlindeki moleküllerin bağlarını sayar. Su buharı sıvıya yoğuşurken moleküller arasında yeni çekimler kurulur ve mol başına 44 kJ daha ısı açığa çıkar. Bağ yöntemi bu ısıyı görmez; oluşum entalpisi ise H₂O(s) satırında onu zaten içerir.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Bağ enerjileri yalnızca gaz hâlindeki moleküllerin bağlarını sayar. Su buharı sıvıya yoğuşurken moleküller arasında yeni çekimler kurulur ve mol başına 44 kJ daha ısı açığa çıkar. Bağ yöntemi bu ısıyı görmez; oluşum entalpisi ise H₂O(s) satırında onu zaten içerir.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Oluşum entalpisi gerçek dünyada — adım 1/5
• Oluşum entalpisi tablosu, mühendislerin en pratik araçlarından biridir: bir işlemin ne kadar ısı vereceği ya da isteyeceği, tesis kurulmadan önce kâğıt üzerinde hesaplanır.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Oluşum entalpisi gerçek dünyada — adım 2/5
• Termit kaynağı: Fe₂O₃(k) + 2Al(k) → 2Fe(k) + Al₂O₃(k) için ΔH° = −1675,7 − (−824,2) = −851,5 kJ. Oksijen, onu çok daha sıkı tutan alüminyuma geçer. Açığa çıkan ısı ürünleri yaklaşık 2500 °C'ye kadar ısıtır; demir erir ve sıvı olarak akar.
• Kireç yakma: CaCO₃(k) → CaO(k) + CO₂(g) için ΔH° = −1028,6 − (−1206,9) = +178,3 kJ. Kireç taşından sönmemiş kireç elde etmek sürekli ısı ister; kireç fırınları 900 °C'nin üstünde çalışır. Çimento üretimindeki CO₂ salımının önemli bir kısmı da bu tepkimeden gelir.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Oluşum entalpisi gerçek dünyada — adım 3/5
• Roket yakıtları: hidrojenle oksijenin yanması, H₂(g) + ½O₂(g) → H₂O(g), 1 g hidrojen başına yaklaşık 121 kJ verir ve ürün yalnızca su buharıdır. Katı yakıtlı roketlere alüminyum tozu katılır: Al₂O₃'ün çok eksi oluşum entalpisi büyük bir ısı kaynağıdır.
• Besin etiketleri: bir besinin enerji değeri, kurutulmuş örneği bomba kalorimetresinde yakılarak ölçülür; etiketteki değer, sindirilemeyen kısım düşülerek bu ölçümden hesaplanır.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Oluşum entalpisi gerçek dünyada — adım 4/5
• Bütün bu örneklerin ortak düşüncesi aynıdır: ürünler girenlerden ne kadar aşağıdaysa o kadar ısı çıkar, ne kadar yukarıdaysa o kadar ısı vermek gerekir.
• Termitin ısısı, demirden alüminyuma geçen oksijenin “düştüğü” yükseklikten gelir; kireç yakarken ise CaO ile CO₂'yi CaCO₃'ün üstüne çıkarmak için ısı harcanır.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Oluşum entalpisi gerçek dünyada — şekil
İki diyagram aynı ölçekte. Termitte ürünler girenlerden 851,5 kJ aşağıdadır; ısı o kadar büyüktür ki demir erir. Kireç yakmada ürünler girenlerden 178,3 kJ yukarıdadır; tepkime ancak dışarıdan sürekli ısı verilirse yürür. İki tepkimede de girenler elementlerin çok altındadır; önemli olan girenlerle ürünler arasındaki farktır.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Termit kaynağı (−851,5 kJ), kireç yakma (+178,3 kJ) ve roket yakıtları oluşum entalpisi tablosuyla önceden hesaplanır. Ürünler girenlerden ne kadar aşağıdaysa o kadar ısı çıkar.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Termit karışımı neden kibritle tutuşmaz da magnezyum şeridiyle tutuşturulur?
Sınıfa sorun, birkaç tahmin alın; sonra cevap slaytına geçin.
Cevap: Termit tepkimesi çok ekzotermiktir, ama başlaması için yüksek bir enerji engelinin aşılması gerekir. Kibrit alevi buna yetmez; yanan magnezyum şeridi ise yaklaşık 3000 °C'ye ulaşır. Tepkime bir kez başlayınca açığa çıkan ısı komşu tanecikleri de tutuşturur ve tepkime kendini sürdürür. ΔH ne kadar büyük olursa olsun, tepkimenin başlaması ayrı bir konudur.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Termit tepkimesi çok ekzotermiktir, ama başlaması için yüksek bir enerji engelinin aşılması gerekir. Kibrit alevi buna yetmez; yanan magnezyum şeridi ise yaklaşık 3000 °C'ye ulaşır. Tepkime bir kez başlayınca açığa çıkan ısı komşu tanecikleri de tutuşturur ve tepkime kendini sürdürür. ΔH ne kadar büyük olursa olsun, tepkimenin başlaması ayrı bir konudur.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4 — Pekiştir: Kolaydan zora çözümlü örnekler ve oluşum entalpisi sorularında puan kaybettiren klasik hatalar.
14 Çözümlü örnekler
15 Sık yapılan hatalar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1 — Etanolün oluşum denklemi
Etanolün (C₂H₅OH(s)) standart oluşum entalpisi −277,7 kJ/mol'dür. Etanolün oluşum denklemini yazınız ve açığa çıkan ısıyı denklemin içinde gösteriniz.
Durum çizimi: Durum: elementler en kararlı hâlleriyle soldadır: grafit, hidrojen gazı ve oksijen gazı. Sağda 1 mol etanol oluşuyor. Her elementin katsayısı ve denklemin tamamı soruluyor; oluşum entalpisi −277,7 kJ/mol olarak verilmiş.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1 — Etanolün oluşum denklemi
Etanolün (C₂H₅OH(s)) standart oluşum entalpisi −277,7 kJ/mol'dür. Etanolün oluşum denklemini yazınız ve açığa çıkan ısıyı denklemin içinde gösteriniz.
Verilenler: ΔH°f(C₂H₅OH(s)) = −277,7 kJ/mol · etanoldeki elementler: C, H, O · en kararlı hâlleri: C(grafit), H₂(g), O₂(g)
İstenen: 1 mol C₂H₅OH(s) veren oluşum denklemi ve katsayıları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1 — Etanolün oluşum denklemi — çözüm
1. 1 mol C₂H₅OH'de 2 mol C, 6 mol H ve 1 mol O atomu vardır.
2. Elementleri en kararlı hâlleriyle yaz: 2C(grafit), 6 H için 3H₂(g), 1 O için ½O₂(g).
3. 2C(grafit) + 3H₂(g) + ½O₂(g) → C₂H₅OH(s) · ΔH°f = −277,7 kJ/mol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1 — Etanolün oluşum denklemi — çözüm
4. Isı ürünler tarafına yazılır: 2C(grafit) + 3H₂(g) + ½O₂(g) → C₂H₅OH(s) + 277,7 kJ
5. Denetim: iki yanda 2 C, 6 H, 1 O ✓; ürün tam 1 mol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2 — Kireç söndürme
Sönmemiş kireç (CaO) suyla tepkimeye girerek sönmüş kirece dönüşür: CaO(k) + H₂O(s) → Ca(OH)₂(k). Bu tepkimenin standart entalpisini bulunuz. Tepkime ısı mı verir, ısı mı alır?
Durum çizimi: Durum: sönmemiş kireç topakları suyla karşılaşıyor ve sönmüş kireç tozu oluşuyor. Üç maddenin oluşum entalpileri altlarında yazılı; tepkimenin entalpisi ΔH°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2 — Kireç söndürme
Sönmemiş kireç (CaO) suyla tepkimeye girerek sönmüş kirece dönüşür: CaO(k) + H₂O(s) → Ca(OH)₂(k). Bu tepkimenin standart entalpisini bulunuz. Tepkime ısı mı verir, ısı mı alır?
Verilenler: ΔH°f: CaO(k) = −635,1 · H₂O(s) = −285,8 · Ca(OH)₂(k) = −986,1 kJ/mol · bütün katsayılar 1
İstenen: ΔH° ve tepkimenin türü (ekzotermik mi, endotermik mi)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2 — Kireç söndürme — çözüm
1. Σ ürünler = 1 · (−986,1) = −986,1 kJ
2. Σ girenler = (−635,1) + (−285,8) = −920,9 kJ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2 — Kireç söndürme — çözüm
3. ΔH° = −986,1 − (−920,9) = −986,1 + 920,9 = −65,2 kJ
4. ΔH° &lt; 0 olduğu için tepkime ekzotermiktir: kireç söndürülürken karışım ısınır, su buharlaşabilir.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Çakmaktaki bütan
Bir çakmağın haznesinde 5,8 g bütan (C₄H₁₀) var. Bütanın tamamı yandığında, su sıvı oluşuyorsa, kaç kJ ısı açığa çıkar? Yanma denklemi: C₄H₁₀(g) + 13/2 O₂(g) → 4CO₂(g) + 5H₂O(s)
Durum çizimi: Durum: haznede sıvı olarak duran 5,8 g bütan memeden gaz olarak çıkıp yanıyor. Önce 1 mol bütanın yanma entalpisi ΔH°, sonra bu kütlenin verdiği ısı Q soruluyor; gereken oluşum entalpileri sağda yazılı.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Çakmaktaki bütan
Bir çakmağın haznesinde 5,8 g bütan (C₄H₁₀) var. Bütanın tamamı yandığında, su sıvı oluşuyorsa, kaç kJ ısı açığa çıkar? Yanma denklemi: C₄H₁₀(g) + 13/2 O₂(g) → 4CO₂(g) + 5H₂O(s)
Verilenler: m = 5,8 g C₄H₁₀ · M(C₄H₁₀) = 4·12 + 10·1 = 58 g/mol · ΔH°f: C₄H₁₀(g) = −125,6 · CO₂(g) = −393,5 · H₂O(s) = −285,8 kJ/mol · O₂(g) = 0
İstenen: yanma entalpisi ΔH° ve 5,8 g bütandan açığa çıkan ısı Q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Çakmaktaki bütan — çözüm
1. Σ ürünler = 4 · (−393,5) + 5 · (−285,8) = −1574,0 − 1429,0 = −3003,0 kJ
2. ΔH° = −3003,0 − (−125,6) = −2877,4 kJ (1 mol bütan için)
3. n = m / M = 5,8 / 58 = 0,1 mol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Çakmaktaki bütan — çözüm
4. Q = 0,1 · 2877,4 ≈ 287,7 kJ
5. Kontrol: bütan için 2877,4 / 58 ≈ 49,6 kJ/g; 5,8 g · 49,6 ≈ 288 kJ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Renksiz gazdan kahverengi gaza
Renksiz azot monoksit havayla karşılaşınca kahverengi azot dioksite dönüşür: 2NO(g) + O₂(g) → 2NO₂(g). (a) Tepkimenin ΔH°'sini bulunuz. (b) Normal koşullarda 4,48 L NO harcandığında kaç kJ ısı açığa çıkar?
Durum çizimi: Durum: solda renksiz NO ve O₂, sağda kahverengi NO₂. İki oluşum entalpisi de artı işaretli verilmiş. Tepkimenin ΔH°'si ve normal koşullarda 4,48 L NO harcanırken açığa çıkan ısı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Renksiz gazdan kahverengi gaza
Renksiz azot monoksit havayla karşılaşınca kahverengi azot dioksite dönüşür: 2NO(g) + O₂(g) → 2NO₂(g). (a) Tepkimenin ΔH°'sini bulunuz. (b) Normal koşullarda 4,48 L NO harcandığında kaç kJ ısı açığa çıkar?
Verilenler: ΔH°f: NO(g) = +90,3 · NO₂(g) = +33,2 kJ/mol · O₂(g) = 0 · V(NO) = 4,48 L (NK) · NK'da 1 mol gaz 22,4 L
İstenen: (a) ΔH° · (b) 4,48 L NO harcanırken açığa çıkan ısı Q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Renksiz gazdan kahverengi gaza — çözüm
1. (a) Σ ürünler = 2 · (+33,2) = +66,4 kJ; Σ girenler = 2 · (+90,3) + 0 = +180,6 kJ
2. ΔH° = 66,4 − 180,6 = −114,2 kJ (2 mol NO harcanırken)
3. (b) n(NO) = 4,48 / 22,4 = 0,2 mol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Renksiz gazdan kahverengi gaza — çözüm
4. 2 mol NO için 114,2 kJ ise 0,2 mol için Q = 114,2 · 0,2 / 2 = 11,42 kJ
5. İki oluşum entalpisi de artı olduğu hâlde tepkime ekzotermiktir: NO₂, NO'dan daha aşağıdadır.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Su buhar mı, sıvı mı?
4 g hidrojen gazı yeterli oksijenle yanıyor. Oluşan su (a) buhar olarak kalırsa, (b) sıvıya yoğuşursa kaç kJ ısı açığa çıkar? İki sonuç arasındaki fark nereden gelir?
Durum çizimi: Durum: iki kapta da 4 g hidrojen yeterli oksijenle yanıyor. Solda oluşan su buhar olarak kalıyor, sağda sıvıya yoğuşup dipte toplanıyor. İki durumda açığa çıkan ısılar Q₁ ve Q₂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Su buhar mı, sıvı mı?
4 g hidrojen gazı yeterli oksijenle yanıyor. Oluşan su (a) buhar olarak kalırsa, (b) sıvıya yoğuşursa kaç kJ ısı açığa çıkar? İki sonuç arasındaki fark nereden gelir?
Verilenler: m(H₂) = 4 g · M(H₂) = 2 g/mol · ΔH°f: H₂O(g) = −241,8 · H₂O(s) = −285,8 kJ/mol · H₂(g) ve O₂(g) element (0)
İstenen: buhar oluşurken açığa çıkan ısı Q₁ · sıvı oluşurken açığa çıkan ısı Q₂ · farkın nedeni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Su buhar mı, sıvı mı? — çözüm
1. n(H₂) = 4 / 2 = 2 mol. Her mol H₂ 1 mol su verir: 2 mol su oluşur.
2. Bu denklem suyun oluşum denklemidir: 1 mol H₂ için ΔH° = ΔH°f(H₂O).
3. (a) Q₁ = 2 · 241,8 = 483,6 kJ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Su buhar mı, sıvı mı? — çözüm
4. (b) Q₂ = 2 · 285,8 = 571,6 kJ
5. Fark 571,6 − 483,6 = 88,0 kJ = 2 · 44,0 kJ: 2 mol su buharının sıvıya yoğuşurken verdiği ısı.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Kalorimetreden etilenin oluşum entalpisi
Sabit basınçta çalışan bir kalorimetrede 2,8 g etilen (C₂H₄) tamamen yakılıyor ve 141,1 kJ ısı açığa çıkıyor: C₂H₄(g) + 3O₂(g) → 2CO₂(g) + 2H₂O(s). Etilenin standart oluşum entalpisini bulunuz.
Durum çizimi: Durum: kalorimetrenin yanma odasında 2,8 g etilen oksijenle yakılıyor; çevresindeki suyun ısınmasından 141,1 kJ ısı ölçülüyor. CO₂ ve sıvı suyun oluşum entalpileri biliniyor, etilenin oluşum entalpisi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Kalorimetreden etilenin oluşum entalpisi
Sabit basınçta çalışan bir kalorimetrede 2,8 g etilen (C₂H₄) tamamen yakılıyor ve 141,1 kJ ısı açığa çıkıyor: C₂H₄(g) + 3O₂(g) → 2CO₂(g) + 2H₂O(s). Etilenin standart oluşum entalpisini bulunuz.
Verilenler: m = 2,8 g C₂H₄ · M(C₂H₄) = 2·12 + 4·1 = 28 g/mol · Q = 141,1 kJ (açığa çıkıyor) · ΔH°f: CO₂(g) = −393,5 · H₂O(s) = −285,8 kJ/mol · O₂(g) = 0
İstenen: ΔH°f(C₂H₄)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Kalorimetreden etilenin oluşum entalpisi — çözüm
1. n = 2,8 / 28 = 0,1 mol etilen yandı.
2. 1 mol için: 141,1 / 0,1 = 1411 kJ; ısı açığa çıktığı için ΔH° = −1411 kJ.
3. Σ ürünler = 2 · (−393,5) + 2 · (−285,8) = −787,0 − 571,6 = −1358,6 kJ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Kalorimetreden etilenin oluşum entalpisi — çözüm
4. ΔH° = Σ ürünler − Σ girenler → −1411 = −1358,6 − x → x = −1358,6 + 1411 = +52,4 kJ/mol
5. Tablodaki +52,3 ile uyumlu: etilen elementlerinden ısı alarak oluşur, elementlerine göre daha az kararlıdır.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7 — Ray kaynağında termit
Bir ray kaynağında 320 g Fe₂O₃ yeterli alüminyumla tamamen tepkimeye giriyor: Fe₂O₃(k) + 2Al(k) → 2Fe(k) + Al₂O₃(k). (a) Tepkimenin ΔH°'sini, (b) açığa çıkan ısıyı, (c) gereken alüminyumun ve oluşan demirin kütlesini bulunuz.
Durum çizimi: Durum: potada 320 g Fe₂O₃ ile bir miktar alüminyum var; tepkimeden çıkan erimiş demir alttaki kalıba akıp ray boşluğunu dolduracak. Tepkimenin ΔH°'si, açığa çıkan ısı, gereken alüminyum ve oluşan demir kütlesi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7 — Ray kaynağında termit
Bir ray kaynağında 320 g Fe₂O₃ yeterli alüminyumla tamamen tepkimeye giriyor: Fe₂O₃(k) + 2Al(k) → 2Fe(k) + Al₂O₃(k). (a) Tepkimenin ΔH°'sini, (b) açığa çıkan ısıyı, (c) gereken alüminyumun ve oluşan demirin kütlesini bulunuz.
Verilenler: m(Fe₂O₃) = 320 g · M(Fe₂O₃) = 2·56 + 3·16 = 160 g/mol · M(Al) = 27 · M(Fe) = 56 g/mol · ΔH°f: Fe₂O₃(k) = −824,2 · Al₂O₃(k) = −1675,7 kJ/mol · Al(k), Fe(k) element (0)
İstenen: (a) ΔH° · (b) açığa çıkan ısı Q · (c) m(Al) ve m(Fe)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7 — Ray kaynağında termit — çözüm
1. (a) ΔH° = [−1675,7 + 2·0] − [−824,2 + 2·0] = −851,5 kJ (1 mol Fe₂O₃ için)
2. n(Fe₂O₃) = 320 / 160 = 2 mol
3. (b) Q = 2 · 851,5 = 1703 kJ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7 — Ray kaynağında termit — çözüm
4. (c) 1 mol Fe₂O₃ 2 mol Al ister ve 2 mol Fe verir: Al 4 mol → 4 · 27 = 108 g; Fe 4 mol → 4 · 56 = 224 g
5. Kütle denetimi: girenler 320 + 108 = 428 g; ürünler 224 g Fe + 2 mol Al₂O₃ (2 · 102 = 204 g) = 428 g ✓
Not: ΔH° 25 °C'deki ürünler için hesaplanır. Gerçekte bu ısı ürünleri ısıtmaya ve demiri eritmeye harcanır; potadan akan sıvı demir bu yüzden göz kamaştırıcı bir parlaklıktadır.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H₂(g) + ½O₂(g) → H₂O(g) · 2H₂(g) + O₂(g) → 2H₂O(s) · CO(g) + ½O₂(g) → CO₂(g) · C(grafit) + O₂(g) → CO₂(g). Bunlardan hangileri oluşum denklemidir?
Öğrencilere 2–3 dakika verin; sonra cevap slaytını açın.
Cevap: Cevap: Birinci ve dördüncü. İkisi de 1 mol bileşiği elementlerin en kararlı hâllerinden verir. İkinci denklem 2 mol su verir (ΔH'si 2·ΔH°f'dir); üçüncüsünde giren CO bir bileşiktir, element değildir.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Birinci ve dördüncü. İkisi de 1 mol bileşiği elementlerin en kararlı hâllerinden verir. İkinci denklem 2 mol su verir (ΔH'si 2·ΔH°f'dir); üçüncüsünde giren CO bir bileşiktir, element değildir.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2SO₂(g) + O₂(g) → 2SO₃(g) tepkimesinin ΔH°'si kaç kJ'dir? (ΔH°f: SO₂ −296,8; SO₃ −395,7 kJ/mol)
Öğrencilere 2–3 dakika verin; sonra cevap slaytını açın.
Cevap: Cevap: ΔH° = 2 · (−395,7) − [2 · (−296,8) + 0] = −791,4 + 593,6 = −197,8 kJ. Tepkime ekzotermiktir.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ΔH° = 2 · (−395,7) − [2 · (−296,8) + 0] = −791,4 + 593,6 = −197,8 kJ. Tepkime ekzotermiktir.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Normal koşullarda 5,6 L metan tamamen yanıyor ve su sıvı oluşuyor. Kaç kJ ısı açığa çıkar?
Öğrencilere 2–3 dakika verin; sonra cevap slaytını açın.
Cevap: Cevap: n = 5,6 / 22,4 = 0,25 mol. Metanın yanma entalpisi (su sıvı) −890,3 kJ olduğundan Q = 0,25 · 890,3 ≈ 222,6 kJ.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n = 5,6 / 22,4 = 0,25 mol. Metanın yanma entalpisi (su sıvı) −890,3 kJ olduğundan Q = 0,25 · 890,3 ≈ 222,6 kJ.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C₂H₂(g) + 5/2 O₂(g) → 2CO₂(g) + H₂O(s) tepkimesi için ΔH° = −1299,5 kJ ölçülmüştür. Asetilenin ΔH°f'si kaç kJ/mol'dür?
Öğrencilere 2–3 dakika verin; sonra cevap slaytını açın.
Cevap: Cevap: −1299,5 = [2 · (−393,5) + (−285,8)] − x = −1072,8 − x → x = −1072,8 + 1299,5 = +226,7 kJ/mol. Asetilen elementlerinden ısı alarak oluşur.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−1299,5 = [2 · (−393,5) + (−285,8)] − x = −1072,8 − x → x = −1072,8 + 1299,5 = +226,7 kJ/mol. Asetilen elementlerinden ısı alarak oluşur.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1 kg suyu 20 °C'den 80 °C'ye ısıtmak için en az kaç gram etanol yakılmalıdır? Isının tamamı suya geçsin (etanolün yanması: ΔH° = −1366,7 kJ).
Öğrencilere 2–3 dakika verin; sonra cevap slaytını açın.
Cevap: Cevap: q = 1000 · 4,18 · 60 = 250 800 J ≈ 250,8 kJ. n = 250,8 / 1366,7 = 0,1835 mol; m = 0,1835 · 46 ≈ 8,4 g. Isının yarısı havaya kaçsaydı iki katı, yaklaşık 16,9 g gerekirdi.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q = 1000 · 4,18 · 60 = 250 800 J ≈ 250,8 kJ. n = 250,8 / 1366,7 = 0,1835 mol; m = 0,1835 · 46 ≈ 8,4 g. Isının yarısı havaya kaçsaydı iki katı, yaklaşık 16,9 g gerekirdi.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Sık yapılan hatalar
• “Her elementin oluşum entalpisi sıfırdır.” Yalnızca standart koşullardaki en kararlı hâl sıfırdır. Elmas (+1,9), ozon (+142,7), Br₂(g) (+30,9) ve H atomu (+218,0 kJ/mol) sıfır değildir.
• “Oluşum entalpisi her zaman eksidir.” NO (+90,3), C₂H₄ (+52,3) ve C₂H₂ (+226,7 kJ/mol) elementlerinden ısı alarak oluşur; bunların ΔH°f'si artıdır.
• Katsayıyla çarpmayı unutmak. Tablodaki değer 1 mol içindir; denklemde 3H₂O(s) varsa 3 · (−285,8) = −857,4 kJ alınır.
• Girenlerden ürünleri çıkarmak. Oluşum entalpisiyle sıra “ürünler − girenler”dir. Bağ enerjisinde sıra terstir (kırılan − oluşan); ikisini karıştırmak sonucun işaretini ters çevirir.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Sık yapılan hatalar
• Hâl simgesini atlamak. H₂O(s) −285,8, H₂O(g) −241,8 kJ/mol'dür; sorudaki hâle uygun satırı seç. Fark, mol başına 44 kJ'dir.
• 1 mol ürün veren her denklemi oluşum denklemi saymak. CO(g) + ½O₂(g) → CO₂(g) ya da C(elmas) + O₂(g) → CO₂(g) oluşum denklemi değildir: girenler, elementlerin en kararlı hâlleri olmalıdır.
• Standart koşulu normal koşulla karıştırmak. Standart koşullar 25 °C ve 1 atm'dir; 1 mol gazın 22,4 L geldiği normal koşullar ise 0 °C ve 1 atm'dir.
• ΔH°f'si çok eksi olan maddeyi iyi yakıt sanmak. CO₂ (−393,5) ve H₂O (−285,8) zaten “yanmış” maddelerdir, yanarak ısı veremez. İyi bir yakıtın ΔH°f'si sıfıra yakındır, yanma ürünlerininki ise çok aşağıdadır.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Özet: Standart koşul 25 °C, 1 atm · Kararlı element ΔH°f = 0 · Elmas +1,9 kJ/mol · ΔH° = ürünler − girenler
ΔH° = ΣnΔH°f(ürün) − ΣnΔH°f(giren) — tepkime entalpisi
ΔH°f(kararlı element) = 0 — başlangıç noktası
Q = n·|ΔH| — n mol için ısı
n = m/M = V/22,4 — mol sayısı (gaz, 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slideLayout" Target="../slideLayouts/slideLayout1.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jpg"/><Relationship Id="rId2" Type="http://schemas.openxmlformats.org/officeDocument/2006/relationships/slideLayout" Target="../slideLayouts/slideLayout1.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png"/><Relationship Id="rId2" Type="http://schemas.openxmlformats.org/officeDocument/2006/relationships/slideLayout" Target="../slideLayouts/slideLayout1.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91-1.png"/><Relationship Id="rId2" Type="http://schemas.openxmlformats.org/officeDocument/2006/relationships/slideLayout" Target="../slideLayouts/slideLayout1.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image" Target="../media/image-100-1.png"/><Relationship Id="rId2" Type="http://schemas.openxmlformats.org/officeDocument/2006/relationships/slideLayout" Target="../slideLayouts/slideLayout1.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image" Target="../media/image-108-1.png"/><Relationship Id="rId2" Type="http://schemas.openxmlformats.org/officeDocument/2006/relationships/slideLayout" Target="../slideLayouts/slideLayout1.xm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image" Target="../media/image-113-1.png"/><Relationship Id="rId2" Type="http://schemas.openxmlformats.org/officeDocument/2006/relationships/slideLayout" Target="../slideLayouts/slideLayout1.xml"/><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image" Target="../media/image-117-1.png"/><Relationship Id="rId2" Type="http://schemas.openxmlformats.org/officeDocument/2006/relationships/slideLayout" Target="../slideLayouts/slideLayout1.xml"/><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image" Target="../media/image-121-1.png"/><Relationship Id="rId2" Type="http://schemas.openxmlformats.org/officeDocument/2006/relationships/slideLayout" Target="../slideLayouts/slideLayout1.xml"/><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image" Target="../media/image-125-1.png"/><Relationship Id="rId2" Type="http://schemas.openxmlformats.org/officeDocument/2006/relationships/slideLayout" Target="../slideLayouts/slideLayout1.xml"/><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image" Target="../media/image-129-1.png"/><Relationship Id="rId2" Type="http://schemas.openxmlformats.org/officeDocument/2006/relationships/slideLayout" Target="../slideLayouts/slideLayout1.xml"/><Relationship Id="rId3"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image" Target="../media/image-133-1.png"/><Relationship Id="rId2" Type="http://schemas.openxmlformats.org/officeDocument/2006/relationships/slideLayout" Target="../slideLayouts/slideLayout1.xml"/><Relationship Id="rId3"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image" Target="../media/image-137-1.png"/><Relationship Id="rId2" Type="http://schemas.openxmlformats.org/officeDocument/2006/relationships/slideLayout" Target="../slideLayouts/slideLayout1.xml"/><Relationship Id="rId3"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426"/>
        </a:solidFill>
      </p:bgPr>
    </p:bg>
    <p:spTree>
      <p:nvGrpSpPr>
        <p:cNvPr id="1" name=""/>
        <p:cNvGrpSpPr/>
        <p:nvPr/>
      </p:nvGrpSpPr>
      <p:grpSpPr>
        <a:xfrm>
          <a:off x="0" y="0"/>
          <a:ext cx="0" cy="0"/>
          <a:chOff x="0" y="0"/>
          <a:chExt cx="0" cy="0"/>
        </a:xfrm>
      </p:grpSpPr>
      <p:pic>
        <p:nvPicPr>
          <p:cNvPr id="2" name="Image 0" descr="/tmp/claude-1000/-opt-dersler/1d623a45-0112-427a-9abb-0c648368bda2/scratchpad/sunum/sekiller/olusum-entalpisi-kapak.jpg">    </p:cNvPr>
          <p:cNvPicPr>
            <a:picLocks noChangeAspect="1"/>
          </p:cNvPicPr>
          <p:nvPr/>
        </p:nvPicPr>
        <p:blipFill>
          <a:blip r:embed="rId1"/>
          <a:stretch>
            <a:fillRect/>
          </a:stretch>
        </p:blipFill>
        <p:spPr>
          <a:xfrm>
            <a:off x="4967935" y="0"/>
            <a:ext cx="7223760" cy="6858000"/>
          </a:xfrm>
          <a:prstGeom prst="rect">
            <a:avLst/>
          </a:prstGeom>
        </p:spPr>
      </p:pic>
      <p:sp>
        <p:nvSpPr>
          <p:cNvPr id="3" name="Shape 0"/>
          <p:cNvSpPr/>
          <p:nvPr/>
        </p:nvSpPr>
        <p:spPr>
          <a:xfrm>
            <a:off x="868680" y="822960"/>
            <a:ext cx="310896" cy="310896"/>
          </a:xfrm>
          <a:prstGeom prst="roundRect">
            <a:avLst>
              <a:gd name="adj" fmla="val 29412"/>
            </a:avLst>
          </a:prstGeom>
          <a:solidFill>
            <a:srgbClr val="A9E648"/>
          </a:solidFill>
          <a:ln/>
        </p:spPr>
      </p:sp>
      <p:sp>
        <p:nvSpPr>
          <p:cNvPr id="4" name="Text 1"/>
          <p:cNvSpPr txBox="1"/>
          <p:nvPr/>
        </p:nvSpPr>
        <p:spPr>
          <a:xfrm>
            <a:off x="1280160" y="822960"/>
            <a:ext cx="3657600" cy="31089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Dersler</a:t>
            </a:r>
            <a:pPr indent="0" marL="0">
              <a:buNone/>
            </a:pPr>
            <a:r>
              <a:rPr lang="en-US" sz="1250" dirty="0">
                <a:solidFill>
                  <a:srgbClr val="8D97B5"/>
                </a:solidFill>
                <a:latin typeface="Calibri" pitchFamily="34" charset="0"/>
                <a:ea typeface="Calibri" pitchFamily="34" charset="-122"/>
                <a:cs typeface="Calibri" pitchFamily="34" charset="-120"/>
              </a:rPr>
              <a:t>  ·  kimya</a:t>
            </a:r>
            <a:endParaRPr lang="en-US" sz="1250" dirty="0"/>
          </a:p>
        </p:txBody>
      </p:sp>
      <p:sp>
        <p:nvSpPr>
          <p:cNvPr id="5" name="Shape 2"/>
          <p:cNvSpPr/>
          <p:nvPr/>
        </p:nvSpPr>
        <p:spPr>
          <a:xfrm>
            <a:off x="640080" y="1965960"/>
            <a:ext cx="54864" cy="1097280"/>
          </a:xfrm>
          <a:prstGeom prst="rect">
            <a:avLst/>
          </a:prstGeom>
          <a:solidFill>
            <a:srgbClr val="C6F36B"/>
          </a:solidFill>
          <a:ln/>
        </p:spPr>
      </p:sp>
      <p:sp>
        <p:nvSpPr>
          <p:cNvPr id="6" name="Text 3"/>
          <p:cNvSpPr txBox="1"/>
          <p:nvPr/>
        </p:nvSpPr>
        <p:spPr>
          <a:xfrm>
            <a:off x="868680" y="1554480"/>
            <a:ext cx="5852160" cy="320040"/>
          </a:xfrm>
          <a:prstGeom prst="rect">
            <a:avLst/>
          </a:prstGeom>
          <a:noFill/>
          <a:ln/>
        </p:spPr>
        <p:txBody>
          <a:bodyPr wrap="square" lIns="0" tIns="0" rIns="0" bIns="0" rtlCol="0" anchor="ctr"/>
          <a:lstStyle/>
          <a:p>
            <a:pPr indent="0" marL="0">
              <a:buNone/>
            </a:pPr>
            <a:r>
              <a:rPr lang="en-US" sz="1300" b="1" spc="300" kern="0" dirty="0">
                <a:solidFill>
                  <a:srgbClr val="C6F36B"/>
                </a:solidFill>
                <a:latin typeface="Calibri" pitchFamily="34" charset="0"/>
                <a:ea typeface="Calibri" pitchFamily="34" charset="-122"/>
                <a:cs typeface="Calibri" pitchFamily="34" charset="-120"/>
              </a:rPr>
              <a:t>KİMYASAL TEPKİMELERDE ENERJİ · KONU 03</a:t>
            </a:r>
            <a:endParaRPr lang="en-US" sz="1300" dirty="0"/>
          </a:p>
        </p:txBody>
      </p:sp>
      <p:sp>
        <p:nvSpPr>
          <p:cNvPr id="7" name="Text 4"/>
          <p:cNvSpPr txBox="1"/>
          <p:nvPr/>
        </p:nvSpPr>
        <p:spPr>
          <a:xfrm>
            <a:off x="822960" y="1920240"/>
            <a:ext cx="5120640" cy="1188720"/>
          </a:xfrm>
          <a:prstGeom prst="rect">
            <a:avLst/>
          </a:prstGeom>
          <a:noFill/>
          <a:ln/>
        </p:spPr>
        <p:txBody>
          <a:bodyPr wrap="square" lIns="0" tIns="0" rIns="0" bIns="0" rtlCol="0" anchor="ctr"/>
          <a:lstStyle/>
          <a:p>
            <a:pPr indent="0" marL="0">
              <a:buNone/>
            </a:pPr>
            <a:r>
              <a:rPr lang="en-US" sz="3900" b="1" spc="-100" kern="0" dirty="0">
                <a:solidFill>
                  <a:srgbClr val="FFFFFF"/>
                </a:solidFill>
                <a:latin typeface="Cambria" pitchFamily="34" charset="0"/>
                <a:ea typeface="Cambria" pitchFamily="34" charset="-122"/>
                <a:cs typeface="Cambria" pitchFamily="34" charset="-120"/>
              </a:rPr>
              <a:t>Standart oluşum ve tepkime entalpisi</a:t>
            </a:r>
            <a:endParaRPr lang="en-US" sz="3900" dirty="0"/>
          </a:p>
        </p:txBody>
      </p:sp>
      <p:sp>
        <p:nvSpPr>
          <p:cNvPr id="8" name="Text 5"/>
          <p:cNvSpPr txBox="1"/>
          <p:nvPr/>
        </p:nvSpPr>
        <p:spPr>
          <a:xfrm>
            <a:off x="868680" y="3291840"/>
            <a:ext cx="4754880" cy="1371600"/>
          </a:xfrm>
          <a:prstGeom prst="rect">
            <a:avLst/>
          </a:prstGeom>
          <a:noFill/>
          <a:ln/>
        </p:spPr>
        <p:txBody>
          <a:bodyPr wrap="square" lIns="0" tIns="0" rIns="0" bIns="0" rtlCol="0" anchor="t"/>
          <a:lstStyle/>
          <a:p>
            <a:pPr indent="0" marL="0">
              <a:lnSpc>
                <a:spcPct val="125000"/>
              </a:lnSpc>
              <a:buNone/>
            </a:pPr>
            <a:r>
              <a:rPr lang="en-US" sz="1400" dirty="0">
                <a:solidFill>
                  <a:srgbClr val="C3CEE8"/>
                </a:solidFill>
                <a:latin typeface="Calibri" pitchFamily="34" charset="0"/>
                <a:ea typeface="Calibri" pitchFamily="34" charset="-122"/>
                <a:cs typeface="Calibri" pitchFamily="34" charset="-120"/>
              </a:rPr>
              <a:t>Her bileşiğin bir oluşum entalpisi vardır: elementlerinin en kararlı hâllerinden 1 mol oluşurken alınan ya da verilen ısı. Bu değerler tablodan okunur ve her tepkimenin ısısı tek bağıntıyla bulunur: ΔH° = ΣnΔH°f(ürünler) − ΣnΔH°f(girenler).</a:t>
            </a:r>
            <a:endParaRPr lang="en-US" sz="1400" dirty="0"/>
          </a:p>
        </p:txBody>
      </p:sp>
      <p:sp>
        <p:nvSpPr>
          <p:cNvPr id="9" name="Shape 6"/>
          <p:cNvSpPr/>
          <p:nvPr/>
        </p:nvSpPr>
        <p:spPr>
          <a:xfrm>
            <a:off x="868680"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0" name="Shape 7"/>
          <p:cNvSpPr/>
          <p:nvPr/>
        </p:nvSpPr>
        <p:spPr>
          <a:xfrm>
            <a:off x="978408" y="5020056"/>
            <a:ext cx="45720" cy="310896"/>
          </a:xfrm>
          <a:prstGeom prst="rect">
            <a:avLst/>
          </a:prstGeom>
          <a:solidFill>
            <a:srgbClr val="C6F36B"/>
          </a:solidFill>
          <a:ln/>
        </p:spPr>
      </p:sp>
      <p:sp>
        <p:nvSpPr>
          <p:cNvPr id="11" name="Text 8"/>
          <p:cNvSpPr txBox="1"/>
          <p:nvPr/>
        </p:nvSpPr>
        <p:spPr>
          <a:xfrm>
            <a:off x="1124712" y="4892040"/>
            <a:ext cx="841248" cy="566928"/>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1  </a:t>
            </a:r>
            <a:pPr indent="0" marL="0">
              <a:buNone/>
            </a:pPr>
            <a:r>
              <a:rPr lang="en-US" sz="1300" b="1" dirty="0">
                <a:solidFill>
                  <a:srgbClr val="FFFFFF"/>
                </a:solidFill>
                <a:latin typeface="Calibri" pitchFamily="34" charset="0"/>
                <a:ea typeface="Calibri" pitchFamily="34" charset="-122"/>
                <a:cs typeface="Calibri" pitchFamily="34" charset="-120"/>
              </a:rPr>
              <a:t>Temel</a:t>
            </a:r>
            <a:endParaRPr lang="en-US" sz="1300" dirty="0"/>
          </a:p>
        </p:txBody>
      </p:sp>
      <p:sp>
        <p:nvSpPr>
          <p:cNvPr id="12" name="Shape 9"/>
          <p:cNvSpPr/>
          <p:nvPr/>
        </p:nvSpPr>
        <p:spPr>
          <a:xfrm>
            <a:off x="2075688"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3" name="Shape 10"/>
          <p:cNvSpPr/>
          <p:nvPr/>
        </p:nvSpPr>
        <p:spPr>
          <a:xfrm>
            <a:off x="2185416" y="5020056"/>
            <a:ext cx="45720" cy="310896"/>
          </a:xfrm>
          <a:prstGeom prst="rect">
            <a:avLst/>
          </a:prstGeom>
          <a:solidFill>
            <a:srgbClr val="82AAFF"/>
          </a:solidFill>
          <a:ln/>
        </p:spPr>
      </p:sp>
      <p:sp>
        <p:nvSpPr>
          <p:cNvPr id="14" name="Text 11"/>
          <p:cNvSpPr txBox="1"/>
          <p:nvPr/>
        </p:nvSpPr>
        <p:spPr>
          <a:xfrm>
            <a:off x="2331720" y="4892040"/>
            <a:ext cx="841248" cy="566928"/>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2  </a:t>
            </a:r>
            <a:pPr indent="0" marL="0">
              <a:buNone/>
            </a:pPr>
            <a:r>
              <a:rPr lang="en-US" sz="1300" b="1" dirty="0">
                <a:solidFill>
                  <a:srgbClr val="FFFFFF"/>
                </a:solidFill>
                <a:latin typeface="Calibri" pitchFamily="34" charset="0"/>
                <a:ea typeface="Calibri" pitchFamily="34" charset="-122"/>
                <a:cs typeface="Calibri" pitchFamily="34" charset="-120"/>
              </a:rPr>
              <a:t>Orta</a:t>
            </a:r>
            <a:endParaRPr lang="en-US" sz="1300" dirty="0"/>
          </a:p>
        </p:txBody>
      </p:sp>
      <p:sp>
        <p:nvSpPr>
          <p:cNvPr id="15" name="Shape 12"/>
          <p:cNvSpPr/>
          <p:nvPr/>
        </p:nvSpPr>
        <p:spPr>
          <a:xfrm>
            <a:off x="3282696"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6" name="Shape 13"/>
          <p:cNvSpPr/>
          <p:nvPr/>
        </p:nvSpPr>
        <p:spPr>
          <a:xfrm>
            <a:off x="3392424" y="5020056"/>
            <a:ext cx="45720" cy="310896"/>
          </a:xfrm>
          <a:prstGeom prst="rect">
            <a:avLst/>
          </a:prstGeom>
          <a:solidFill>
            <a:srgbClr val="A093FF"/>
          </a:solidFill>
          <a:ln/>
        </p:spPr>
      </p:sp>
      <p:sp>
        <p:nvSpPr>
          <p:cNvPr id="17" name="Text 14"/>
          <p:cNvSpPr txBox="1"/>
          <p:nvPr/>
        </p:nvSpPr>
        <p:spPr>
          <a:xfrm>
            <a:off x="3538728" y="4892040"/>
            <a:ext cx="841248" cy="566928"/>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3  </a:t>
            </a:r>
            <a:pPr indent="0" marL="0">
              <a:buNone/>
            </a:pPr>
            <a:r>
              <a:rPr lang="en-US" sz="1300" b="1" dirty="0">
                <a:solidFill>
                  <a:srgbClr val="FFFFFF"/>
                </a:solidFill>
                <a:latin typeface="Calibri" pitchFamily="34" charset="0"/>
                <a:ea typeface="Calibri" pitchFamily="34" charset="-122"/>
                <a:cs typeface="Calibri" pitchFamily="34" charset="-120"/>
              </a:rPr>
              <a:t>İleri</a:t>
            </a:r>
            <a:endParaRPr lang="en-US" sz="1300" dirty="0"/>
          </a:p>
        </p:txBody>
      </p:sp>
      <p:sp>
        <p:nvSpPr>
          <p:cNvPr id="18" name="Shape 15"/>
          <p:cNvSpPr/>
          <p:nvPr/>
        </p:nvSpPr>
        <p:spPr>
          <a:xfrm>
            <a:off x="4489704"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9" name="Shape 16"/>
          <p:cNvSpPr/>
          <p:nvPr/>
        </p:nvSpPr>
        <p:spPr>
          <a:xfrm>
            <a:off x="4599432" y="5020056"/>
            <a:ext cx="45720" cy="310896"/>
          </a:xfrm>
          <a:prstGeom prst="rect">
            <a:avLst/>
          </a:prstGeom>
          <a:solidFill>
            <a:srgbClr val="FFCB6B"/>
          </a:solidFill>
          <a:ln/>
        </p:spPr>
      </p:sp>
      <p:sp>
        <p:nvSpPr>
          <p:cNvPr id="20" name="Text 17"/>
          <p:cNvSpPr txBox="1"/>
          <p:nvPr/>
        </p:nvSpPr>
        <p:spPr>
          <a:xfrm>
            <a:off x="4745736" y="4892040"/>
            <a:ext cx="841248" cy="566928"/>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4  </a:t>
            </a:r>
            <a:pPr indent="0" marL="0">
              <a:buNone/>
            </a:pPr>
            <a:r>
              <a:rPr lang="en-US" sz="1300" b="1" dirty="0">
                <a:solidFill>
                  <a:srgbClr val="FFFFFF"/>
                </a:solidFill>
                <a:latin typeface="Calibri" pitchFamily="34" charset="0"/>
                <a:ea typeface="Calibri" pitchFamily="34" charset="-122"/>
                <a:cs typeface="Calibri" pitchFamily="34" charset="-120"/>
              </a:rPr>
              <a:t>Pekiştir</a:t>
            </a:r>
            <a:endParaRPr lang="en-US" sz="1300" dirty="0"/>
          </a:p>
        </p:txBody>
      </p:sp>
      <p:sp>
        <p:nvSpPr>
          <p:cNvPr id="21" name="Shape 18"/>
          <p:cNvSpPr/>
          <p:nvPr/>
        </p:nvSpPr>
        <p:spPr>
          <a:xfrm>
            <a:off x="640080" y="6382512"/>
            <a:ext cx="128016" cy="128016"/>
          </a:xfrm>
          <a:prstGeom prst="roundRect">
            <a:avLst>
              <a:gd name="adj" fmla="val 28571"/>
            </a:avLst>
          </a:prstGeom>
          <a:solidFill>
            <a:srgbClr val="C6F36B"/>
          </a:solidFill>
          <a:ln/>
        </p:spPr>
      </p:sp>
      <p:sp>
        <p:nvSpPr>
          <p:cNvPr id="22"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dersler.perinet.org/olusum-entalpisi.html</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Başlarken</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Konuya günlük bir soruyla giriyoruz.</a:t>
            </a:r>
            <a:endParaRPr lang="en-US" sz="1450" dirty="0"/>
          </a:p>
        </p:txBody>
      </p:sp>
      <p:sp>
        <p:nvSpPr>
          <p:cNvPr id="6" name="Shape 4"/>
          <p:cNvSpPr/>
          <p:nvPr/>
        </p:nvSpPr>
        <p:spPr>
          <a:xfrm>
            <a:off x="1188720" y="1828800"/>
            <a:ext cx="9814255" cy="3931920"/>
          </a:xfrm>
          <a:prstGeom prst="roundRect">
            <a:avLst>
              <a:gd name="adj" fmla="val 5116"/>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225296" y="2286000"/>
            <a:ext cx="64008" cy="3017520"/>
          </a:xfrm>
          <a:prstGeom prst="rect">
            <a:avLst/>
          </a:prstGeom>
          <a:solidFill>
            <a:srgbClr val="5F4BD8"/>
          </a:solidFill>
          <a:ln/>
        </p:spPr>
      </p:sp>
      <p:sp>
        <p:nvSpPr>
          <p:cNvPr id="8" name="Text 6"/>
          <p:cNvSpPr txBox="1"/>
          <p:nvPr/>
        </p:nvSpPr>
        <p:spPr>
          <a:xfrm>
            <a:off x="1828800" y="2194560"/>
            <a:ext cx="8534095" cy="3200400"/>
          </a:xfrm>
          <a:prstGeom prst="rect">
            <a:avLst/>
          </a:prstGeom>
          <a:noFill/>
          <a:ln/>
        </p:spPr>
        <p:txBody>
          <a:bodyPr wrap="square" lIns="0" tIns="0" rIns="0" bIns="0" rtlCol="0" anchor="ctr"/>
          <a:lstStyle/>
          <a:p>
            <a:pPr indent="0" marL="0">
              <a:lnSpc>
                <a:spcPct val="130000"/>
              </a:lnSpc>
              <a:buNone/>
            </a:pPr>
            <a:r>
              <a:rPr lang="en-US" sz="1750" dirty="0">
                <a:solidFill>
                  <a:srgbClr val="0E1426"/>
                </a:solidFill>
                <a:latin typeface="Cambria" pitchFamily="34" charset="0"/>
                <a:ea typeface="Cambria" pitchFamily="34" charset="-122"/>
                <a:cs typeface="Cambria" pitchFamily="34" charset="-120"/>
              </a:rPr>
              <a:t>Yüzükteki elmas ile kurşun kalemin ucu aynı elementten, saf karbondan yapılmıştır.</a:t>
            </a:r>
            <a:pPr indent="0" marL="0">
              <a:lnSpc>
                <a:spcPct val="130000"/>
              </a:lnSpc>
              <a:buNone/>
            </a:pPr>
            <a:r>
              <a:rPr lang="en-US" sz="175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1750" dirty="0">
                <a:solidFill>
                  <a:srgbClr val="0E1426"/>
                </a:solidFill>
                <a:latin typeface="Cambria" pitchFamily="34" charset="0"/>
                <a:ea typeface="Cambria" pitchFamily="34" charset="-122"/>
                <a:cs typeface="Cambria" pitchFamily="34" charset="-120"/>
              </a:rPr>
              <a:t>Peki hangisi daha çok enerji taşır?</a:t>
            </a:r>
            <a:pPr indent="0" marL="0">
              <a:lnSpc>
                <a:spcPct val="130000"/>
              </a:lnSpc>
              <a:buNone/>
            </a:pPr>
            <a:r>
              <a:rPr lang="en-US" sz="175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1750" dirty="0">
                <a:solidFill>
                  <a:srgbClr val="0E1426"/>
                </a:solidFill>
                <a:latin typeface="Cambria" pitchFamily="34" charset="0"/>
                <a:ea typeface="Cambria" pitchFamily="34" charset="-122"/>
                <a:cs typeface="Cambria" pitchFamily="34" charset="-120"/>
              </a:rPr>
              <a:t>Bir maddenin içindeki enerjiyi tek başına ölçemiyorsak, bir yakıtın ne kadar ısı vereceğini onu hiç yakmadan nasıl bilebiliriz?</a:t>
            </a:r>
            <a:pPr indent="0" marL="0">
              <a:lnSpc>
                <a:spcPct val="130000"/>
              </a:lnSpc>
              <a:buNone/>
            </a:pPr>
            <a:r>
              <a:rPr lang="en-US" sz="175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1750" dirty="0">
                <a:solidFill>
                  <a:srgbClr val="0E1426"/>
                </a:solidFill>
                <a:latin typeface="Cambria" pitchFamily="34" charset="0"/>
                <a:ea typeface="Cambria" pitchFamily="34" charset="-122"/>
                <a:cs typeface="Cambria" pitchFamily="34" charset="-120"/>
              </a:rPr>
              <a:t>Dağların yüksekliğini Dünya'nın merkezinden değil, deniz seviyesinden ölçeriz.</a:t>
            </a:r>
            <a:pPr indent="0" marL="0">
              <a:lnSpc>
                <a:spcPct val="130000"/>
              </a:lnSpc>
              <a:buNone/>
            </a:pPr>
            <a:r>
              <a:rPr lang="en-US" sz="175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1750" dirty="0">
                <a:solidFill>
                  <a:srgbClr val="0E1426"/>
                </a:solidFill>
                <a:latin typeface="Cambria" pitchFamily="34" charset="0"/>
                <a:ea typeface="Cambria" pitchFamily="34" charset="-122"/>
                <a:cs typeface="Cambria" pitchFamily="34" charset="-120"/>
              </a:rPr>
              <a:t>Kimyacılar da maddelerin entalpisini ortak bir sıfır noktasından ölçer: </a:t>
            </a:r>
            <a:pPr indent="0" marL="0">
              <a:lnSpc>
                <a:spcPct val="130000"/>
              </a:lnSpc>
              <a:buNone/>
            </a:pPr>
            <a:r>
              <a:rPr lang="en-US" sz="1750" b="1" dirty="0">
                <a:solidFill>
                  <a:srgbClr val="5F4BD8"/>
                </a:solidFill>
                <a:latin typeface="Cambria" pitchFamily="34" charset="0"/>
                <a:ea typeface="Cambria" pitchFamily="34" charset="-122"/>
                <a:cs typeface="Cambria" pitchFamily="34" charset="-120"/>
              </a:rPr>
              <a:t>elementlerin en kararlı hâli</a:t>
            </a:r>
            <a:pPr indent="0" marL="0">
              <a:lnSpc>
                <a:spcPct val="130000"/>
              </a:lnSpc>
              <a:buNone/>
            </a:pPr>
            <a:r>
              <a:rPr lang="en-US" sz="1750" dirty="0">
                <a:solidFill>
                  <a:srgbClr val="0E1426"/>
                </a:solidFill>
                <a:latin typeface="Cambria" pitchFamily="34" charset="0"/>
                <a:ea typeface="Cambria" pitchFamily="34" charset="-122"/>
                <a:cs typeface="Cambria" pitchFamily="34" charset="-120"/>
              </a:rPr>
              <a:t>.</a:t>
            </a:r>
            <a:pPr indent="0" marL="0">
              <a:lnSpc>
                <a:spcPct val="130000"/>
              </a:lnSpc>
              <a:buNone/>
            </a:pPr>
            <a:r>
              <a:rPr lang="en-US" sz="175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1750" dirty="0">
                <a:solidFill>
                  <a:srgbClr val="0E1426"/>
                </a:solidFill>
                <a:latin typeface="Cambria" pitchFamily="34" charset="0"/>
                <a:ea typeface="Cambria" pitchFamily="34" charset="-122"/>
                <a:cs typeface="Cambria" pitchFamily="34" charset="-120"/>
              </a:rPr>
              <a:t>Her bileşiğin bu sıfıra göre “yüksekliği” bir tabloya yazılır ve her tepkimenin ısısı tek bir bağıntıyla bulunur: </a:t>
            </a:r>
            <a:pPr indent="0" marL="0">
              <a:lnSpc>
                <a:spcPct val="130000"/>
              </a:lnSpc>
              <a:buNone/>
            </a:pPr>
            <a:r>
              <a:rPr lang="en-US" sz="1750" b="1" dirty="0">
                <a:solidFill>
                  <a:srgbClr val="5F4BD8"/>
                </a:solidFill>
                <a:latin typeface="Cambria" pitchFamily="34" charset="0"/>
                <a:ea typeface="Cambria" pitchFamily="34" charset="-122"/>
                <a:cs typeface="Cambria" pitchFamily="34" charset="-120"/>
              </a:rPr>
              <a:t>ΔH° = ΣnΔH°f(ürünler) − ΣnΔH°f(girenler)</a:t>
            </a:r>
            <a:pPr indent="0" marL="0">
              <a:lnSpc>
                <a:spcPct val="130000"/>
              </a:lnSpc>
              <a:buNone/>
            </a:pPr>
            <a:r>
              <a:rPr lang="en-US" sz="1750" dirty="0">
                <a:solidFill>
                  <a:srgbClr val="0E1426"/>
                </a:solidFill>
                <a:latin typeface="Cambria" pitchFamily="34" charset="0"/>
                <a:ea typeface="Cambria" pitchFamily="34" charset="-122"/>
                <a:cs typeface="Cambria" pitchFamily="34" charset="-120"/>
              </a:rPr>
              <a:t>.</a:t>
            </a:r>
            <a:endParaRPr lang="en-US" sz="1750" dirty="0"/>
          </a:p>
        </p:txBody>
      </p:sp>
      <p:sp>
        <p:nvSpPr>
          <p:cNvPr id="9" name="Shape 7"/>
          <p:cNvSpPr/>
          <p:nvPr/>
        </p:nvSpPr>
        <p:spPr>
          <a:xfrm>
            <a:off x="640080" y="6382512"/>
            <a:ext cx="128016" cy="128016"/>
          </a:xfrm>
          <a:prstGeom prst="roundRect">
            <a:avLst>
              <a:gd name="adj" fmla="val 28571"/>
            </a:avLst>
          </a:prstGeom>
          <a:solidFill>
            <a:srgbClr val="A9E648"/>
          </a:solidFill>
          <a:ln/>
        </p:spPr>
      </p:sp>
      <p:sp>
        <p:nvSpPr>
          <p:cNvPr id="10"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1"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Bu derste</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Dört basamak, kolaydan zora: önce sezgi, sonra bağıntılar, sonra derinleşme; en sonda pekiştirme.</a:t>
            </a:r>
            <a:endParaRPr lang="en-US" sz="1450" dirty="0"/>
          </a:p>
        </p:txBody>
      </p:sp>
      <p:sp>
        <p:nvSpPr>
          <p:cNvPr id="6" name="Shape 4"/>
          <p:cNvSpPr/>
          <p:nvPr/>
        </p:nvSpPr>
        <p:spPr>
          <a:xfrm>
            <a:off x="640080"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822960" y="1645920"/>
            <a:ext cx="2211248" cy="64008"/>
          </a:xfrm>
          <a:prstGeom prst="rect">
            <a:avLst/>
          </a:prstGeom>
          <a:solidFill>
            <a:srgbClr val="3C8C21"/>
          </a:solidFill>
          <a:ln/>
        </p:spPr>
      </p:sp>
      <p:sp>
        <p:nvSpPr>
          <p:cNvPr id="8" name="Shape 6"/>
          <p:cNvSpPr/>
          <p:nvPr/>
        </p:nvSpPr>
        <p:spPr>
          <a:xfrm>
            <a:off x="859536" y="1920240"/>
            <a:ext cx="420624" cy="420624"/>
          </a:xfrm>
          <a:prstGeom prst="roundRect">
            <a:avLst>
              <a:gd name="adj" fmla="val 26000"/>
            </a:avLst>
          </a:prstGeom>
          <a:solidFill>
            <a:srgbClr val="3C8C21"/>
          </a:solidFill>
          <a:ln/>
        </p:spPr>
      </p:sp>
      <p:sp>
        <p:nvSpPr>
          <p:cNvPr id="9" name="Text 7"/>
          <p:cNvSpPr txBox="1"/>
          <p:nvPr/>
        </p:nvSpPr>
        <p:spPr>
          <a:xfrm>
            <a:off x="859536"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408176"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Temel</a:t>
            </a:r>
            <a:endParaRPr lang="en-US" sz="1900" dirty="0"/>
          </a:p>
        </p:txBody>
      </p:sp>
      <p:sp>
        <p:nvSpPr>
          <p:cNvPr id="11" name="Text 9"/>
          <p:cNvSpPr txBox="1"/>
          <p:nvPr/>
        </p:nvSpPr>
        <p:spPr>
          <a:xfrm>
            <a:off x="859536" y="2487168"/>
            <a:ext cx="2138096" cy="868680"/>
          </a:xfrm>
          <a:prstGeom prst="rect">
            <a:avLst/>
          </a:prstGeom>
          <a:noFill/>
          <a:ln/>
        </p:spPr>
        <p:txBody>
          <a:bodyPr wrap="square" lIns="0" tIns="0" rIns="0" bIns="0" rtlCol="0" anchor="t"/>
          <a:lstStyle/>
          <a:p>
            <a:pPr indent="0" marL="0">
              <a:lnSpc>
                <a:spcPct val="110000"/>
              </a:lnSpc>
              <a:buNone/>
            </a:pPr>
            <a:r>
              <a:rPr lang="en-US" sz="1000" dirty="0">
                <a:solidFill>
                  <a:srgbClr val="4A5470"/>
                </a:solidFill>
                <a:latin typeface="Calibri" pitchFamily="34" charset="0"/>
                <a:ea typeface="Calibri" pitchFamily="34" charset="-122"/>
                <a:cs typeface="Calibri" pitchFamily="34" charset="-120"/>
              </a:rPr>
              <a:t>Önce sezgi: ispirto ocağıyla başla, entalpiyi ölçmek için neden ortak bir sıfır noktası gerektiğini ve oluşum entalpisinin ne anlattığını formülsüz kavra.</a:t>
            </a:r>
            <a:endParaRPr lang="en-US" sz="1000" dirty="0"/>
          </a:p>
        </p:txBody>
      </p:sp>
      <p:sp>
        <p:nvSpPr>
          <p:cNvPr id="12" name="Shape 10"/>
          <p:cNvSpPr/>
          <p:nvPr/>
        </p:nvSpPr>
        <p:spPr>
          <a:xfrm>
            <a:off x="859536" y="3429000"/>
            <a:ext cx="2138096" cy="0"/>
          </a:xfrm>
          <a:prstGeom prst="line">
            <a:avLst/>
          </a:prstGeom>
          <a:noFill/>
          <a:ln w="9525">
            <a:solidFill>
              <a:srgbClr val="E1E5EE"/>
            </a:solidFill>
            <a:prstDash val="dash"/>
          </a:ln>
        </p:spPr>
      </p:sp>
      <p:sp>
        <p:nvSpPr>
          <p:cNvPr id="13" name="Text 11"/>
          <p:cNvSpPr txBox="1"/>
          <p:nvPr/>
        </p:nvSpPr>
        <p:spPr>
          <a:xfrm>
            <a:off x="859536" y="3566160"/>
            <a:ext cx="384048" cy="578358"/>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01</a:t>
            </a:r>
            <a:endParaRPr lang="en-US" sz="1100" dirty="0"/>
          </a:p>
        </p:txBody>
      </p:sp>
      <p:sp>
        <p:nvSpPr>
          <p:cNvPr id="14" name="Text 12"/>
          <p:cNvSpPr txBox="1"/>
          <p:nvPr/>
        </p:nvSpPr>
        <p:spPr>
          <a:xfrm>
            <a:off x="1243584" y="3566160"/>
            <a:ext cx="1754048" cy="578358"/>
          </a:xfrm>
          <a:prstGeom prst="rect">
            <a:avLst/>
          </a:prstGeom>
          <a:noFill/>
          <a:ln/>
        </p:spPr>
        <p:txBody>
          <a:bodyPr wrap="square" lIns="0" tIns="0" rIns="0" bIns="0" rtlCol="0" anchor="t"/>
          <a:lstStyle/>
          <a:p>
            <a:pPr indent="0" marL="0">
              <a:lnSpc>
                <a:spcPct val="105000"/>
              </a:lnSpc>
              <a:buNone/>
            </a:pPr>
            <a:r>
              <a:rPr lang="en-US" sz="1150" b="1" dirty="0">
                <a:solidFill>
                  <a:srgbClr val="0E1426"/>
                </a:solidFill>
                <a:latin typeface="Calibri" pitchFamily="34" charset="0"/>
                <a:ea typeface="Calibri" pitchFamily="34" charset="-122"/>
                <a:cs typeface="Calibri" pitchFamily="34" charset="-120"/>
              </a:rPr>
              <a:t>Önce gözlemle: ispirto ocağının ısısı nereden gelir?</a:t>
            </a:r>
            <a:endParaRPr lang="en-US" sz="1150" dirty="0"/>
          </a:p>
        </p:txBody>
      </p:sp>
      <p:sp>
        <p:nvSpPr>
          <p:cNvPr id="15" name="Text 13"/>
          <p:cNvSpPr txBox="1"/>
          <p:nvPr/>
        </p:nvSpPr>
        <p:spPr>
          <a:xfrm>
            <a:off x="859536" y="4199382"/>
            <a:ext cx="384048" cy="578358"/>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02</a:t>
            </a:r>
            <a:endParaRPr lang="en-US" sz="1100" dirty="0"/>
          </a:p>
        </p:txBody>
      </p:sp>
      <p:sp>
        <p:nvSpPr>
          <p:cNvPr id="16" name="Text 14"/>
          <p:cNvSpPr txBox="1"/>
          <p:nvPr/>
        </p:nvSpPr>
        <p:spPr>
          <a:xfrm>
            <a:off x="1243584" y="4199382"/>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Neden bir başlangıç noktası gerekir?</a:t>
            </a:r>
            <a:endParaRPr lang="en-US" sz="1250" dirty="0"/>
          </a:p>
        </p:txBody>
      </p:sp>
      <p:sp>
        <p:nvSpPr>
          <p:cNvPr id="17" name="Text 15"/>
          <p:cNvSpPr txBox="1"/>
          <p:nvPr/>
        </p:nvSpPr>
        <p:spPr>
          <a:xfrm>
            <a:off x="859536" y="4832604"/>
            <a:ext cx="384048" cy="578358"/>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03</a:t>
            </a:r>
            <a:endParaRPr lang="en-US" sz="1100" dirty="0"/>
          </a:p>
        </p:txBody>
      </p:sp>
      <p:sp>
        <p:nvSpPr>
          <p:cNvPr id="18" name="Text 16"/>
          <p:cNvSpPr txBox="1"/>
          <p:nvPr/>
        </p:nvSpPr>
        <p:spPr>
          <a:xfrm>
            <a:off x="1243584" y="4832604"/>
            <a:ext cx="1754048" cy="578358"/>
          </a:xfrm>
          <a:prstGeom prst="rect">
            <a:avLst/>
          </a:prstGeom>
          <a:noFill/>
          <a:ln/>
        </p:spPr>
        <p:txBody>
          <a:bodyPr wrap="square" lIns="0" tIns="0" rIns="0" bIns="0" rtlCol="0" anchor="t"/>
          <a:lstStyle/>
          <a:p>
            <a:pPr indent="0" marL="0">
              <a:lnSpc>
                <a:spcPct val="105000"/>
              </a:lnSpc>
              <a:buNone/>
            </a:pPr>
            <a:r>
              <a:rPr lang="en-US" sz="1150" b="1" dirty="0">
                <a:solidFill>
                  <a:srgbClr val="0E1426"/>
                </a:solidFill>
                <a:latin typeface="Calibri" pitchFamily="34" charset="0"/>
                <a:ea typeface="Calibri" pitchFamily="34" charset="-122"/>
                <a:cs typeface="Calibri" pitchFamily="34" charset="-120"/>
              </a:rPr>
              <a:t>Standart koşullar ve elementlerin sıfır noktası</a:t>
            </a:r>
            <a:endParaRPr lang="en-US" sz="1150" dirty="0"/>
          </a:p>
        </p:txBody>
      </p:sp>
      <p:sp>
        <p:nvSpPr>
          <p:cNvPr id="19" name="Text 17"/>
          <p:cNvSpPr txBox="1"/>
          <p:nvPr/>
        </p:nvSpPr>
        <p:spPr>
          <a:xfrm>
            <a:off x="859536" y="5465826"/>
            <a:ext cx="384048" cy="578358"/>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04</a:t>
            </a:r>
            <a:endParaRPr lang="en-US" sz="1100" dirty="0"/>
          </a:p>
        </p:txBody>
      </p:sp>
      <p:sp>
        <p:nvSpPr>
          <p:cNvPr id="20" name="Text 18"/>
          <p:cNvSpPr txBox="1"/>
          <p:nvPr/>
        </p:nvSpPr>
        <p:spPr>
          <a:xfrm>
            <a:off x="1243584" y="5465826"/>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Standart oluşum entalpisi</a:t>
            </a:r>
            <a:endParaRPr lang="en-US" sz="1250" dirty="0"/>
          </a:p>
        </p:txBody>
      </p:sp>
      <p:sp>
        <p:nvSpPr>
          <p:cNvPr id="21" name="Shape 19"/>
          <p:cNvSpPr/>
          <p:nvPr/>
        </p:nvSpPr>
        <p:spPr>
          <a:xfrm>
            <a:off x="3418256"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3601136" y="1645920"/>
            <a:ext cx="2211248" cy="64008"/>
          </a:xfrm>
          <a:prstGeom prst="rect">
            <a:avLst/>
          </a:prstGeom>
          <a:solidFill>
            <a:srgbClr val="2957D4"/>
          </a:solidFill>
          <a:ln/>
        </p:spPr>
      </p:sp>
      <p:sp>
        <p:nvSpPr>
          <p:cNvPr id="23" name="Shape 21"/>
          <p:cNvSpPr/>
          <p:nvPr/>
        </p:nvSpPr>
        <p:spPr>
          <a:xfrm>
            <a:off x="3637712" y="1920240"/>
            <a:ext cx="420624" cy="420624"/>
          </a:xfrm>
          <a:prstGeom prst="roundRect">
            <a:avLst>
              <a:gd name="adj" fmla="val 26000"/>
            </a:avLst>
          </a:prstGeom>
          <a:solidFill>
            <a:srgbClr val="2957D4"/>
          </a:solidFill>
          <a:ln/>
        </p:spPr>
      </p:sp>
      <p:sp>
        <p:nvSpPr>
          <p:cNvPr id="24" name="Text 22"/>
          <p:cNvSpPr txBox="1"/>
          <p:nvPr/>
        </p:nvSpPr>
        <p:spPr>
          <a:xfrm>
            <a:off x="3637712"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5" name="Text 23"/>
          <p:cNvSpPr txBox="1"/>
          <p:nvPr/>
        </p:nvSpPr>
        <p:spPr>
          <a:xfrm>
            <a:off x="4186352"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Orta</a:t>
            </a:r>
            <a:endParaRPr lang="en-US" sz="1900" dirty="0"/>
          </a:p>
        </p:txBody>
      </p:sp>
      <p:sp>
        <p:nvSpPr>
          <p:cNvPr id="26" name="Text 24"/>
          <p:cNvSpPr txBox="1"/>
          <p:nvPr/>
        </p:nvSpPr>
        <p:spPr>
          <a:xfrm>
            <a:off x="3637712" y="2487168"/>
            <a:ext cx="2138096" cy="868680"/>
          </a:xfrm>
          <a:prstGeom prst="rect">
            <a:avLst/>
          </a:prstGeom>
          <a:noFill/>
          <a:ln/>
        </p:spPr>
        <p:txBody>
          <a:bodyPr wrap="square" lIns="0" tIns="0" rIns="0" bIns="0" rtlCol="0" anchor="t"/>
          <a:lstStyle/>
          <a:p>
            <a:pPr indent="0" marL="0">
              <a:lnSpc>
                <a:spcPct val="110000"/>
              </a:lnSpc>
              <a:buNone/>
            </a:pPr>
            <a:r>
              <a:rPr lang="en-US" sz="1000" dirty="0">
                <a:solidFill>
                  <a:srgbClr val="4A5470"/>
                </a:solidFill>
                <a:latin typeface="Calibri" pitchFamily="34" charset="0"/>
                <a:ea typeface="Calibri" pitchFamily="34" charset="-122"/>
                <a:cs typeface="Calibri" pitchFamily="34" charset="-120"/>
              </a:rPr>
              <a:t>Bağıntılar: oluşum entalpileri tablosunu oku, tepkime entalpisini elementler yoluyla adım adım çıkar, etanolle uygula ve fiziksel hâlin farkını gör.</a:t>
            </a:r>
            <a:endParaRPr lang="en-US" sz="1000" dirty="0"/>
          </a:p>
        </p:txBody>
      </p:sp>
      <p:sp>
        <p:nvSpPr>
          <p:cNvPr id="27" name="Shape 25"/>
          <p:cNvSpPr/>
          <p:nvPr/>
        </p:nvSpPr>
        <p:spPr>
          <a:xfrm>
            <a:off x="3637712" y="3429000"/>
            <a:ext cx="2138096" cy="0"/>
          </a:xfrm>
          <a:prstGeom prst="line">
            <a:avLst/>
          </a:prstGeom>
          <a:noFill/>
          <a:ln w="9525">
            <a:solidFill>
              <a:srgbClr val="E1E5EE"/>
            </a:solidFill>
            <a:prstDash val="dash"/>
          </a:ln>
        </p:spPr>
      </p:sp>
      <p:sp>
        <p:nvSpPr>
          <p:cNvPr id="28" name="Text 26"/>
          <p:cNvSpPr txBox="1"/>
          <p:nvPr/>
        </p:nvSpPr>
        <p:spPr>
          <a:xfrm>
            <a:off x="3637712" y="3566160"/>
            <a:ext cx="384048" cy="45171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05</a:t>
            </a:r>
            <a:endParaRPr lang="en-US" sz="1100" dirty="0"/>
          </a:p>
        </p:txBody>
      </p:sp>
      <p:sp>
        <p:nvSpPr>
          <p:cNvPr id="29" name="Text 27"/>
          <p:cNvSpPr txBox="1"/>
          <p:nvPr/>
        </p:nvSpPr>
        <p:spPr>
          <a:xfrm>
            <a:off x="4021760" y="3566160"/>
            <a:ext cx="1754048" cy="45171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Oluşum entalpileri tablosu</a:t>
            </a:r>
            <a:endParaRPr lang="en-US" sz="1250" dirty="0"/>
          </a:p>
        </p:txBody>
      </p:sp>
      <p:sp>
        <p:nvSpPr>
          <p:cNvPr id="30" name="Text 28"/>
          <p:cNvSpPr txBox="1"/>
          <p:nvPr/>
        </p:nvSpPr>
        <p:spPr>
          <a:xfrm>
            <a:off x="3637712" y="4072738"/>
            <a:ext cx="384048" cy="45171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06</a:t>
            </a:r>
            <a:endParaRPr lang="en-US" sz="1100" dirty="0"/>
          </a:p>
        </p:txBody>
      </p:sp>
      <p:sp>
        <p:nvSpPr>
          <p:cNvPr id="31" name="Text 29"/>
          <p:cNvSpPr txBox="1"/>
          <p:nvPr/>
        </p:nvSpPr>
        <p:spPr>
          <a:xfrm>
            <a:off x="4021760" y="4072738"/>
            <a:ext cx="1754048" cy="45171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Tepkime entalpisini hesaplamak</a:t>
            </a:r>
            <a:endParaRPr lang="en-US" sz="1250" dirty="0"/>
          </a:p>
        </p:txBody>
      </p:sp>
      <p:sp>
        <p:nvSpPr>
          <p:cNvPr id="32" name="Text 30"/>
          <p:cNvSpPr txBox="1"/>
          <p:nvPr/>
        </p:nvSpPr>
        <p:spPr>
          <a:xfrm>
            <a:off x="3637712" y="4579315"/>
            <a:ext cx="384048" cy="45171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07</a:t>
            </a:r>
            <a:endParaRPr lang="en-US" sz="1100" dirty="0"/>
          </a:p>
        </p:txBody>
      </p:sp>
      <p:sp>
        <p:nvSpPr>
          <p:cNvPr id="33" name="Text 31"/>
          <p:cNvSpPr txBox="1"/>
          <p:nvPr/>
        </p:nvSpPr>
        <p:spPr>
          <a:xfrm>
            <a:off x="4021760" y="4579315"/>
            <a:ext cx="1754048" cy="45171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Adım adım: etanolün yanması</a:t>
            </a:r>
            <a:endParaRPr lang="en-US" sz="1250" dirty="0"/>
          </a:p>
        </p:txBody>
      </p:sp>
      <p:sp>
        <p:nvSpPr>
          <p:cNvPr id="34" name="Text 32"/>
          <p:cNvSpPr txBox="1"/>
          <p:nvPr/>
        </p:nvSpPr>
        <p:spPr>
          <a:xfrm>
            <a:off x="3637712" y="5085893"/>
            <a:ext cx="384048" cy="45171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08</a:t>
            </a:r>
            <a:endParaRPr lang="en-US" sz="1100" dirty="0"/>
          </a:p>
        </p:txBody>
      </p:sp>
      <p:sp>
        <p:nvSpPr>
          <p:cNvPr id="35" name="Text 33"/>
          <p:cNvSpPr txBox="1"/>
          <p:nvPr/>
        </p:nvSpPr>
        <p:spPr>
          <a:xfrm>
            <a:off x="4021760" y="5085893"/>
            <a:ext cx="1754048" cy="45171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Fiziksel hâl ΔH°f'yi değiştirir</a:t>
            </a:r>
            <a:endParaRPr lang="en-US" sz="1250" dirty="0"/>
          </a:p>
        </p:txBody>
      </p:sp>
      <p:sp>
        <p:nvSpPr>
          <p:cNvPr id="36" name="Text 34"/>
          <p:cNvSpPr txBox="1"/>
          <p:nvPr/>
        </p:nvSpPr>
        <p:spPr>
          <a:xfrm>
            <a:off x="3637712" y="5592470"/>
            <a:ext cx="384048" cy="45171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09</a:t>
            </a:r>
            <a:endParaRPr lang="en-US" sz="1100" dirty="0"/>
          </a:p>
        </p:txBody>
      </p:sp>
      <p:sp>
        <p:nvSpPr>
          <p:cNvPr id="37" name="Text 35"/>
          <p:cNvSpPr txBox="1"/>
          <p:nvPr/>
        </p:nvSpPr>
        <p:spPr>
          <a:xfrm>
            <a:off x="4021760" y="5592470"/>
            <a:ext cx="1754048" cy="451714"/>
          </a:xfrm>
          <a:prstGeom prst="rect">
            <a:avLst/>
          </a:prstGeom>
          <a:noFill/>
          <a:ln/>
        </p:spPr>
        <p:txBody>
          <a:bodyPr wrap="square" lIns="0" tIns="0" rIns="0" bIns="0" rtlCol="0" anchor="t"/>
          <a:lstStyle/>
          <a:p>
            <a:pPr indent="0" marL="0">
              <a:lnSpc>
                <a:spcPct val="105000"/>
              </a:lnSpc>
              <a:buNone/>
            </a:pPr>
            <a:r>
              <a:rPr lang="en-US" sz="1150" b="1" dirty="0">
                <a:solidFill>
                  <a:srgbClr val="0E1426"/>
                </a:solidFill>
                <a:latin typeface="Calibri" pitchFamily="34" charset="0"/>
                <a:ea typeface="Calibri" pitchFamily="34" charset="-122"/>
                <a:cs typeface="Calibri" pitchFamily="34" charset="-120"/>
              </a:rPr>
              <a:t>Sayılarla hisset: bir tablo, bütün yakıtlar</a:t>
            </a:r>
            <a:endParaRPr lang="en-US" sz="1150" dirty="0"/>
          </a:p>
        </p:txBody>
      </p:sp>
      <p:sp>
        <p:nvSpPr>
          <p:cNvPr id="38" name="Shape 36"/>
          <p:cNvSpPr/>
          <p:nvPr/>
        </p:nvSpPr>
        <p:spPr>
          <a:xfrm>
            <a:off x="6196432"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39" name="Shape 37"/>
          <p:cNvSpPr/>
          <p:nvPr/>
        </p:nvSpPr>
        <p:spPr>
          <a:xfrm>
            <a:off x="6379312" y="1645920"/>
            <a:ext cx="2211248" cy="64008"/>
          </a:xfrm>
          <a:prstGeom prst="rect">
            <a:avLst/>
          </a:prstGeom>
          <a:solidFill>
            <a:srgbClr val="5F4BD8"/>
          </a:solidFill>
          <a:ln/>
        </p:spPr>
      </p:sp>
      <p:sp>
        <p:nvSpPr>
          <p:cNvPr id="40" name="Shape 38"/>
          <p:cNvSpPr/>
          <p:nvPr/>
        </p:nvSpPr>
        <p:spPr>
          <a:xfrm>
            <a:off x="6415888" y="1920240"/>
            <a:ext cx="420624" cy="420624"/>
          </a:xfrm>
          <a:prstGeom prst="roundRect">
            <a:avLst>
              <a:gd name="adj" fmla="val 26000"/>
            </a:avLst>
          </a:prstGeom>
          <a:solidFill>
            <a:srgbClr val="5F4BD8"/>
          </a:solidFill>
          <a:ln/>
        </p:spPr>
      </p:sp>
      <p:sp>
        <p:nvSpPr>
          <p:cNvPr id="41" name="Text 39"/>
          <p:cNvSpPr txBox="1"/>
          <p:nvPr/>
        </p:nvSpPr>
        <p:spPr>
          <a:xfrm>
            <a:off x="6415888"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2" name="Text 40"/>
          <p:cNvSpPr txBox="1"/>
          <p:nvPr/>
        </p:nvSpPr>
        <p:spPr>
          <a:xfrm>
            <a:off x="6964528"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İleri</a:t>
            </a:r>
            <a:endParaRPr lang="en-US" sz="1900" dirty="0"/>
          </a:p>
        </p:txBody>
      </p:sp>
      <p:sp>
        <p:nvSpPr>
          <p:cNvPr id="43" name="Text 41"/>
          <p:cNvSpPr txBox="1"/>
          <p:nvPr/>
        </p:nvSpPr>
        <p:spPr>
          <a:xfrm>
            <a:off x="6415888" y="2487168"/>
            <a:ext cx="2138096" cy="868680"/>
          </a:xfrm>
          <a:prstGeom prst="rect">
            <a:avLst/>
          </a:prstGeom>
          <a:noFill/>
          <a:ln/>
        </p:spPr>
        <p:txBody>
          <a:bodyPr wrap="square" lIns="0" tIns="0" rIns="0" bIns="0" rtlCol="0" anchor="t"/>
          <a:lstStyle/>
          <a:p>
            <a:pPr indent="0" marL="0">
              <a:lnSpc>
                <a:spcPct val="110000"/>
              </a:lnSpc>
              <a:buNone/>
            </a:pPr>
            <a:r>
              <a:rPr lang="en-US" sz="1000" dirty="0">
                <a:solidFill>
                  <a:srgbClr val="4A5470"/>
                </a:solidFill>
                <a:latin typeface="Calibri" pitchFamily="34" charset="0"/>
                <a:ea typeface="Calibri" pitchFamily="34" charset="-122"/>
                <a:cs typeface="Calibri" pitchFamily="34" charset="-120"/>
              </a:rPr>
              <a:t>Derinleşme: gram ve litreyle ısı hesabı, ölçülen ısıdan bilinmeyen ΔH°f'yi bulmak, bağ enerjisiyle karşılaştırma ve oluşum entalpisinin gerçek hayattaki yeri.</a:t>
            </a:r>
            <a:endParaRPr lang="en-US" sz="1000" dirty="0"/>
          </a:p>
        </p:txBody>
      </p:sp>
      <p:sp>
        <p:nvSpPr>
          <p:cNvPr id="44" name="Shape 42"/>
          <p:cNvSpPr/>
          <p:nvPr/>
        </p:nvSpPr>
        <p:spPr>
          <a:xfrm>
            <a:off x="6415888" y="3429000"/>
            <a:ext cx="2138096" cy="0"/>
          </a:xfrm>
          <a:prstGeom prst="line">
            <a:avLst/>
          </a:prstGeom>
          <a:noFill/>
          <a:ln w="9525">
            <a:solidFill>
              <a:srgbClr val="E1E5EE"/>
            </a:solidFill>
            <a:prstDash val="dash"/>
          </a:ln>
        </p:spPr>
      </p:sp>
      <p:sp>
        <p:nvSpPr>
          <p:cNvPr id="45" name="Text 43"/>
          <p:cNvSpPr txBox="1"/>
          <p:nvPr/>
        </p:nvSpPr>
        <p:spPr>
          <a:xfrm>
            <a:off x="6415888" y="3566160"/>
            <a:ext cx="384048" cy="578358"/>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10</a:t>
            </a:r>
            <a:endParaRPr lang="en-US" sz="1100" dirty="0"/>
          </a:p>
        </p:txBody>
      </p:sp>
      <p:sp>
        <p:nvSpPr>
          <p:cNvPr id="46" name="Text 44"/>
          <p:cNvSpPr txBox="1"/>
          <p:nvPr/>
        </p:nvSpPr>
        <p:spPr>
          <a:xfrm>
            <a:off x="6799936" y="3566160"/>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Miktar hesapları: mol, gram, litre</a:t>
            </a:r>
            <a:endParaRPr lang="en-US" sz="1250" dirty="0"/>
          </a:p>
        </p:txBody>
      </p:sp>
      <p:sp>
        <p:nvSpPr>
          <p:cNvPr id="47" name="Text 45"/>
          <p:cNvSpPr txBox="1"/>
          <p:nvPr/>
        </p:nvSpPr>
        <p:spPr>
          <a:xfrm>
            <a:off x="6415888" y="4199382"/>
            <a:ext cx="384048" cy="578358"/>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11</a:t>
            </a:r>
            <a:endParaRPr lang="en-US" sz="1100" dirty="0"/>
          </a:p>
        </p:txBody>
      </p:sp>
      <p:sp>
        <p:nvSpPr>
          <p:cNvPr id="48" name="Text 46"/>
          <p:cNvSpPr txBox="1"/>
          <p:nvPr/>
        </p:nvSpPr>
        <p:spPr>
          <a:xfrm>
            <a:off x="6799936" y="4199382"/>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Geri hesap: bilinmeyen ΔH°f</a:t>
            </a:r>
            <a:endParaRPr lang="en-US" sz="1250" dirty="0"/>
          </a:p>
        </p:txBody>
      </p:sp>
      <p:sp>
        <p:nvSpPr>
          <p:cNvPr id="49" name="Text 47"/>
          <p:cNvSpPr txBox="1"/>
          <p:nvPr/>
        </p:nvSpPr>
        <p:spPr>
          <a:xfrm>
            <a:off x="6415888" y="4832604"/>
            <a:ext cx="384048" cy="578358"/>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12</a:t>
            </a:r>
            <a:endParaRPr lang="en-US" sz="1100" dirty="0"/>
          </a:p>
        </p:txBody>
      </p:sp>
      <p:sp>
        <p:nvSpPr>
          <p:cNvPr id="50" name="Text 48"/>
          <p:cNvSpPr txBox="1"/>
          <p:nvPr/>
        </p:nvSpPr>
        <p:spPr>
          <a:xfrm>
            <a:off x="6799936" y="4832604"/>
            <a:ext cx="1754048" cy="578358"/>
          </a:xfrm>
          <a:prstGeom prst="rect">
            <a:avLst/>
          </a:prstGeom>
          <a:noFill/>
          <a:ln/>
        </p:spPr>
        <p:txBody>
          <a:bodyPr wrap="square" lIns="0" tIns="0" rIns="0" bIns="0" rtlCol="0" anchor="t"/>
          <a:lstStyle/>
          <a:p>
            <a:pPr indent="0" marL="0">
              <a:lnSpc>
                <a:spcPct val="105000"/>
              </a:lnSpc>
              <a:buNone/>
            </a:pPr>
            <a:r>
              <a:rPr lang="en-US" sz="1150" b="1" dirty="0">
                <a:solidFill>
                  <a:srgbClr val="0E1426"/>
                </a:solidFill>
                <a:latin typeface="Calibri" pitchFamily="34" charset="0"/>
                <a:ea typeface="Calibri" pitchFamily="34" charset="-122"/>
                <a:cs typeface="Calibri" pitchFamily="34" charset="-120"/>
              </a:rPr>
              <a:t>İki yöntem: bağ enerjisi mi, oluşum entalpisi mi?</a:t>
            </a:r>
            <a:endParaRPr lang="en-US" sz="1150" dirty="0"/>
          </a:p>
        </p:txBody>
      </p:sp>
      <p:sp>
        <p:nvSpPr>
          <p:cNvPr id="51" name="Text 49"/>
          <p:cNvSpPr txBox="1"/>
          <p:nvPr/>
        </p:nvSpPr>
        <p:spPr>
          <a:xfrm>
            <a:off x="6415888" y="5465826"/>
            <a:ext cx="384048" cy="578358"/>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13</a:t>
            </a:r>
            <a:endParaRPr lang="en-US" sz="1100" dirty="0"/>
          </a:p>
        </p:txBody>
      </p:sp>
      <p:sp>
        <p:nvSpPr>
          <p:cNvPr id="52" name="Text 50"/>
          <p:cNvSpPr txBox="1"/>
          <p:nvPr/>
        </p:nvSpPr>
        <p:spPr>
          <a:xfrm>
            <a:off x="6799936" y="5465826"/>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Oluşum entalpisi gerçek dünyada</a:t>
            </a:r>
            <a:endParaRPr lang="en-US" sz="1250" dirty="0"/>
          </a:p>
        </p:txBody>
      </p:sp>
      <p:sp>
        <p:nvSpPr>
          <p:cNvPr id="53" name="Shape 51"/>
          <p:cNvSpPr/>
          <p:nvPr/>
        </p:nvSpPr>
        <p:spPr>
          <a:xfrm>
            <a:off x="8974607"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54" name="Shape 52"/>
          <p:cNvSpPr/>
          <p:nvPr/>
        </p:nvSpPr>
        <p:spPr>
          <a:xfrm>
            <a:off x="9157487" y="1645920"/>
            <a:ext cx="2211248" cy="64008"/>
          </a:xfrm>
          <a:prstGeom prst="rect">
            <a:avLst/>
          </a:prstGeom>
          <a:solidFill>
            <a:srgbClr val="A56209"/>
          </a:solidFill>
          <a:ln/>
        </p:spPr>
      </p:sp>
      <p:sp>
        <p:nvSpPr>
          <p:cNvPr id="55" name="Shape 53"/>
          <p:cNvSpPr/>
          <p:nvPr/>
        </p:nvSpPr>
        <p:spPr>
          <a:xfrm>
            <a:off x="9194063" y="1920240"/>
            <a:ext cx="420624" cy="420624"/>
          </a:xfrm>
          <a:prstGeom prst="roundRect">
            <a:avLst>
              <a:gd name="adj" fmla="val 26000"/>
            </a:avLst>
          </a:prstGeom>
          <a:solidFill>
            <a:srgbClr val="A56209"/>
          </a:solidFill>
          <a:ln/>
        </p:spPr>
      </p:sp>
      <p:sp>
        <p:nvSpPr>
          <p:cNvPr id="56" name="Text 54"/>
          <p:cNvSpPr txBox="1"/>
          <p:nvPr/>
        </p:nvSpPr>
        <p:spPr>
          <a:xfrm>
            <a:off x="9194063"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57" name="Text 55"/>
          <p:cNvSpPr txBox="1"/>
          <p:nvPr/>
        </p:nvSpPr>
        <p:spPr>
          <a:xfrm>
            <a:off x="9742703"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Pekiştir</a:t>
            </a:r>
            <a:endParaRPr lang="en-US" sz="1900" dirty="0"/>
          </a:p>
        </p:txBody>
      </p:sp>
      <p:sp>
        <p:nvSpPr>
          <p:cNvPr id="58" name="Text 56"/>
          <p:cNvSpPr txBox="1"/>
          <p:nvPr/>
        </p:nvSpPr>
        <p:spPr>
          <a:xfrm>
            <a:off x="9194063" y="2487168"/>
            <a:ext cx="2138096" cy="868680"/>
          </a:xfrm>
          <a:prstGeom prst="rect">
            <a:avLst/>
          </a:prstGeom>
          <a:noFill/>
          <a:ln/>
        </p:spPr>
        <p:txBody>
          <a:bodyPr wrap="square" lIns="0" tIns="0" rIns="0" bIns="0" rtlCol="0" anchor="t"/>
          <a:lstStyle/>
          <a:p>
            <a:pPr indent="0" marL="0">
              <a:lnSpc>
                <a:spcPct val="110000"/>
              </a:lnSpc>
              <a:buNone/>
            </a:pPr>
            <a:r>
              <a:rPr lang="en-US" sz="1150" dirty="0">
                <a:solidFill>
                  <a:srgbClr val="4A5470"/>
                </a:solidFill>
                <a:latin typeface="Calibri" pitchFamily="34" charset="0"/>
                <a:ea typeface="Calibri" pitchFamily="34" charset="-122"/>
                <a:cs typeface="Calibri" pitchFamily="34" charset="-120"/>
              </a:rPr>
              <a:t>Kolaydan zora çözümlü örnekler ve oluşum entalpisi sorularında puan kaybettiren klasik hatalar.</a:t>
            </a:r>
            <a:endParaRPr lang="en-US" sz="1150" dirty="0"/>
          </a:p>
        </p:txBody>
      </p:sp>
      <p:sp>
        <p:nvSpPr>
          <p:cNvPr id="59" name="Shape 57"/>
          <p:cNvSpPr/>
          <p:nvPr/>
        </p:nvSpPr>
        <p:spPr>
          <a:xfrm>
            <a:off x="9194063" y="3429000"/>
            <a:ext cx="2138096" cy="0"/>
          </a:xfrm>
          <a:prstGeom prst="line">
            <a:avLst/>
          </a:prstGeom>
          <a:noFill/>
          <a:ln w="9525">
            <a:solidFill>
              <a:srgbClr val="E1E5EE"/>
            </a:solidFill>
            <a:prstDash val="dash"/>
          </a:ln>
        </p:spPr>
      </p:sp>
      <p:sp>
        <p:nvSpPr>
          <p:cNvPr id="60" name="Text 58"/>
          <p:cNvSpPr txBox="1"/>
          <p:nvPr/>
        </p:nvSpPr>
        <p:spPr>
          <a:xfrm>
            <a:off x="9194063" y="3566160"/>
            <a:ext cx="384048" cy="603504"/>
          </a:xfrm>
          <a:prstGeom prst="rect">
            <a:avLst/>
          </a:prstGeom>
          <a:noFill/>
          <a:ln/>
        </p:spPr>
        <p:txBody>
          <a:bodyPr wrap="square" lIns="0" tIns="0" rIns="0" bIns="0" rtlCol="0" anchor="t"/>
          <a:lstStyle/>
          <a:p>
            <a:pPr indent="0" marL="0">
              <a:buNone/>
            </a:pPr>
            <a:r>
              <a:rPr lang="en-US" sz="1100" b="1" dirty="0">
                <a:solidFill>
                  <a:srgbClr val="A56209"/>
                </a:solidFill>
                <a:latin typeface="Calibri" pitchFamily="34" charset="0"/>
                <a:ea typeface="Calibri" pitchFamily="34" charset="-122"/>
                <a:cs typeface="Calibri" pitchFamily="34" charset="-120"/>
              </a:rPr>
              <a:t>14</a:t>
            </a:r>
            <a:endParaRPr lang="en-US" sz="1100" dirty="0"/>
          </a:p>
        </p:txBody>
      </p:sp>
      <p:sp>
        <p:nvSpPr>
          <p:cNvPr id="61" name="Text 59"/>
          <p:cNvSpPr txBox="1"/>
          <p:nvPr/>
        </p:nvSpPr>
        <p:spPr>
          <a:xfrm>
            <a:off x="9578111" y="3566160"/>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Çözümlü örnekler</a:t>
            </a:r>
            <a:endParaRPr lang="en-US" sz="1250" dirty="0"/>
          </a:p>
        </p:txBody>
      </p:sp>
      <p:sp>
        <p:nvSpPr>
          <p:cNvPr id="62" name="Text 60"/>
          <p:cNvSpPr txBox="1"/>
          <p:nvPr/>
        </p:nvSpPr>
        <p:spPr>
          <a:xfrm>
            <a:off x="9194063" y="4224528"/>
            <a:ext cx="384048" cy="603504"/>
          </a:xfrm>
          <a:prstGeom prst="rect">
            <a:avLst/>
          </a:prstGeom>
          <a:noFill/>
          <a:ln/>
        </p:spPr>
        <p:txBody>
          <a:bodyPr wrap="square" lIns="0" tIns="0" rIns="0" bIns="0" rtlCol="0" anchor="t"/>
          <a:lstStyle/>
          <a:p>
            <a:pPr indent="0" marL="0">
              <a:buNone/>
            </a:pPr>
            <a:r>
              <a:rPr lang="en-US" sz="1100" b="1" dirty="0">
                <a:solidFill>
                  <a:srgbClr val="A56209"/>
                </a:solidFill>
                <a:latin typeface="Calibri" pitchFamily="34" charset="0"/>
                <a:ea typeface="Calibri" pitchFamily="34" charset="-122"/>
                <a:cs typeface="Calibri" pitchFamily="34" charset="-120"/>
              </a:rPr>
              <a:t>15</a:t>
            </a:r>
            <a:endParaRPr lang="en-US" sz="1100" dirty="0"/>
          </a:p>
        </p:txBody>
      </p:sp>
      <p:sp>
        <p:nvSpPr>
          <p:cNvPr id="63" name="Text 61"/>
          <p:cNvSpPr txBox="1"/>
          <p:nvPr/>
        </p:nvSpPr>
        <p:spPr>
          <a:xfrm>
            <a:off x="9578111" y="4224528"/>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Sık yapılan hatalar</a:t>
            </a:r>
            <a:endParaRPr lang="en-US" sz="1250" dirty="0"/>
          </a:p>
        </p:txBody>
      </p:sp>
      <p:sp>
        <p:nvSpPr>
          <p:cNvPr id="64" name="Shape 62"/>
          <p:cNvSpPr/>
          <p:nvPr/>
        </p:nvSpPr>
        <p:spPr>
          <a:xfrm>
            <a:off x="640080" y="6382512"/>
            <a:ext cx="128016" cy="128016"/>
          </a:xfrm>
          <a:prstGeom prst="roundRect">
            <a:avLst>
              <a:gd name="adj" fmla="val 28571"/>
            </a:avLst>
          </a:prstGeom>
          <a:solidFill>
            <a:srgbClr val="A9E648"/>
          </a:solidFill>
          <a:ln/>
        </p:spPr>
      </p:sp>
      <p:sp>
        <p:nvSpPr>
          <p:cNvPr id="65" name="Text 63"/>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66" name="Text 64"/>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hatırlayalım · 1 / 2</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Bu konuya başlamadan önce bilmen gereken birkaç şey.</a:t>
            </a:r>
            <a:endParaRPr lang="en-US" sz="1450" dirty="0"/>
          </a:p>
        </p:txBody>
      </p:sp>
      <p:sp>
        <p:nvSpPr>
          <p:cNvPr id="6" name="Shape 4"/>
          <p:cNvSpPr/>
          <p:nvPr/>
        </p:nvSpPr>
        <p:spPr>
          <a:xfrm>
            <a:off x="640080" y="1645920"/>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914400" y="2100072"/>
            <a:ext cx="457200" cy="457200"/>
          </a:xfrm>
          <a:prstGeom prst="roundRect">
            <a:avLst>
              <a:gd name="adj" fmla="val 26000"/>
            </a:avLst>
          </a:prstGeom>
          <a:solidFill>
            <a:srgbClr val="3C8C21"/>
          </a:solidFill>
          <a:ln/>
        </p:spPr>
      </p:sp>
      <p:sp>
        <p:nvSpPr>
          <p:cNvPr id="8" name="Text 6"/>
          <p:cNvSpPr txBox="1"/>
          <p:nvPr/>
        </p:nvSpPr>
        <p:spPr>
          <a:xfrm>
            <a:off x="914400" y="21000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1645920" y="1755648"/>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Entalpi (H):</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bir maddenin sabit basınçta taşıdığı ısı içeriği. Tek başına ölçülemez; ölçülen, tepkimedeki değişimidir: ΔH = H(ürünler) − H(girenler).</a:t>
            </a:r>
            <a:endParaRPr lang="en-US" sz="2000" dirty="0"/>
          </a:p>
        </p:txBody>
      </p:sp>
      <p:sp>
        <p:nvSpPr>
          <p:cNvPr id="10" name="Shape 8"/>
          <p:cNvSpPr/>
          <p:nvPr/>
        </p:nvSpPr>
        <p:spPr>
          <a:xfrm>
            <a:off x="640080" y="3212592"/>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1" name="Shape 9"/>
          <p:cNvSpPr/>
          <p:nvPr/>
        </p:nvSpPr>
        <p:spPr>
          <a:xfrm>
            <a:off x="914400" y="3666744"/>
            <a:ext cx="457200" cy="457200"/>
          </a:xfrm>
          <a:prstGeom prst="roundRect">
            <a:avLst>
              <a:gd name="adj" fmla="val 26000"/>
            </a:avLst>
          </a:prstGeom>
          <a:solidFill>
            <a:srgbClr val="3C8C21"/>
          </a:solidFill>
          <a:ln/>
        </p:spPr>
      </p:sp>
      <p:sp>
        <p:nvSpPr>
          <p:cNvPr id="12" name="Text 10"/>
          <p:cNvSpPr txBox="1"/>
          <p:nvPr/>
        </p:nvSpPr>
        <p:spPr>
          <a:xfrm>
            <a:off x="914400" y="366674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1645920" y="3322320"/>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Ekzotermik ve endotermik:</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ısı veren olayda ΔH &lt; 0, ısı alan olayda ΔH &gt; 0 olur. Yanan odun ekzotermik, eriyen buz endotermiktir.</a:t>
            </a:r>
            <a:endParaRPr lang="en-US" sz="2000" dirty="0"/>
          </a:p>
        </p:txBody>
      </p:sp>
      <p:sp>
        <p:nvSpPr>
          <p:cNvPr id="14" name="Shape 12"/>
          <p:cNvSpPr/>
          <p:nvPr/>
        </p:nvSpPr>
        <p:spPr>
          <a:xfrm>
            <a:off x="640080" y="4779264"/>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914400" y="5233416"/>
            <a:ext cx="457200" cy="457200"/>
          </a:xfrm>
          <a:prstGeom prst="roundRect">
            <a:avLst>
              <a:gd name="adj" fmla="val 26000"/>
            </a:avLst>
          </a:prstGeom>
          <a:solidFill>
            <a:srgbClr val="3C8C21"/>
          </a:solidFill>
          <a:ln/>
        </p:spPr>
      </p:sp>
      <p:sp>
        <p:nvSpPr>
          <p:cNvPr id="16" name="Text 14"/>
          <p:cNvSpPr txBox="1"/>
          <p:nvPr/>
        </p:nvSpPr>
        <p:spPr>
          <a:xfrm>
            <a:off x="914400" y="523341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1645920" y="4888992"/>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Mol:</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6,02·10²³ taneciklik madde miktarı. Kütleden mol sayısı n = m / M ile bulunur: 18 g su 1 moldür.</a:t>
            </a:r>
            <a:endParaRPr lang="en-US" sz="2000" dirty="0"/>
          </a:p>
        </p:txBody>
      </p:sp>
      <p:sp>
        <p:nvSpPr>
          <p:cNvPr id="18" name="Shape 16"/>
          <p:cNvSpPr/>
          <p:nvPr/>
        </p:nvSpPr>
        <p:spPr>
          <a:xfrm>
            <a:off x="640080" y="6382512"/>
            <a:ext cx="128016" cy="128016"/>
          </a:xfrm>
          <a:prstGeom prst="roundRect">
            <a:avLst>
              <a:gd name="adj" fmla="val 28571"/>
            </a:avLst>
          </a:prstGeom>
          <a:solidFill>
            <a:srgbClr val="A9E648"/>
          </a:solidFill>
          <a:ln/>
        </p:spPr>
      </p:sp>
      <p:sp>
        <p:nvSpPr>
          <p:cNvPr id="19" name="Text 1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20" name="Text 1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04</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hatırlayalım · 2 / 2</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Bu konuya başlamadan önce bilmen gereken birkaç şey.</a:t>
            </a:r>
            <a:endParaRPr lang="en-US" sz="1450" dirty="0"/>
          </a:p>
        </p:txBody>
      </p:sp>
      <p:sp>
        <p:nvSpPr>
          <p:cNvPr id="6" name="Shape 4"/>
          <p:cNvSpPr/>
          <p:nvPr/>
        </p:nvSpPr>
        <p:spPr>
          <a:xfrm>
            <a:off x="640080" y="1645920"/>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914400" y="2100072"/>
            <a:ext cx="457200" cy="457200"/>
          </a:xfrm>
          <a:prstGeom prst="roundRect">
            <a:avLst>
              <a:gd name="adj" fmla="val 26000"/>
            </a:avLst>
          </a:prstGeom>
          <a:solidFill>
            <a:srgbClr val="3C8C21"/>
          </a:solidFill>
          <a:ln/>
        </p:spPr>
      </p:sp>
      <p:sp>
        <p:nvSpPr>
          <p:cNvPr id="8" name="Text 6"/>
          <p:cNvSpPr txBox="1"/>
          <p:nvPr/>
        </p:nvSpPr>
        <p:spPr>
          <a:xfrm>
            <a:off x="914400" y="21000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9" name="Text 7"/>
          <p:cNvSpPr txBox="1"/>
          <p:nvPr/>
        </p:nvSpPr>
        <p:spPr>
          <a:xfrm>
            <a:off x="1645920" y="1755648"/>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Element ve bileşik:</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element tek tür atomdan oluşur (O₂, Fe, C); bileşikte birden çok element birleşmiştir (H₂O, CO₂).</a:t>
            </a:r>
            <a:endParaRPr lang="en-US" sz="2000" dirty="0"/>
          </a:p>
        </p:txBody>
      </p:sp>
      <p:sp>
        <p:nvSpPr>
          <p:cNvPr id="10" name="Shape 8"/>
          <p:cNvSpPr/>
          <p:nvPr/>
        </p:nvSpPr>
        <p:spPr>
          <a:xfrm>
            <a:off x="640080" y="3212592"/>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1" name="Shape 9"/>
          <p:cNvSpPr/>
          <p:nvPr/>
        </p:nvSpPr>
        <p:spPr>
          <a:xfrm>
            <a:off x="914400" y="3666744"/>
            <a:ext cx="457200" cy="457200"/>
          </a:xfrm>
          <a:prstGeom prst="roundRect">
            <a:avLst>
              <a:gd name="adj" fmla="val 26000"/>
            </a:avLst>
          </a:prstGeom>
          <a:solidFill>
            <a:srgbClr val="3C8C21"/>
          </a:solidFill>
          <a:ln/>
        </p:spPr>
      </p:sp>
      <p:sp>
        <p:nvSpPr>
          <p:cNvPr id="12" name="Text 10"/>
          <p:cNvSpPr txBox="1"/>
          <p:nvPr/>
        </p:nvSpPr>
        <p:spPr>
          <a:xfrm>
            <a:off x="914400" y="366674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3" name="Text 11"/>
          <p:cNvSpPr txBox="1"/>
          <p:nvPr/>
        </p:nvSpPr>
        <p:spPr>
          <a:xfrm>
            <a:off x="1645920" y="3322320"/>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Hâl simgeleri:</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(k) katı, (s) sıvı, (g) gaz. H₂O(s) sıvı su, H₂O(g) su buharıdır.</a:t>
            </a:r>
            <a:endParaRPr lang="en-US" sz="2000" dirty="0"/>
          </a:p>
        </p:txBody>
      </p:sp>
      <p:sp>
        <p:nvSpPr>
          <p:cNvPr id="14" name="Shape 12"/>
          <p:cNvSpPr/>
          <p:nvPr/>
        </p:nvSpPr>
        <p:spPr>
          <a:xfrm>
            <a:off x="640080" y="4779264"/>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914400" y="5233416"/>
            <a:ext cx="457200" cy="457200"/>
          </a:xfrm>
          <a:prstGeom prst="roundRect">
            <a:avLst>
              <a:gd name="adj" fmla="val 26000"/>
            </a:avLst>
          </a:prstGeom>
          <a:solidFill>
            <a:srgbClr val="3C8C21"/>
          </a:solidFill>
          <a:ln/>
        </p:spPr>
      </p:sp>
      <p:sp>
        <p:nvSpPr>
          <p:cNvPr id="16" name="Text 14"/>
          <p:cNvSpPr txBox="1"/>
          <p:nvPr/>
        </p:nvSpPr>
        <p:spPr>
          <a:xfrm>
            <a:off x="914400" y="523341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17" name="Text 15"/>
          <p:cNvSpPr txBox="1"/>
          <p:nvPr/>
        </p:nvSpPr>
        <p:spPr>
          <a:xfrm>
            <a:off x="1645920" y="4888992"/>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Katsayılar:</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2H₂(g) + O₂(g) → 2H₂O(s) denklemindeki 2, 1, 2 sayıları mol oranını verir. Katsayılar iki katına çıkınca ΔH de iki katına çıkar.</a:t>
            </a:r>
            <a:endParaRPr lang="en-US" sz="2000" dirty="0"/>
          </a:p>
        </p:txBody>
      </p:sp>
      <p:sp>
        <p:nvSpPr>
          <p:cNvPr id="18" name="Shape 16"/>
          <p:cNvSpPr/>
          <p:nvPr/>
        </p:nvSpPr>
        <p:spPr>
          <a:xfrm>
            <a:off x="640080" y="6382512"/>
            <a:ext cx="128016" cy="128016"/>
          </a:xfrm>
          <a:prstGeom prst="roundRect">
            <a:avLst>
              <a:gd name="adj" fmla="val 28571"/>
            </a:avLst>
          </a:prstGeom>
          <a:solidFill>
            <a:srgbClr val="A9E648"/>
          </a:solidFill>
          <a:ln/>
        </p:spPr>
      </p:sp>
      <p:sp>
        <p:nvSpPr>
          <p:cNvPr id="19" name="Text 1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20" name="Text 1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C6F36B"/>
                </a:solidFill>
                <a:latin typeface="Cambria" pitchFamily="34" charset="0"/>
                <a:ea typeface="Cambria" pitchFamily="34" charset="-122"/>
                <a:cs typeface="Cambria" pitchFamily="34" charset="-120"/>
              </a:rPr>
              <a:t>1</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C6F36B"/>
                </a:solidFill>
                <a:latin typeface="Calibri" pitchFamily="34" charset="0"/>
                <a:ea typeface="Calibri" pitchFamily="34" charset="-122"/>
                <a:cs typeface="Calibri" pitchFamily="34" charset="-120"/>
              </a:rPr>
              <a:t>BASAMAK 1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Temel</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400" dirty="0">
                <a:solidFill>
                  <a:srgbClr val="C3CEE8"/>
                </a:solidFill>
                <a:latin typeface="Calibri" pitchFamily="34" charset="0"/>
                <a:ea typeface="Calibri" pitchFamily="34" charset="-122"/>
                <a:cs typeface="Calibri" pitchFamily="34" charset="-120"/>
              </a:rPr>
              <a:t>Önce sezgi: ispirto ocağıyla başla, entalpiyi ölçmek için neden ortak bir sıfır noktası gerektiğini ve oluşum entalpisinin ne anlattığını formülsüz kavra.</a:t>
            </a:r>
            <a:endParaRPr lang="en-US" sz="14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01   </a:t>
            </a:r>
            <a:pPr indent="0" marL="0">
              <a:buNone/>
            </a:pPr>
            <a:r>
              <a:rPr lang="en-US" sz="1300" dirty="0">
                <a:solidFill>
                  <a:srgbClr val="FFFFFF"/>
                </a:solidFill>
                <a:latin typeface="Calibri" pitchFamily="34" charset="0"/>
                <a:ea typeface="Calibri" pitchFamily="34" charset="-122"/>
                <a:cs typeface="Calibri" pitchFamily="34" charset="-120"/>
              </a:rPr>
              <a:t>Önce gözlemle: ispirto ocağının ısısı nereden gelir?</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02   </a:t>
            </a:r>
            <a:pPr indent="0" marL="0">
              <a:buNone/>
            </a:pPr>
            <a:r>
              <a:rPr lang="en-US" sz="1300" dirty="0">
                <a:solidFill>
                  <a:srgbClr val="FFFFFF"/>
                </a:solidFill>
                <a:latin typeface="Calibri" pitchFamily="34" charset="0"/>
                <a:ea typeface="Calibri" pitchFamily="34" charset="-122"/>
                <a:cs typeface="Calibri" pitchFamily="34" charset="-120"/>
              </a:rPr>
              <a:t>Neden bir başlangıç noktası gerekir?</a:t>
            </a:r>
            <a:endParaRPr lang="en-US" sz="1300" dirty="0"/>
          </a:p>
        </p:txBody>
      </p:sp>
      <p:sp>
        <p:nvSpPr>
          <p:cNvPr id="8" name="Text 6"/>
          <p:cNvSpPr txBox="1"/>
          <p:nvPr/>
        </p:nvSpPr>
        <p:spPr>
          <a:xfrm>
            <a:off x="731520" y="5230368"/>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03   </a:t>
            </a:r>
            <a:pPr indent="0" marL="0">
              <a:buNone/>
            </a:pPr>
            <a:r>
              <a:rPr lang="en-US" sz="1300" dirty="0">
                <a:solidFill>
                  <a:srgbClr val="FFFFFF"/>
                </a:solidFill>
                <a:latin typeface="Calibri" pitchFamily="34" charset="0"/>
                <a:ea typeface="Calibri" pitchFamily="34" charset="-122"/>
                <a:cs typeface="Calibri" pitchFamily="34" charset="-120"/>
              </a:rPr>
              <a:t>Standart koşullar ve elementlerin sıfır noktası</a:t>
            </a:r>
            <a:endParaRPr lang="en-US" sz="1300" dirty="0"/>
          </a:p>
        </p:txBody>
      </p:sp>
      <p:sp>
        <p:nvSpPr>
          <p:cNvPr id="9" name="Text 7"/>
          <p:cNvSpPr txBox="1"/>
          <p:nvPr/>
        </p:nvSpPr>
        <p:spPr>
          <a:xfrm>
            <a:off x="731520" y="5559552"/>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04   </a:t>
            </a:r>
            <a:pPr indent="0" marL="0">
              <a:buNone/>
            </a:pPr>
            <a:r>
              <a:rPr lang="en-US" sz="1300" dirty="0">
                <a:solidFill>
                  <a:srgbClr val="FFFFFF"/>
                </a:solidFill>
                <a:latin typeface="Calibri" pitchFamily="34" charset="0"/>
                <a:ea typeface="Calibri" pitchFamily="34" charset="-122"/>
                <a:cs typeface="Calibri" pitchFamily="34" charset="-120"/>
              </a:rPr>
              <a:t>Standart oluşum entalpisi</a:t>
            </a:r>
            <a:endParaRPr lang="en-US" sz="1300" dirty="0"/>
          </a:p>
        </p:txBody>
      </p:sp>
      <p:sp>
        <p:nvSpPr>
          <p:cNvPr id="10" name="Shape 8"/>
          <p:cNvSpPr/>
          <p:nvPr/>
        </p:nvSpPr>
        <p:spPr>
          <a:xfrm>
            <a:off x="6117336" y="905256"/>
            <a:ext cx="5489143" cy="3696005"/>
          </a:xfrm>
          <a:prstGeom prst="roundRect">
            <a:avLst>
              <a:gd name="adj" fmla="val 3464"/>
            </a:avLst>
          </a:prstGeom>
          <a:solidFill>
            <a:srgbClr val="1C2542"/>
          </a:solidFill>
          <a:ln w="9525">
            <a:solidFill>
              <a:srgbClr val="2C3860"/>
            </a:solidFill>
            <a:prstDash val="solid"/>
          </a:ln>
        </p:spPr>
      </p:sp>
      <p:pic>
        <p:nvPicPr>
          <p:cNvPr id="11" name="Image 0" descr="/tmp/claude-1000/-opt-dersler/1d623a45-0112-427a-9abb-0c648368bda2/scratchpad/sunum/sekiller/olusum-entalpisi-gunluk-kart.jpg">    </p:cNvPr>
          <p:cNvPicPr>
            <a:picLocks noChangeAspect="1"/>
          </p:cNvPicPr>
          <p:nvPr/>
        </p:nvPicPr>
        <p:blipFill>
          <a:blip r:embed="rId1"/>
          <a:stretch>
            <a:fillRect/>
          </a:stretch>
        </p:blipFill>
        <p:spPr>
          <a:xfrm>
            <a:off x="6172200" y="960120"/>
            <a:ext cx="5379415" cy="3586277"/>
          </a:xfrm>
          <a:prstGeom prst="rect">
            <a:avLst/>
          </a:prstGeom>
        </p:spPr>
      </p:pic>
      <p:sp>
        <p:nvSpPr>
          <p:cNvPr id="12" name="Text 9"/>
          <p:cNvSpPr txBox="1"/>
          <p:nvPr/>
        </p:nvSpPr>
        <p:spPr>
          <a:xfrm>
            <a:off x="6172200" y="4774997"/>
            <a:ext cx="5379415" cy="1214323"/>
          </a:xfrm>
          <a:prstGeom prst="rect">
            <a:avLst/>
          </a:prstGeom>
          <a:noFill/>
          <a:ln/>
        </p:spPr>
        <p:txBody>
          <a:bodyPr wrap="square" lIns="0" tIns="0" rIns="0" bIns="0" rtlCol="0" anchor="t"/>
          <a:lstStyle/>
          <a:p>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İspirto ocağı beherdeki suyu ısıtıyor.</a:t>
            </a:r>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 Fitilden yükselen etanol buharı havanın oksijeniyle yanar; karbondioksit ve su buharı oluşur. Termometrenin yükselişi, açığa çıkan ısının suya geçen kısmını gösterir; ısının bir bölümü alevin çevresindeki havaya kaçar. Beherin dibindeki küçük kabarcıklar, ısınan sudan ayrılan çözünmüş havadır: kaynama henüz başlamamıştır.</a:t>
            </a:r>
            <a:endParaRPr lang="en-US" sz="1150" dirty="0"/>
          </a:p>
        </p:txBody>
      </p:sp>
      <p:sp>
        <p:nvSpPr>
          <p:cNvPr id="13" name="Shape 10"/>
          <p:cNvSpPr/>
          <p:nvPr/>
        </p:nvSpPr>
        <p:spPr>
          <a:xfrm>
            <a:off x="640080" y="6382512"/>
            <a:ext cx="128016" cy="128016"/>
          </a:xfrm>
          <a:prstGeom prst="roundRect">
            <a:avLst>
              <a:gd name="adj" fmla="val 28571"/>
            </a:avLst>
          </a:prstGeom>
          <a:solidFill>
            <a:srgbClr val="C6F36B"/>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dersler.perinet.org/olusum-entalpisi.html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06</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700" b="1" spc="-50" kern="0" dirty="0">
                <a:solidFill>
                  <a:srgbClr val="0E1426"/>
                </a:solidFill>
                <a:latin typeface="Cambria" pitchFamily="34" charset="0"/>
                <a:ea typeface="Cambria" pitchFamily="34" charset="-122"/>
                <a:cs typeface="Cambria" pitchFamily="34" charset="-120"/>
              </a:rPr>
              <a:t>Önce gözlemle: ispirto ocağının ısısı nereden gelir?</a:t>
            </a:r>
            <a:endParaRPr lang="en-US" sz="27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6</a:t>
            </a:r>
            <a:endParaRPr lang="en-US" sz="950" dirty="0"/>
          </a:p>
        </p:txBody>
      </p:sp>
      <p:sp>
        <p:nvSpPr>
          <p:cNvPr id="6" name="Text 4"/>
          <p:cNvSpPr txBox="1"/>
          <p:nvPr/>
        </p:nvSpPr>
        <p:spPr>
          <a:xfrm>
            <a:off x="640080" y="1325880"/>
            <a:ext cx="10911535" cy="172516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Okul laboratuvarında beherdeki suyu ısıtmanın en eski yolu ispirto ocağıdır: cam bir haznede ispirto, içinde pamuk bir fitil, ucunda sakin, mavimsi bir alev.</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Ocağı yakıp beherin altına koyduğunda şunları gözlersin:</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07</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700" b="1" spc="-50" kern="0" dirty="0">
                <a:solidFill>
                  <a:srgbClr val="0E1426"/>
                </a:solidFill>
                <a:latin typeface="Cambria" pitchFamily="34" charset="0"/>
                <a:ea typeface="Cambria" pitchFamily="34" charset="-122"/>
                <a:cs typeface="Cambria" pitchFamily="34" charset="-120"/>
              </a:rPr>
              <a:t>Önce gözlemle: ispirto ocağının ısısı nereden gelir?</a:t>
            </a:r>
            <a:endParaRPr lang="en-US" sz="27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6</a:t>
            </a:r>
            <a:endParaRPr lang="en-US" sz="950" dirty="0"/>
          </a:p>
        </p:txBody>
      </p:sp>
      <p:sp>
        <p:nvSpPr>
          <p:cNvPr id="6" name="Text 4"/>
          <p:cNvSpPr txBox="1"/>
          <p:nvPr/>
        </p:nvSpPr>
        <p:spPr>
          <a:xfrm>
            <a:off x="640080" y="1325880"/>
            <a:ext cx="10911535" cy="331012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Su ısınır: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termometre dakikalar içinde yükselir, beherin dibinde küçük kabarcıklar belirir.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İspirto azalır: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ocağı deneyden önce ve sonra tartarsan kütlesinin azaldığını görürsün; ısı, yakıt harcandıkça çıkar.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Daha çok yakıt, daha çok ısı:</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iki kat ispirto yakarsan su da yaklaşık iki kat ısı alır.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Soğuk cam buğulanır: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alevin üstüne tutulan soğuk bir cam bardağın içi buğulanır; yanma ürünlerinden biri sudur, öteki karbondioksittir.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08</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700" b="1" spc="-50" kern="0" dirty="0">
                <a:solidFill>
                  <a:srgbClr val="0E1426"/>
                </a:solidFill>
                <a:latin typeface="Cambria" pitchFamily="34" charset="0"/>
                <a:ea typeface="Cambria" pitchFamily="34" charset="-122"/>
                <a:cs typeface="Cambria" pitchFamily="34" charset="-120"/>
              </a:rPr>
              <a:t>Önce gözlemle: ispirto ocağının ısısı nereden gelir?</a:t>
            </a:r>
            <a:endParaRPr lang="en-US" sz="27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6</a:t>
            </a:r>
            <a:endParaRPr lang="en-US" sz="950" dirty="0"/>
          </a:p>
        </p:txBody>
      </p:sp>
      <p:sp>
        <p:nvSpPr>
          <p:cNvPr id="6" name="Text 4"/>
          <p:cNvSpPr txBox="1"/>
          <p:nvPr/>
        </p:nvSpPr>
        <p:spPr>
          <a:xfrm>
            <a:off x="640080" y="1325880"/>
            <a:ext cx="10911535" cy="82753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Başka yakıt, başka ısı:</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aynı kütlede mum ya da doğal gaz yaksaydın suyun sıcaklığı farklı miktarda artardı.</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09</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700" b="1" spc="-50" kern="0" dirty="0">
                <a:solidFill>
                  <a:srgbClr val="0E1426"/>
                </a:solidFill>
                <a:latin typeface="Cambria" pitchFamily="34" charset="0"/>
                <a:ea typeface="Cambria" pitchFamily="34" charset="-122"/>
                <a:cs typeface="Cambria" pitchFamily="34" charset="-120"/>
              </a:rPr>
              <a:t>Önce gözlemle: ispirto ocağının ısısı nereden gelir?</a:t>
            </a:r>
            <a:endParaRPr lang="en-US" sz="27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6</a:t>
            </a:r>
            <a:endParaRPr lang="en-US" sz="950" dirty="0"/>
          </a:p>
        </p:txBody>
      </p:sp>
      <p:sp>
        <p:nvSpPr>
          <p:cNvPr id="6" name="Text 4"/>
          <p:cNvSpPr txBox="1"/>
          <p:nvPr/>
        </p:nvSpPr>
        <p:spPr>
          <a:xfrm>
            <a:off x="640080" y="1325880"/>
            <a:ext cx="10911535" cy="306476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İspirtonun büyük kısmı etanoldür.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Etanol havadaki oksijenle yanarken karbondioksit ve su oluşur.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Isı bu dönüşümden gelir: girenlerin, yani etanol ile oksijenin toplam entalpisi, ürünlerin, yani karbondioksit ile suyun toplam entalpisinden yüksektir.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Aradaki fark çevreye ısı olarak çıkar; bir kısmı beherdeki suya, kalanı havaya gider.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700" b="1" spc="-50" kern="0" dirty="0">
                <a:solidFill>
                  <a:srgbClr val="0E1426"/>
                </a:solidFill>
                <a:latin typeface="Cambria" pitchFamily="34" charset="0"/>
                <a:ea typeface="Cambria" pitchFamily="34" charset="-122"/>
                <a:cs typeface="Cambria" pitchFamily="34" charset="-120"/>
              </a:rPr>
              <a:t>Önce gözlemle: ispirto ocağının ısısı nereden gelir?</a:t>
            </a:r>
            <a:endParaRPr lang="en-US" sz="27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6</a:t>
            </a:r>
            <a:endParaRPr lang="en-US" sz="950" dirty="0"/>
          </a:p>
        </p:txBody>
      </p:sp>
      <p:sp>
        <p:nvSpPr>
          <p:cNvPr id="6" name="Text 4"/>
          <p:cNvSpPr txBox="1"/>
          <p:nvPr/>
        </p:nvSpPr>
        <p:spPr>
          <a:xfrm>
            <a:off x="640080" y="1325880"/>
            <a:ext cx="10911535" cy="172516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Asıl soru şu: bu farkı, yakıtı hiç yakmadan bir tablodan hesaplayabilir miyiz?</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Cevap evet; ama önce entalpiyi ölçmek için bir başlangıç noktası seçmemiz gerekiyor.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700" b="1" spc="-50" kern="0" dirty="0">
                <a:solidFill>
                  <a:srgbClr val="0E1426"/>
                </a:solidFill>
                <a:latin typeface="Cambria" pitchFamily="34" charset="0"/>
                <a:ea typeface="Cambria" pitchFamily="34" charset="-122"/>
                <a:cs typeface="Cambria" pitchFamily="34" charset="-120"/>
              </a:rPr>
              <a:t>Önce gözlemle: ispirto ocağının ısısı nereden gelir?</a:t>
            </a:r>
            <a:endParaRPr lang="en-US" sz="27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6 / 6</a:t>
            </a:r>
            <a:endParaRPr lang="en-US" sz="950" dirty="0"/>
          </a:p>
        </p:txBody>
      </p:sp>
      <p:sp>
        <p:nvSpPr>
          <p:cNvPr id="6" name="Shape 4"/>
          <p:cNvSpPr/>
          <p:nvPr/>
        </p:nvSpPr>
        <p:spPr>
          <a:xfrm>
            <a:off x="1797295" y="1234440"/>
            <a:ext cx="8597105" cy="4117086"/>
          </a:xfrm>
          <a:prstGeom prst="roundRect">
            <a:avLst>
              <a:gd name="adj" fmla="val 355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olusum-entalpisi-01.png">    </p:cNvPr>
          <p:cNvPicPr>
            <a:picLocks noChangeAspect="1"/>
          </p:cNvPicPr>
          <p:nvPr/>
        </p:nvPicPr>
        <p:blipFill>
          <a:blip r:embed="rId1"/>
          <a:stretch>
            <a:fillRect/>
          </a:stretch>
        </p:blipFill>
        <p:spPr>
          <a:xfrm>
            <a:off x="2025895" y="1325880"/>
            <a:ext cx="8139905" cy="3934206"/>
          </a:xfrm>
          <a:prstGeom prst="rect">
            <a:avLst/>
          </a:prstGeom>
        </p:spPr>
      </p:pic>
      <p:sp>
        <p:nvSpPr>
          <p:cNvPr id="8" name="Text 5"/>
          <p:cNvSpPr txBox="1"/>
          <p:nvPr/>
        </p:nvSpPr>
        <p:spPr>
          <a:xfrm>
            <a:off x="1249528" y="5534406"/>
            <a:ext cx="9692640" cy="610362"/>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Yanmada girenlerin toplam entalpisi ürünlerinkinden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yüksektir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Aradaki fark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ısı olarak</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çevreye çıkar ve beherdeki suyu ısıtır. Bu fark yanan yakıtın miktarıyla orantılıdır: iki kat ispirto, iki kat ısı demektir.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700" b="1" spc="-50" kern="0" dirty="0">
                <a:solidFill>
                  <a:srgbClr val="0E1426"/>
                </a:solidFill>
                <a:latin typeface="Cambria" pitchFamily="34" charset="0"/>
                <a:ea typeface="Cambria" pitchFamily="34" charset="-122"/>
                <a:cs typeface="Cambria" pitchFamily="34" charset="-120"/>
              </a:rPr>
              <a:t>Önce gözlemle: ispirto ocağının ısısı nereden gelir?</a:t>
            </a:r>
            <a:endParaRPr lang="en-US" sz="27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3C8C21"/>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3C8C21"/>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750" dirty="0">
                <a:solidFill>
                  <a:srgbClr val="0E1426"/>
                </a:solidFill>
                <a:latin typeface="Cambria" pitchFamily="34" charset="0"/>
                <a:ea typeface="Cambria" pitchFamily="34" charset="-122"/>
                <a:cs typeface="Cambria" pitchFamily="34" charset="-120"/>
              </a:rPr>
              <a:t>İspirto ocağında etanol oksijenle yanıp karbondioksit ve suya dönüşür. Girenlerin entalpisi ürünlerinkinden yüksek olduğu için aradaki fark ısı olarak çıkar; ısı, yanan yakıtın miktarıyla orantılıdır.</a:t>
            </a:r>
            <a:endParaRPr lang="en-US" sz="275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İspirto ocağını söndürüp bir hafta sonra yeniden yaksan, 1 gram ispirto yine aynı ısıyı verir mi?</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01 · Önce gözlemle: ispirto ocağının ısısı nereden gelir?</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İspirto ocağını söndürüp bir hafta sonra yeniden yaksan, 1 gram ispirto yine aynı ısıyı verir mi?</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Evet. Açığa çıkan ısı yalnızca neyin yandığına ve neyin oluştuğuna bağlıdır: 1 g etanolün tamamen yanması her seferinde aynı farkı verir. Ocağın ne zaman yakıldığı ya da alevin kaç kez söndürüldüğü bu farkı değiştirmez. Değişebilen tek şey, ısının ne kadarının suya, ne kadarının havaya gittiğidir.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15</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Neden bir başlangıç noktası gerekir?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306476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dağın yüksekliğini nasıl söylersin?</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“Ağrı Dağı 5137 m'dir” derken yüksekliği Dünya'nın merkezinden değil,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deniz seviyesinden</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ölçersin.</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Deniz seviyesi doğanın verdiği bir sıfır değildir; herkesin anlaştığı ortak bir başlangıçtır.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anlaşma sayesinde iki dağın yükseklik farkını tek bir çıkarma işlemiyle bulursun: Ağrı ile Erciyes arasındaki fark 5137 − 3917 = 1220 m'dir.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16</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Neden bir başlangıç noktası gerekir?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Text 4"/>
          <p:cNvSpPr txBox="1"/>
          <p:nvPr/>
        </p:nvSpPr>
        <p:spPr>
          <a:xfrm>
            <a:off x="640080" y="1325880"/>
            <a:ext cx="10911535" cy="86258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Lut Gölü'nün kıyısı gibi deniz seviyesinin altında kalan yerler ise eksi işaretli bir yükseklik alır.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17</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Neden bir başlangıç noktası gerekir?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Text 4"/>
          <p:cNvSpPr txBox="1"/>
          <p:nvPr/>
        </p:nvSpPr>
        <p:spPr>
          <a:xfrm>
            <a:off x="640080" y="1325880"/>
            <a:ext cx="10911535" cy="345033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Maddelerin entalpisinde de aynı durumla karşılaşırız.</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maddenin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mutlak entalpisi</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yani içinde sakladığı enerjinin tamamı ölçülemez: atomlarının, elektronlarının ve çekirdeklerinin bütün enerjisini sayacak bir alet yoktur.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Kalorimetre yalnızca bir değişimi, yani bir tepkimede alınan ya da verilen ısıyı ölçer.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yüzden kimyacılar da bir “deniz seviyesi” seçmiştir: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elementlerin en kararlı hâllerinin entalpisi sıfır kabul edilir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18</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Neden bir başlangıç noktası gerekir?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Text 4"/>
          <p:cNvSpPr txBox="1"/>
          <p:nvPr/>
        </p:nvSpPr>
        <p:spPr>
          <a:xfrm>
            <a:off x="640080" y="1325880"/>
            <a:ext cx="10911535" cy="86258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bileşiğin bu sıfıra göre yüksekliği ölçülebilir, çünkü bileşik elementlerinden oluşurken alınan ya da verilen ısı ölçülebilir.</a:t>
            </a:r>
            <a:endParaRPr lang="en-US" sz="2200" dirty="0"/>
          </a:p>
        </p:txBody>
      </p:sp>
      <p:sp>
        <p:nvSpPr>
          <p:cNvPr id="7" name="Text 5"/>
          <p:cNvSpPr txBox="1"/>
          <p:nvPr/>
        </p:nvSpPr>
        <p:spPr>
          <a:xfrm>
            <a:off x="640080" y="2389632"/>
            <a:ext cx="10911535" cy="1339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Seçim keyfîdir ama sonuçları değiştirmez: iki dağ arasındaki fark, sıfırı nereye koyduğuna bağlı değildir.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Tepkimelerde de bize gereken zaten bir farktır: ΔH.</a:t>
            </a:r>
            <a:endParaRPr lang="en-US" sz="2200" dirty="0"/>
          </a:p>
        </p:txBody>
      </p:sp>
      <p:sp>
        <p:nvSpPr>
          <p:cNvPr id="9" name="Shape 6"/>
          <p:cNvSpPr/>
          <p:nvPr/>
        </p:nvSpPr>
        <p:spPr>
          <a:xfrm>
            <a:off x="640080" y="6382512"/>
            <a:ext cx="128016" cy="128016"/>
          </a:xfrm>
          <a:prstGeom prst="roundRect">
            <a:avLst>
              <a:gd name="adj" fmla="val 28571"/>
            </a:avLst>
          </a:prstGeom>
          <a:solidFill>
            <a:srgbClr val="A9E648"/>
          </a:solidFill>
          <a:ln/>
        </p:spPr>
      </p:sp>
      <p:sp>
        <p:nvSpPr>
          <p:cNvPr id="10"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1"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19</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Neden bir başlangıç noktası gerekir?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Shape 4"/>
          <p:cNvSpPr/>
          <p:nvPr/>
        </p:nvSpPr>
        <p:spPr>
          <a:xfrm>
            <a:off x="2345719" y="1234440"/>
            <a:ext cx="7500257"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olusum-entalpisi-02.png">    </p:cNvPr>
          <p:cNvPicPr>
            <a:picLocks noChangeAspect="1"/>
          </p:cNvPicPr>
          <p:nvPr/>
        </p:nvPicPr>
        <p:blipFill>
          <a:blip r:embed="rId1"/>
          <a:stretch>
            <a:fillRect/>
          </a:stretch>
        </p:blipFill>
        <p:spPr>
          <a:xfrm>
            <a:off x="2574319" y="1325880"/>
            <a:ext cx="7043057"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Solda yükseklikler deniz seviyesinden, sağda entalpiler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elementlerin en kararlı hâlinden</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ölçülüyor. İki ölçekte de sıfır bir anlaşmadır; önemli olan farklardır. Sıfırın altındaki bileşikler elementlerinden oluşurken ısı verir, üstündekiler ısı alır. İki panelin ölçekleri ayrıdır; her panel kendi içinde orantılıdır.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20</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Neden bir başlangıç noktası gerekir?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3C8C21"/>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3C8C21"/>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Bir maddenin mutlak entalpisi ölçülemez, yalnızca değişimi ölçülür. Bu yüzden deniz seviyesi gibi ortak bir sıfır seçilir: elementlerin en kararlı hâllerinin entalpisi sıfır kabul edilir.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21</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Dağların yüksekliğini deniz seviyesi yerine Dünya'nın merkezinden ölçseydik, iki dağ arasındaki yükseklik farkı değişir miydi?</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02 · Neden bir başlangıç noktası gerekir?</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22</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Dağların yüksekliğini deniz seviyesi yerine Dünya'nın merkezinden ölçseydik, iki dağ arasındaki yükseklik farkı değişir miydi?</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Hayır. İki dağın yüksekliğine de aynı sayı, yani Dünya'nın yarıçapı eklenirdi; fark aynı kalırdı. Entalpide sıfır noktasını başka bir yere koysaydık her maddenin değeri, içindeki atomlara göre bir miktar kayardı. Tepkimede atomlar korunduğu için girenler ve ürünler aynı toplam kadar kayar; tepkimelerin ΔH'si hiç değişmezdi.</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23</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000" b="1" spc="-50" kern="0" dirty="0">
                <a:solidFill>
                  <a:srgbClr val="0E1426"/>
                </a:solidFill>
                <a:latin typeface="Cambria" pitchFamily="34" charset="0"/>
                <a:ea typeface="Cambria" pitchFamily="34" charset="-122"/>
                <a:cs typeface="Cambria" pitchFamily="34" charset="-120"/>
              </a:rPr>
              <a:t>Standart koşullar ve elementlerin sıfır noktası</a:t>
            </a:r>
            <a:endParaRPr lang="en-US" sz="30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267919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maddenin entalpisi sıcaklığa ve basınca bağlıdır; değerleri karşılaştırabilmek için koşullar da ortak seçilir.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Kimyada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standart koşullar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25 °C ve 1 atm'dir.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koşullardaki değerler bir derece işaretiyle gösterilir: ΔH°.</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Bunu, gaz hacmi hesaplarında kullandığın normal koşullarla (0 °C ve 1 atm) karıştırma.</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24</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000" b="1" spc="-50" kern="0" dirty="0">
                <a:solidFill>
                  <a:srgbClr val="0E1426"/>
                </a:solidFill>
                <a:latin typeface="Cambria" pitchFamily="34" charset="0"/>
                <a:ea typeface="Cambria" pitchFamily="34" charset="-122"/>
                <a:cs typeface="Cambria" pitchFamily="34" charset="-120"/>
              </a:rPr>
              <a:t>Standart koşullar ve elementlerin sıfır noktası</a:t>
            </a:r>
            <a:endParaRPr lang="en-US" sz="30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Text 4"/>
          <p:cNvSpPr txBox="1"/>
          <p:nvPr/>
        </p:nvSpPr>
        <p:spPr>
          <a:xfrm>
            <a:off x="640080" y="1325880"/>
            <a:ext cx="10911535" cy="1339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Sıfır noktası, her elementin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standart koşullardaki en kararlı hâlidir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element birden çok biçimde bulunabilir; sıfırı yalnızca en kararlı olanı alır: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25</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000" b="1" spc="-50" kern="0" dirty="0">
                <a:solidFill>
                  <a:srgbClr val="0E1426"/>
                </a:solidFill>
                <a:latin typeface="Cambria" pitchFamily="34" charset="0"/>
                <a:ea typeface="Cambria" pitchFamily="34" charset="-122"/>
                <a:cs typeface="Cambria" pitchFamily="34" charset="-120"/>
              </a:rPr>
              <a:t>Standart koşullar ve elementlerin sıfır noktası</a:t>
            </a:r>
            <a:endParaRPr lang="en-US" sz="30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Text 4"/>
          <p:cNvSpPr txBox="1"/>
          <p:nvPr/>
        </p:nvSpPr>
        <p:spPr>
          <a:xfrm>
            <a:off x="640080" y="1325880"/>
            <a:ext cx="10911535" cy="331012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Karbon:</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grafit 0, elmas +1,9 kJ/mol. İkisi de saf karbondur ama grafit daha kararlıdır.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Oksijen:</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O₂(g) 0; ozon O₃(g) +142,7 kJ/mol, tek tek O atomları +249,2 kJ/mol.</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Brom ve iyot:</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25 °C'de brom sıvı, iyot katıdır. Br₂(s) ve I₂(k) sıfırdır; Br₂(g) +30,9, I₂(g) +62,4 kJ/mol.</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Hidrojen ve diğer gazlar: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H₂(g), N₂(g), Cl₂(g) sıfırdır; atom hâlleri, örneğin H(g) +218,0 kJ/mol, sıfır değildir.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26</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000" b="1" spc="-50" kern="0" dirty="0">
                <a:solidFill>
                  <a:srgbClr val="0E1426"/>
                </a:solidFill>
                <a:latin typeface="Cambria" pitchFamily="34" charset="0"/>
                <a:ea typeface="Cambria" pitchFamily="34" charset="-122"/>
                <a:cs typeface="Cambria" pitchFamily="34" charset="-120"/>
              </a:rPr>
              <a:t>Standart koşullar ve elementlerin sıfır noktası</a:t>
            </a:r>
            <a:endParaRPr lang="en-US" sz="30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Text 4"/>
          <p:cNvSpPr txBox="1"/>
          <p:nvPr/>
        </p:nvSpPr>
        <p:spPr>
          <a:xfrm>
            <a:off x="640080" y="1325880"/>
            <a:ext cx="10911535" cy="82753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Metaller: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Na, Mg, Al, Fe ve Cu katı hâlde sıfırdır; cıva oda sıcaklığında sıvı olduğu için Hg(s) sıfırdır.</a:t>
            </a:r>
            <a:endParaRPr lang="en-US" sz="2100" dirty="0"/>
          </a:p>
        </p:txBody>
      </p:sp>
      <p:sp>
        <p:nvSpPr>
          <p:cNvPr id="7" name="Text 5"/>
          <p:cNvSpPr txBox="1"/>
          <p:nvPr/>
        </p:nvSpPr>
        <p:spPr>
          <a:xfrm>
            <a:off x="640080" y="2354580"/>
            <a:ext cx="10911535" cy="220218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Atom hâllerinin değerleri bir önceki konudan tanıdık gelmeli.</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H–H bağ enerjisi 436 kJ/mol'dür ve 1 mol H₂ molekülü kırılınca 2 mol H atomu oluşur.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1 mol H atomuna 436 / 2 = 218 kJ düşer; tablodaki +218,0 tam olarak budur.</a:t>
            </a:r>
            <a:endParaRPr lang="en-US" sz="2200" dirty="0"/>
          </a:p>
        </p:txBody>
      </p:sp>
      <p:sp>
        <p:nvSpPr>
          <p:cNvPr id="9" name="Shape 6"/>
          <p:cNvSpPr/>
          <p:nvPr/>
        </p:nvSpPr>
        <p:spPr>
          <a:xfrm>
            <a:off x="640080" y="6382512"/>
            <a:ext cx="128016" cy="128016"/>
          </a:xfrm>
          <a:prstGeom prst="roundRect">
            <a:avLst>
              <a:gd name="adj" fmla="val 28571"/>
            </a:avLst>
          </a:prstGeom>
          <a:solidFill>
            <a:srgbClr val="A9E648"/>
          </a:solidFill>
          <a:ln/>
        </p:spPr>
      </p:sp>
      <p:sp>
        <p:nvSpPr>
          <p:cNvPr id="10"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1"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27</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000" b="1" spc="-50" kern="0" dirty="0">
                <a:solidFill>
                  <a:srgbClr val="0E1426"/>
                </a:solidFill>
                <a:latin typeface="Cambria" pitchFamily="34" charset="0"/>
                <a:ea typeface="Cambria" pitchFamily="34" charset="-122"/>
                <a:cs typeface="Cambria" pitchFamily="34" charset="-120"/>
              </a:rPr>
              <a:t>Standart koşullar ve elementlerin sıfır noktası</a:t>
            </a:r>
            <a:endParaRPr lang="en-US" sz="30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Shape 4"/>
          <p:cNvSpPr/>
          <p:nvPr/>
        </p:nvSpPr>
        <p:spPr>
          <a:xfrm>
            <a:off x="2106818" y="1234440"/>
            <a:ext cx="7978059"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olusum-entalpisi-03.png">    </p:cNvPr>
          <p:cNvPicPr>
            <a:picLocks noChangeAspect="1"/>
          </p:cNvPicPr>
          <p:nvPr/>
        </p:nvPicPr>
        <p:blipFill>
          <a:blip r:embed="rId1"/>
          <a:stretch>
            <a:fillRect/>
          </a:stretch>
        </p:blipFill>
        <p:spPr>
          <a:xfrm>
            <a:off x="2335418" y="1325880"/>
            <a:ext cx="7520859"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Her satırda solda elementin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en kararlı hâli</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(sıfır), sağda aynı elementin başka bir hâli var. Çubuklar değerlerle orantılı: elmasın grafitten farkı o kadar küçük ki çubuğu bir çizgi kadar kalıyor, ama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sıfır değildir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Atom hâline geçmek bağ kırmayı gerektirdiği için en büyük değer atomdadır.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28</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000" b="1" spc="-50" kern="0" dirty="0">
                <a:solidFill>
                  <a:srgbClr val="0E1426"/>
                </a:solidFill>
                <a:latin typeface="Cambria" pitchFamily="34" charset="0"/>
                <a:ea typeface="Cambria" pitchFamily="34" charset="-122"/>
                <a:cs typeface="Cambria" pitchFamily="34" charset="-120"/>
              </a:rPr>
              <a:t>Standart koşullar ve elementlerin sıfır noktası</a:t>
            </a:r>
            <a:endParaRPr lang="en-US" sz="30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3C8C21"/>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3C8C21"/>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Standart koşullar 25 °C ve 1 atm'dir. Her elementin bu koşullardaki en kararlı hâlinin oluşum entalpisi sıfırdır: grafit, O₂(g) ve Br₂(s) sıfır; elmas, O₃(g), Br₂(g) ve H(g) sıfır değildir.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29</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Elmas grafitten daha yüksek entalpideyse elmaslar neden kendiliğinden grafite dönüşmüyor?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03 · Standart koşullar ve elementlerin sıfır noktası</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30</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Elmas grafitten daha yüksek entalpideyse elmaslar neden kendiliğinden grafite dönüşmüyor?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Dönüşüm enerji bakımından mümkündür ama son derece yavaştır. Elmastaki güçlü C–C bağlarının kopup grafitin katmanlarına yeniden dizilmesi için çok yüksek bir enerji engeli aşılmalıdır; oda sıcaklığında bu, milyonlarca yılda bile fark edilmez. Bir tepkimenin ısı vermesi, hızlı olacağı anlamına gelmez. Bunu bir sonraki ünitede, tepkime hızında göreceksin.</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31</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Standart oluşum entalpisi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6</a:t>
            </a:r>
            <a:endParaRPr lang="en-US" sz="950" dirty="0"/>
          </a:p>
        </p:txBody>
      </p:sp>
      <p:sp>
        <p:nvSpPr>
          <p:cNvPr id="6" name="Text 4"/>
          <p:cNvSpPr txBox="1"/>
          <p:nvPr/>
        </p:nvSpPr>
        <p:spPr>
          <a:xfrm>
            <a:off x="640080" y="1325880"/>
            <a:ext cx="10911535" cy="306476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Sıfır noktasını seçtik; şimdi maddelerin “yüksekliğini” tanımlayalım.</a:t>
            </a:r>
            <a:endParaRPr lang="en-US" sz="2200" dirty="0"/>
          </a:p>
          <a:p>
            <a:pPr marL="203200" indent="-203200">
              <a:lnSpc>
                <a:spcPct val="115000"/>
              </a:lnSpc>
              <a:spcAft>
                <a:spcPts val="800"/>
              </a:spcAft>
              <a:buSzPct val="100000"/>
              <a:buChar char="▪"/>
            </a:pPr>
            <a:r>
              <a:rPr lang="en-US" sz="2200" b="1" dirty="0">
                <a:solidFill>
                  <a:srgbClr val="0E1426"/>
                </a:solidFill>
                <a:latin typeface="Calibri" pitchFamily="34" charset="0"/>
                <a:ea typeface="Calibri" pitchFamily="34" charset="-122"/>
                <a:cs typeface="Calibri" pitchFamily="34" charset="-120"/>
              </a:rPr>
              <a:t>Standart oluşum entalpisi</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(ΔH°f), standart koşullarda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1 mol maddenin</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(bir bileşiğin ya da bir elementin en kararlı olmayan bir hâlinin), elementlerinin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en kararlı hâllerinden</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oluşması sırasındaki entalpi değişimidir.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Birimi kJ/mol'dür; elmasın +1,9 kJ/mol'lük değeri de C(grafit) → C(elmas) dönüşümünün entalpisidir.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Tanımın üç şartını suyun oluşum denkleminde görebilirsin:</a:t>
            </a:r>
            <a:endParaRPr lang="en-US" sz="2200" dirty="0"/>
          </a:p>
        </p:txBody>
      </p:sp>
      <p:sp>
        <p:nvSpPr>
          <p:cNvPr id="7" name="Shape 5"/>
          <p:cNvSpPr/>
          <p:nvPr/>
        </p:nvSpPr>
        <p:spPr>
          <a:xfrm>
            <a:off x="640080" y="4591812"/>
            <a:ext cx="3745382"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4591812"/>
            <a:ext cx="3745382"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H₂(g) + ½O₂(g) → H₂O(s)</a:t>
            </a:r>
            <a:endParaRPr lang="en-US" sz="1800" dirty="0"/>
          </a:p>
        </p:txBody>
      </p:sp>
      <p:sp>
        <p:nvSpPr>
          <p:cNvPr id="9" name="Shape 7"/>
          <p:cNvSpPr/>
          <p:nvPr/>
        </p:nvSpPr>
        <p:spPr>
          <a:xfrm>
            <a:off x="4531766" y="4591812"/>
            <a:ext cx="3328416" cy="585216"/>
          </a:xfrm>
          <a:prstGeom prst="roundRect">
            <a:avLst>
              <a:gd name="adj" fmla="val 18750"/>
            </a:avLst>
          </a:prstGeom>
          <a:solidFill>
            <a:srgbClr val="EEF2FC"/>
          </a:solidFill>
          <a:ln w="9525">
            <a:solidFill>
              <a:srgbClr val="CBD7F4"/>
            </a:solidFill>
            <a:prstDash val="solid"/>
          </a:ln>
        </p:spPr>
      </p:sp>
      <p:sp>
        <p:nvSpPr>
          <p:cNvPr id="10" name="Text 8"/>
          <p:cNvSpPr txBox="1"/>
          <p:nvPr/>
        </p:nvSpPr>
        <p:spPr>
          <a:xfrm>
            <a:off x="4531766" y="4591812"/>
            <a:ext cx="3328416"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ΔH°f = −285,8 kJ/mol</a:t>
            </a:r>
            <a:endParaRPr lang="en-US" sz="1800" dirty="0"/>
          </a:p>
        </p:txBody>
      </p:sp>
      <p:sp>
        <p:nvSpPr>
          <p:cNvPr id="12" name="Shape 9"/>
          <p:cNvSpPr/>
          <p:nvPr/>
        </p:nvSpPr>
        <p:spPr>
          <a:xfrm>
            <a:off x="640080" y="6382512"/>
            <a:ext cx="128016" cy="128016"/>
          </a:xfrm>
          <a:prstGeom prst="roundRect">
            <a:avLst>
              <a:gd name="adj" fmla="val 28571"/>
            </a:avLst>
          </a:prstGeom>
          <a:solidFill>
            <a:srgbClr val="A9E648"/>
          </a:solidFill>
          <a:ln/>
        </p:spPr>
      </p:sp>
      <p:sp>
        <p:nvSpPr>
          <p:cNvPr id="13" name="Text 10"/>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4" name="Text 11"/>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32</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Standart oluşum entalpisi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6</a:t>
            </a:r>
            <a:endParaRPr lang="en-US" sz="950" dirty="0"/>
          </a:p>
        </p:txBody>
      </p:sp>
      <p:sp>
        <p:nvSpPr>
          <p:cNvPr id="6" name="Text 4"/>
          <p:cNvSpPr txBox="1"/>
          <p:nvPr/>
        </p:nvSpPr>
        <p:spPr>
          <a:xfrm>
            <a:off x="640080" y="1325880"/>
            <a:ext cx="10911535" cy="2482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1 mol ürün:</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denklem tam 1 mol bileşik verecek biçimde yazılır. Bu yüzden katsayılar kesirli olabilir: ½O₂ yarım mol, yani 16 g oksijen demektir.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Yalnızca elementler: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girenler arasında bileşik olamaz. CO(g) + ½O₂(g) → CO₂(g) tepkimesi CO₂'nin oluşum denklemi değildir.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En kararlı hâller: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karbon için grafit, oksijen için O₂(g) yazılır; elmas ya da O atomu kullanılmaz.</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33</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Standart oluşum entalpisi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6</a:t>
            </a:r>
            <a:endParaRPr lang="en-US" sz="950" dirty="0"/>
          </a:p>
        </p:txBody>
      </p:sp>
      <p:sp>
        <p:nvSpPr>
          <p:cNvPr id="6" name="Shape 4"/>
          <p:cNvSpPr/>
          <p:nvPr/>
        </p:nvSpPr>
        <p:spPr>
          <a:xfrm>
            <a:off x="2345719" y="1234440"/>
            <a:ext cx="7500257"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olusum-entalpisi-04.png">    </p:cNvPr>
          <p:cNvPicPr>
            <a:picLocks noChangeAspect="1"/>
          </p:cNvPicPr>
          <p:nvPr/>
        </p:nvPicPr>
        <p:blipFill>
          <a:blip r:embed="rId1"/>
          <a:stretch>
            <a:fillRect/>
          </a:stretch>
        </p:blipFill>
        <p:spPr>
          <a:xfrm>
            <a:off x="2574319" y="1325880"/>
            <a:ext cx="7043057"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Molekül sayarken 1 N₂ ve 3 H₂ birleşip 2 NH₃ verir. Oluşum denklemi 1 mol ürün için yazıldığından bütün katsayılar ikiye bölünür.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Yarım mol</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tuhaf görünse de gerçek bir miktardır: ½ mol N₂ 14 g, 3/2 mol H₂ 3 g eder ve toplam 17 g, yani tam 1 mol NH₃ oluşur.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34</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Standart oluşum entalpisi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6</a:t>
            </a:r>
            <a:endParaRPr lang="en-US" sz="950" dirty="0"/>
          </a:p>
        </p:txBody>
      </p:sp>
      <p:sp>
        <p:nvSpPr>
          <p:cNvPr id="6" name="Text 4"/>
          <p:cNvSpPr txBox="1"/>
          <p:nvPr/>
        </p:nvSpPr>
        <p:spPr>
          <a:xfrm>
            <a:off x="640080" y="1325880"/>
            <a:ext cx="10911535" cy="288188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b="1" dirty="0">
                <a:solidFill>
                  <a:srgbClr val="0E1426"/>
                </a:solidFill>
                <a:latin typeface="Calibri" pitchFamily="34" charset="0"/>
                <a:ea typeface="Calibri" pitchFamily="34" charset="-122"/>
                <a:cs typeface="Calibri" pitchFamily="34" charset="-120"/>
              </a:rPr>
              <a:t>İşaretin anlamı.</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ΔH°f eksiyse bileşik elementlerinden oluşurken ısı verir ve elementlerinden daha düşük entalpidedir; enerji bakımından elementlerine göre daha kararlıdır.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Su (−285,8), karbondioksit (−393,5) ve amonyak (−46,1) böyledir. ΔH°f artıysa bileşik oluşurken ısı alır ve elementlerinden yukarıda durur: azot monoksit (+90,3), etilen (+52,3) ve asetilen (+226,7) elementlerine göre daha az kararlıdır.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35</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Standart oluşum entalpisi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6</a:t>
            </a:r>
            <a:endParaRPr lang="en-US" sz="950" dirty="0"/>
          </a:p>
        </p:txBody>
      </p:sp>
      <p:sp>
        <p:nvSpPr>
          <p:cNvPr id="6" name="Text 4"/>
          <p:cNvSpPr txBox="1"/>
          <p:nvPr/>
        </p:nvSpPr>
        <p:spPr>
          <a:xfrm>
            <a:off x="640080" y="1325880"/>
            <a:ext cx="10911535" cy="86258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Isıyı denklemin içinde göstermek istersen ekzotermik oluşumda ürünler tarafına, endotermik oluşumda girenler tarafına yazarsın:</a:t>
            </a:r>
            <a:endParaRPr lang="en-US" sz="2200" dirty="0"/>
          </a:p>
        </p:txBody>
      </p:sp>
      <p:sp>
        <p:nvSpPr>
          <p:cNvPr id="7" name="Shape 5"/>
          <p:cNvSpPr/>
          <p:nvPr/>
        </p:nvSpPr>
        <p:spPr>
          <a:xfrm>
            <a:off x="640080" y="2389632"/>
            <a:ext cx="2494483"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2389632"/>
            <a:ext cx="2494483"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H₂(g) + ½O₂(g)</a:t>
            </a:r>
            <a:endParaRPr lang="en-US" sz="1800" dirty="0"/>
          </a:p>
        </p:txBody>
      </p:sp>
      <p:sp>
        <p:nvSpPr>
          <p:cNvPr id="9" name="Shape 7"/>
          <p:cNvSpPr/>
          <p:nvPr/>
        </p:nvSpPr>
        <p:spPr>
          <a:xfrm>
            <a:off x="3280867" y="2389632"/>
            <a:ext cx="3189427" cy="585216"/>
          </a:xfrm>
          <a:prstGeom prst="roundRect">
            <a:avLst>
              <a:gd name="adj" fmla="val 18750"/>
            </a:avLst>
          </a:prstGeom>
          <a:solidFill>
            <a:srgbClr val="EEF2FC"/>
          </a:solidFill>
          <a:ln w="9525">
            <a:solidFill>
              <a:srgbClr val="CBD7F4"/>
            </a:solidFill>
            <a:prstDash val="solid"/>
          </a:ln>
        </p:spPr>
      </p:sp>
      <p:sp>
        <p:nvSpPr>
          <p:cNvPr id="10" name="Text 8"/>
          <p:cNvSpPr txBox="1"/>
          <p:nvPr/>
        </p:nvSpPr>
        <p:spPr>
          <a:xfrm>
            <a:off x="3280867" y="2389632"/>
            <a:ext cx="3189427"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 H₂O(s) + 285,8 kJ</a:t>
            </a:r>
            <a:endParaRPr lang="en-US" sz="1800" dirty="0"/>
          </a:p>
        </p:txBody>
      </p:sp>
      <p:sp>
        <p:nvSpPr>
          <p:cNvPr id="11" name="Shape 9"/>
          <p:cNvSpPr/>
          <p:nvPr/>
        </p:nvSpPr>
        <p:spPr>
          <a:xfrm>
            <a:off x="640080" y="3212592"/>
            <a:ext cx="4023360" cy="585216"/>
          </a:xfrm>
          <a:prstGeom prst="roundRect">
            <a:avLst>
              <a:gd name="adj" fmla="val 18750"/>
            </a:avLst>
          </a:prstGeom>
          <a:solidFill>
            <a:srgbClr val="EEF2FC"/>
          </a:solidFill>
          <a:ln w="9525">
            <a:solidFill>
              <a:srgbClr val="CBD7F4"/>
            </a:solidFill>
            <a:prstDash val="solid"/>
          </a:ln>
        </p:spPr>
      </p:sp>
      <p:sp>
        <p:nvSpPr>
          <p:cNvPr id="12" name="Text 10"/>
          <p:cNvSpPr txBox="1"/>
          <p:nvPr/>
        </p:nvSpPr>
        <p:spPr>
          <a:xfrm>
            <a:off x="640080" y="3212592"/>
            <a:ext cx="4023360"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½N₂(g) + ½O₂(g) + 90,3 kJ</a:t>
            </a:r>
            <a:endParaRPr lang="en-US" sz="1800" dirty="0"/>
          </a:p>
        </p:txBody>
      </p:sp>
      <p:sp>
        <p:nvSpPr>
          <p:cNvPr id="13" name="Shape 11"/>
          <p:cNvSpPr/>
          <p:nvPr/>
        </p:nvSpPr>
        <p:spPr>
          <a:xfrm>
            <a:off x="4809744" y="3212592"/>
            <a:ext cx="1521562" cy="585216"/>
          </a:xfrm>
          <a:prstGeom prst="roundRect">
            <a:avLst>
              <a:gd name="adj" fmla="val 18750"/>
            </a:avLst>
          </a:prstGeom>
          <a:solidFill>
            <a:srgbClr val="EEF2FC"/>
          </a:solidFill>
          <a:ln w="9525">
            <a:solidFill>
              <a:srgbClr val="CBD7F4"/>
            </a:solidFill>
            <a:prstDash val="solid"/>
          </a:ln>
        </p:spPr>
      </p:sp>
      <p:sp>
        <p:nvSpPr>
          <p:cNvPr id="14" name="Text 12"/>
          <p:cNvSpPr txBox="1"/>
          <p:nvPr/>
        </p:nvSpPr>
        <p:spPr>
          <a:xfrm>
            <a:off x="4809744" y="3212592"/>
            <a:ext cx="1521562"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 NO(g)</a:t>
            </a:r>
            <a:endParaRPr lang="en-US" sz="1800" dirty="0"/>
          </a:p>
        </p:txBody>
      </p:sp>
      <p:sp>
        <p:nvSpPr>
          <p:cNvPr id="16" name="Shape 13"/>
          <p:cNvSpPr/>
          <p:nvPr/>
        </p:nvSpPr>
        <p:spPr>
          <a:xfrm>
            <a:off x="640080" y="6382512"/>
            <a:ext cx="128016" cy="128016"/>
          </a:xfrm>
          <a:prstGeom prst="roundRect">
            <a:avLst>
              <a:gd name="adj" fmla="val 28571"/>
            </a:avLst>
          </a:prstGeom>
          <a:solidFill>
            <a:srgbClr val="A9E648"/>
          </a:solidFill>
          <a:ln/>
        </p:spPr>
      </p:sp>
      <p:sp>
        <p:nvSpPr>
          <p:cNvPr id="17" name="Text 14"/>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8" name="Text 15"/>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36</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Standart oluşum entalpisi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6 / 6</a:t>
            </a:r>
            <a:endParaRPr lang="en-US" sz="950" dirty="0"/>
          </a:p>
        </p:txBody>
      </p:sp>
      <p:sp>
        <p:nvSpPr>
          <p:cNvPr id="6" name="Shape 4"/>
          <p:cNvSpPr/>
          <p:nvPr/>
        </p:nvSpPr>
        <p:spPr>
          <a:xfrm>
            <a:off x="2764310" y="1234440"/>
            <a:ext cx="6663075"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olusum-entalpisi-05.png">    </p:cNvPr>
          <p:cNvPicPr>
            <a:picLocks noChangeAspect="1"/>
          </p:cNvPicPr>
          <p:nvPr/>
        </p:nvPicPr>
        <p:blipFill>
          <a:blip r:embed="rId1"/>
          <a:stretch>
            <a:fillRect/>
          </a:stretch>
        </p:blipFill>
        <p:spPr>
          <a:xfrm>
            <a:off x="2992910" y="1325880"/>
            <a:ext cx="6205875"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Sıfır çizgisi elementlerdir. Oluşum entalpisi artı olan NO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yukarıda</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eksi olan HCl ile CO₂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aşağıda</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durur. NO ile HCl'nin değerleri neredeyse aynı büyüklükte ama işaretleri zıttır: biri oluşurken 90 kJ alır, öteki 92 kJ verir. Ok boyları değerlerle orantılıdır.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37</a:t>
            </a:r>
            <a:endParaRPr lang="en-US" sz="10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Standart oluşum entalpisi</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3C8C21"/>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3C8C21"/>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550" dirty="0">
                <a:solidFill>
                  <a:srgbClr val="0E1426"/>
                </a:solidFill>
                <a:latin typeface="Cambria" pitchFamily="34" charset="0"/>
                <a:ea typeface="Cambria" pitchFamily="34" charset="-122"/>
                <a:cs typeface="Cambria" pitchFamily="34" charset="-120"/>
              </a:rPr>
              <a:t>ΔH°f, 1 mol maddenin (bileşiğin ya da elementin en kararlı olmayan bir hâlinin) elementlerinin en kararlı hâllerinden oluşurken entalpi değişimidir; katsayılar kesirli olabilir. Eksi değer sıfır noktasından daha kararlı, artı değer daha az kararlı bir madde demektir.</a:t>
            </a:r>
            <a:endParaRPr lang="en-US" sz="255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38</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Suyun oluşum entalpisi −285,8 kJ/mol ise 1 mol suyu elementlerine ayırmak için ne gerekir?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04 · Standart oluşum entalpisi</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39</a:t>
            </a:r>
            <a:endParaRPr lang="en-US" sz="10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Suyun oluşum entalpisi −285,8 kJ/mol ise 1 mol suyu elementlerine ayırmak için ne gerekir?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Ters tepkime aynı miktarda ısıyı ters yönde ister: H₂O(s) → H₂(g) + ½O₂(g) için ΔH = +285,8 kJ. Suyu elektrolizle hidrojene ve oksijene ayırmanın bu kadar çok enerji istemesi bundandır.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40</a:t>
            </a:r>
            <a:endParaRPr lang="en-US" sz="10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82AAFF"/>
                </a:solidFill>
                <a:latin typeface="Cambria" pitchFamily="34" charset="0"/>
                <a:ea typeface="Cambria" pitchFamily="34" charset="-122"/>
                <a:cs typeface="Cambria" pitchFamily="34" charset="-120"/>
              </a:rPr>
              <a:t>2</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82AAFF"/>
                </a:solidFill>
                <a:latin typeface="Calibri" pitchFamily="34" charset="0"/>
                <a:ea typeface="Calibri" pitchFamily="34" charset="-122"/>
                <a:cs typeface="Calibri" pitchFamily="34" charset="-120"/>
              </a:rPr>
              <a:t>BASAMAK 2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Orta</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450" dirty="0">
                <a:solidFill>
                  <a:srgbClr val="C3CEE8"/>
                </a:solidFill>
                <a:latin typeface="Calibri" pitchFamily="34" charset="0"/>
                <a:ea typeface="Calibri" pitchFamily="34" charset="-122"/>
                <a:cs typeface="Calibri" pitchFamily="34" charset="-120"/>
              </a:rPr>
              <a:t>Bağıntılar: oluşum entalpileri tablosunu oku, tepkime entalpisini elementler yoluyla adım adım çıkar, etanolle uygula ve fiziksel hâlin farkını gör.</a:t>
            </a:r>
            <a:endParaRPr lang="en-US" sz="1450" dirty="0"/>
          </a:p>
        </p:txBody>
      </p:sp>
      <p:sp>
        <p:nvSpPr>
          <p:cNvPr id="6" name="Text 4"/>
          <p:cNvSpPr txBox="1"/>
          <p:nvPr/>
        </p:nvSpPr>
        <p:spPr>
          <a:xfrm>
            <a:off x="731520" y="4572000"/>
            <a:ext cx="5120640" cy="320040"/>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05   </a:t>
            </a:r>
            <a:pPr indent="0" marL="0">
              <a:buNone/>
            </a:pPr>
            <a:r>
              <a:rPr lang="en-US" sz="1300" dirty="0">
                <a:solidFill>
                  <a:srgbClr val="FFFFFF"/>
                </a:solidFill>
                <a:latin typeface="Calibri" pitchFamily="34" charset="0"/>
                <a:ea typeface="Calibri" pitchFamily="34" charset="-122"/>
                <a:cs typeface="Calibri" pitchFamily="34" charset="-120"/>
              </a:rPr>
              <a:t>Oluşum entalpileri tablosu</a:t>
            </a:r>
            <a:endParaRPr lang="en-US" sz="1300" dirty="0"/>
          </a:p>
        </p:txBody>
      </p:sp>
      <p:sp>
        <p:nvSpPr>
          <p:cNvPr id="7" name="Text 5"/>
          <p:cNvSpPr txBox="1"/>
          <p:nvPr/>
        </p:nvSpPr>
        <p:spPr>
          <a:xfrm>
            <a:off x="731520" y="4892040"/>
            <a:ext cx="5120640" cy="320040"/>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06   </a:t>
            </a:r>
            <a:pPr indent="0" marL="0">
              <a:buNone/>
            </a:pPr>
            <a:r>
              <a:rPr lang="en-US" sz="1300" dirty="0">
                <a:solidFill>
                  <a:srgbClr val="FFFFFF"/>
                </a:solidFill>
                <a:latin typeface="Calibri" pitchFamily="34" charset="0"/>
                <a:ea typeface="Calibri" pitchFamily="34" charset="-122"/>
                <a:cs typeface="Calibri" pitchFamily="34" charset="-120"/>
              </a:rPr>
              <a:t>Tepkime entalpisini hesaplamak</a:t>
            </a:r>
            <a:endParaRPr lang="en-US" sz="1300" dirty="0"/>
          </a:p>
        </p:txBody>
      </p:sp>
      <p:sp>
        <p:nvSpPr>
          <p:cNvPr id="8" name="Text 6"/>
          <p:cNvSpPr txBox="1"/>
          <p:nvPr/>
        </p:nvSpPr>
        <p:spPr>
          <a:xfrm>
            <a:off x="731520" y="5212080"/>
            <a:ext cx="5120640" cy="320040"/>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07   </a:t>
            </a:r>
            <a:pPr indent="0" marL="0">
              <a:buNone/>
            </a:pPr>
            <a:r>
              <a:rPr lang="en-US" sz="1300" dirty="0">
                <a:solidFill>
                  <a:srgbClr val="FFFFFF"/>
                </a:solidFill>
                <a:latin typeface="Calibri" pitchFamily="34" charset="0"/>
                <a:ea typeface="Calibri" pitchFamily="34" charset="-122"/>
                <a:cs typeface="Calibri" pitchFamily="34" charset="-120"/>
              </a:rPr>
              <a:t>Adım adım: etanolün yanması</a:t>
            </a:r>
            <a:endParaRPr lang="en-US" sz="1300" dirty="0"/>
          </a:p>
        </p:txBody>
      </p:sp>
      <p:sp>
        <p:nvSpPr>
          <p:cNvPr id="9" name="Text 7"/>
          <p:cNvSpPr txBox="1"/>
          <p:nvPr/>
        </p:nvSpPr>
        <p:spPr>
          <a:xfrm>
            <a:off x="731520" y="5532120"/>
            <a:ext cx="5120640" cy="320040"/>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08   </a:t>
            </a:r>
            <a:pPr indent="0" marL="0">
              <a:buNone/>
            </a:pPr>
            <a:r>
              <a:rPr lang="en-US" sz="1300" dirty="0">
                <a:solidFill>
                  <a:srgbClr val="FFFFFF"/>
                </a:solidFill>
                <a:latin typeface="Calibri" pitchFamily="34" charset="0"/>
                <a:ea typeface="Calibri" pitchFamily="34" charset="-122"/>
                <a:cs typeface="Calibri" pitchFamily="34" charset="-120"/>
              </a:rPr>
              <a:t>Fiziksel hâl ΔH°f'yi değiştirir</a:t>
            </a:r>
            <a:endParaRPr lang="en-US" sz="1300" dirty="0"/>
          </a:p>
        </p:txBody>
      </p:sp>
      <p:sp>
        <p:nvSpPr>
          <p:cNvPr id="10" name="Text 8"/>
          <p:cNvSpPr txBox="1"/>
          <p:nvPr/>
        </p:nvSpPr>
        <p:spPr>
          <a:xfrm>
            <a:off x="731520" y="5852160"/>
            <a:ext cx="5120640" cy="320040"/>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09   </a:t>
            </a:r>
            <a:pPr indent="0" marL="0">
              <a:buNone/>
            </a:pPr>
            <a:r>
              <a:rPr lang="en-US" sz="1300" dirty="0">
                <a:solidFill>
                  <a:srgbClr val="FFFFFF"/>
                </a:solidFill>
                <a:latin typeface="Calibri" pitchFamily="34" charset="0"/>
                <a:ea typeface="Calibri" pitchFamily="34" charset="-122"/>
                <a:cs typeface="Calibri" pitchFamily="34" charset="-120"/>
              </a:rPr>
              <a:t>Sayılarla hisset: bir tablo, bütün yakıtlar</a:t>
            </a:r>
            <a:endParaRPr lang="en-US" sz="1300" dirty="0"/>
          </a:p>
        </p:txBody>
      </p:sp>
      <p:sp>
        <p:nvSpPr>
          <p:cNvPr id="11" name="Text 9"/>
          <p:cNvSpPr txBox="1"/>
          <p:nvPr/>
        </p:nvSpPr>
        <p:spPr>
          <a:xfrm>
            <a:off x="6172200" y="1097280"/>
            <a:ext cx="5379415"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TEMEL BAĞINTILAR</a:t>
            </a:r>
            <a:endParaRPr lang="en-US" sz="1050" dirty="0"/>
          </a:p>
        </p:txBody>
      </p:sp>
      <p:sp>
        <p:nvSpPr>
          <p:cNvPr id="12" name="Shape 10"/>
          <p:cNvSpPr/>
          <p:nvPr/>
        </p:nvSpPr>
        <p:spPr>
          <a:xfrm>
            <a:off x="6172200" y="1481328"/>
            <a:ext cx="5379415" cy="731520"/>
          </a:xfrm>
          <a:prstGeom prst="roundRect">
            <a:avLst>
              <a:gd name="adj" fmla="val 12500"/>
            </a:avLst>
          </a:prstGeom>
          <a:solidFill>
            <a:srgbClr val="1C2542"/>
          </a:solidFill>
          <a:ln w="9525">
            <a:solidFill>
              <a:srgbClr val="2C3860"/>
            </a:solidFill>
            <a:prstDash val="solid"/>
          </a:ln>
        </p:spPr>
      </p:sp>
      <p:sp>
        <p:nvSpPr>
          <p:cNvPr id="13" name="Text 11"/>
          <p:cNvSpPr txBox="1"/>
          <p:nvPr/>
        </p:nvSpPr>
        <p:spPr>
          <a:xfrm>
            <a:off x="6400800" y="1481328"/>
            <a:ext cx="3276295"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ΔH° = ΣnΔH°f(ürün) − ΣnΔH°f(giren)</a:t>
            </a:r>
            <a:endParaRPr lang="en-US" sz="1500" dirty="0"/>
          </a:p>
        </p:txBody>
      </p:sp>
      <p:sp>
        <p:nvSpPr>
          <p:cNvPr id="14" name="Text 12"/>
          <p:cNvSpPr txBox="1"/>
          <p:nvPr/>
        </p:nvSpPr>
        <p:spPr>
          <a:xfrm>
            <a:off x="9768535" y="1481328"/>
            <a:ext cx="1600200"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tepkime entalpisi</a:t>
            </a:r>
            <a:endParaRPr lang="en-US" sz="1200" dirty="0"/>
          </a:p>
        </p:txBody>
      </p:sp>
      <p:sp>
        <p:nvSpPr>
          <p:cNvPr id="15" name="Shape 13"/>
          <p:cNvSpPr/>
          <p:nvPr/>
        </p:nvSpPr>
        <p:spPr>
          <a:xfrm>
            <a:off x="6172200" y="2350008"/>
            <a:ext cx="5379415" cy="731520"/>
          </a:xfrm>
          <a:prstGeom prst="roundRect">
            <a:avLst>
              <a:gd name="adj" fmla="val 12500"/>
            </a:avLst>
          </a:prstGeom>
          <a:solidFill>
            <a:srgbClr val="1C2542"/>
          </a:solidFill>
          <a:ln w="9525">
            <a:solidFill>
              <a:srgbClr val="2C3860"/>
            </a:solidFill>
            <a:prstDash val="solid"/>
          </a:ln>
        </p:spPr>
      </p:sp>
      <p:sp>
        <p:nvSpPr>
          <p:cNvPr id="16" name="Text 14"/>
          <p:cNvSpPr txBox="1"/>
          <p:nvPr/>
        </p:nvSpPr>
        <p:spPr>
          <a:xfrm>
            <a:off x="6400800" y="2350008"/>
            <a:ext cx="3246120"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ΔH°f(kararlı element) = 0</a:t>
            </a:r>
            <a:endParaRPr lang="en-US" sz="1500" dirty="0"/>
          </a:p>
        </p:txBody>
      </p:sp>
      <p:sp>
        <p:nvSpPr>
          <p:cNvPr id="17" name="Text 15"/>
          <p:cNvSpPr txBox="1"/>
          <p:nvPr/>
        </p:nvSpPr>
        <p:spPr>
          <a:xfrm>
            <a:off x="9738360" y="2350008"/>
            <a:ext cx="1630375"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başlangıç noktası</a:t>
            </a:r>
            <a:endParaRPr lang="en-US" sz="1200" dirty="0"/>
          </a:p>
        </p:txBody>
      </p:sp>
      <p:sp>
        <p:nvSpPr>
          <p:cNvPr id="18" name="Shape 16"/>
          <p:cNvSpPr/>
          <p:nvPr/>
        </p:nvSpPr>
        <p:spPr>
          <a:xfrm>
            <a:off x="6172200" y="3218688"/>
            <a:ext cx="5379415" cy="731520"/>
          </a:xfrm>
          <a:prstGeom prst="roundRect">
            <a:avLst>
              <a:gd name="adj" fmla="val 12500"/>
            </a:avLst>
          </a:prstGeom>
          <a:solidFill>
            <a:srgbClr val="1C2542"/>
          </a:solidFill>
          <a:ln w="9525">
            <a:solidFill>
              <a:srgbClr val="2C3860"/>
            </a:solidFill>
            <a:prstDash val="solid"/>
          </a:ln>
        </p:spPr>
      </p:sp>
      <p:sp>
        <p:nvSpPr>
          <p:cNvPr id="19" name="Text 17"/>
          <p:cNvSpPr txBox="1"/>
          <p:nvPr/>
        </p:nvSpPr>
        <p:spPr>
          <a:xfrm>
            <a:off x="6400800" y="3218688"/>
            <a:ext cx="1645920"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Q = n·|ΔH|</a:t>
            </a:r>
            <a:endParaRPr lang="en-US" sz="1500" dirty="0"/>
          </a:p>
        </p:txBody>
      </p:sp>
      <p:sp>
        <p:nvSpPr>
          <p:cNvPr id="20" name="Text 18"/>
          <p:cNvSpPr txBox="1"/>
          <p:nvPr/>
        </p:nvSpPr>
        <p:spPr>
          <a:xfrm>
            <a:off x="8138160" y="3218688"/>
            <a:ext cx="3230575"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n mol için ısı</a:t>
            </a:r>
            <a:endParaRPr lang="en-US" sz="1200" dirty="0"/>
          </a:p>
        </p:txBody>
      </p:sp>
      <p:sp>
        <p:nvSpPr>
          <p:cNvPr id="21" name="Shape 19"/>
          <p:cNvSpPr/>
          <p:nvPr/>
        </p:nvSpPr>
        <p:spPr>
          <a:xfrm>
            <a:off x="6172200" y="4087368"/>
            <a:ext cx="5379415" cy="731520"/>
          </a:xfrm>
          <a:prstGeom prst="roundRect">
            <a:avLst>
              <a:gd name="adj" fmla="val 12500"/>
            </a:avLst>
          </a:prstGeom>
          <a:solidFill>
            <a:srgbClr val="1C2542"/>
          </a:solidFill>
          <a:ln w="9525">
            <a:solidFill>
              <a:srgbClr val="2C3860"/>
            </a:solidFill>
            <a:prstDash val="solid"/>
          </a:ln>
        </p:spPr>
      </p:sp>
      <p:sp>
        <p:nvSpPr>
          <p:cNvPr id="22" name="Text 20"/>
          <p:cNvSpPr txBox="1"/>
          <p:nvPr/>
        </p:nvSpPr>
        <p:spPr>
          <a:xfrm>
            <a:off x="6400800" y="4087368"/>
            <a:ext cx="2176272"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n = m/M = V/22,4</a:t>
            </a:r>
            <a:endParaRPr lang="en-US" sz="1500" dirty="0"/>
          </a:p>
        </p:txBody>
      </p:sp>
      <p:sp>
        <p:nvSpPr>
          <p:cNvPr id="23" name="Text 21"/>
          <p:cNvSpPr txBox="1"/>
          <p:nvPr/>
        </p:nvSpPr>
        <p:spPr>
          <a:xfrm>
            <a:off x="8668512" y="4087368"/>
            <a:ext cx="2700223"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mol sayısı (gaz, NK)</a:t>
            </a:r>
            <a:endParaRPr lang="en-US" sz="1200" dirty="0"/>
          </a:p>
        </p:txBody>
      </p:sp>
      <p:sp>
        <p:nvSpPr>
          <p:cNvPr id="24" name="Shape 22"/>
          <p:cNvSpPr/>
          <p:nvPr/>
        </p:nvSpPr>
        <p:spPr>
          <a:xfrm>
            <a:off x="640080" y="6382512"/>
            <a:ext cx="128016" cy="128016"/>
          </a:xfrm>
          <a:prstGeom prst="roundRect">
            <a:avLst>
              <a:gd name="adj" fmla="val 28571"/>
            </a:avLst>
          </a:prstGeom>
          <a:solidFill>
            <a:srgbClr val="C6F36B"/>
          </a:solidFill>
          <a:ln/>
        </p:spPr>
      </p:sp>
      <p:sp>
        <p:nvSpPr>
          <p:cNvPr id="25" name="Text 23"/>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dersler.perinet.org/olusum-entalpisi.html</a:t>
            </a:r>
            <a:endParaRPr lang="en-US" sz="1050" dirty="0"/>
          </a:p>
        </p:txBody>
      </p:sp>
      <p:sp>
        <p:nvSpPr>
          <p:cNvPr id="26" name="Text 24"/>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41</a:t>
            </a:r>
            <a:endParaRPr lang="en-US" sz="10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Oluşum entalpileri tablosu</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7</a:t>
            </a:r>
            <a:endParaRPr lang="en-US" sz="950" dirty="0"/>
          </a:p>
        </p:txBody>
      </p:sp>
      <p:sp>
        <p:nvSpPr>
          <p:cNvPr id="6" name="Text 4"/>
          <p:cNvSpPr txBox="1"/>
          <p:nvPr/>
        </p:nvSpPr>
        <p:spPr>
          <a:xfrm>
            <a:off x="640080" y="1325880"/>
            <a:ext cx="10911535" cy="181660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Oluşum entalpileri ölçülüp tablolara yazılmıştır; bir kimyacı için bu tablo, dağların yüksekliklerini gösteren bir harita gibidir.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Aşağıdaki değerler 25 °C ve 1 atm içindir.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konudaki hesaplarda bileşiklerin değerleri bu tablodan alınacak:</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42</a:t>
            </a:r>
            <a:endParaRPr lang="en-US" sz="10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Oluşum entalpileri tablosu</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7</a:t>
            </a:r>
            <a:endParaRPr lang="en-US" sz="95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10911535" cy="914400"/>
        </p:xfrm>
        <a:graphic>
          <a:graphicData uri="http://schemas.openxmlformats.org/drawingml/2006/table">
            <a:tbl>
              <a:tblPr/>
              <a:tblGrid>
                <a:gridCol w="1558791"/>
                <a:gridCol w="3377380"/>
                <a:gridCol w="2597985"/>
                <a:gridCol w="3377380"/>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Madde</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ΔH°f (kJ/mol)</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Madde</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ΔH°f (kJ/mol)</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H₂O(k)</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−291,8</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C₆H₁₂O₆(k)</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−1274</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H₂O(s)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−285,8</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NH₃(g)</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−46,1</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H₂O(g)</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−241,8</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NO(g)</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+90,3</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CO₂(g)</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−393,5</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NO₂(g)</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+33,2</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CO(g)</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−110,5</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HCl(g)</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−92,3</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CH₄(g)</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−74,8</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SO₂(g)</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−296,8</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bl>
          </a:graphicData>
        </a:graphic>
      </p:graphicFrame>
      <p:sp>
        <p:nvSpPr>
          <p:cNvPr id="8" name="Shape 4"/>
          <p:cNvSpPr/>
          <p:nvPr/>
        </p:nvSpPr>
        <p:spPr>
          <a:xfrm>
            <a:off x="640080" y="6382512"/>
            <a:ext cx="128016" cy="128016"/>
          </a:xfrm>
          <a:prstGeom prst="roundRect">
            <a:avLst>
              <a:gd name="adj" fmla="val 28571"/>
            </a:avLst>
          </a:prstGeom>
          <a:solidFill>
            <a:srgbClr val="A9E648"/>
          </a:solidFill>
          <a:ln/>
        </p:spPr>
      </p:sp>
      <p:sp>
        <p:nvSpPr>
          <p:cNvPr id="9" name="Text 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0" name="Text 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43</a:t>
            </a:r>
            <a:endParaRPr lang="en-US" sz="10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Oluşum entalpileri tablosu</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7</a:t>
            </a:r>
            <a:endParaRPr lang="en-US" sz="95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10911535" cy="914400"/>
        </p:xfrm>
        <a:graphic>
          <a:graphicData uri="http://schemas.openxmlformats.org/drawingml/2006/table">
            <a:tbl>
              <a:tblPr/>
              <a:tblGrid>
                <a:gridCol w="2182307"/>
                <a:gridCol w="3152221"/>
                <a:gridCol w="2424786"/>
                <a:gridCol w="3152221"/>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Madde</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ΔH°f (kJ/mol)</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Madde</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ΔH°f (kJ/mol)</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C₂H₆(g)</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−84,7</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SO₃(g)</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−395,7</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C₂H₄(g)</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+52,3</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CaCO₃(k)</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−1206,9</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C₂H₂(g)</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+226,7</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CaO(k)</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−635,1</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C₃H₈(g)</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−103,8</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Ca(OH)₂(k)</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−986,1</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C₄H₁₀(g)</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−125,6</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Fe₂O₃(k)</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−824,2</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C₂H₅OH(s)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−277,7</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Al₂O₃(k)</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−1675,7</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bl>
          </a:graphicData>
        </a:graphic>
      </p:graphicFrame>
      <p:sp>
        <p:nvSpPr>
          <p:cNvPr id="8" name="Shape 4"/>
          <p:cNvSpPr/>
          <p:nvPr/>
        </p:nvSpPr>
        <p:spPr>
          <a:xfrm>
            <a:off x="640080" y="6382512"/>
            <a:ext cx="128016" cy="128016"/>
          </a:xfrm>
          <a:prstGeom prst="roundRect">
            <a:avLst>
              <a:gd name="adj" fmla="val 28571"/>
            </a:avLst>
          </a:prstGeom>
          <a:solidFill>
            <a:srgbClr val="A9E648"/>
          </a:solidFill>
          <a:ln/>
        </p:spPr>
      </p:sp>
      <p:sp>
        <p:nvSpPr>
          <p:cNvPr id="9" name="Text 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0" name="Text 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44</a:t>
            </a:r>
            <a:endParaRPr lang="en-US" sz="10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Oluşum entalpileri tablosu</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7</a:t>
            </a:r>
            <a:endParaRPr lang="en-US" sz="950" dirty="0"/>
          </a:p>
        </p:txBody>
      </p:sp>
      <p:sp>
        <p:nvSpPr>
          <p:cNvPr id="6" name="Text 4"/>
          <p:cNvSpPr txBox="1"/>
          <p:nvPr/>
        </p:nvSpPr>
        <p:spPr>
          <a:xfrm>
            <a:off x="640080" y="1325880"/>
            <a:ext cx="10911535" cy="47701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Tabloyu okurken üç şeye dikkat et:</a:t>
            </a:r>
            <a:endParaRPr lang="en-US" sz="2200" dirty="0"/>
          </a:p>
        </p:txBody>
      </p:sp>
      <p:sp>
        <p:nvSpPr>
          <p:cNvPr id="7" name="Text 5"/>
          <p:cNvSpPr txBox="1"/>
          <p:nvPr/>
        </p:nvSpPr>
        <p:spPr>
          <a:xfrm>
            <a:off x="640080" y="2004060"/>
            <a:ext cx="10911535" cy="2482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Değerler 1 mol içindir: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−393,5 kJ/mol, 1 mol (44 g) CO₂ oluşurken açığa çıkan ısıyı söyler. 2 mol için iki katını alırsın.</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Hâl simgesi değerin parçasıdır: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H₂O(s) ile H₂O(g) ayrı satırlardır ve değerleri farklıdır.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Kararlı elementler tabloda yoktur: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O₂(g), H₂(g), C(grafit), Fe(k) gibi elementlerin değeri sıfırdır; yazılmaz ama hesapta sıfır olarak yer alır.</a:t>
            </a:r>
            <a:endParaRPr lang="en-US" sz="2100" dirty="0"/>
          </a:p>
        </p:txBody>
      </p:sp>
      <p:sp>
        <p:nvSpPr>
          <p:cNvPr id="9" name="Shape 6"/>
          <p:cNvSpPr/>
          <p:nvPr/>
        </p:nvSpPr>
        <p:spPr>
          <a:xfrm>
            <a:off x="640080" y="6382512"/>
            <a:ext cx="128016" cy="128016"/>
          </a:xfrm>
          <a:prstGeom prst="roundRect">
            <a:avLst>
              <a:gd name="adj" fmla="val 28571"/>
            </a:avLst>
          </a:prstGeom>
          <a:solidFill>
            <a:srgbClr val="A9E648"/>
          </a:solidFill>
          <a:ln/>
        </p:spPr>
      </p:sp>
      <p:sp>
        <p:nvSpPr>
          <p:cNvPr id="10"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1"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45</a:t>
            </a:r>
            <a:endParaRPr lang="en-US" sz="10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Oluşum entalpileri tablosu</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7</a:t>
            </a:r>
            <a:endParaRPr lang="en-US" sz="950" dirty="0"/>
          </a:p>
        </p:txBody>
      </p:sp>
      <p:sp>
        <p:nvSpPr>
          <p:cNvPr id="6" name="Text 4"/>
          <p:cNvSpPr txBox="1"/>
          <p:nvPr/>
        </p:nvSpPr>
        <p:spPr>
          <a:xfrm>
            <a:off x="640080" y="1325880"/>
            <a:ext cx="10911535" cy="315620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Tablodan bir düzen de okunur.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Metal oksitlerinin değerleri büyük eksi sayılardır: Al₂O₃ −1675,7, Fe₂O₃ −824,2, CaO −635,1.</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maddeler elementlerinden oluşurken çok ısı vermiştir ve kolay kolay ayrışmaz.</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Azot oksitleri (NO, NO₂) ise sıfırın üstündedir.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Küçük hidrokarbonlar sıfıra yakındır, bazıları sıfırın üstündedir.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46</a:t>
            </a:r>
            <a:endParaRPr lang="en-US" sz="10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Oluşum entalpileri tablosu</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6 / 7</a:t>
            </a:r>
            <a:endParaRPr lang="en-US" sz="950" dirty="0"/>
          </a:p>
        </p:txBody>
      </p:sp>
      <p:sp>
        <p:nvSpPr>
          <p:cNvPr id="6" name="Text 4"/>
          <p:cNvSpPr txBox="1"/>
          <p:nvPr/>
        </p:nvSpPr>
        <p:spPr>
          <a:xfrm>
            <a:off x="640080" y="1325880"/>
            <a:ext cx="10911535" cy="1339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İyi bir yakıtın sırrı buradadır: yakıt sıfıra yakın ya da sıfırın üstünde durur, yanma ürünleri olan CO₂ ve H₂O ise çok aşağıdadır.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Düşüş ne kadar büyükse açığa çıkan ısı o kadar çoktur.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47</a:t>
            </a:r>
            <a:endParaRPr lang="en-US" sz="10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Oluşum entalpileri tablosu</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7 / 7</a:t>
            </a:r>
            <a:endParaRPr lang="en-US" sz="950" dirty="0"/>
          </a:p>
        </p:txBody>
      </p:sp>
      <p:sp>
        <p:nvSpPr>
          <p:cNvPr id="6" name="Shape 4"/>
          <p:cNvSpPr/>
          <p:nvPr/>
        </p:nvSpPr>
        <p:spPr>
          <a:xfrm>
            <a:off x="2345719" y="1234440"/>
            <a:ext cx="7500257"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olusum-entalpisi-06.png">    </p:cNvPr>
          <p:cNvPicPr>
            <a:picLocks noChangeAspect="1"/>
          </p:cNvPicPr>
          <p:nvPr/>
        </p:nvPicPr>
        <p:blipFill>
          <a:blip r:embed="rId1"/>
          <a:stretch>
            <a:fillRect/>
          </a:stretch>
        </p:blipFill>
        <p:spPr>
          <a:xfrm>
            <a:off x="2574319" y="1325880"/>
            <a:ext cx="7043057"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Çubuklar oluşum entalpilerini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aynı ölçekte</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gösteriyor. Soldakiler elementlerinden oluşurken ısı verir; sağdakiler (etilen, azot monoksit, asetilen) ısı alır ve elementlerine göre daha az kararlıdır. Yakıt olan metan sıfıra yakın, yanma ürünleri CO₂ ve H₂O ise en solda durur: yanmanın ısısı bu farktan gelir.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48</a:t>
            </a:r>
            <a:endParaRPr lang="en-US" sz="10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Oluşum entalpileri tablosu</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750" dirty="0">
                <a:solidFill>
                  <a:srgbClr val="0E1426"/>
                </a:solidFill>
                <a:latin typeface="Cambria" pitchFamily="34" charset="0"/>
                <a:ea typeface="Cambria" pitchFamily="34" charset="-122"/>
                <a:cs typeface="Cambria" pitchFamily="34" charset="-120"/>
              </a:rPr>
              <a:t>Oluşum entalpileri 25 °C ve 1 atm'de 1 mol madde için tablolanır; hâl simgesi değerin parçasıdır, kararlı elementler sıfırdır. İyi yakıtlar sıfıra yakın, yanma ürünleri CO₂ ve H₂O ise çok aşağıdadır.</a:t>
            </a:r>
            <a:endParaRPr lang="en-US" sz="275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49</a:t>
            </a:r>
            <a:endParaRPr lang="en-US" sz="10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Tepkime entalpisini hesaplamak</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220218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Elimizde bir tablo var; bir tepkimenin ΔH°'sini nasıl buluruz?</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Fikir şu: tepkimenin gerçekte hangi yoldan yürüdüğünü bilmesek de onu hayalî iki adımda düşünebiliriz.</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Entalpi, dağdaki yükseklik gibi yalnızca bulunulan yere bağlıdır; hangi yoldan gidildiği farkı değiştirmez.</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50</a:t>
            </a:r>
            <a:endParaRPr lang="en-US" sz="10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Tepkime entalpisini hesaplamak</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Text 4"/>
          <p:cNvSpPr txBox="1"/>
          <p:nvPr/>
        </p:nvSpPr>
        <p:spPr>
          <a:xfrm>
            <a:off x="640080" y="1325880"/>
            <a:ext cx="10911535" cy="2114550"/>
          </a:xfrm>
          <a:prstGeom prst="rect">
            <a:avLst/>
          </a:prstGeom>
          <a:noFill/>
          <a:ln/>
        </p:spPr>
        <p:txBody>
          <a:bodyPr wrap="square" lIns="0" tIns="0" rIns="0" bIns="0" rtlCol="0" anchor="t"/>
          <a:lstStyle/>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Girenleri elementlerine ayır.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Bu adım oluşumun tersidir; ΔH'si −ΣnΔH°f(girenler) olur.</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Elementlerden ürünleri kur.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Bu adımın ΔH'si +ΣnΔH°f(ürünler) olur.</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İki adımı topla.</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Elementler arada sadeleşir; geriye ürünler ile girenlerin farkı kalır.</a:t>
            </a:r>
            <a:endParaRPr lang="en-US" sz="2100" dirty="0"/>
          </a:p>
        </p:txBody>
      </p:sp>
      <p:sp>
        <p:nvSpPr>
          <p:cNvPr id="7" name="Shape 5"/>
          <p:cNvSpPr/>
          <p:nvPr/>
        </p:nvSpPr>
        <p:spPr>
          <a:xfrm>
            <a:off x="640080" y="3641598"/>
            <a:ext cx="3467405"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3641598"/>
            <a:ext cx="3467405"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ΔH° = ΣnΔH°f(ürünler)</a:t>
            </a:r>
            <a:endParaRPr lang="en-US" sz="1800" dirty="0"/>
          </a:p>
        </p:txBody>
      </p:sp>
      <p:sp>
        <p:nvSpPr>
          <p:cNvPr id="9" name="Shape 7"/>
          <p:cNvSpPr/>
          <p:nvPr/>
        </p:nvSpPr>
        <p:spPr>
          <a:xfrm>
            <a:off x="4253789" y="3641598"/>
            <a:ext cx="3050438" cy="585216"/>
          </a:xfrm>
          <a:prstGeom prst="roundRect">
            <a:avLst>
              <a:gd name="adj" fmla="val 18750"/>
            </a:avLst>
          </a:prstGeom>
          <a:solidFill>
            <a:srgbClr val="EEF2FC"/>
          </a:solidFill>
          <a:ln w="9525">
            <a:solidFill>
              <a:srgbClr val="CBD7F4"/>
            </a:solidFill>
            <a:prstDash val="solid"/>
          </a:ln>
        </p:spPr>
      </p:sp>
      <p:sp>
        <p:nvSpPr>
          <p:cNvPr id="10" name="Text 8"/>
          <p:cNvSpPr txBox="1"/>
          <p:nvPr/>
        </p:nvSpPr>
        <p:spPr>
          <a:xfrm>
            <a:off x="4253789" y="3641598"/>
            <a:ext cx="3050438"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 ΣnΔH°f(girenler)</a:t>
            </a:r>
            <a:endParaRPr lang="en-US" sz="1800" dirty="0"/>
          </a:p>
        </p:txBody>
      </p:sp>
      <p:sp>
        <p:nvSpPr>
          <p:cNvPr id="12" name="Shape 9"/>
          <p:cNvSpPr/>
          <p:nvPr/>
        </p:nvSpPr>
        <p:spPr>
          <a:xfrm>
            <a:off x="640080" y="6382512"/>
            <a:ext cx="128016" cy="128016"/>
          </a:xfrm>
          <a:prstGeom prst="roundRect">
            <a:avLst>
              <a:gd name="adj" fmla="val 28571"/>
            </a:avLst>
          </a:prstGeom>
          <a:solidFill>
            <a:srgbClr val="A9E648"/>
          </a:solidFill>
          <a:ln/>
        </p:spPr>
      </p:sp>
      <p:sp>
        <p:nvSpPr>
          <p:cNvPr id="13" name="Text 10"/>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4" name="Text 11"/>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51</a:t>
            </a:r>
            <a:endParaRPr lang="en-US" sz="10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Tepkime entalpisini hesaplamak</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Shape 4"/>
          <p:cNvSpPr/>
          <p:nvPr/>
        </p:nvSpPr>
        <p:spPr>
          <a:xfrm>
            <a:off x="640080" y="1399032"/>
            <a:ext cx="64008" cy="310896"/>
          </a:xfrm>
          <a:prstGeom prst="rect">
            <a:avLst/>
          </a:prstGeom>
          <a:solidFill>
            <a:srgbClr val="2957D4"/>
          </a:solidFill>
          <a:ln/>
        </p:spPr>
      </p:sp>
      <p:sp>
        <p:nvSpPr>
          <p:cNvPr id="7" name="Text 5"/>
          <p:cNvSpPr txBox="1"/>
          <p:nvPr/>
        </p:nvSpPr>
        <p:spPr>
          <a:xfrm>
            <a:off x="822960" y="1325880"/>
            <a:ext cx="10728655" cy="457200"/>
          </a:xfrm>
          <a:prstGeom prst="rect">
            <a:avLst/>
          </a:prstGeom>
          <a:noFill/>
          <a:ln/>
        </p:spPr>
        <p:txBody>
          <a:bodyPr wrap="square" lIns="0" tIns="0" rIns="0" bIns="0" rtlCol="0" anchor="ctr"/>
          <a:lstStyle/>
          <a:p>
            <a:pPr indent="0" marL="0">
              <a:buNone/>
            </a:pPr>
            <a:r>
              <a:rPr lang="en-US" sz="2200" b="1" dirty="0">
                <a:solidFill>
                  <a:srgbClr val="0E1426"/>
                </a:solidFill>
                <a:latin typeface="Cambria" pitchFamily="34" charset="0"/>
                <a:ea typeface="Cambria" pitchFamily="34" charset="-122"/>
                <a:cs typeface="Cambria" pitchFamily="34" charset="-120"/>
              </a:rPr>
              <a:t>Formüldeki harfler ne anlama geliyor?</a:t>
            </a:r>
            <a:endParaRPr lang="en-US" sz="22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640080" y="1892808"/>
          <a:ext cx="10911535" cy="914400"/>
        </p:xfrm>
        <a:graphic>
          <a:graphicData uri="http://schemas.openxmlformats.org/drawingml/2006/table">
            <a:tbl>
              <a:tblPr/>
              <a:tblGrid>
                <a:gridCol w="1259023"/>
                <a:gridCol w="8393489"/>
                <a:gridCol w="1259023"/>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Sembol</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Anlamı</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Birimi</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690372">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ΔH°</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standart tepkime entalpisi: denklemde yazılan miktarlar tepkiyince alınan ya da verilen ısı</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kJ</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ΔH°f</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bir maddenin standart oluşum entalpisi; tablodan okunur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kJ/mol</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n</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maddenin denklemdeki katsayısı</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mol</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690372">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Σ</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“topla” işareti: bütün ürünlerin ya da bütün girenlerin n·ΔH°f değerleri toplanır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bl>
          </a:graphicData>
        </a:graphic>
      </p:graphicFrame>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52</a:t>
            </a:r>
            <a:endParaRPr lang="en-US" sz="10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Tepkime entalpisini hesaplamak</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Text 4"/>
          <p:cNvSpPr txBox="1"/>
          <p:nvPr/>
        </p:nvSpPr>
        <p:spPr>
          <a:xfrm>
            <a:off x="640080" y="1325880"/>
            <a:ext cx="10911535" cy="315620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Birim kontrolü: mol × kJ/mol = kJ.</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örnekle bak: 2CO(g) + O₂(g) → 2CO₂(g).</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Girenlerin toplamı 2·(−110,5) + 1·0 = −221 kJ, ürünlerinki 2·(−393,5) = −787 kJ'dir.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Birinci adımda girenleri elementlerine ayırmak 221 kJ ister; ikinci adımda elementlerden ürünleri kurmak 787 kJ verir.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Net sonuç ΔH° = −787 − (−221) =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−566 kJ</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tepkime ekzotermiktir.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53</a:t>
            </a:r>
            <a:endParaRPr lang="en-US" sz="10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Tepkime entalpisini hesaplamak</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Shape 4"/>
          <p:cNvSpPr/>
          <p:nvPr/>
        </p:nvSpPr>
        <p:spPr>
          <a:xfrm>
            <a:off x="3022936" y="1234440"/>
            <a:ext cx="6145823"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olusum-entalpisi-07.png">    </p:cNvPr>
          <p:cNvPicPr>
            <a:picLocks noChangeAspect="1"/>
          </p:cNvPicPr>
          <p:nvPr/>
        </p:nvPicPr>
        <p:blipFill>
          <a:blip r:embed="rId1"/>
          <a:stretch>
            <a:fillRect/>
          </a:stretch>
        </p:blipFill>
        <p:spPr>
          <a:xfrm>
            <a:off x="3251536" y="1325880"/>
            <a:ext cx="5688623"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Tepkimeyi elementler üzerinden giden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hayalî bir yol</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olarak düşün: önce girenleri elementlerine ayır (mavi ok, +221 kJ), sonra elementlerden ürünleri kur (yeşil ok, −787 kJ). İki adımın toplamı, girenlerden ürünlere doğrudan inen sarı oka eşittir: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ΔH° = −566 kJ</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Ok boyları değerlerle orantılıdır.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54</a:t>
            </a:r>
            <a:endParaRPr lang="en-US" sz="10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Tepkime entalpisini hesaplamak</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Tepkimeyi hayalî iki adımda düşün: girenleri elementlerine ayır, elementlerden ürünleri kur. Toplamı ΔH° = ΣnΔH°f(ürünler) − ΣnΔH°f(girenler) verir; birim mol × kJ/mol = kJ olur.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55</a:t>
            </a:r>
            <a:endParaRPr lang="en-US" sz="10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Tepkime gerçekte önce elementlerine ayrılıp sonra yeniden birleşmiyorsa, bu hayalî yol neden doğru sonucu verir?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06 · Tepkime entalpisini hesaplamak</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56</a:t>
            </a:r>
            <a:endParaRPr lang="en-US" sz="10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Tepkime gerçekte önce elementlerine ayrılıp sonra yeniden birleşmiyorsa, bu hayalî yol neden doğru sonucu verir?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Çünkü entalpi bir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hâl fonksiyonudur</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değeri yalnızca maddenin o anki durumuna bağlıdır, oraya nasıl gelindiğine bağlı değildir. İki şehir arasındaki yükseklik farkı da hangi yoldan gittiğine bağlı değildir. Başlangıç (girenler) ve son (ürünler) aynı kaldıkça hangi yolu hayal edersek edelim fark aynı çıkar.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57</a:t>
            </a:r>
            <a:endParaRPr lang="en-US" sz="10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Adım adım: etanolün yanması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95402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Bağıntıyı ispirto ocağındaki yakıta, etanole uygulayalım.</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Su sıvı olarak oluşsun:</a:t>
            </a:r>
            <a:endParaRPr lang="en-US" sz="2200" dirty="0"/>
          </a:p>
        </p:txBody>
      </p:sp>
      <p:sp>
        <p:nvSpPr>
          <p:cNvPr id="7" name="Shape 5"/>
          <p:cNvSpPr/>
          <p:nvPr/>
        </p:nvSpPr>
        <p:spPr>
          <a:xfrm>
            <a:off x="640080" y="2481072"/>
            <a:ext cx="3050438"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2481072"/>
            <a:ext cx="3050438"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C₂H₅OH(s) + 3O₂(g)</a:t>
            </a:r>
            <a:endParaRPr lang="en-US" sz="1800" dirty="0"/>
          </a:p>
        </p:txBody>
      </p:sp>
      <p:sp>
        <p:nvSpPr>
          <p:cNvPr id="9" name="Shape 7"/>
          <p:cNvSpPr/>
          <p:nvPr/>
        </p:nvSpPr>
        <p:spPr>
          <a:xfrm>
            <a:off x="3836822" y="2481072"/>
            <a:ext cx="3189427" cy="585216"/>
          </a:xfrm>
          <a:prstGeom prst="roundRect">
            <a:avLst>
              <a:gd name="adj" fmla="val 18750"/>
            </a:avLst>
          </a:prstGeom>
          <a:solidFill>
            <a:srgbClr val="EEF2FC"/>
          </a:solidFill>
          <a:ln w="9525">
            <a:solidFill>
              <a:srgbClr val="CBD7F4"/>
            </a:solidFill>
            <a:prstDash val="solid"/>
          </a:ln>
        </p:spPr>
      </p:sp>
      <p:sp>
        <p:nvSpPr>
          <p:cNvPr id="10" name="Text 8"/>
          <p:cNvSpPr txBox="1"/>
          <p:nvPr/>
        </p:nvSpPr>
        <p:spPr>
          <a:xfrm>
            <a:off x="3836822" y="2481072"/>
            <a:ext cx="3189427"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 2CO₂(g) + 3H₂O(s)</a:t>
            </a:r>
            <a:endParaRPr lang="en-US" sz="1800" dirty="0"/>
          </a:p>
        </p:txBody>
      </p:sp>
      <p:sp>
        <p:nvSpPr>
          <p:cNvPr id="11" name="Text 9"/>
          <p:cNvSpPr txBox="1"/>
          <p:nvPr/>
        </p:nvSpPr>
        <p:spPr>
          <a:xfrm>
            <a:off x="640080" y="3304032"/>
            <a:ext cx="10911535" cy="86258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Önce denklemin denk olduğunu denetle: solda 2 C, 6 H ve 1 + 6 = 7 O; sağda 2 C, 6 H ve 4 + 3 = 7 O var.</a:t>
            </a:r>
            <a:endParaRPr lang="en-US" sz="2200" dirty="0"/>
          </a:p>
        </p:txBody>
      </p:sp>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58</a:t>
            </a:r>
            <a:endParaRPr lang="en-US" sz="10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Adım adım: etanolün yanması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Text 4"/>
          <p:cNvSpPr txBox="1"/>
          <p:nvPr/>
        </p:nvSpPr>
        <p:spPr>
          <a:xfrm>
            <a:off x="640080" y="1325880"/>
            <a:ext cx="10911535" cy="47701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Sonra her madde için katsayıyı tablodaki değerle çarpan bir tablo kur:</a:t>
            </a:r>
            <a:endParaRPr lang="en-US" sz="22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640080" y="2004060"/>
          <a:ext cx="10911535" cy="914400"/>
        </p:xfrm>
        <a:graphic>
          <a:graphicData uri="http://schemas.openxmlformats.org/drawingml/2006/table">
            <a:tbl>
              <a:tblPr/>
              <a:tblGrid>
                <a:gridCol w="2455095"/>
                <a:gridCol w="1909519"/>
                <a:gridCol w="3546249"/>
                <a:gridCol w="3000672"/>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Madde</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n (mol)</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ΔH°f (kJ/mol)</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n·ΔH°f (kJ)</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C₂H₅OH(s)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−277,7</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−277,7</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O₂(g)</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3</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CO₂(g)</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−393,5</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−787,0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H₂O(s)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3</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−285,8</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−857,4</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bl>
          </a:graphicData>
        </a:graphic>
      </p:graphicFrame>
      <p:sp>
        <p:nvSpPr>
          <p:cNvPr id="9" name="Shape 5"/>
          <p:cNvSpPr/>
          <p:nvPr/>
        </p:nvSpPr>
        <p:spPr>
          <a:xfrm>
            <a:off x="640080" y="6382512"/>
            <a:ext cx="128016" cy="128016"/>
          </a:xfrm>
          <a:prstGeom prst="roundRect">
            <a:avLst>
              <a:gd name="adj" fmla="val 28571"/>
            </a:avLst>
          </a:prstGeom>
          <a:solidFill>
            <a:srgbClr val="A9E648"/>
          </a:solidFill>
          <a:ln/>
        </p:spPr>
      </p:sp>
      <p:sp>
        <p:nvSpPr>
          <p:cNvPr id="10"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1"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59</a:t>
            </a:r>
            <a:endParaRPr lang="en-US" sz="10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Adım adım: etanolün yanması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Text 4"/>
          <p:cNvSpPr txBox="1"/>
          <p:nvPr/>
        </p:nvSpPr>
        <p:spPr>
          <a:xfrm>
            <a:off x="640080" y="1325880"/>
            <a:ext cx="10911535" cy="2205990"/>
          </a:xfrm>
          <a:prstGeom prst="rect">
            <a:avLst/>
          </a:prstGeom>
          <a:noFill/>
          <a:ln/>
        </p:spPr>
        <p:txBody>
          <a:bodyPr wrap="square" lIns="0" tIns="0" rIns="0" bIns="0" rtlCol="0" anchor="t"/>
          <a:lstStyle/>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Girenler: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Σ = −277,7 + 0 = −277,7 kJ.</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Ürünler: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Σ = −787,0 + (−857,4) = −1644,4 kJ.</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Fark:</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ΔH° = −1644,4 − (−277,7) = −1644,4 + 277,7 =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−1366,7 kJ</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Yorum:</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1 mol (46 g) etanol yanınca 1366,7 kJ ısı açığa çıkar; tepkime ekzotermiktir.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60</a:t>
            </a:r>
            <a:endParaRPr lang="en-US" sz="10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Adım adım: etanolün yanması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Shape 4"/>
          <p:cNvSpPr/>
          <p:nvPr/>
        </p:nvSpPr>
        <p:spPr>
          <a:xfrm>
            <a:off x="1720308" y="1234440"/>
            <a:ext cx="8751080"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olusum-entalpisi-08.png">    </p:cNvPr>
          <p:cNvPicPr>
            <a:picLocks noChangeAspect="1"/>
          </p:cNvPicPr>
          <p:nvPr/>
        </p:nvPicPr>
        <p:blipFill>
          <a:blip r:embed="rId1"/>
          <a:stretch>
            <a:fillRect/>
          </a:stretch>
        </p:blipFill>
        <p:spPr>
          <a:xfrm>
            <a:off x="1948908" y="1325880"/>
            <a:ext cx="8293880"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Her molekülün altında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katsayı × oluşum entalpisi</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yazıyor. Oksijen element olduğu için katkısı sıfırdır. Girenler ve ürünler ayrı ayrı toplanır, sonra ürünlerden girenler çıkarılır. Modellerdeki atomları katsayılarla çarparak sayarsan iki yanda da 2 C, 6 H ve 7 O atomu bulursun.</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61</a:t>
            </a:r>
            <a:endParaRPr lang="en-US" sz="10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Adım adım: etanolün yanması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Text 4"/>
          <p:cNvSpPr txBox="1"/>
          <p:nvPr/>
        </p:nvSpPr>
        <p:spPr>
          <a:xfrm>
            <a:off x="640080" y="1325880"/>
            <a:ext cx="10911535" cy="297332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hesapta en sık yapılan hata, son adımdaki çift eksidir: −(−277,7) = +277,7.</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Etanolün oluşum entalpisi eksi olduğu için onu elementlerine ayırmak ısı ister; bu yüzden sonucun büyüklüğü ürünlerin toplamınınkinden 277,7 kJ az çıkar (1644,4 yerine 1366,7).</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Sayfanın 01 numaralı laboratuvarında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C₂H₅OH yanma</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düğmesini seçip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Yolu göster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'e bas; bu iki adımı ok ok izleyebilirsin.</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62</a:t>
            </a:r>
            <a:endParaRPr lang="en-US" sz="10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Adım adım: etanolün yanması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Hesap için bir tablo kur: her maddenin katsayısını ΔH°f ile çarp, ürünleri ve girenleri ayrı topla, farkı al. Etanolün yanması (su sıvı) için ΔH° = −1644,4 − (−277,7) = −1366,7 kJ çıkar.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63</a:t>
            </a:r>
            <a:endParaRPr lang="en-US" sz="10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Fiziksel hâl ΔH°f'yi değiştirir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47701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Su üç hâlde bulunabilir ve her hâlin oluşum entalpisi farklıdır:</a:t>
            </a:r>
            <a:endParaRPr lang="en-US" sz="2200" dirty="0"/>
          </a:p>
        </p:txBody>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640080" y="2004060"/>
          <a:ext cx="10911535" cy="914400"/>
        </p:xfrm>
        <a:graphic>
          <a:graphicData uri="http://schemas.openxmlformats.org/drawingml/2006/table">
            <a:tbl>
              <a:tblPr/>
              <a:tblGrid>
                <a:gridCol w="2182307"/>
                <a:gridCol w="5577007"/>
                <a:gridCol w="3152221"/>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Hâl</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Oluşum denklemi</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ΔH°f (kJ/mol)</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Buz</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H₂(g) + ½O₂(g) → H₂O(k)</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−291,8</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Sıvı su</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H₂(g) + ½O₂(g) → H₂O(s)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−285,8</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Su buharı</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H₂(g) + ½O₂(g) → H₂O(g)</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−241,8</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9" name="Shape 5"/>
          <p:cNvSpPr/>
          <p:nvPr/>
        </p:nvSpPr>
        <p:spPr>
          <a:xfrm>
            <a:off x="640080" y="6382512"/>
            <a:ext cx="128016" cy="128016"/>
          </a:xfrm>
          <a:prstGeom prst="roundRect">
            <a:avLst>
              <a:gd name="adj" fmla="val 28571"/>
            </a:avLst>
          </a:prstGeom>
          <a:solidFill>
            <a:srgbClr val="A9E648"/>
          </a:solidFill>
          <a:ln/>
        </p:spPr>
      </p:sp>
      <p:sp>
        <p:nvSpPr>
          <p:cNvPr id="10"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1"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64</a:t>
            </a:r>
            <a:endParaRPr lang="en-US" sz="10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Fiziksel hâl ΔH°f'yi değiştirir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Text 4"/>
          <p:cNvSpPr txBox="1"/>
          <p:nvPr/>
        </p:nvSpPr>
        <p:spPr>
          <a:xfrm>
            <a:off x="640080" y="1325880"/>
            <a:ext cx="10911535" cy="315620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Neden farklı?</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Buharda moleküller birbirinden uzaktır.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Sıvıda ve buzda ise moleküller birbirini çeker ve bu çekim kurulurken ısı açığa çıkar.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yüzden aynı elementlerden buz oluşurken en çok, buhar oluşurken en az ısı açığa çıkar.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Aradaki farklar tanıdık hâl değişimi ısılarıdır: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65</a:t>
            </a:r>
            <a:endParaRPr lang="en-US" sz="10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Fiziksel hâl ΔH°f'yi değiştirir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Text 4"/>
          <p:cNvSpPr txBox="1"/>
          <p:nvPr/>
        </p:nvSpPr>
        <p:spPr>
          <a:xfrm>
            <a:off x="640080" y="1325880"/>
            <a:ext cx="10911535" cy="128701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Buharlaşma:</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H₂O(s) → H₂O(g) için ΔH = −241,8 − (−285,8) = +44,0 kJ/mol (25 °C'de).</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Erime:</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H₂O(k) → H₂O(s) için ΔH = −285,8 − (−291,8) = +6,0 kJ/mol.</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66</a:t>
            </a:r>
            <a:endParaRPr lang="en-US" sz="10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Fiziksel hâl ΔH°f'yi değiştirir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Text 4"/>
          <p:cNvSpPr txBox="1"/>
          <p:nvPr/>
        </p:nvSpPr>
        <p:spPr>
          <a:xfrm>
            <a:off x="640080" y="1325880"/>
            <a:ext cx="10911535" cy="267919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fark yanma hesaplarına doğrudan yansır.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Metan yanarken su sıvı oluşursa ΔH° = −890,3 kJ, buhar oluşursa −802,3 kJ'dir.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Aradaki 88,0 kJ, 2 mol suyun buharlaşma ısısıdır (2 · 44,0).</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yüzden hesaplarda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hâl simgesi asla atlanmaz</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soruda ürün buharsa tablodan H₂O(g) satırını alırsın.</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67</a:t>
            </a:r>
            <a:endParaRPr lang="en-US" sz="10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Fiziksel hâl ΔH°f'yi değiştirir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Shape 4"/>
          <p:cNvSpPr/>
          <p:nvPr/>
        </p:nvSpPr>
        <p:spPr>
          <a:xfrm>
            <a:off x="2928660" y="1234440"/>
            <a:ext cx="6334375"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olusum-entalpisi-09.png">    </p:cNvPr>
          <p:cNvPicPr>
            <a:picLocks noChangeAspect="1"/>
          </p:cNvPicPr>
          <p:nvPr/>
        </p:nvPicPr>
        <p:blipFill>
          <a:blip r:embed="rId1"/>
          <a:stretch>
            <a:fillRect/>
          </a:stretch>
        </p:blipFill>
        <p:spPr>
          <a:xfrm>
            <a:off x="3157260" y="1325880"/>
            <a:ext cx="5877175"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Solda tam ölçek: suyun üç hâli de elementlerin çok altında ve birbirine çok yakın. Sağda aynı bölge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4 kat büyütülmüş</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buhar sıvıya yoğuşurken 44,0 kJ/mol, sıvı donarken 6,0 kJ/mol daha ısı açığa çıkar. Bu yüzden buz, elementlerine göre en aşağıdaki, yani en düşük entalpili hâldir.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68</a:t>
            </a:r>
            <a:endParaRPr lang="en-US" sz="10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Fiziksel hâl ΔH°f'yi değiştirir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Aynı bileşiğin her hâlinin ΔH°f'si farklıdır: H₂O(k) −291,8, H₂O(s) −285,8, H₂O(g) −241,8 kJ/mol. Farklar hâl değişimi ısılarıdır; metanın yanmasında su buhar olursa ısı 88 kJ azalır.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69</a:t>
            </a:r>
            <a:endParaRPr lang="en-US" sz="10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Yoğuşmalı kombiler aynı ısıyı neden daha az doğal gazla sağlar?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08 · Fiziksel hâl ΔH°f'yi değiştirir</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70</a:t>
            </a:r>
            <a:endParaRPr lang="en-US" sz="10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Yoğuşmalı kombiler aynı ısıyı neden daha az doğal gazla sağlar?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Doğal gazın, yani metanın yanmasında oluşan su sıradan bir kombide bacadan buhar olarak gider ve 1 mol metan başına 88 kJ'lik buharlaşma ısısını da yanında götürür. Yoğuşmalı kombi baca gazını soğutup bu buharı suya yoğuşturur ve açığa çıkan ısıyı ısıtma suyuna aktarır. Böylece 802 kJ yerine 890 kJ'ye yaklaşan bir ısıdan yararlanır; kullanılabilen ısı yaklaşık %11 artar.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71</a:t>
            </a:r>
            <a:endParaRPr lang="en-US" sz="10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Sayılarla hisset: bir tablo, bütün yakıtlar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6</a:t>
            </a:r>
            <a:endParaRPr lang="en-US" sz="950" dirty="0"/>
          </a:p>
        </p:txBody>
      </p:sp>
      <p:sp>
        <p:nvSpPr>
          <p:cNvPr id="6" name="Text 4"/>
          <p:cNvSpPr txBox="1"/>
          <p:nvPr/>
        </p:nvSpPr>
        <p:spPr>
          <a:xfrm>
            <a:off x="640080" y="1325880"/>
            <a:ext cx="10911535" cy="172516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Oluşum entalpileri tablosundaki bir avuç sayıdan bütün yakıtların yanma ısısı çıkar.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Aşağıdaki her satır, etanol için yaptığımız hesabın aynısıdır (su sıvı oluşuyor; mol kütleleri H 1, C 12, O 16 g/mol):</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72</a:t>
            </a:r>
            <a:endParaRPr lang="en-US" sz="10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Sayılarla hisset: bir tablo, bütün yakıtlar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6</a:t>
            </a:r>
            <a:endParaRPr lang="en-US" sz="950" dirty="0"/>
          </a:p>
        </p:txBody>
      </p:sp>
      <p:graphicFrame>
        <p:nvGraphicFramePr>
          <p:cNvPr id="74"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10911535" cy="914400"/>
        </p:xfrm>
        <a:graphic>
          <a:graphicData uri="http://schemas.openxmlformats.org/drawingml/2006/table">
            <a:tbl>
              <a:tblPr/>
              <a:tblGrid>
                <a:gridCol w="2633819"/>
                <a:gridCol w="2445689"/>
                <a:gridCol w="3386339"/>
                <a:gridCol w="2445689"/>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Yakıt</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ΔH°f (kJ/mol)</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Yanma ΔH° (kJ/mol)</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1 g için (kJ)</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Hidrojen H₂</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−285,8</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142,9</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Metan CH₄</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−74,8</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−890,3</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55,6</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Propan C₃H₈</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−103,8</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−2219,9</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50,5</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Grafit C</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−393,5</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32,8</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Etanol C₂H₅OH</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−277,7</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−1366,7</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29,7</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Glikoz C₆H₁₂O₆</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−1274</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−2801,8</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15,6</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bl>
          </a:graphicData>
        </a:graphic>
      </p:graphicFrame>
      <p:sp>
        <p:nvSpPr>
          <p:cNvPr id="8" name="Shape 4"/>
          <p:cNvSpPr/>
          <p:nvPr/>
        </p:nvSpPr>
        <p:spPr>
          <a:xfrm>
            <a:off x="640080" y="6382512"/>
            <a:ext cx="128016" cy="128016"/>
          </a:xfrm>
          <a:prstGeom prst="roundRect">
            <a:avLst>
              <a:gd name="adj" fmla="val 28571"/>
            </a:avLst>
          </a:prstGeom>
          <a:solidFill>
            <a:srgbClr val="A9E648"/>
          </a:solidFill>
          <a:ln/>
        </p:spPr>
      </p:sp>
      <p:sp>
        <p:nvSpPr>
          <p:cNvPr id="9" name="Text 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0" name="Text 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73</a:t>
            </a:r>
            <a:endParaRPr lang="en-US" sz="10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Sayılarla hisset: bir tablo, bütün yakıtlar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6</a:t>
            </a:r>
            <a:endParaRPr lang="en-US" sz="950" dirty="0"/>
          </a:p>
        </p:txBody>
      </p:sp>
      <p:sp>
        <p:nvSpPr>
          <p:cNvPr id="6" name="Text 4"/>
          <p:cNvSpPr txBox="1"/>
          <p:nvPr/>
        </p:nvSpPr>
        <p:spPr>
          <a:xfrm>
            <a:off x="640080" y="1325880"/>
            <a:ext cx="10911535" cy="306476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sayıları gündelik bir işe bağlayalım.</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1 L suyu 20 °C'den 100 °C'ye ısıtmak için q = m·c·ΔT = 1000 g · 4,18 J/(g·°C) · 80 °C ≈ 334 kJ gerekir.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Isının tamamı suya geçseydi bunun için yaklaşık 2,3 g hidrojen, 6,0 g metan ya da 11,3 g etanol yeterdi.</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İspirto ocağında ısının çoğu havaya kaçtığı için gerçekte bunun birkaç katı ispirto yanar.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74</a:t>
            </a:r>
            <a:endParaRPr lang="en-US" sz="10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Sayılarla hisset: bir tablo, bütün yakıtlar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6</a:t>
            </a:r>
            <a:endParaRPr lang="en-US" sz="950" dirty="0"/>
          </a:p>
        </p:txBody>
      </p:sp>
      <p:sp>
        <p:nvSpPr>
          <p:cNvPr id="6" name="Text 4"/>
          <p:cNvSpPr txBox="1"/>
          <p:nvPr/>
        </p:nvSpPr>
        <p:spPr>
          <a:xfrm>
            <a:off x="640080" y="1325880"/>
            <a:ext cx="10911535" cy="47701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Tablodan dört düzen okunur:</a:t>
            </a:r>
            <a:endParaRPr lang="en-US" sz="2200" dirty="0"/>
          </a:p>
        </p:txBody>
      </p:sp>
      <p:sp>
        <p:nvSpPr>
          <p:cNvPr id="7" name="Text 5"/>
          <p:cNvSpPr txBox="1"/>
          <p:nvPr/>
        </p:nvSpPr>
        <p:spPr>
          <a:xfrm>
            <a:off x="640080" y="2004060"/>
            <a:ext cx="10911535" cy="285064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Hidrojen gram başına açık ara öndedir: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molekülü çok hafif olduğu için 1 g'ı, metanın 2,5 katından fazla ısı verir.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Hidrojenin yanma entalpisi, H₂O(s)'nin oluşum entalpisine eşittir (−285,8 kJ):</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H₂(g) + ½O₂(g) → H₂O(s) aynı denklemdir. Grafitin yanma entalpisi de CO₂'nin oluşum entalpisidir (−393,5 kJ).</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Oksijen taşıyan yakıt daha az ısı verir: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etanol ve glikoz kısmen “yanmış” sayılır; ΔH°f'leri daha aşağıdan başlar.</a:t>
            </a:r>
            <a:endParaRPr lang="en-US" sz="2100" dirty="0"/>
          </a:p>
        </p:txBody>
      </p:sp>
      <p:sp>
        <p:nvSpPr>
          <p:cNvPr id="9" name="Shape 6"/>
          <p:cNvSpPr/>
          <p:nvPr/>
        </p:nvSpPr>
        <p:spPr>
          <a:xfrm>
            <a:off x="640080" y="6382512"/>
            <a:ext cx="128016" cy="128016"/>
          </a:xfrm>
          <a:prstGeom prst="roundRect">
            <a:avLst>
              <a:gd name="adj" fmla="val 28571"/>
            </a:avLst>
          </a:prstGeom>
          <a:solidFill>
            <a:srgbClr val="A9E648"/>
          </a:solidFill>
          <a:ln/>
        </p:spPr>
      </p:sp>
      <p:sp>
        <p:nvSpPr>
          <p:cNvPr id="10"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1"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75</a:t>
            </a:r>
            <a:endParaRPr lang="en-US" sz="10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Sayılarla hisset: bir tablo, bütün yakıtlar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6</a:t>
            </a:r>
            <a:endParaRPr lang="en-US" sz="950" dirty="0"/>
          </a:p>
        </p:txBody>
      </p:sp>
      <p:sp>
        <p:nvSpPr>
          <p:cNvPr id="6" name="Text 4"/>
          <p:cNvSpPr txBox="1"/>
          <p:nvPr/>
        </p:nvSpPr>
        <p:spPr>
          <a:xfrm>
            <a:off x="640080" y="1325880"/>
            <a:ext cx="10911535" cy="82753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Mol başına büyük, gram başına küçük olabilir: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1 mol glikoz metanın üç katından çok ısı verir, ama 1 g glikoz metanın üçte birinden az ısı verir.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76</a:t>
            </a:r>
            <a:endParaRPr lang="en-US" sz="10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Sayılarla hisset: bir tablo, bütün yakıtlar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6 / 6</a:t>
            </a:r>
            <a:endParaRPr lang="en-US" sz="950" dirty="0"/>
          </a:p>
        </p:txBody>
      </p:sp>
      <p:sp>
        <p:nvSpPr>
          <p:cNvPr id="6" name="Shape 4"/>
          <p:cNvSpPr/>
          <p:nvPr/>
        </p:nvSpPr>
        <p:spPr>
          <a:xfrm>
            <a:off x="1869837" y="1234440"/>
            <a:ext cx="8452022"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olusum-entalpisi-10.png">    </p:cNvPr>
          <p:cNvPicPr>
            <a:picLocks noChangeAspect="1"/>
          </p:cNvPicPr>
          <p:nvPr/>
        </p:nvPicPr>
        <p:blipFill>
          <a:blip r:embed="rId1"/>
          <a:stretch>
            <a:fillRect/>
          </a:stretch>
        </p:blipFill>
        <p:spPr>
          <a:xfrm>
            <a:off x="2098437" y="1325880"/>
            <a:ext cx="7994822"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Gram başına karşılaştırınca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hidrojen</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açık ara öndedir; metan ile propan birbirine yakındır, grafit ile etanol onların yarısından biraz fazlasını verir. Molekülünde oksijen taşıyan glikoz en arkadadır. Bütün bu sayılar, yanma tepkimeleri tek tek ölçülmeden oluşum entalpileri tablosundan hesaplandı.</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77</a:t>
            </a:r>
            <a:endParaRPr lang="en-US" sz="10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Sayılarla hisset: bir tablo, bütün yakıtlar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Bir avuç ΔH°f değerinden bütün yakıtların yanma ısısı hesaplanır. Gram başına hidrojen (142,9 kJ/g) en öndedir; oksijen taşıyan etanol (29,7 kJ/g) ve glikoz (15,6 kJ/g) daha az ısı verir.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78</a:t>
            </a:r>
            <a:endParaRPr lang="en-US" sz="10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A093FF"/>
                </a:solidFill>
                <a:latin typeface="Cambria" pitchFamily="34" charset="0"/>
                <a:ea typeface="Cambria" pitchFamily="34" charset="-122"/>
                <a:cs typeface="Cambria" pitchFamily="34" charset="-120"/>
              </a:rPr>
              <a:t>3</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A093FF"/>
                </a:solidFill>
                <a:latin typeface="Calibri" pitchFamily="34" charset="0"/>
                <a:ea typeface="Calibri" pitchFamily="34" charset="-122"/>
                <a:cs typeface="Calibri" pitchFamily="34" charset="-120"/>
              </a:rPr>
              <a:t>BASAMAK 3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İleri</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350" dirty="0">
                <a:solidFill>
                  <a:srgbClr val="C3CEE8"/>
                </a:solidFill>
                <a:latin typeface="Calibri" pitchFamily="34" charset="0"/>
                <a:ea typeface="Calibri" pitchFamily="34" charset="-122"/>
                <a:cs typeface="Calibri" pitchFamily="34" charset="-120"/>
              </a:rPr>
              <a:t>Derinleşme: gram ve litreyle ısı hesabı, ölçülen ısıdan bilinmeyen ΔH°f'yi bulmak, bağ enerjisiyle karşılaştırma ve oluşum entalpisinin gerçek hayattaki yeri.</a:t>
            </a:r>
            <a:endParaRPr lang="en-US" sz="135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10   </a:t>
            </a:r>
            <a:pPr indent="0" marL="0">
              <a:buNone/>
            </a:pPr>
            <a:r>
              <a:rPr lang="en-US" sz="1300" dirty="0">
                <a:solidFill>
                  <a:srgbClr val="FFFFFF"/>
                </a:solidFill>
                <a:latin typeface="Calibri" pitchFamily="34" charset="0"/>
                <a:ea typeface="Calibri" pitchFamily="34" charset="-122"/>
                <a:cs typeface="Calibri" pitchFamily="34" charset="-120"/>
              </a:rPr>
              <a:t>Miktar hesapları: mol, gram, litre</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11   </a:t>
            </a:r>
            <a:pPr indent="0" marL="0">
              <a:buNone/>
            </a:pPr>
            <a:r>
              <a:rPr lang="en-US" sz="1300" dirty="0">
                <a:solidFill>
                  <a:srgbClr val="FFFFFF"/>
                </a:solidFill>
                <a:latin typeface="Calibri" pitchFamily="34" charset="0"/>
                <a:ea typeface="Calibri" pitchFamily="34" charset="-122"/>
                <a:cs typeface="Calibri" pitchFamily="34" charset="-120"/>
              </a:rPr>
              <a:t>Geri hesap: bilinmeyen ΔH°f</a:t>
            </a:r>
            <a:endParaRPr lang="en-US" sz="1300" dirty="0"/>
          </a:p>
        </p:txBody>
      </p:sp>
      <p:sp>
        <p:nvSpPr>
          <p:cNvPr id="8" name="Text 6"/>
          <p:cNvSpPr txBox="1"/>
          <p:nvPr/>
        </p:nvSpPr>
        <p:spPr>
          <a:xfrm>
            <a:off x="731520" y="5230368"/>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12   </a:t>
            </a:r>
            <a:pPr indent="0" marL="0">
              <a:buNone/>
            </a:pPr>
            <a:r>
              <a:rPr lang="en-US" sz="1300" dirty="0">
                <a:solidFill>
                  <a:srgbClr val="FFFFFF"/>
                </a:solidFill>
                <a:latin typeface="Calibri" pitchFamily="34" charset="0"/>
                <a:ea typeface="Calibri" pitchFamily="34" charset="-122"/>
                <a:cs typeface="Calibri" pitchFamily="34" charset="-120"/>
              </a:rPr>
              <a:t>İki yöntem: bağ enerjisi mi, oluşum entalpisi mi?</a:t>
            </a:r>
            <a:endParaRPr lang="en-US" sz="1300" dirty="0"/>
          </a:p>
        </p:txBody>
      </p:sp>
      <p:sp>
        <p:nvSpPr>
          <p:cNvPr id="9" name="Text 7"/>
          <p:cNvSpPr txBox="1"/>
          <p:nvPr/>
        </p:nvSpPr>
        <p:spPr>
          <a:xfrm>
            <a:off x="731520" y="5559552"/>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13   </a:t>
            </a:r>
            <a:pPr indent="0" marL="0">
              <a:buNone/>
            </a:pPr>
            <a:r>
              <a:rPr lang="en-US" sz="1300" dirty="0">
                <a:solidFill>
                  <a:srgbClr val="FFFFFF"/>
                </a:solidFill>
                <a:latin typeface="Calibri" pitchFamily="34" charset="0"/>
                <a:ea typeface="Calibri" pitchFamily="34" charset="-122"/>
                <a:cs typeface="Calibri" pitchFamily="34" charset="-120"/>
              </a:rPr>
              <a:t>Oluşum entalpisi gerçek dünyada</a:t>
            </a:r>
            <a:endParaRPr lang="en-US" sz="1300" dirty="0"/>
          </a:p>
        </p:txBody>
      </p:sp>
      <p:sp>
        <p:nvSpPr>
          <p:cNvPr id="10" name="Shape 8"/>
          <p:cNvSpPr/>
          <p:nvPr/>
        </p:nvSpPr>
        <p:spPr>
          <a:xfrm>
            <a:off x="6117336" y="905256"/>
            <a:ext cx="5489143" cy="3696005"/>
          </a:xfrm>
          <a:prstGeom prst="roundRect">
            <a:avLst>
              <a:gd name="adj" fmla="val 3464"/>
            </a:avLst>
          </a:prstGeom>
          <a:solidFill>
            <a:srgbClr val="1C2542"/>
          </a:solidFill>
          <a:ln w="9525">
            <a:solidFill>
              <a:srgbClr val="2C3860"/>
            </a:solidFill>
            <a:prstDash val="solid"/>
          </a:ln>
        </p:spPr>
      </p:sp>
      <p:pic>
        <p:nvPicPr>
          <p:cNvPr id="11" name="Image 0" descr="/tmp/claude-1000/-opt-dersler/1d623a45-0112-427a-9abb-0c648368bda2/scratchpad/sunum/sekiller/olusum-entalpisi-uygulama-kart.jpg">    </p:cNvPr>
          <p:cNvPicPr>
            <a:picLocks noChangeAspect="1"/>
          </p:cNvPicPr>
          <p:nvPr/>
        </p:nvPicPr>
        <p:blipFill>
          <a:blip r:embed="rId1"/>
          <a:stretch>
            <a:fillRect/>
          </a:stretch>
        </p:blipFill>
        <p:spPr>
          <a:xfrm>
            <a:off x="6172200" y="960120"/>
            <a:ext cx="5379415" cy="3586277"/>
          </a:xfrm>
          <a:prstGeom prst="rect">
            <a:avLst/>
          </a:prstGeom>
        </p:spPr>
      </p:pic>
      <p:sp>
        <p:nvSpPr>
          <p:cNvPr id="12" name="Text 9"/>
          <p:cNvSpPr txBox="1"/>
          <p:nvPr/>
        </p:nvSpPr>
        <p:spPr>
          <a:xfrm>
            <a:off x="6172200" y="4774997"/>
            <a:ext cx="5379415" cy="1214323"/>
          </a:xfrm>
          <a:prstGeom prst="rect">
            <a:avLst/>
          </a:prstGeom>
          <a:noFill/>
          <a:ln/>
        </p:spPr>
        <p:txBody>
          <a:bodyPr wrap="square" lIns="0" tIns="0" rIns="0" bIns="0" rtlCol="0" anchor="t"/>
          <a:lstStyle/>
          <a:p>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Termit kaynağıyla ray birleştirme.</a:t>
            </a:r>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 Potada alüminyum tozu demir(III) oksitle tepkimeye girer; ürünler demir ve alüminyum oksittir. Al₂O₃'ün oluşum entalpisi (−1675,7 kJ/mol), Fe₂O₃'ünkinden (−824,2 kJ/mol) çok daha aşağıda olduğu için 1 mol Fe₂O₃ başına 851,5 kJ ısı açığa çıkar. Bu ısı oluşan demiri eritir; erimiş demir kalıba akıp iki rayın arasındaki boşluğu doldurur, hafif alüminyum oksit cürufu ise üstte yüzer.</a:t>
            </a:r>
            <a:endParaRPr lang="en-US" sz="1150" dirty="0"/>
          </a:p>
        </p:txBody>
      </p:sp>
      <p:sp>
        <p:nvSpPr>
          <p:cNvPr id="13" name="Shape 10"/>
          <p:cNvSpPr/>
          <p:nvPr/>
        </p:nvSpPr>
        <p:spPr>
          <a:xfrm>
            <a:off x="640080" y="6382512"/>
            <a:ext cx="128016" cy="128016"/>
          </a:xfrm>
          <a:prstGeom prst="roundRect">
            <a:avLst>
              <a:gd name="adj" fmla="val 28571"/>
            </a:avLst>
          </a:prstGeom>
          <a:solidFill>
            <a:srgbClr val="C6F36B"/>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dersler.perinet.org/olusum-entalpisi.html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79</a:t>
            </a:r>
            <a:endParaRPr lang="en-US" sz="10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Miktar hesapları: mol, gram, litre</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95402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Hesapladığın ΔH°, denklemde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yazılan miktarlar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için geçerlidir.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Propanın yanmasına bak:</a:t>
            </a:r>
            <a:endParaRPr lang="en-US" sz="2200" dirty="0"/>
          </a:p>
        </p:txBody>
      </p:sp>
      <p:sp>
        <p:nvSpPr>
          <p:cNvPr id="7" name="Shape 5"/>
          <p:cNvSpPr/>
          <p:nvPr/>
        </p:nvSpPr>
        <p:spPr>
          <a:xfrm>
            <a:off x="640080" y="2481072"/>
            <a:ext cx="2772461"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2481072"/>
            <a:ext cx="2772461"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C₃H₈(g) + 5O₂(g)</a:t>
            </a:r>
            <a:endParaRPr lang="en-US" sz="1800" dirty="0"/>
          </a:p>
        </p:txBody>
      </p:sp>
      <p:sp>
        <p:nvSpPr>
          <p:cNvPr id="9" name="Shape 7"/>
          <p:cNvSpPr/>
          <p:nvPr/>
        </p:nvSpPr>
        <p:spPr>
          <a:xfrm>
            <a:off x="3558845" y="2481072"/>
            <a:ext cx="3189427" cy="585216"/>
          </a:xfrm>
          <a:prstGeom prst="roundRect">
            <a:avLst>
              <a:gd name="adj" fmla="val 18750"/>
            </a:avLst>
          </a:prstGeom>
          <a:solidFill>
            <a:srgbClr val="EEF2FC"/>
          </a:solidFill>
          <a:ln w="9525">
            <a:solidFill>
              <a:srgbClr val="CBD7F4"/>
            </a:solidFill>
            <a:prstDash val="solid"/>
          </a:ln>
        </p:spPr>
      </p:sp>
      <p:sp>
        <p:nvSpPr>
          <p:cNvPr id="10" name="Text 8"/>
          <p:cNvSpPr txBox="1"/>
          <p:nvPr/>
        </p:nvSpPr>
        <p:spPr>
          <a:xfrm>
            <a:off x="3558845" y="2481072"/>
            <a:ext cx="3189427"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 3CO₂(g) + 4H₂O(s)</a:t>
            </a:r>
            <a:endParaRPr lang="en-US" sz="1800" dirty="0"/>
          </a:p>
        </p:txBody>
      </p:sp>
      <p:sp>
        <p:nvSpPr>
          <p:cNvPr id="11" name="Shape 9"/>
          <p:cNvSpPr/>
          <p:nvPr/>
        </p:nvSpPr>
        <p:spPr>
          <a:xfrm>
            <a:off x="6894576" y="2481072"/>
            <a:ext cx="2772461" cy="585216"/>
          </a:xfrm>
          <a:prstGeom prst="roundRect">
            <a:avLst>
              <a:gd name="adj" fmla="val 18750"/>
            </a:avLst>
          </a:prstGeom>
          <a:solidFill>
            <a:srgbClr val="EEF2FC"/>
          </a:solidFill>
          <a:ln w="9525">
            <a:solidFill>
              <a:srgbClr val="CBD7F4"/>
            </a:solidFill>
            <a:prstDash val="solid"/>
          </a:ln>
        </p:spPr>
      </p:sp>
      <p:sp>
        <p:nvSpPr>
          <p:cNvPr id="12" name="Text 10"/>
          <p:cNvSpPr txBox="1"/>
          <p:nvPr/>
        </p:nvSpPr>
        <p:spPr>
          <a:xfrm>
            <a:off x="6894576" y="2481072"/>
            <a:ext cx="2772461"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ΔH° = −2219,9 kJ</a:t>
            </a:r>
            <a:endParaRPr lang="en-US" sz="1800" dirty="0"/>
          </a:p>
        </p:txBody>
      </p:sp>
      <p:sp>
        <p:nvSpPr>
          <p:cNvPr id="14" name="Shape 11"/>
          <p:cNvSpPr/>
          <p:nvPr/>
        </p:nvSpPr>
        <p:spPr>
          <a:xfrm>
            <a:off x="640080" y="6382512"/>
            <a:ext cx="128016" cy="128016"/>
          </a:xfrm>
          <a:prstGeom prst="roundRect">
            <a:avLst>
              <a:gd name="adj" fmla="val 28571"/>
            </a:avLst>
          </a:prstGeom>
          <a:solidFill>
            <a:srgbClr val="A9E648"/>
          </a:solidFill>
          <a:ln/>
        </p:spPr>
      </p:sp>
      <p:sp>
        <p:nvSpPr>
          <p:cNvPr id="15" name="Text 1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6" name="Text 1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80</a:t>
            </a:r>
            <a:endParaRPr lang="en-US" sz="10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Miktar hesapları: mol, gram, litre</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Text 4"/>
          <p:cNvSpPr txBox="1"/>
          <p:nvPr/>
        </p:nvSpPr>
        <p:spPr>
          <a:xfrm>
            <a:off x="640080" y="1325880"/>
            <a:ext cx="10911535" cy="211074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tek sayı aynı anda dört şey söyler: 1 mol propan yandığında, 5 mol oksijen harcandığında, 3 mol CO₂ ya da 4 mol su oluştuğunda 2219,9 kJ ısı açığa çıkar.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Soruda hangi madde verilirse verilsin önce onun mol sayısını bulursun, sonra katsayısıyla oranlarsın:</a:t>
            </a:r>
            <a:endParaRPr lang="en-US" sz="2200" dirty="0"/>
          </a:p>
        </p:txBody>
      </p:sp>
      <p:sp>
        <p:nvSpPr>
          <p:cNvPr id="7" name="Shape 5"/>
          <p:cNvSpPr/>
          <p:nvPr/>
        </p:nvSpPr>
        <p:spPr>
          <a:xfrm>
            <a:off x="640080" y="3637788"/>
            <a:ext cx="1799539"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3637788"/>
            <a:ext cx="1799539"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n = m / M</a:t>
            </a:r>
            <a:endParaRPr lang="en-US" sz="1800" dirty="0"/>
          </a:p>
        </p:txBody>
      </p:sp>
      <p:sp>
        <p:nvSpPr>
          <p:cNvPr id="9" name="Shape 7"/>
          <p:cNvSpPr/>
          <p:nvPr/>
        </p:nvSpPr>
        <p:spPr>
          <a:xfrm>
            <a:off x="2585923" y="3637788"/>
            <a:ext cx="3884371" cy="585216"/>
          </a:xfrm>
          <a:prstGeom prst="roundRect">
            <a:avLst>
              <a:gd name="adj" fmla="val 18750"/>
            </a:avLst>
          </a:prstGeom>
          <a:solidFill>
            <a:srgbClr val="EEF2FC"/>
          </a:solidFill>
          <a:ln w="9525">
            <a:solidFill>
              <a:srgbClr val="CBD7F4"/>
            </a:solidFill>
            <a:prstDash val="solid"/>
          </a:ln>
        </p:spPr>
      </p:sp>
      <p:sp>
        <p:nvSpPr>
          <p:cNvPr id="10" name="Text 8"/>
          <p:cNvSpPr txBox="1"/>
          <p:nvPr/>
        </p:nvSpPr>
        <p:spPr>
          <a:xfrm>
            <a:off x="2585923" y="3637788"/>
            <a:ext cx="3884371"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n = V / 22,4 (NK'da gaz)</a:t>
            </a:r>
            <a:endParaRPr lang="en-US" sz="1800" dirty="0"/>
          </a:p>
        </p:txBody>
      </p:sp>
      <p:sp>
        <p:nvSpPr>
          <p:cNvPr id="11" name="Shape 9"/>
          <p:cNvSpPr/>
          <p:nvPr/>
        </p:nvSpPr>
        <p:spPr>
          <a:xfrm>
            <a:off x="6616598" y="3637788"/>
            <a:ext cx="4023360" cy="585216"/>
          </a:xfrm>
          <a:prstGeom prst="roundRect">
            <a:avLst>
              <a:gd name="adj" fmla="val 18750"/>
            </a:avLst>
          </a:prstGeom>
          <a:solidFill>
            <a:srgbClr val="EEF2FC"/>
          </a:solidFill>
          <a:ln w="9525">
            <a:solidFill>
              <a:srgbClr val="CBD7F4"/>
            </a:solidFill>
            <a:prstDash val="solid"/>
          </a:ln>
        </p:spPr>
      </p:sp>
      <p:sp>
        <p:nvSpPr>
          <p:cNvPr id="12" name="Text 10"/>
          <p:cNvSpPr txBox="1"/>
          <p:nvPr/>
        </p:nvSpPr>
        <p:spPr>
          <a:xfrm>
            <a:off x="6616598" y="3637788"/>
            <a:ext cx="4023360"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Q = (n / katsayı) · |ΔH°|</a:t>
            </a:r>
            <a:endParaRPr lang="en-US" sz="1800" dirty="0"/>
          </a:p>
        </p:txBody>
      </p:sp>
      <p:sp>
        <p:nvSpPr>
          <p:cNvPr id="14" name="Shape 11"/>
          <p:cNvSpPr/>
          <p:nvPr/>
        </p:nvSpPr>
        <p:spPr>
          <a:xfrm>
            <a:off x="640080" y="6382512"/>
            <a:ext cx="128016" cy="128016"/>
          </a:xfrm>
          <a:prstGeom prst="roundRect">
            <a:avLst>
              <a:gd name="adj" fmla="val 28571"/>
            </a:avLst>
          </a:prstGeom>
          <a:solidFill>
            <a:srgbClr val="A9E648"/>
          </a:solidFill>
          <a:ln/>
        </p:spPr>
      </p:sp>
      <p:sp>
        <p:nvSpPr>
          <p:cNvPr id="15" name="Text 1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6" name="Text 1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81</a:t>
            </a:r>
            <a:endParaRPr lang="en-US" sz="10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Miktar hesapları: mol, gram, litre</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Text 4"/>
          <p:cNvSpPr txBox="1"/>
          <p:nvPr/>
        </p:nvSpPr>
        <p:spPr>
          <a:xfrm>
            <a:off x="640080" y="1325880"/>
            <a:ext cx="10911535" cy="2482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Gramla:</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11 g propan → n = 11 / 44 = 0,25 mol → Q = 0,25 · 2219,9 ≈ 555 kJ.</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Litreyle:</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NK'da 33,6 L CO₂ oluşmuşsa n(CO₂) = 33,6 / 22,4 = 1,5 mol'dür; katsayı 3 olduğundan 1,5 / 3 = 0,5 “denklem kadar” tepkime olmuştur → Q = 0,5 · 2219,9 ≈ 1110 kJ.</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Tersten:</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4439,8 kJ ısı için 4439,8 / 2219,9 = 2 mol, yani 2 · 44 = 88 g propan yakılmalıdır.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82</a:t>
            </a:r>
            <a:endParaRPr lang="en-US" sz="10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Miktar hesapları: mol, gram, litre</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Text 4"/>
          <p:cNvSpPr txBox="1"/>
          <p:nvPr/>
        </p:nvSpPr>
        <p:spPr>
          <a:xfrm>
            <a:off x="640080" y="1325880"/>
            <a:ext cx="10911535" cy="220218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Q bir ısı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miktarıdır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ve artı yazılır: “tepkimede 555 kJ ısı açığa çıkar” denir.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Isının yönünü ΔH'nin işareti söyler.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Normal koşullar (0 °C, 1 atm) yalnızca gaz hacmini mole çevirmek için kullanılır; ΔH° değerleri yine 25 °C'ye aittir.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83</a:t>
            </a:r>
            <a:endParaRPr lang="en-US" sz="105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Miktar hesapları: mol, gram, litre</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Shape 4"/>
          <p:cNvSpPr/>
          <p:nvPr/>
        </p:nvSpPr>
        <p:spPr>
          <a:xfrm>
            <a:off x="2106818" y="1234440"/>
            <a:ext cx="7978059"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olusum-entalpisi-11.png">    </p:cNvPr>
          <p:cNvPicPr>
            <a:picLocks noChangeAspect="1"/>
          </p:cNvPicPr>
          <p:nvPr/>
        </p:nvPicPr>
        <p:blipFill>
          <a:blip r:embed="rId1"/>
          <a:stretch>
            <a:fillRect/>
          </a:stretch>
        </p:blipFill>
        <p:spPr>
          <a:xfrm>
            <a:off x="2335418" y="1325880"/>
            <a:ext cx="7520859"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Isı hesabının yolu hep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mol</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den geçer: gramı mol kütlesine, NK'daki gaz hacmini 22,4'e bölerek mole çevir, sonra katsayıyla oranlayıp |ΔH°| ile çarp. 11 g propan da NK'da 5,6 L propan da 0,25 mol eder ve aynı ısıyı, yaklaşık 555 kJ'yi verir. Isı verilip kütle sorulursa aynı yolu tersinden yürürsün.</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84</a:t>
            </a:r>
            <a:endParaRPr lang="en-US" sz="105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Miktar hesapları: mol, gram, litre</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5F4BD8"/>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5F4BD8"/>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750" dirty="0">
                <a:solidFill>
                  <a:srgbClr val="0E1426"/>
                </a:solidFill>
                <a:latin typeface="Cambria" pitchFamily="34" charset="0"/>
                <a:ea typeface="Cambria" pitchFamily="34" charset="-122"/>
                <a:cs typeface="Cambria" pitchFamily="34" charset="-120"/>
              </a:rPr>
              <a:t>ΔH° denklemde yazılan miktarlar içindir. Verilen gramı (n = m/M) ya da NK'daki litreyi (n = V/22,4) mole çevir, katsayıyla oranla ve |ΔH°| ile çarp. Açığa çıkan ısı artı bir miktar olarak yazılır.</a:t>
            </a:r>
            <a:endParaRPr lang="en-US" sz="275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85</a:t>
            </a:r>
            <a:endParaRPr lang="en-US" sz="105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Aynı kütlede elmas ve grafit tamamen yakılırsa hangisi daha çok ısı verir?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10 · Miktar hesapları: mol, gram, litre</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86</a:t>
            </a:r>
            <a:endParaRPr lang="en-US" sz="105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Aynı kütlede elmas ve grafit tamamen yakılırsa hangisi daha çok ısı verir?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Elmas.</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İki yanma da aynı ürünü, CO₂(g)'yi verir; ama elmas yanmaya 1,9 kJ/mol daha yukarıdan başlar. 1 mol elmas için ΔH° = −393,5 − 1,9 = −395,4 kJ, 1 mol grafit için −393,5 kJ olur. Fark küçüktür: 12 g karbonda yalnızca 1,9 kJ.</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87</a:t>
            </a:r>
            <a:endParaRPr lang="en-US" sz="105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Geri hesap: bilinmeyen ΔH°f</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4</a:t>
            </a:r>
            <a:endParaRPr lang="en-US" sz="950" dirty="0"/>
          </a:p>
        </p:txBody>
      </p:sp>
      <p:sp>
        <p:nvSpPr>
          <p:cNvPr id="6" name="Text 4"/>
          <p:cNvSpPr txBox="1"/>
          <p:nvPr/>
        </p:nvSpPr>
        <p:spPr>
          <a:xfrm>
            <a:off x="640080" y="1325880"/>
            <a:ext cx="10911535" cy="306476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Glikozun oluşum entalpisini nasıl ölçeriz?</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kaba grafit, hidrojen ve oksijen koyup glikoz oluşmasını bekleyemeyiz; bu tepkime laboratuvarda yürümez.</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Ama glikozu yakmak kolaydır.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Bomba kalorimetresi denen kapalı, sağlam bir kapta 1 mol glikoz tamamen yakılınca 2803 kJ ısı ölçülür. ΔH° bağıntısında bilinmeyen tek bir değer kalırsa onu çözebiliriz:</a:t>
            </a:r>
            <a:endParaRPr lang="en-US" sz="2200" dirty="0"/>
          </a:p>
        </p:txBody>
      </p:sp>
      <p:sp>
        <p:nvSpPr>
          <p:cNvPr id="7" name="Shape 5"/>
          <p:cNvSpPr/>
          <p:nvPr/>
        </p:nvSpPr>
        <p:spPr>
          <a:xfrm>
            <a:off x="640080" y="4591812"/>
            <a:ext cx="3189427"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4591812"/>
            <a:ext cx="3189427"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C₆H₁₂O₆(k) + 6O₂(g)</a:t>
            </a:r>
            <a:endParaRPr lang="en-US" sz="1800" dirty="0"/>
          </a:p>
        </p:txBody>
      </p:sp>
      <p:sp>
        <p:nvSpPr>
          <p:cNvPr id="9" name="Shape 7"/>
          <p:cNvSpPr/>
          <p:nvPr/>
        </p:nvSpPr>
        <p:spPr>
          <a:xfrm>
            <a:off x="3975811" y="4591812"/>
            <a:ext cx="3189427" cy="585216"/>
          </a:xfrm>
          <a:prstGeom prst="roundRect">
            <a:avLst>
              <a:gd name="adj" fmla="val 18750"/>
            </a:avLst>
          </a:prstGeom>
          <a:solidFill>
            <a:srgbClr val="EEF2FC"/>
          </a:solidFill>
          <a:ln w="9525">
            <a:solidFill>
              <a:srgbClr val="CBD7F4"/>
            </a:solidFill>
            <a:prstDash val="solid"/>
          </a:ln>
        </p:spPr>
      </p:sp>
      <p:sp>
        <p:nvSpPr>
          <p:cNvPr id="10" name="Text 8"/>
          <p:cNvSpPr txBox="1"/>
          <p:nvPr/>
        </p:nvSpPr>
        <p:spPr>
          <a:xfrm>
            <a:off x="3975811" y="4591812"/>
            <a:ext cx="3189427"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 6CO₂(g) + 6H₂O(s)</a:t>
            </a:r>
            <a:endParaRPr lang="en-US" sz="1800" dirty="0"/>
          </a:p>
        </p:txBody>
      </p:sp>
      <p:sp>
        <p:nvSpPr>
          <p:cNvPr id="11" name="Shape 9"/>
          <p:cNvSpPr/>
          <p:nvPr/>
        </p:nvSpPr>
        <p:spPr>
          <a:xfrm>
            <a:off x="7311542" y="4591812"/>
            <a:ext cx="2494483" cy="585216"/>
          </a:xfrm>
          <a:prstGeom prst="roundRect">
            <a:avLst>
              <a:gd name="adj" fmla="val 18750"/>
            </a:avLst>
          </a:prstGeom>
          <a:solidFill>
            <a:srgbClr val="EEF2FC"/>
          </a:solidFill>
          <a:ln w="9525">
            <a:solidFill>
              <a:srgbClr val="CBD7F4"/>
            </a:solidFill>
            <a:prstDash val="solid"/>
          </a:ln>
        </p:spPr>
      </p:sp>
      <p:sp>
        <p:nvSpPr>
          <p:cNvPr id="12" name="Text 10"/>
          <p:cNvSpPr txBox="1"/>
          <p:nvPr/>
        </p:nvSpPr>
        <p:spPr>
          <a:xfrm>
            <a:off x="7311542" y="4591812"/>
            <a:ext cx="2494483"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ΔH° = −2803 kJ</a:t>
            </a:r>
            <a:endParaRPr lang="en-US" sz="1800" dirty="0"/>
          </a:p>
        </p:txBody>
      </p:sp>
      <p:sp>
        <p:nvSpPr>
          <p:cNvPr id="14" name="Shape 11"/>
          <p:cNvSpPr/>
          <p:nvPr/>
        </p:nvSpPr>
        <p:spPr>
          <a:xfrm>
            <a:off x="640080" y="6382512"/>
            <a:ext cx="128016" cy="128016"/>
          </a:xfrm>
          <a:prstGeom prst="roundRect">
            <a:avLst>
              <a:gd name="adj" fmla="val 28571"/>
            </a:avLst>
          </a:prstGeom>
          <a:solidFill>
            <a:srgbClr val="A9E648"/>
          </a:solidFill>
          <a:ln/>
        </p:spPr>
      </p:sp>
      <p:sp>
        <p:nvSpPr>
          <p:cNvPr id="15" name="Text 1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6" name="Text 1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88</a:t>
            </a:r>
            <a:endParaRPr lang="en-US" sz="105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Geri hesap: bilinmeyen ΔH°f</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4</a:t>
            </a:r>
            <a:endParaRPr lang="en-US" sz="950" dirty="0"/>
          </a:p>
        </p:txBody>
      </p:sp>
      <p:sp>
        <p:nvSpPr>
          <p:cNvPr id="6" name="Text 4"/>
          <p:cNvSpPr txBox="1"/>
          <p:nvPr/>
        </p:nvSpPr>
        <p:spPr>
          <a:xfrm>
            <a:off x="640080" y="1325880"/>
            <a:ext cx="10911535" cy="2205990"/>
          </a:xfrm>
          <a:prstGeom prst="rect">
            <a:avLst/>
          </a:prstGeom>
          <a:noFill/>
          <a:ln/>
        </p:spPr>
        <p:txBody>
          <a:bodyPr wrap="square" lIns="0" tIns="0" rIns="0" bIns="0" rtlCol="0" anchor="t"/>
          <a:lstStyle/>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Bağıntıyı yaz:</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−2803 = [6·(−393,5) + 6·(−285,8)] − [x + 6·0]</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Bilinenleri topla:</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ürünler −2361,0 + (−1714,8) = −4075,8 kJ, yani −2803 = −4075,8 − x</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Bilinmeyeni yalnız bırak:</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x = −4075,8 + 2803 =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−1272,8 ≈ −1273 kJ/mol</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Denetle:</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tablodaki −1274 kJ/mol ile uyumlu; 1 kJ'lik fark ölçümden gelir.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89</a:t>
            </a:r>
            <a:endParaRPr lang="en-US" sz="105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Geri hesap: bilinmeyen ΔH°f</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4</a:t>
            </a:r>
            <a:endParaRPr lang="en-US" sz="950" dirty="0"/>
          </a:p>
        </p:txBody>
      </p:sp>
      <p:sp>
        <p:nvSpPr>
          <p:cNvPr id="6" name="Text 4"/>
          <p:cNvSpPr txBox="1"/>
          <p:nvPr/>
        </p:nvSpPr>
        <p:spPr>
          <a:xfrm>
            <a:off x="640080" y="1325880"/>
            <a:ext cx="10911535" cy="172516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Tablolardaki değerlerin çoğu böyle bulunmuştur: madde yakılır ya da başka bir tepkimeye sokulur, ölçülen ısıdan geriye doğru hesap yapılır.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Oluşum entalpisi, bileşik elementlerinden hiç oluşturulmasa da tanımlıdır; yalnızca ölçme yolu dolaylıdır.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90</a:t>
            </a:r>
            <a:endParaRPr lang="en-US" sz="105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Geri hesap: bilinmeyen ΔH°f</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4</a:t>
            </a:r>
            <a:endParaRPr lang="en-US" sz="950" dirty="0"/>
          </a:p>
        </p:txBody>
      </p:sp>
      <p:sp>
        <p:nvSpPr>
          <p:cNvPr id="6" name="Shape 4"/>
          <p:cNvSpPr/>
          <p:nvPr/>
        </p:nvSpPr>
        <p:spPr>
          <a:xfrm>
            <a:off x="2909164" y="1234440"/>
            <a:ext cx="6373368"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olusum-entalpisi-12.png">    </p:cNvPr>
          <p:cNvPicPr>
            <a:picLocks noChangeAspect="1"/>
          </p:cNvPicPr>
          <p:nvPr/>
        </p:nvPicPr>
        <p:blipFill>
          <a:blip r:embed="rId1"/>
          <a:stretch>
            <a:fillRect/>
          </a:stretch>
        </p:blipFill>
        <p:spPr>
          <a:xfrm>
            <a:off x="3137764" y="1325880"/>
            <a:ext cx="5916168"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Elementlerden ürünlere inen toplam düşüş (yeşil, −4075,8 kJ) iki parçadan oluşur: elementlerden glikoza inen bilinmeyen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x</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(mor) ve glikozun ölçülen yanması (sarı, −2803 kJ). Bütünden bilinen parçayı çıkarınca x ≈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−1273 kJ/mol</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kalır. Ok boyları değerlerle orantılıdır.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91</a:t>
            </a:r>
            <a:endParaRPr lang="en-US" sz="105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Geri hesap: bilinmeyen ΔH°f</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5F4BD8"/>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5F4BD8"/>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ΔH° bağıntısında tek bilinmeyen kalırsa çözülür. Glikozun ölçülen yanma ısısından (−2803 kJ) ΔH°f = −4075,8 + 2803 ≈ −1273 kJ/mol bulunur; tablolardaki değerlerin çoğu böyle dolaylı ölçülür.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92</a:t>
            </a:r>
            <a:endParaRPr lang="en-US" sz="105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Fotosentezle 1 mol glikoz oluşurken bitki ne kadar enerji depolar?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11 · Geri hesap: bilinmeyen ΔH°f</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93</a:t>
            </a:r>
            <a:endParaRPr lang="en-US" sz="105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Fotosentezle 1 mol glikoz oluşurken bitki ne kadar enerji depolar?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Fotosentez, yanmanın tersidir: 6CO₂(g) + 6H₂O(s) → C₆H₁₂O₆(k) + 6O₂(g) için ΔH° = +2803 kJ. Bitki bu enerjiyi güneş ışığından alır ve glikozda saklar. Sen o glikozu solunumla “yaktığında” aynı enerji geri açığa çıkar.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94</a:t>
            </a:r>
            <a:endParaRPr lang="en-US" sz="105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900" b="1" spc="-50" kern="0" dirty="0">
                <a:solidFill>
                  <a:srgbClr val="0E1426"/>
                </a:solidFill>
                <a:latin typeface="Cambria" pitchFamily="34" charset="0"/>
                <a:ea typeface="Cambria" pitchFamily="34" charset="-122"/>
                <a:cs typeface="Cambria" pitchFamily="34" charset="-120"/>
              </a:rPr>
              <a:t>İki yöntem: bağ enerjisi mi, oluşum entalpisi mi?</a:t>
            </a:r>
            <a:endParaRPr lang="en-US" sz="29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6</a:t>
            </a:r>
            <a:endParaRPr lang="en-US" sz="950" dirty="0"/>
          </a:p>
        </p:txBody>
      </p:sp>
      <p:sp>
        <p:nvSpPr>
          <p:cNvPr id="6" name="Text 4"/>
          <p:cNvSpPr txBox="1"/>
          <p:nvPr/>
        </p:nvSpPr>
        <p:spPr>
          <a:xfrm>
            <a:off x="640080" y="1325880"/>
            <a:ext cx="10911535" cy="95402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önceki konuda tepkime entalpisini bağ enerjileriyle hesaplamıştın.</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İki yöntemin bağıntıları birbirinin aynası gibidir; sıraya dikkat et:</a:t>
            </a:r>
            <a:endParaRPr lang="en-US" sz="2200" dirty="0"/>
          </a:p>
        </p:txBody>
      </p:sp>
      <p:sp>
        <p:nvSpPr>
          <p:cNvPr id="7" name="Shape 5"/>
          <p:cNvSpPr/>
          <p:nvPr/>
        </p:nvSpPr>
        <p:spPr>
          <a:xfrm>
            <a:off x="640080" y="2481072"/>
            <a:ext cx="4579315"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2481072"/>
            <a:ext cx="4579315"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ΔH = ΣE(kırılan) − ΣE(oluşan)</a:t>
            </a:r>
            <a:endParaRPr lang="en-US" sz="1800" dirty="0"/>
          </a:p>
        </p:txBody>
      </p:sp>
      <p:sp>
        <p:nvSpPr>
          <p:cNvPr id="9" name="Shape 7"/>
          <p:cNvSpPr/>
          <p:nvPr/>
        </p:nvSpPr>
        <p:spPr>
          <a:xfrm>
            <a:off x="5365699" y="2481072"/>
            <a:ext cx="4718304" cy="585216"/>
          </a:xfrm>
          <a:prstGeom prst="roundRect">
            <a:avLst>
              <a:gd name="adj" fmla="val 18750"/>
            </a:avLst>
          </a:prstGeom>
          <a:solidFill>
            <a:srgbClr val="EEF2FC"/>
          </a:solidFill>
          <a:ln w="9525">
            <a:solidFill>
              <a:srgbClr val="CBD7F4"/>
            </a:solidFill>
            <a:prstDash val="solid"/>
          </a:ln>
        </p:spPr>
      </p:sp>
      <p:sp>
        <p:nvSpPr>
          <p:cNvPr id="10" name="Text 8"/>
          <p:cNvSpPr txBox="1"/>
          <p:nvPr/>
        </p:nvSpPr>
        <p:spPr>
          <a:xfrm>
            <a:off x="5365699" y="2481072"/>
            <a:ext cx="4718304"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ΔH° = Σ(ürünler) − Σ(girenler)</a:t>
            </a:r>
            <a:endParaRPr lang="en-US" sz="1800" dirty="0"/>
          </a:p>
        </p:txBody>
      </p:sp>
      <p:sp>
        <p:nvSpPr>
          <p:cNvPr id="12" name="Shape 9"/>
          <p:cNvSpPr/>
          <p:nvPr/>
        </p:nvSpPr>
        <p:spPr>
          <a:xfrm>
            <a:off x="640080" y="6382512"/>
            <a:ext cx="128016" cy="128016"/>
          </a:xfrm>
          <a:prstGeom prst="roundRect">
            <a:avLst>
              <a:gd name="adj" fmla="val 28571"/>
            </a:avLst>
          </a:prstGeom>
          <a:solidFill>
            <a:srgbClr val="A9E648"/>
          </a:solidFill>
          <a:ln/>
        </p:spPr>
      </p:sp>
      <p:sp>
        <p:nvSpPr>
          <p:cNvPr id="13" name="Text 10"/>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4" name="Text 11"/>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95</a:t>
            </a:r>
            <a:endParaRPr lang="en-US" sz="105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900" b="1" spc="-50" kern="0" dirty="0">
                <a:solidFill>
                  <a:srgbClr val="0E1426"/>
                </a:solidFill>
                <a:latin typeface="Cambria" pitchFamily="34" charset="0"/>
                <a:ea typeface="Cambria" pitchFamily="34" charset="-122"/>
                <a:cs typeface="Cambria" pitchFamily="34" charset="-120"/>
              </a:rPr>
              <a:t>İki yöntem: bağ enerjisi mi, oluşum entalpisi mi?</a:t>
            </a:r>
            <a:endParaRPr lang="en-US" sz="29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6</a:t>
            </a:r>
            <a:endParaRPr lang="en-US" sz="950" dirty="0"/>
          </a:p>
        </p:txBody>
      </p:sp>
      <p:sp>
        <p:nvSpPr>
          <p:cNvPr id="6" name="Text 4"/>
          <p:cNvSpPr txBox="1"/>
          <p:nvPr/>
        </p:nvSpPr>
        <p:spPr>
          <a:xfrm>
            <a:off x="640080" y="1325880"/>
            <a:ext cx="10911535" cy="220218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Bağ enerjisinde girenler önce gelir, çünkü girenlerin bağlarını kırmak enerji ister.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Oluşum entalpisinde ise ürünler önce gelir.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İki yöntem bazı tepkimelerde neredeyse aynı sonucu verir, bazılarında ayrılır: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96</a:t>
            </a:r>
            <a:endParaRPr lang="en-US" sz="105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900" b="1" spc="-50" kern="0" dirty="0">
                <a:solidFill>
                  <a:srgbClr val="0E1426"/>
                </a:solidFill>
                <a:latin typeface="Cambria" pitchFamily="34" charset="0"/>
                <a:ea typeface="Cambria" pitchFamily="34" charset="-122"/>
                <a:cs typeface="Cambria" pitchFamily="34" charset="-120"/>
              </a:rPr>
              <a:t>İki yöntem: bağ enerjisi mi, oluşum entalpisi mi?</a:t>
            </a:r>
            <a:endParaRPr lang="en-US" sz="29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6</a:t>
            </a:r>
            <a:endParaRPr lang="en-US" sz="950" dirty="0"/>
          </a:p>
        </p:txBody>
      </p:sp>
      <p:graphicFrame>
        <p:nvGraphicFramePr>
          <p:cNvPr id="98"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10911535" cy="914400"/>
        </p:xfrm>
        <a:graphic>
          <a:graphicData uri="http://schemas.openxmlformats.org/drawingml/2006/table">
            <a:tbl>
              <a:tblPr/>
              <a:tblGrid>
                <a:gridCol w="4506938"/>
                <a:gridCol w="4269731"/>
                <a:gridCol w="2134866"/>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Tepkime (hepsi gaz)</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Bağ enerjisiyle</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ΔH°f ile</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H₂ + Cl₂ → 2HCl</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−183 kJ</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−184,6 kJ</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N₂ + 3H₂ → 2NH₃</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−93 kJ</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−92,2 kJ</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C₂H₄ + H₂ → C₂H₆</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−123 kJ</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−137,0 kJ</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CH₄ yanması, H₂O(g)</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−802 kJ</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−802,3 kJ</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CH₄ yanması, H₂O(s)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doğrudan bulunamaz</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−890,3 kJ</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8" name="Shape 4"/>
          <p:cNvSpPr/>
          <p:nvPr/>
        </p:nvSpPr>
        <p:spPr>
          <a:xfrm>
            <a:off x="640080" y="6382512"/>
            <a:ext cx="128016" cy="128016"/>
          </a:xfrm>
          <a:prstGeom prst="roundRect">
            <a:avLst>
              <a:gd name="adj" fmla="val 28571"/>
            </a:avLst>
          </a:prstGeom>
          <a:solidFill>
            <a:srgbClr val="A9E648"/>
          </a:solidFill>
          <a:ln/>
        </p:spPr>
      </p:sp>
      <p:sp>
        <p:nvSpPr>
          <p:cNvPr id="9" name="Text 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0" name="Text 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97</a:t>
            </a:r>
            <a:endParaRPr lang="en-US" sz="105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900" b="1" spc="-50" kern="0" dirty="0">
                <a:solidFill>
                  <a:srgbClr val="0E1426"/>
                </a:solidFill>
                <a:latin typeface="Cambria" pitchFamily="34" charset="0"/>
                <a:ea typeface="Cambria" pitchFamily="34" charset="-122"/>
                <a:cs typeface="Cambria" pitchFamily="34" charset="-120"/>
              </a:rPr>
              <a:t>İki yöntem: bağ enerjisi mi, oluşum entalpisi mi?</a:t>
            </a:r>
            <a:endParaRPr lang="en-US" sz="29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6</a:t>
            </a:r>
            <a:endParaRPr lang="en-US" sz="950" dirty="0"/>
          </a:p>
        </p:txBody>
      </p:sp>
      <p:sp>
        <p:nvSpPr>
          <p:cNvPr id="6" name="Text 4"/>
          <p:cNvSpPr txBox="1"/>
          <p:nvPr/>
        </p:nvSpPr>
        <p:spPr>
          <a:xfrm>
            <a:off x="640080" y="1325880"/>
            <a:ext cx="10911535" cy="321868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Bağ enerjileri ortalamadır: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C–H bağının enerjisi metanda, etanda ve etilende biraz farklıdır; tabloda bir ortalama yazar. C=C, C–C ve C–H değerlerinin hepsi ortalama olduğu için etilen satırında 14 kJ fark çıkar.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Bağ enerjileri gaz hâli içindir: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sıvı ya da katı bir madde varsa moleküller arası çekimler hesaba girmez. Metanın yanmasında su sıvıysa bağ yöntemi 88 kJ eksik kalır.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ΔH°f değerleri ölçümdür: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her madde ve her hâl için ayrı ölçülmüştür; bu yüzden ΔH°f yöntemi daha doğru sonuç verir.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98</a:t>
            </a:r>
            <a:endParaRPr lang="en-US" sz="105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900" b="1" spc="-50" kern="0" dirty="0">
                <a:solidFill>
                  <a:srgbClr val="0E1426"/>
                </a:solidFill>
                <a:latin typeface="Cambria" pitchFamily="34" charset="0"/>
                <a:ea typeface="Cambria" pitchFamily="34" charset="-122"/>
                <a:cs typeface="Cambria" pitchFamily="34" charset="-120"/>
              </a:rPr>
              <a:t>İki yöntem: bağ enerjisi mi, oluşum entalpisi mi?</a:t>
            </a:r>
            <a:endParaRPr lang="en-US" sz="29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6</a:t>
            </a:r>
            <a:endParaRPr lang="en-US" sz="950" dirty="0"/>
          </a:p>
        </p:txBody>
      </p:sp>
      <p:sp>
        <p:nvSpPr>
          <p:cNvPr id="6" name="Text 4"/>
          <p:cNvSpPr txBox="1"/>
          <p:nvPr/>
        </p:nvSpPr>
        <p:spPr>
          <a:xfrm>
            <a:off x="640080" y="1325880"/>
            <a:ext cx="10911535" cy="82753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Bağ enerjisinin üstünlüğü:</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ΔH°f'si bilinmeyen yeni bir molekül için de tahmin verir ve ısının hangi bağlardan geldiğini gösterir.</a:t>
            </a:r>
            <a:endParaRPr lang="en-US" sz="2100" dirty="0"/>
          </a:p>
        </p:txBody>
      </p:sp>
      <p:sp>
        <p:nvSpPr>
          <p:cNvPr id="7" name="Text 5"/>
          <p:cNvSpPr txBox="1"/>
          <p:nvPr/>
        </p:nvSpPr>
        <p:spPr>
          <a:xfrm>
            <a:off x="640080" y="2354580"/>
            <a:ext cx="10911535" cy="172516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İki yöntem atomlarda buluşur: H(g)'nin oluşum entalpisi (+218,0 kJ/mol), H–H bağ enerjisinin (436 kJ/mol) tam yarısıdır.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O(g) +249,2 ile O=O 498, N(g) +472,7 ile N≡N 945 kJ/mol de aynı ilişkiyi taşır.</a:t>
            </a:r>
            <a:endParaRPr lang="en-US" sz="2200" dirty="0"/>
          </a:p>
        </p:txBody>
      </p:sp>
      <p:sp>
        <p:nvSpPr>
          <p:cNvPr id="9" name="Shape 6"/>
          <p:cNvSpPr/>
          <p:nvPr/>
        </p:nvSpPr>
        <p:spPr>
          <a:xfrm>
            <a:off x="640080" y="6382512"/>
            <a:ext cx="128016" cy="128016"/>
          </a:xfrm>
          <a:prstGeom prst="roundRect">
            <a:avLst>
              <a:gd name="adj" fmla="val 28571"/>
            </a:avLst>
          </a:prstGeom>
          <a:solidFill>
            <a:srgbClr val="A9E648"/>
          </a:solidFill>
          <a:ln/>
        </p:spPr>
      </p:sp>
      <p:sp>
        <p:nvSpPr>
          <p:cNvPr id="10"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1"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99</a:t>
            </a:r>
            <a:endParaRPr lang="en-US" sz="105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900" b="1" spc="-50" kern="0" dirty="0">
                <a:solidFill>
                  <a:srgbClr val="0E1426"/>
                </a:solidFill>
                <a:latin typeface="Cambria" pitchFamily="34" charset="0"/>
                <a:ea typeface="Cambria" pitchFamily="34" charset="-122"/>
                <a:cs typeface="Cambria" pitchFamily="34" charset="-120"/>
              </a:rPr>
              <a:t>İki yöntem: bağ enerjisi mi, oluşum entalpisi mi?</a:t>
            </a:r>
            <a:endParaRPr lang="en-US" sz="29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6 / 6</a:t>
            </a:r>
            <a:endParaRPr lang="en-US" sz="950" dirty="0"/>
          </a:p>
        </p:txBody>
      </p:sp>
      <p:sp>
        <p:nvSpPr>
          <p:cNvPr id="6" name="Shape 4"/>
          <p:cNvSpPr/>
          <p:nvPr/>
        </p:nvSpPr>
        <p:spPr>
          <a:xfrm>
            <a:off x="2555900" y="1234440"/>
            <a:ext cx="7079895"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olusum-entalpisi-13.png">    </p:cNvPr>
          <p:cNvPicPr>
            <a:picLocks noChangeAspect="1"/>
          </p:cNvPicPr>
          <p:nvPr/>
        </p:nvPicPr>
        <p:blipFill>
          <a:blip r:embed="rId1"/>
          <a:stretch>
            <a:fillRect/>
          </a:stretch>
        </p:blipFill>
        <p:spPr>
          <a:xfrm>
            <a:off x="2784500" y="1325880"/>
            <a:ext cx="6622695"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Mavi çubuklar bağ enerjileriyle, yeşil çubuklar oluşum entalpileriyle hesaplanan ΔH'nin büyüklüğünü (kJ) gösteriyor. Küçük gaz moleküllerinde iki yöntem neredeyse aynı sonucu verir; etilende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ortalama</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bağ enerjisi yüzünden ayrılır. Su sıvı oluştuğunda bağ yöntemi yoğuşma ısısını hiç göremez ve gaz hâlindeki sonuçta kalır.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100</a:t>
            </a:r>
            <a:endParaRPr lang="en-US" sz="105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900" b="1" spc="-50" kern="0" dirty="0">
                <a:solidFill>
                  <a:srgbClr val="0E1426"/>
                </a:solidFill>
                <a:latin typeface="Cambria" pitchFamily="34" charset="0"/>
                <a:ea typeface="Cambria" pitchFamily="34" charset="-122"/>
                <a:cs typeface="Cambria" pitchFamily="34" charset="-120"/>
              </a:rPr>
              <a:t>İki yöntem: bağ enerjisi mi, oluşum entalpisi mi?</a:t>
            </a:r>
            <a:endParaRPr lang="en-US" sz="29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5F4BD8"/>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5F4BD8"/>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Bağ enerjisiyle ΔH = Σkırılan − Σoluşan, oluşum entalpisiyle ΔH° = Σürünler − Σgirenler yazılır. Bağ enerjileri gaz hâli için ortalama değerlerdir; ölçülmüş ΔH°f değerleri daha doğru sonuç verir.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101</a:t>
            </a:r>
            <a:endParaRPr lang="en-US" sz="105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Su sıvı oluşan bir yanmada bağ enerjileriyle hesaplanan ısı neden ölçülenden az çıkar?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12 · İki yöntem: bağ enerjisi mi, oluşum entalpisi mi?</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102</a:t>
            </a:r>
            <a:endParaRPr lang="en-US" sz="105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Su sıvı oluşan bir yanmada bağ enerjileriyle hesaplanan ısı neden ölçülenden az çıkar?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Bağ enerjileri yalnızca gaz hâlindeki moleküllerin bağlarını sayar. Su buharı sıvıya yoğuşurken moleküller arasında yeni çekimler kurulur ve mol başına 44 kJ daha ısı açığa çıkar. Bağ yöntemi bu ısıyı görmez; oluşum entalpisi ise H₂O(s) satırında onu zaten içerir.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103</a:t>
            </a:r>
            <a:endParaRPr lang="en-US" sz="105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Oluşum entalpisi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124815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Oluşum entalpisi tablosu, mühendislerin en pratik araçlarından biridir: bir işlemin ne kadar ısı vereceği ya da isteyeceği, tesis kurulmadan önce kâğıt üzerinde hesaplanır.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104</a:t>
            </a:r>
            <a:endParaRPr lang="en-US" sz="105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Oluşum entalpisi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Text 4"/>
          <p:cNvSpPr txBox="1"/>
          <p:nvPr/>
        </p:nvSpPr>
        <p:spPr>
          <a:xfrm>
            <a:off x="640080" y="1325880"/>
            <a:ext cx="10911535" cy="312724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Termit kaynağı:</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Fe₂O₃(k) + 2Al(k) → 2Fe(k) + Al₂O₃(k) için ΔH° = −1675,7 − (−824,2) = −851,5 kJ. Oksijen, onu çok daha sıkı tutan alüminyuma geçer. Açığa çıkan ısı ürünleri yaklaşık 2500 °C'ye kadar ısıtır; demir erir ve sıvı olarak akar.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Kireç yakma:</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CaCO₃(k) → CaO(k) + CO₂(g) için ΔH° = −1028,6 − (−1206,9) = +178,3 kJ. Kireç taşından sönmemiş kireç elde etmek sürekli ısı ister; kireç fırınları 900 °C'nin üstünde çalışır. Çimento üretimindeki CO₂ salımının önemli bir kısmı da bu tepkimeden gelir.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105</a:t>
            </a:r>
            <a:endParaRPr lang="en-US" sz="105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Oluşum entalpisi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Text 4"/>
          <p:cNvSpPr txBox="1"/>
          <p:nvPr/>
        </p:nvSpPr>
        <p:spPr>
          <a:xfrm>
            <a:off x="640080" y="1325880"/>
            <a:ext cx="10911535" cy="275920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Roket yakıtları:</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hidrojenle oksijenin yanması, H₂(g) + ½O₂(g) → H₂O(g), 1 g hidrojen başına yaklaşık 121 kJ verir ve ürün yalnızca su buharıdır. Katı yakıtlı roketlere alüminyum tozu katılır: Al₂O₃'ün çok eksi oluşum entalpisi büyük bir ısı kaynağıdır.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Besin etiketleri:</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bir besinin enerji değeri, kurutulmuş örneği bomba kalorimetresinde yakılarak ölçülür; etiketteki değer, sindirilemeyen kısım düşülerek bu ölçümden hesaplanır.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106</a:t>
            </a:r>
            <a:endParaRPr lang="en-US" sz="105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Oluşum entalpisi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Text 4"/>
          <p:cNvSpPr txBox="1"/>
          <p:nvPr/>
        </p:nvSpPr>
        <p:spPr>
          <a:xfrm>
            <a:off x="640080" y="1325880"/>
            <a:ext cx="10911535" cy="249631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Bütün bu örneklerin ortak düşüncesi aynıdır: ürünler girenlerden ne kadar aşağıdaysa o kadar ısı çıkar, ne kadar yukarıdaysa o kadar ısı vermek gerekir.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Termitin ısısı, demirden alüminyuma geçen oksijenin “düştüğü” yükseklikten gelir; kireç yakarken ise CaO ile CO₂'yi CaCO₃'ün üstüne çıkarmak için ısı harcanır.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107</a:t>
            </a:r>
            <a:endParaRPr lang="en-US" sz="105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Oluşum entalpisi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Shape 4"/>
          <p:cNvSpPr/>
          <p:nvPr/>
        </p:nvSpPr>
        <p:spPr>
          <a:xfrm>
            <a:off x="3022540" y="1234440"/>
            <a:ext cx="6146615" cy="3643884"/>
          </a:xfrm>
          <a:prstGeom prst="roundRect">
            <a:avLst>
              <a:gd name="adj" fmla="val 401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olusum-entalpisi-14.png">    </p:cNvPr>
          <p:cNvPicPr>
            <a:picLocks noChangeAspect="1"/>
          </p:cNvPicPr>
          <p:nvPr/>
        </p:nvPicPr>
        <p:blipFill>
          <a:blip r:embed="rId1"/>
          <a:stretch>
            <a:fillRect/>
          </a:stretch>
        </p:blipFill>
        <p:spPr>
          <a:xfrm>
            <a:off x="3251140" y="1325880"/>
            <a:ext cx="5689415" cy="3461004"/>
          </a:xfrm>
          <a:prstGeom prst="rect">
            <a:avLst/>
          </a:prstGeom>
        </p:spPr>
      </p:pic>
      <p:sp>
        <p:nvSpPr>
          <p:cNvPr id="8" name="Text 5"/>
          <p:cNvSpPr txBox="1"/>
          <p:nvPr/>
        </p:nvSpPr>
        <p:spPr>
          <a:xfrm>
            <a:off x="1249528" y="5061204"/>
            <a:ext cx="9692640" cy="1083564"/>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İki diyagram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aynı ölçekte</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Termitte ürünler girenlerden 851,5 kJ aşağıdadır; ısı o kadar büyüktür ki demir erir. Kireç yakmada ürünler girenlerden 178,3 kJ yukarıdadır; tepkime ancak dışarıdan sürekli ısı verilirse yürür. İki tepkimede de girenler elementlerin çok altındadır; önemli olan girenlerle ürünler arasındaki farktır.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108</a:t>
            </a:r>
            <a:endParaRPr lang="en-US" sz="105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Oluşum entalpisi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5F4BD8"/>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5F4BD8"/>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Termit kaynağı (−851,5 kJ), kireç yakma (+178,3 kJ) ve roket yakıtları oluşum entalpisi tablosuyla önceden hesaplanır. Ürünler girenlerden ne kadar aşağıdaysa o kadar ısı çıkar.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109</a:t>
            </a:r>
            <a:endParaRPr lang="en-US" sz="105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Termit karışımı neden kibritle tutuşmaz da magnezyum şeridiyle tutuşturulur?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13 · Oluşum entalpisi gerçek dünyada</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110</a:t>
            </a:r>
            <a:endParaRPr lang="en-US" sz="105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Termit karışımı neden kibritle tutuşmaz da magnezyum şeridiyle tutuşturulur?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Termit tepkimesi çok ekzotermiktir, ama başlaması için yüksek bir enerji engelinin aşılması gerekir. Kibrit alevi buna yetmez; yanan magnezyum şeridi ise yaklaşık 3000 °C'ye ulaşır. Tepkime bir kez başlayınca açığa çıkan ısı komşu tanecikleri de tutuşturur ve tepkime kendini sürdürür. ΔH ne kadar büyük olursa olsun, tepkimenin başlaması ayrı bir konudur.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111</a:t>
            </a:r>
            <a:endParaRPr lang="en-US" sz="105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FFCB6B"/>
                </a:solidFill>
                <a:latin typeface="Cambria" pitchFamily="34" charset="0"/>
                <a:ea typeface="Cambria" pitchFamily="34" charset="-122"/>
                <a:cs typeface="Cambria" pitchFamily="34" charset="-120"/>
              </a:rPr>
              <a:t>4</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FFCB6B"/>
                </a:solidFill>
                <a:latin typeface="Calibri" pitchFamily="34" charset="0"/>
                <a:ea typeface="Calibri" pitchFamily="34" charset="-122"/>
                <a:cs typeface="Calibri" pitchFamily="34" charset="-120"/>
              </a:rPr>
              <a:t>BASAMAK 4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Pekiştir</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Kolaydan zora çözümlü örnekler ve oluşum entalpisi sorularında puan kaybettiren klasik hatalar.</a:t>
            </a:r>
            <a:endParaRPr lang="en-US" sz="16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14   </a:t>
            </a:r>
            <a:pPr indent="0" marL="0">
              <a:buNone/>
            </a:pPr>
            <a:r>
              <a:rPr lang="en-US" sz="1300" dirty="0">
                <a:solidFill>
                  <a:srgbClr val="FFFFFF"/>
                </a:solidFill>
                <a:latin typeface="Calibri" pitchFamily="34" charset="0"/>
                <a:ea typeface="Calibri" pitchFamily="34" charset="-122"/>
                <a:cs typeface="Calibri" pitchFamily="34" charset="-120"/>
              </a:rPr>
              <a:t>Çözümlü örnekler</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15   </a:t>
            </a:r>
            <a:pPr indent="0" marL="0">
              <a:buNone/>
            </a:pPr>
            <a:r>
              <a:rPr lang="en-US" sz="1300" dirty="0">
                <a:solidFill>
                  <a:srgbClr val="FFFFFF"/>
                </a:solidFill>
                <a:latin typeface="Calibri" pitchFamily="34" charset="0"/>
                <a:ea typeface="Calibri" pitchFamily="34" charset="-122"/>
                <a:cs typeface="Calibri" pitchFamily="34" charset="-120"/>
              </a:rPr>
              <a:t>Sık yapılan hatalar</a:t>
            </a:r>
            <a:endParaRPr lang="en-US" sz="1300" dirty="0"/>
          </a:p>
        </p:txBody>
      </p:sp>
      <p:sp>
        <p:nvSpPr>
          <p:cNvPr id="8" name="Text 6"/>
          <p:cNvSpPr txBox="1"/>
          <p:nvPr/>
        </p:nvSpPr>
        <p:spPr>
          <a:xfrm>
            <a:off x="6172200" y="1097280"/>
            <a:ext cx="5379415"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KOLAYDAN ZORA 7 ÇÖZÜMLÜ ÖRNEK</a:t>
            </a:r>
            <a:endParaRPr lang="en-US" sz="1050" dirty="0"/>
          </a:p>
        </p:txBody>
      </p:sp>
      <p:sp>
        <p:nvSpPr>
          <p:cNvPr id="9" name="Shape 7"/>
          <p:cNvSpPr/>
          <p:nvPr/>
        </p:nvSpPr>
        <p:spPr>
          <a:xfrm>
            <a:off x="6172200" y="1481328"/>
            <a:ext cx="5379415" cy="512064"/>
          </a:xfrm>
          <a:prstGeom prst="roundRect">
            <a:avLst>
              <a:gd name="adj" fmla="val 17857"/>
            </a:avLst>
          </a:prstGeom>
          <a:solidFill>
            <a:srgbClr val="1C2542"/>
          </a:solidFill>
          <a:ln w="9525">
            <a:solidFill>
              <a:srgbClr val="2C3860"/>
            </a:solidFill>
            <a:prstDash val="solid"/>
          </a:ln>
        </p:spPr>
      </p:sp>
      <p:sp>
        <p:nvSpPr>
          <p:cNvPr id="10" name="Text 8"/>
          <p:cNvSpPr txBox="1"/>
          <p:nvPr/>
        </p:nvSpPr>
        <p:spPr>
          <a:xfrm>
            <a:off x="6400800" y="1481328"/>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1   Etanolün oluşum denklemi</a:t>
            </a:r>
            <a:endParaRPr lang="en-US" sz="1300" dirty="0"/>
          </a:p>
        </p:txBody>
      </p:sp>
      <p:sp>
        <p:nvSpPr>
          <p:cNvPr id="11" name="Text 9"/>
          <p:cNvSpPr txBox="1"/>
          <p:nvPr/>
        </p:nvSpPr>
        <p:spPr>
          <a:xfrm>
            <a:off x="10362895" y="1481328"/>
            <a:ext cx="1005840" cy="512064"/>
          </a:xfrm>
          <a:prstGeom prst="rect">
            <a:avLst/>
          </a:prstGeom>
          <a:noFill/>
          <a:ln/>
        </p:spPr>
        <p:txBody>
          <a:bodyPr wrap="square" lIns="0" tIns="0" rIns="0" bIns="0" rtlCol="0" anchor="ctr"/>
          <a:lstStyle/>
          <a:p>
            <a:pPr algn="r" indent="0" marL="0">
              <a:buNone/>
            </a:pPr>
            <a:r>
              <a:rPr lang="en-US" sz="1050" b="1" spc="200" kern="0" dirty="0">
                <a:solidFill>
                  <a:srgbClr val="C6F36B"/>
                </a:solidFill>
                <a:latin typeface="Calibri" pitchFamily="34" charset="0"/>
                <a:ea typeface="Calibri" pitchFamily="34" charset="-122"/>
                <a:cs typeface="Calibri" pitchFamily="34" charset="-120"/>
              </a:rPr>
              <a:t>KOLAY</a:t>
            </a:r>
            <a:endParaRPr lang="en-US" sz="1050" dirty="0"/>
          </a:p>
        </p:txBody>
      </p:sp>
      <p:sp>
        <p:nvSpPr>
          <p:cNvPr id="12" name="Shape 10"/>
          <p:cNvSpPr/>
          <p:nvPr/>
        </p:nvSpPr>
        <p:spPr>
          <a:xfrm>
            <a:off x="6172200" y="2084832"/>
            <a:ext cx="5379415" cy="512064"/>
          </a:xfrm>
          <a:prstGeom prst="roundRect">
            <a:avLst>
              <a:gd name="adj" fmla="val 17857"/>
            </a:avLst>
          </a:prstGeom>
          <a:solidFill>
            <a:srgbClr val="1C2542"/>
          </a:solidFill>
          <a:ln w="9525">
            <a:solidFill>
              <a:srgbClr val="2C3860"/>
            </a:solidFill>
            <a:prstDash val="solid"/>
          </a:ln>
        </p:spPr>
      </p:sp>
      <p:sp>
        <p:nvSpPr>
          <p:cNvPr id="13" name="Text 11"/>
          <p:cNvSpPr txBox="1"/>
          <p:nvPr/>
        </p:nvSpPr>
        <p:spPr>
          <a:xfrm>
            <a:off x="6400800" y="2084832"/>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2   Kireç söndürme</a:t>
            </a:r>
            <a:endParaRPr lang="en-US" sz="1300" dirty="0"/>
          </a:p>
        </p:txBody>
      </p:sp>
      <p:sp>
        <p:nvSpPr>
          <p:cNvPr id="14" name="Text 12"/>
          <p:cNvSpPr txBox="1"/>
          <p:nvPr/>
        </p:nvSpPr>
        <p:spPr>
          <a:xfrm>
            <a:off x="10362895" y="2084832"/>
            <a:ext cx="1005840" cy="512064"/>
          </a:xfrm>
          <a:prstGeom prst="rect">
            <a:avLst/>
          </a:prstGeom>
          <a:noFill/>
          <a:ln/>
        </p:spPr>
        <p:txBody>
          <a:bodyPr wrap="square" lIns="0" tIns="0" rIns="0" bIns="0" rtlCol="0" anchor="ctr"/>
          <a:lstStyle/>
          <a:p>
            <a:pPr algn="r" indent="0" marL="0">
              <a:buNone/>
            </a:pPr>
            <a:r>
              <a:rPr lang="en-US" sz="1050" b="1" spc="200" kern="0" dirty="0">
                <a:solidFill>
                  <a:srgbClr val="C6F36B"/>
                </a:solidFill>
                <a:latin typeface="Calibri" pitchFamily="34" charset="0"/>
                <a:ea typeface="Calibri" pitchFamily="34" charset="-122"/>
                <a:cs typeface="Calibri" pitchFamily="34" charset="-120"/>
              </a:rPr>
              <a:t>KOLAY</a:t>
            </a:r>
            <a:endParaRPr lang="en-US" sz="1050" dirty="0"/>
          </a:p>
        </p:txBody>
      </p:sp>
      <p:sp>
        <p:nvSpPr>
          <p:cNvPr id="15" name="Shape 13"/>
          <p:cNvSpPr/>
          <p:nvPr/>
        </p:nvSpPr>
        <p:spPr>
          <a:xfrm>
            <a:off x="6172200" y="2688336"/>
            <a:ext cx="5379415" cy="512064"/>
          </a:xfrm>
          <a:prstGeom prst="roundRect">
            <a:avLst>
              <a:gd name="adj" fmla="val 17857"/>
            </a:avLst>
          </a:prstGeom>
          <a:solidFill>
            <a:srgbClr val="1C2542"/>
          </a:solidFill>
          <a:ln w="9525">
            <a:solidFill>
              <a:srgbClr val="2C3860"/>
            </a:solidFill>
            <a:prstDash val="solid"/>
          </a:ln>
        </p:spPr>
      </p:sp>
      <p:sp>
        <p:nvSpPr>
          <p:cNvPr id="16" name="Text 14"/>
          <p:cNvSpPr txBox="1"/>
          <p:nvPr/>
        </p:nvSpPr>
        <p:spPr>
          <a:xfrm>
            <a:off x="6400800" y="2688336"/>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3   Çakmaktaki bütan</a:t>
            </a:r>
            <a:endParaRPr lang="en-US" sz="1300" dirty="0"/>
          </a:p>
        </p:txBody>
      </p:sp>
      <p:sp>
        <p:nvSpPr>
          <p:cNvPr id="17" name="Text 15"/>
          <p:cNvSpPr txBox="1"/>
          <p:nvPr/>
        </p:nvSpPr>
        <p:spPr>
          <a:xfrm>
            <a:off x="10362895" y="2688336"/>
            <a:ext cx="1005840" cy="512064"/>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18" name="Shape 16"/>
          <p:cNvSpPr/>
          <p:nvPr/>
        </p:nvSpPr>
        <p:spPr>
          <a:xfrm>
            <a:off x="6172200" y="3291840"/>
            <a:ext cx="5379415" cy="512064"/>
          </a:xfrm>
          <a:prstGeom prst="roundRect">
            <a:avLst>
              <a:gd name="adj" fmla="val 17857"/>
            </a:avLst>
          </a:prstGeom>
          <a:solidFill>
            <a:srgbClr val="1C2542"/>
          </a:solidFill>
          <a:ln w="9525">
            <a:solidFill>
              <a:srgbClr val="2C3860"/>
            </a:solidFill>
            <a:prstDash val="solid"/>
          </a:ln>
        </p:spPr>
      </p:sp>
      <p:sp>
        <p:nvSpPr>
          <p:cNvPr id="19" name="Text 17"/>
          <p:cNvSpPr txBox="1"/>
          <p:nvPr/>
        </p:nvSpPr>
        <p:spPr>
          <a:xfrm>
            <a:off x="6400800" y="3291840"/>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4   Renksiz gazdan kahverengi gaza</a:t>
            </a:r>
            <a:endParaRPr lang="en-US" sz="1300" dirty="0"/>
          </a:p>
        </p:txBody>
      </p:sp>
      <p:sp>
        <p:nvSpPr>
          <p:cNvPr id="20" name="Text 18"/>
          <p:cNvSpPr txBox="1"/>
          <p:nvPr/>
        </p:nvSpPr>
        <p:spPr>
          <a:xfrm>
            <a:off x="10362895" y="3291840"/>
            <a:ext cx="1005840" cy="512064"/>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21" name="Shape 19"/>
          <p:cNvSpPr/>
          <p:nvPr/>
        </p:nvSpPr>
        <p:spPr>
          <a:xfrm>
            <a:off x="6172200" y="3895344"/>
            <a:ext cx="5379415" cy="512064"/>
          </a:xfrm>
          <a:prstGeom prst="roundRect">
            <a:avLst>
              <a:gd name="adj" fmla="val 17857"/>
            </a:avLst>
          </a:prstGeom>
          <a:solidFill>
            <a:srgbClr val="1C2542"/>
          </a:solidFill>
          <a:ln w="9525">
            <a:solidFill>
              <a:srgbClr val="2C3860"/>
            </a:solidFill>
            <a:prstDash val="solid"/>
          </a:ln>
        </p:spPr>
      </p:sp>
      <p:sp>
        <p:nvSpPr>
          <p:cNvPr id="22" name="Text 20"/>
          <p:cNvSpPr txBox="1"/>
          <p:nvPr/>
        </p:nvSpPr>
        <p:spPr>
          <a:xfrm>
            <a:off x="6400800" y="3895344"/>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5   Su buhar mı, sıvı mı?</a:t>
            </a:r>
            <a:endParaRPr lang="en-US" sz="1300" dirty="0"/>
          </a:p>
        </p:txBody>
      </p:sp>
      <p:sp>
        <p:nvSpPr>
          <p:cNvPr id="23" name="Text 21"/>
          <p:cNvSpPr txBox="1"/>
          <p:nvPr/>
        </p:nvSpPr>
        <p:spPr>
          <a:xfrm>
            <a:off x="10362895" y="3895344"/>
            <a:ext cx="1005840" cy="512064"/>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24" name="Shape 22"/>
          <p:cNvSpPr/>
          <p:nvPr/>
        </p:nvSpPr>
        <p:spPr>
          <a:xfrm>
            <a:off x="6172200" y="4498848"/>
            <a:ext cx="5379415" cy="512064"/>
          </a:xfrm>
          <a:prstGeom prst="roundRect">
            <a:avLst>
              <a:gd name="adj" fmla="val 17857"/>
            </a:avLst>
          </a:prstGeom>
          <a:solidFill>
            <a:srgbClr val="1C2542"/>
          </a:solidFill>
          <a:ln w="9525">
            <a:solidFill>
              <a:srgbClr val="2C3860"/>
            </a:solidFill>
            <a:prstDash val="solid"/>
          </a:ln>
        </p:spPr>
      </p:sp>
      <p:sp>
        <p:nvSpPr>
          <p:cNvPr id="25" name="Text 23"/>
          <p:cNvSpPr txBox="1"/>
          <p:nvPr/>
        </p:nvSpPr>
        <p:spPr>
          <a:xfrm>
            <a:off x="6400800" y="4498848"/>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6   Kalorimetreden etilenin oluşum entalpisi</a:t>
            </a:r>
            <a:endParaRPr lang="en-US" sz="1300" dirty="0"/>
          </a:p>
        </p:txBody>
      </p:sp>
      <p:sp>
        <p:nvSpPr>
          <p:cNvPr id="26" name="Text 24"/>
          <p:cNvSpPr txBox="1"/>
          <p:nvPr/>
        </p:nvSpPr>
        <p:spPr>
          <a:xfrm>
            <a:off x="10362895" y="4498848"/>
            <a:ext cx="1005840" cy="512064"/>
          </a:xfrm>
          <a:prstGeom prst="rect">
            <a:avLst/>
          </a:prstGeom>
          <a:noFill/>
          <a:ln/>
        </p:spPr>
        <p:txBody>
          <a:bodyPr wrap="square" lIns="0" tIns="0" rIns="0" bIns="0" rtlCol="0" anchor="ctr"/>
          <a:lstStyle/>
          <a:p>
            <a:pPr algn="r" indent="0" marL="0">
              <a:buNone/>
            </a:pPr>
            <a:r>
              <a:rPr lang="en-US" sz="1050" b="1" spc="200" kern="0" dirty="0">
                <a:solidFill>
                  <a:srgbClr val="FF8FA3"/>
                </a:solidFill>
                <a:latin typeface="Calibri" pitchFamily="34" charset="0"/>
                <a:ea typeface="Calibri" pitchFamily="34" charset="-122"/>
                <a:cs typeface="Calibri" pitchFamily="34" charset="-120"/>
              </a:rPr>
              <a:t>ZOR</a:t>
            </a:r>
            <a:endParaRPr lang="en-US" sz="1050" dirty="0"/>
          </a:p>
        </p:txBody>
      </p:sp>
      <p:sp>
        <p:nvSpPr>
          <p:cNvPr id="27" name="Shape 25"/>
          <p:cNvSpPr/>
          <p:nvPr/>
        </p:nvSpPr>
        <p:spPr>
          <a:xfrm>
            <a:off x="6172200" y="5102352"/>
            <a:ext cx="5379415" cy="512064"/>
          </a:xfrm>
          <a:prstGeom prst="roundRect">
            <a:avLst>
              <a:gd name="adj" fmla="val 17857"/>
            </a:avLst>
          </a:prstGeom>
          <a:solidFill>
            <a:srgbClr val="1C2542"/>
          </a:solidFill>
          <a:ln w="9525">
            <a:solidFill>
              <a:srgbClr val="2C3860"/>
            </a:solidFill>
            <a:prstDash val="solid"/>
          </a:ln>
        </p:spPr>
      </p:sp>
      <p:sp>
        <p:nvSpPr>
          <p:cNvPr id="28" name="Text 26"/>
          <p:cNvSpPr txBox="1"/>
          <p:nvPr/>
        </p:nvSpPr>
        <p:spPr>
          <a:xfrm>
            <a:off x="6400800" y="5102352"/>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7   Ray kaynağında termit</a:t>
            </a:r>
            <a:endParaRPr lang="en-US" sz="1300" dirty="0"/>
          </a:p>
        </p:txBody>
      </p:sp>
      <p:sp>
        <p:nvSpPr>
          <p:cNvPr id="29" name="Text 27"/>
          <p:cNvSpPr txBox="1"/>
          <p:nvPr/>
        </p:nvSpPr>
        <p:spPr>
          <a:xfrm>
            <a:off x="10362895" y="5102352"/>
            <a:ext cx="1005840" cy="512064"/>
          </a:xfrm>
          <a:prstGeom prst="rect">
            <a:avLst/>
          </a:prstGeom>
          <a:noFill/>
          <a:ln/>
        </p:spPr>
        <p:txBody>
          <a:bodyPr wrap="square" lIns="0" tIns="0" rIns="0" bIns="0" rtlCol="0" anchor="ctr"/>
          <a:lstStyle/>
          <a:p>
            <a:pPr algn="r" indent="0" marL="0">
              <a:buNone/>
            </a:pPr>
            <a:r>
              <a:rPr lang="en-US" sz="1050" b="1" spc="200" kern="0" dirty="0">
                <a:solidFill>
                  <a:srgbClr val="FF8FA3"/>
                </a:solidFill>
                <a:latin typeface="Calibri" pitchFamily="34" charset="0"/>
                <a:ea typeface="Calibri" pitchFamily="34" charset="-122"/>
                <a:cs typeface="Calibri" pitchFamily="34" charset="-120"/>
              </a:rPr>
              <a:t>ZOR</a:t>
            </a:r>
            <a:endParaRPr lang="en-US" sz="1050" dirty="0"/>
          </a:p>
        </p:txBody>
      </p:sp>
      <p:sp>
        <p:nvSpPr>
          <p:cNvPr id="30" name="Shape 28"/>
          <p:cNvSpPr/>
          <p:nvPr/>
        </p:nvSpPr>
        <p:spPr>
          <a:xfrm>
            <a:off x="640080" y="6382512"/>
            <a:ext cx="128016" cy="128016"/>
          </a:xfrm>
          <a:prstGeom prst="roundRect">
            <a:avLst>
              <a:gd name="adj" fmla="val 28571"/>
            </a:avLst>
          </a:prstGeom>
          <a:solidFill>
            <a:srgbClr val="C6F36B"/>
          </a:solidFill>
          <a:ln/>
        </p:spPr>
      </p:sp>
      <p:sp>
        <p:nvSpPr>
          <p:cNvPr id="31" name="Text 2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dersler.perinet.org/olusum-entalpisi.html</a:t>
            </a:r>
            <a:endParaRPr lang="en-US" sz="1050" dirty="0"/>
          </a:p>
        </p:txBody>
      </p:sp>
      <p:sp>
        <p:nvSpPr>
          <p:cNvPr id="32" name="Text 3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112</a:t>
            </a:r>
            <a:endParaRPr lang="en-US" sz="105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1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Etanolün oluşum denklemi</a:t>
            </a:r>
            <a:endParaRPr lang="en-US" sz="1450" dirty="0"/>
          </a:p>
        </p:txBody>
      </p:sp>
      <p:sp>
        <p:nvSpPr>
          <p:cNvPr id="8" name="Shape 6"/>
          <p:cNvSpPr/>
          <p:nvPr/>
        </p:nvSpPr>
        <p:spPr>
          <a:xfrm>
            <a:off x="640080" y="1645920"/>
            <a:ext cx="10911535" cy="1274064"/>
          </a:xfrm>
          <a:prstGeom prst="roundRect">
            <a:avLst>
              <a:gd name="adj" fmla="val 11483"/>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816864"/>
          </a:xfrm>
          <a:prstGeom prst="rect">
            <a:avLst/>
          </a:prstGeom>
          <a:noFill/>
          <a:ln/>
        </p:spPr>
        <p:txBody>
          <a:bodyPr wrap="square" lIns="0" tIns="0" rIns="0" bIns="0" rtlCol="0" anchor="t"/>
          <a:lstStyle/>
          <a:p>
            <a:pPr indent="0" marL="0">
              <a:lnSpc>
                <a:spcPct val="116000"/>
              </a:lnSpc>
              <a:buNone/>
            </a:pPr>
            <a:r>
              <a:rPr lang="en-US" sz="2000" dirty="0">
                <a:solidFill>
                  <a:srgbClr val="0E1426"/>
                </a:solidFill>
                <a:latin typeface="Calibri" pitchFamily="34" charset="0"/>
                <a:ea typeface="Calibri" pitchFamily="34" charset="-122"/>
                <a:cs typeface="Calibri" pitchFamily="34" charset="-120"/>
              </a:rPr>
              <a:t>Etanolün (C₂H₅OH(s)) standart oluşum entalpisi −277,7 kJ/mol'dür. Etanolün oluşum denklemini yazınız ve açığa çıkan ısıyı denklemin içinde gösteriniz.</a:t>
            </a:r>
            <a:endParaRPr lang="en-US" sz="2000" dirty="0"/>
          </a:p>
        </p:txBody>
      </p:sp>
      <p:sp>
        <p:nvSpPr>
          <p:cNvPr id="11" name="Shape 9"/>
          <p:cNvSpPr/>
          <p:nvPr/>
        </p:nvSpPr>
        <p:spPr>
          <a:xfrm>
            <a:off x="2717098" y="3121152"/>
            <a:ext cx="6757498" cy="3133344"/>
          </a:xfrm>
          <a:prstGeom prst="roundRect">
            <a:avLst>
              <a:gd name="adj" fmla="val 466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claude-1000/-opt-dersler/1d623a45-0112-427a-9abb-0c648368bda2/scratchpad/sunum/sekiller/olusum-entalpisi-15.png">    </p:cNvPr>
          <p:cNvPicPr>
            <a:picLocks noChangeAspect="1"/>
          </p:cNvPicPr>
          <p:nvPr/>
        </p:nvPicPr>
        <p:blipFill>
          <a:blip r:embed="rId1"/>
          <a:stretch>
            <a:fillRect/>
          </a:stretch>
        </p:blipFill>
        <p:spPr>
          <a:xfrm>
            <a:off x="2945698" y="3230880"/>
            <a:ext cx="6300298" cy="2913888"/>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113</a:t>
            </a:r>
            <a:endParaRPr lang="en-US" sz="105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1 / 7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Etanolün oluşum denklemi</a:t>
            </a:r>
            <a:endParaRPr lang="en-US" sz="1450" dirty="0"/>
          </a:p>
        </p:txBody>
      </p:sp>
      <p:sp>
        <p:nvSpPr>
          <p:cNvPr id="8" name="Shape 6"/>
          <p:cNvSpPr/>
          <p:nvPr/>
        </p:nvSpPr>
        <p:spPr>
          <a:xfrm>
            <a:off x="640080" y="1645920"/>
            <a:ext cx="10911535" cy="1405128"/>
          </a:xfrm>
          <a:prstGeom prst="roundRect">
            <a:avLst>
              <a:gd name="adj" fmla="val 10412"/>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856488"/>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Etanolün (C₂H₅OH(s)) standart oluşum entalpisi −277,7 kJ/mol'dür. Etanolün oluşum denklemini yazınız ve açığa çıkan ısıyı denklemin içinde gösteriniz.</a:t>
            </a:r>
            <a:endParaRPr lang="en-US" sz="2000" dirty="0"/>
          </a:p>
        </p:txBody>
      </p:sp>
      <p:sp>
        <p:nvSpPr>
          <p:cNvPr id="11" name="Shape 9"/>
          <p:cNvSpPr/>
          <p:nvPr/>
        </p:nvSpPr>
        <p:spPr>
          <a:xfrm>
            <a:off x="640080"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416808"/>
            <a:ext cx="54864" cy="2563368"/>
          </a:xfrm>
          <a:prstGeom prst="rect">
            <a:avLst/>
          </a:prstGeom>
          <a:solidFill>
            <a:srgbClr val="2957D4"/>
          </a:solidFill>
          <a:ln/>
        </p:spPr>
      </p:sp>
      <p:sp>
        <p:nvSpPr>
          <p:cNvPr id="13" name="Text 11"/>
          <p:cNvSpPr txBox="1"/>
          <p:nvPr/>
        </p:nvSpPr>
        <p:spPr>
          <a:xfrm>
            <a:off x="914400" y="3398520"/>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ΔH°f(C₂H₅OH(s)) = −277,7 kJ/mol</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etanoldeki elementler: C, H, O</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en kararlı hâlleri: C(grafit), H₂(g), O₂(g)</a:t>
            </a:r>
            <a:endParaRPr lang="en-US" sz="1800" dirty="0"/>
          </a:p>
        </p:txBody>
      </p:sp>
      <p:sp>
        <p:nvSpPr>
          <p:cNvPr id="15" name="Shape 13"/>
          <p:cNvSpPr/>
          <p:nvPr/>
        </p:nvSpPr>
        <p:spPr>
          <a:xfrm>
            <a:off x="6233008"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416808"/>
            <a:ext cx="54864" cy="2563368"/>
          </a:xfrm>
          <a:prstGeom prst="rect">
            <a:avLst/>
          </a:prstGeom>
          <a:solidFill>
            <a:srgbClr val="5F4BD8"/>
          </a:solidFill>
          <a:ln/>
        </p:spPr>
      </p:sp>
      <p:sp>
        <p:nvSpPr>
          <p:cNvPr id="17" name="Text 15"/>
          <p:cNvSpPr txBox="1"/>
          <p:nvPr/>
        </p:nvSpPr>
        <p:spPr>
          <a:xfrm>
            <a:off x="6507328" y="3398520"/>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1 mol C₂H₅OH(s) veren oluşum denklemi ve katsayıları</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114</a:t>
            </a:r>
            <a:endParaRPr lang="en-US" sz="105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1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Etanolün oluşum denklemi</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1 mol C₂H₅OH'de 2 mol C, 6 mol H ve 1 mol O atomu vardır.</a:t>
            </a:r>
            <a:endParaRPr lang="en-US" sz="2000" dirty="0"/>
          </a:p>
        </p:txBody>
      </p:sp>
      <p:sp>
        <p:nvSpPr>
          <p:cNvPr id="12" name="Shape 10"/>
          <p:cNvSpPr/>
          <p:nvPr/>
        </p:nvSpPr>
        <p:spPr>
          <a:xfrm>
            <a:off x="640080" y="2883408"/>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482645"/>
            <a:ext cx="420624" cy="420624"/>
          </a:xfrm>
          <a:prstGeom prst="roundRect">
            <a:avLst>
              <a:gd name="adj" fmla="val 26000"/>
            </a:avLst>
          </a:prstGeom>
          <a:solidFill>
            <a:srgbClr val="A56209"/>
          </a:solidFill>
          <a:ln/>
        </p:spPr>
      </p:sp>
      <p:sp>
        <p:nvSpPr>
          <p:cNvPr id="14" name="Text 12"/>
          <p:cNvSpPr txBox="1"/>
          <p:nvPr/>
        </p:nvSpPr>
        <p:spPr>
          <a:xfrm>
            <a:off x="914400" y="3482645"/>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Elementleri en kararlı hâlleriyle yaz: 2C(grafit), 6 H için 3H₂(g), 1 O için ½O₂(g).</a:t>
            </a:r>
            <a:endParaRPr lang="en-US" sz="2000" dirty="0"/>
          </a:p>
        </p:txBody>
      </p:sp>
      <p:sp>
        <p:nvSpPr>
          <p:cNvPr id="16" name="Shape 14"/>
          <p:cNvSpPr/>
          <p:nvPr/>
        </p:nvSpPr>
        <p:spPr>
          <a:xfrm>
            <a:off x="640080" y="466709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4993234"/>
            <a:ext cx="420624" cy="420624"/>
          </a:xfrm>
          <a:prstGeom prst="roundRect">
            <a:avLst>
              <a:gd name="adj" fmla="val 26000"/>
            </a:avLst>
          </a:prstGeom>
          <a:solidFill>
            <a:srgbClr val="A56209"/>
          </a:solidFill>
          <a:ln/>
        </p:spPr>
      </p:sp>
      <p:sp>
        <p:nvSpPr>
          <p:cNvPr id="18" name="Text 16"/>
          <p:cNvSpPr txBox="1"/>
          <p:nvPr/>
        </p:nvSpPr>
        <p:spPr>
          <a:xfrm>
            <a:off x="914400" y="499323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472196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2C(grafit) + 3H₂(g) + ½O₂(g) → C₂H₅OH(s) · ΔH°f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−277,7 kJ/mol</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115</a:t>
            </a:r>
            <a:endParaRPr lang="en-US" sz="105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1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Etanolün oluşum denklemi</a:t>
            </a:r>
            <a:endParaRPr lang="en-US" sz="1450" dirty="0"/>
          </a:p>
        </p:txBody>
      </p:sp>
      <p:sp>
        <p:nvSpPr>
          <p:cNvPr id="8" name="Shape 6"/>
          <p:cNvSpPr/>
          <p:nvPr/>
        </p:nvSpPr>
        <p:spPr>
          <a:xfrm>
            <a:off x="640080" y="1645920"/>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2245157"/>
            <a:ext cx="420624" cy="420624"/>
          </a:xfrm>
          <a:prstGeom prst="roundRect">
            <a:avLst>
              <a:gd name="adj" fmla="val 26000"/>
            </a:avLst>
          </a:prstGeom>
          <a:solidFill>
            <a:srgbClr val="A56209"/>
          </a:solidFill>
          <a:ln/>
        </p:spPr>
      </p:sp>
      <p:sp>
        <p:nvSpPr>
          <p:cNvPr id="10" name="Text 8"/>
          <p:cNvSpPr txBox="1"/>
          <p:nvPr/>
        </p:nvSpPr>
        <p:spPr>
          <a:xfrm>
            <a:off x="914400" y="2245157"/>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1" name="Text 9"/>
          <p:cNvSpPr txBox="1"/>
          <p:nvPr/>
        </p:nvSpPr>
        <p:spPr>
          <a:xfrm>
            <a:off x="1508760" y="1700784"/>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Isı ürünler tarafına yazılır: 2C(grafit) + 3H₂(g) + ½O₂(g) → C₂H₅OH(s)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277,7 kJ</a:t>
            </a:r>
            <a:endParaRPr lang="en-US" sz="2000" dirty="0"/>
          </a:p>
        </p:txBody>
      </p:sp>
      <p:sp>
        <p:nvSpPr>
          <p:cNvPr id="12" name="Shape 10"/>
          <p:cNvSpPr/>
          <p:nvPr/>
        </p:nvSpPr>
        <p:spPr>
          <a:xfrm>
            <a:off x="640080" y="342961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755746"/>
            <a:ext cx="420624" cy="420624"/>
          </a:xfrm>
          <a:prstGeom prst="roundRect">
            <a:avLst>
              <a:gd name="adj" fmla="val 26000"/>
            </a:avLst>
          </a:prstGeom>
          <a:solidFill>
            <a:srgbClr val="A56209"/>
          </a:solidFill>
          <a:ln/>
        </p:spPr>
      </p:sp>
      <p:sp>
        <p:nvSpPr>
          <p:cNvPr id="14" name="Text 12"/>
          <p:cNvSpPr txBox="1"/>
          <p:nvPr/>
        </p:nvSpPr>
        <p:spPr>
          <a:xfrm>
            <a:off x="914400" y="375574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5" name="Text 13"/>
          <p:cNvSpPr txBox="1"/>
          <p:nvPr/>
        </p:nvSpPr>
        <p:spPr>
          <a:xfrm>
            <a:off x="1508760" y="348447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Denetim: iki yanda 2 C, 6 H, 1 O ✓; ürün tam 1 mol ✓.</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116</a:t>
            </a:r>
            <a:endParaRPr lang="en-US" sz="105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2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Kireç söndürme</a:t>
            </a:r>
            <a:endParaRPr lang="en-US" sz="1450" dirty="0"/>
          </a:p>
        </p:txBody>
      </p:sp>
      <p:sp>
        <p:nvSpPr>
          <p:cNvPr id="8" name="Shape 6"/>
          <p:cNvSpPr/>
          <p:nvPr/>
        </p:nvSpPr>
        <p:spPr>
          <a:xfrm>
            <a:off x="640080" y="1645920"/>
            <a:ext cx="10911535" cy="1627632"/>
          </a:xfrm>
          <a:prstGeom prst="roundRect">
            <a:avLst>
              <a:gd name="adj" fmla="val 8989"/>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1170432"/>
          </a:xfrm>
          <a:prstGeom prst="rect">
            <a:avLst/>
          </a:prstGeom>
          <a:noFill/>
          <a:ln/>
        </p:spPr>
        <p:txBody>
          <a:bodyPr wrap="square" lIns="0" tIns="0" rIns="0" bIns="0" rtlCol="0" anchor="t"/>
          <a:lstStyle/>
          <a:p>
            <a:pPr indent="0" marL="0">
              <a:lnSpc>
                <a:spcPct val="116000"/>
              </a:lnSpc>
              <a:buNone/>
            </a:pPr>
            <a:r>
              <a:rPr lang="en-US" sz="2000" dirty="0">
                <a:solidFill>
                  <a:srgbClr val="0E1426"/>
                </a:solidFill>
                <a:latin typeface="Calibri" pitchFamily="34" charset="0"/>
                <a:ea typeface="Calibri" pitchFamily="34" charset="-122"/>
                <a:cs typeface="Calibri" pitchFamily="34" charset="-120"/>
              </a:rPr>
              <a:t>Sönmemiş kireç (CaO) suyla tepkimeye girerek sönmüş kirece dönüşür: CaO(k) + H₂O(s) → Ca(OH)₂(k). Bu tepkimenin standart entalpisini bulunuz. Tepkime ısı mı verir, ısı mı alır?</a:t>
            </a:r>
            <a:endParaRPr lang="en-US" sz="2000" dirty="0"/>
          </a:p>
        </p:txBody>
      </p:sp>
      <p:sp>
        <p:nvSpPr>
          <p:cNvPr id="11" name="Shape 9"/>
          <p:cNvSpPr/>
          <p:nvPr/>
        </p:nvSpPr>
        <p:spPr>
          <a:xfrm>
            <a:off x="2527613" y="3474720"/>
            <a:ext cx="7136470" cy="2779776"/>
          </a:xfrm>
          <a:prstGeom prst="roundRect">
            <a:avLst>
              <a:gd name="adj" fmla="val 526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claude-1000/-opt-dersler/1d623a45-0112-427a-9abb-0c648368bda2/scratchpad/sunum/sekiller/olusum-entalpisi-16.png">    </p:cNvPr>
          <p:cNvPicPr>
            <a:picLocks noChangeAspect="1"/>
          </p:cNvPicPr>
          <p:nvPr/>
        </p:nvPicPr>
        <p:blipFill>
          <a:blip r:embed="rId1"/>
          <a:stretch>
            <a:fillRect/>
          </a:stretch>
        </p:blipFill>
        <p:spPr>
          <a:xfrm>
            <a:off x="2756213" y="3584448"/>
            <a:ext cx="6679270" cy="2560320"/>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117</a:t>
            </a:r>
            <a:endParaRPr lang="en-US" sz="105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2 / 7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Kireç söndürme</a:t>
            </a:r>
            <a:endParaRPr lang="en-US" sz="1450" dirty="0"/>
          </a:p>
        </p:txBody>
      </p:sp>
      <p:sp>
        <p:nvSpPr>
          <p:cNvPr id="8" name="Shape 6"/>
          <p:cNvSpPr/>
          <p:nvPr/>
        </p:nvSpPr>
        <p:spPr>
          <a:xfrm>
            <a:off x="640080" y="1645920"/>
            <a:ext cx="10911535" cy="1764792"/>
          </a:xfrm>
          <a:prstGeom prst="roundRect">
            <a:avLst>
              <a:gd name="adj" fmla="val 8290"/>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216152"/>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Sönmemiş kireç (CaO) suyla tepkimeye girerek sönmüş kirece dönüşür: CaO(k) + H₂O(s) → Ca(OH)₂(k). Bu tepkimenin standart entalpisini bulunuz. Tepkime ısı mı verir, ısı mı alır?</a:t>
            </a:r>
            <a:endParaRPr lang="en-US" sz="2000" dirty="0"/>
          </a:p>
        </p:txBody>
      </p:sp>
      <p:sp>
        <p:nvSpPr>
          <p:cNvPr id="11" name="Shape 9"/>
          <p:cNvSpPr/>
          <p:nvPr/>
        </p:nvSpPr>
        <p:spPr>
          <a:xfrm>
            <a:off x="640080"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776472"/>
            <a:ext cx="54864" cy="2203704"/>
          </a:xfrm>
          <a:prstGeom prst="rect">
            <a:avLst/>
          </a:prstGeom>
          <a:solidFill>
            <a:srgbClr val="2957D4"/>
          </a:solidFill>
          <a:ln/>
        </p:spPr>
      </p:sp>
      <p:sp>
        <p:nvSpPr>
          <p:cNvPr id="13" name="Text 11"/>
          <p:cNvSpPr txBox="1"/>
          <p:nvPr/>
        </p:nvSpPr>
        <p:spPr>
          <a:xfrm>
            <a:off x="914400" y="3758184"/>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ΔH°f: CaO(k) = −635,1</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H₂O(s) = −285,8</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Ca(OH)₂(k) = −986,1 kJ/mol</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bütün katsayılar 1</a:t>
            </a:r>
            <a:endParaRPr lang="en-US" sz="1800" dirty="0"/>
          </a:p>
        </p:txBody>
      </p:sp>
      <p:sp>
        <p:nvSpPr>
          <p:cNvPr id="15" name="Shape 13"/>
          <p:cNvSpPr/>
          <p:nvPr/>
        </p:nvSpPr>
        <p:spPr>
          <a:xfrm>
            <a:off x="6233008"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776472"/>
            <a:ext cx="54864" cy="2203704"/>
          </a:xfrm>
          <a:prstGeom prst="rect">
            <a:avLst/>
          </a:prstGeom>
          <a:solidFill>
            <a:srgbClr val="5F4BD8"/>
          </a:solidFill>
          <a:ln/>
        </p:spPr>
      </p:sp>
      <p:sp>
        <p:nvSpPr>
          <p:cNvPr id="17" name="Text 15"/>
          <p:cNvSpPr txBox="1"/>
          <p:nvPr/>
        </p:nvSpPr>
        <p:spPr>
          <a:xfrm>
            <a:off x="6507328" y="3758184"/>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ΔH° ve tepkimenin türü (ekzotermik mi, endotermik mi)</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118</a:t>
            </a:r>
            <a:endParaRPr lang="en-US" sz="105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2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Kireç söndürme</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Σ ürünler = 1 · (−986,1) = −986,1 kJ</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Σ girenler = (−635,1) + (−285,8) = −920,9 kJ</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119</a:t>
            </a:r>
            <a:endParaRPr lang="en-US" sz="105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2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Kireç söndürme</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ΔH° = −986,1 − (−920,9) = −986,1 + 920,9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−65,2 kJ</a:t>
            </a:r>
            <a:endParaRPr lang="en-US" sz="2000" dirty="0"/>
          </a:p>
        </p:txBody>
      </p:sp>
      <p:sp>
        <p:nvSpPr>
          <p:cNvPr id="12" name="Shape 10"/>
          <p:cNvSpPr/>
          <p:nvPr/>
        </p:nvSpPr>
        <p:spPr>
          <a:xfrm>
            <a:off x="640080" y="2883408"/>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482645"/>
            <a:ext cx="420624" cy="420624"/>
          </a:xfrm>
          <a:prstGeom prst="roundRect">
            <a:avLst>
              <a:gd name="adj" fmla="val 26000"/>
            </a:avLst>
          </a:prstGeom>
          <a:solidFill>
            <a:srgbClr val="A56209"/>
          </a:solidFill>
          <a:ln/>
        </p:spPr>
      </p:sp>
      <p:sp>
        <p:nvSpPr>
          <p:cNvPr id="14" name="Text 12"/>
          <p:cNvSpPr txBox="1"/>
          <p:nvPr/>
        </p:nvSpPr>
        <p:spPr>
          <a:xfrm>
            <a:off x="914400" y="3482645"/>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txBox="1"/>
          <p:nvPr/>
        </p:nvSpPr>
        <p:spPr>
          <a:xfrm>
            <a:off x="1508760" y="2938272"/>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ΔH° &lt; 0 olduğu için tepkime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ekzotermiktir</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kireç söndürülürken karışım ısınır, su buharlaşabilir.</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120</a:t>
            </a:r>
            <a:endParaRPr lang="en-US" sz="105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3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Çakmaktaki bütan</a:t>
            </a:r>
            <a:endParaRPr lang="en-US" sz="1450" dirty="0"/>
          </a:p>
        </p:txBody>
      </p:sp>
      <p:sp>
        <p:nvSpPr>
          <p:cNvPr id="8" name="Shape 6"/>
          <p:cNvSpPr/>
          <p:nvPr/>
        </p:nvSpPr>
        <p:spPr>
          <a:xfrm>
            <a:off x="640080" y="1645920"/>
            <a:ext cx="10911535" cy="1627632"/>
          </a:xfrm>
          <a:prstGeom prst="roundRect">
            <a:avLst>
              <a:gd name="adj" fmla="val 8989"/>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1170432"/>
          </a:xfrm>
          <a:prstGeom prst="rect">
            <a:avLst/>
          </a:prstGeom>
          <a:noFill/>
          <a:ln/>
        </p:spPr>
        <p:txBody>
          <a:bodyPr wrap="square" lIns="0" tIns="0" rIns="0" bIns="0" rtlCol="0" anchor="t"/>
          <a:lstStyle/>
          <a:p>
            <a:pPr indent="0" marL="0">
              <a:lnSpc>
                <a:spcPct val="116000"/>
              </a:lnSpc>
              <a:buNone/>
            </a:pPr>
            <a:r>
              <a:rPr lang="en-US" sz="2000" dirty="0">
                <a:solidFill>
                  <a:srgbClr val="0E1426"/>
                </a:solidFill>
                <a:latin typeface="Calibri" pitchFamily="34" charset="0"/>
                <a:ea typeface="Calibri" pitchFamily="34" charset="-122"/>
                <a:cs typeface="Calibri" pitchFamily="34" charset="-120"/>
              </a:rPr>
              <a:t>Bir çakmağın haznesinde 5,8 g bütan (C₄H₁₀) var. Bütanın tamamı yandığında, su sıvı oluşuyorsa, kaç kJ ısı açığa çıkar? Yanma denklemi: C₄H₁₀(g) + 13/2 O₂(g) → 4CO₂(g) + 5H₂O(s)</a:t>
            </a:r>
            <a:endParaRPr lang="en-US" sz="2000" dirty="0"/>
          </a:p>
        </p:txBody>
      </p:sp>
      <p:sp>
        <p:nvSpPr>
          <p:cNvPr id="11" name="Shape 9"/>
          <p:cNvSpPr/>
          <p:nvPr/>
        </p:nvSpPr>
        <p:spPr>
          <a:xfrm>
            <a:off x="2995796" y="3474720"/>
            <a:ext cx="6200103" cy="2779776"/>
          </a:xfrm>
          <a:prstGeom prst="roundRect">
            <a:avLst>
              <a:gd name="adj" fmla="val 526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claude-1000/-opt-dersler/1d623a45-0112-427a-9abb-0c648368bda2/scratchpad/sunum/sekiller/olusum-entalpisi-17.png">    </p:cNvPr>
          <p:cNvPicPr>
            <a:picLocks noChangeAspect="1"/>
          </p:cNvPicPr>
          <p:nvPr/>
        </p:nvPicPr>
        <p:blipFill>
          <a:blip r:embed="rId1"/>
          <a:stretch>
            <a:fillRect/>
          </a:stretch>
        </p:blipFill>
        <p:spPr>
          <a:xfrm>
            <a:off x="3224396" y="3584448"/>
            <a:ext cx="5742903" cy="2560320"/>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121</a:t>
            </a:r>
            <a:endParaRPr lang="en-US" sz="105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3 / 7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Çakmaktaki bütan</a:t>
            </a:r>
            <a:endParaRPr lang="en-US" sz="1450" dirty="0"/>
          </a:p>
        </p:txBody>
      </p:sp>
      <p:sp>
        <p:nvSpPr>
          <p:cNvPr id="8" name="Shape 6"/>
          <p:cNvSpPr/>
          <p:nvPr/>
        </p:nvSpPr>
        <p:spPr>
          <a:xfrm>
            <a:off x="640080" y="1645920"/>
            <a:ext cx="10911535" cy="1764792"/>
          </a:xfrm>
          <a:prstGeom prst="roundRect">
            <a:avLst>
              <a:gd name="adj" fmla="val 8290"/>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216152"/>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Bir çakmağın haznesinde 5,8 g bütan (C₄H₁₀) var. Bütanın tamamı yandığında, su sıvı oluşuyorsa, kaç kJ ısı açığa çıkar? Yanma denklemi: C₄H₁₀(g) + 13/2 O₂(g) → 4CO₂(g) + 5H₂O(s)</a:t>
            </a:r>
            <a:endParaRPr lang="en-US" sz="2000" dirty="0"/>
          </a:p>
        </p:txBody>
      </p:sp>
      <p:sp>
        <p:nvSpPr>
          <p:cNvPr id="11" name="Shape 9"/>
          <p:cNvSpPr/>
          <p:nvPr/>
        </p:nvSpPr>
        <p:spPr>
          <a:xfrm>
            <a:off x="640080"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776472"/>
            <a:ext cx="54864" cy="2203704"/>
          </a:xfrm>
          <a:prstGeom prst="rect">
            <a:avLst/>
          </a:prstGeom>
          <a:solidFill>
            <a:srgbClr val="2957D4"/>
          </a:solidFill>
          <a:ln/>
        </p:spPr>
      </p:sp>
      <p:sp>
        <p:nvSpPr>
          <p:cNvPr id="13" name="Text 11"/>
          <p:cNvSpPr txBox="1"/>
          <p:nvPr/>
        </p:nvSpPr>
        <p:spPr>
          <a:xfrm>
            <a:off x="914400" y="3758184"/>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500" dirty="0">
                <a:solidFill>
                  <a:srgbClr val="0E1426"/>
                </a:solidFill>
                <a:latin typeface="Calibri" pitchFamily="34" charset="0"/>
                <a:ea typeface="Calibri" pitchFamily="34" charset="-122"/>
                <a:cs typeface="Calibri" pitchFamily="34" charset="-120"/>
              </a:rPr>
              <a:t>m = 5,8 g C₄H₁₀</a:t>
            </a:r>
            <a:endParaRPr lang="en-US" sz="1500" dirty="0"/>
          </a:p>
          <a:p>
            <a:pPr marL="203200" indent="-203200">
              <a:lnSpc>
                <a:spcPct val="110000"/>
              </a:lnSpc>
              <a:spcAft>
                <a:spcPts val="500"/>
              </a:spcAft>
              <a:buSzPct val="100000"/>
              <a:buChar char="▪"/>
            </a:pPr>
            <a:r>
              <a:rPr lang="en-US" sz="1500" dirty="0">
                <a:solidFill>
                  <a:srgbClr val="0E1426"/>
                </a:solidFill>
                <a:latin typeface="Calibri" pitchFamily="34" charset="0"/>
                <a:ea typeface="Calibri" pitchFamily="34" charset="-122"/>
                <a:cs typeface="Calibri" pitchFamily="34" charset="-120"/>
              </a:rPr>
              <a:t>M(C₄H₁₀) = 4·12 + 10·1 = 58 g/mol</a:t>
            </a:r>
            <a:endParaRPr lang="en-US" sz="1500" dirty="0"/>
          </a:p>
          <a:p>
            <a:pPr marL="203200" indent="-203200">
              <a:lnSpc>
                <a:spcPct val="110000"/>
              </a:lnSpc>
              <a:spcAft>
                <a:spcPts val="500"/>
              </a:spcAft>
              <a:buSzPct val="100000"/>
              <a:buChar char="▪"/>
            </a:pPr>
            <a:r>
              <a:rPr lang="en-US" sz="1500" dirty="0">
                <a:solidFill>
                  <a:srgbClr val="0E1426"/>
                </a:solidFill>
                <a:latin typeface="Calibri" pitchFamily="34" charset="0"/>
                <a:ea typeface="Calibri" pitchFamily="34" charset="-122"/>
                <a:cs typeface="Calibri" pitchFamily="34" charset="-120"/>
              </a:rPr>
              <a:t>ΔH°f: C₄H₁₀(g) = −125,6</a:t>
            </a:r>
            <a:endParaRPr lang="en-US" sz="1500" dirty="0"/>
          </a:p>
          <a:p>
            <a:pPr marL="203200" indent="-203200">
              <a:lnSpc>
                <a:spcPct val="110000"/>
              </a:lnSpc>
              <a:spcAft>
                <a:spcPts val="500"/>
              </a:spcAft>
              <a:buSzPct val="100000"/>
              <a:buChar char="▪"/>
            </a:pPr>
            <a:r>
              <a:rPr lang="en-US" sz="1500" dirty="0">
                <a:solidFill>
                  <a:srgbClr val="0E1426"/>
                </a:solidFill>
                <a:latin typeface="Calibri" pitchFamily="34" charset="0"/>
                <a:ea typeface="Calibri" pitchFamily="34" charset="-122"/>
                <a:cs typeface="Calibri" pitchFamily="34" charset="-120"/>
              </a:rPr>
              <a:t>CO₂(g) = −393,5</a:t>
            </a:r>
            <a:endParaRPr lang="en-US" sz="1500" dirty="0"/>
          </a:p>
          <a:p>
            <a:pPr marL="203200" indent="-203200">
              <a:lnSpc>
                <a:spcPct val="110000"/>
              </a:lnSpc>
              <a:spcAft>
                <a:spcPts val="500"/>
              </a:spcAft>
              <a:buSzPct val="100000"/>
              <a:buChar char="▪"/>
            </a:pPr>
            <a:r>
              <a:rPr lang="en-US" sz="1500" dirty="0">
                <a:solidFill>
                  <a:srgbClr val="0E1426"/>
                </a:solidFill>
                <a:latin typeface="Calibri" pitchFamily="34" charset="0"/>
                <a:ea typeface="Calibri" pitchFamily="34" charset="-122"/>
                <a:cs typeface="Calibri" pitchFamily="34" charset="-120"/>
              </a:rPr>
              <a:t>H₂O(s) = −285,8 kJ/mol</a:t>
            </a:r>
            <a:endParaRPr lang="en-US" sz="1500" dirty="0"/>
          </a:p>
          <a:p>
            <a:pPr marL="203200" indent="-203200">
              <a:lnSpc>
                <a:spcPct val="110000"/>
              </a:lnSpc>
              <a:spcAft>
                <a:spcPts val="500"/>
              </a:spcAft>
              <a:buSzPct val="100000"/>
              <a:buChar char="▪"/>
            </a:pPr>
            <a:r>
              <a:rPr lang="en-US" sz="1500" dirty="0">
                <a:solidFill>
                  <a:srgbClr val="0E1426"/>
                </a:solidFill>
                <a:latin typeface="Calibri" pitchFamily="34" charset="0"/>
                <a:ea typeface="Calibri" pitchFamily="34" charset="-122"/>
                <a:cs typeface="Calibri" pitchFamily="34" charset="-120"/>
              </a:rPr>
              <a:t>O₂(g) = 0</a:t>
            </a:r>
            <a:endParaRPr lang="en-US" sz="1500" dirty="0"/>
          </a:p>
        </p:txBody>
      </p:sp>
      <p:sp>
        <p:nvSpPr>
          <p:cNvPr id="15" name="Shape 13"/>
          <p:cNvSpPr/>
          <p:nvPr/>
        </p:nvSpPr>
        <p:spPr>
          <a:xfrm>
            <a:off x="6233008"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776472"/>
            <a:ext cx="54864" cy="2203704"/>
          </a:xfrm>
          <a:prstGeom prst="rect">
            <a:avLst/>
          </a:prstGeom>
          <a:solidFill>
            <a:srgbClr val="5F4BD8"/>
          </a:solidFill>
          <a:ln/>
        </p:spPr>
      </p:sp>
      <p:sp>
        <p:nvSpPr>
          <p:cNvPr id="17" name="Text 15"/>
          <p:cNvSpPr txBox="1"/>
          <p:nvPr/>
        </p:nvSpPr>
        <p:spPr>
          <a:xfrm>
            <a:off x="6507328" y="3758184"/>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yanma entalpisi ΔH° ve 5,8 g bütandan açığa çıkan ısı Q</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122</a:t>
            </a:r>
            <a:endParaRPr lang="en-US" sz="105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3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Çakmaktaki bütan</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Σ ürünler = 4 · (−393,5) + 5 · (−285,8) = −1574,0 − 1429,0 = −3003,0 kJ</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ΔH° = −3003,0 − (−125,6)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−2877,4 kJ</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(1 mol bütan için)</a:t>
            </a:r>
            <a:endParaRPr lang="en-US" sz="2000" dirty="0"/>
          </a:p>
        </p:txBody>
      </p:sp>
      <p:sp>
        <p:nvSpPr>
          <p:cNvPr id="16" name="Shape 14"/>
          <p:cNvSpPr/>
          <p:nvPr/>
        </p:nvSpPr>
        <p:spPr>
          <a:xfrm>
            <a:off x="640080" y="4120896"/>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4447032"/>
            <a:ext cx="420624" cy="420624"/>
          </a:xfrm>
          <a:prstGeom prst="roundRect">
            <a:avLst>
              <a:gd name="adj" fmla="val 26000"/>
            </a:avLst>
          </a:prstGeom>
          <a:solidFill>
            <a:srgbClr val="A56209"/>
          </a:solidFill>
          <a:ln/>
        </p:spPr>
      </p:sp>
      <p:sp>
        <p:nvSpPr>
          <p:cNvPr id="18" name="Text 16"/>
          <p:cNvSpPr txBox="1"/>
          <p:nvPr/>
        </p:nvSpPr>
        <p:spPr>
          <a:xfrm>
            <a:off x="914400" y="444703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4175760"/>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n = m / M = 5,8 / 58 = 0,1 mol</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123</a:t>
            </a:r>
            <a:endParaRPr lang="en-US" sz="105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3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Çakmaktaki bütan</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Q = 0,1 · 2877,4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287,7 kJ</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Kontrol: bütan için 2877,4 / 58 ≈ 49,6 kJ/g; 5,8 g · 49,6 ≈ 288 kJ ✓</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124</a:t>
            </a:r>
            <a:endParaRPr lang="en-US" sz="105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4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Renksiz gazdan kahverengi gaza</a:t>
            </a:r>
            <a:endParaRPr lang="en-US" sz="1450" dirty="0"/>
          </a:p>
        </p:txBody>
      </p:sp>
      <p:sp>
        <p:nvSpPr>
          <p:cNvPr id="8" name="Shape 6"/>
          <p:cNvSpPr/>
          <p:nvPr/>
        </p:nvSpPr>
        <p:spPr>
          <a:xfrm>
            <a:off x="640080" y="1645920"/>
            <a:ext cx="10911535" cy="1627632"/>
          </a:xfrm>
          <a:prstGeom prst="roundRect">
            <a:avLst>
              <a:gd name="adj" fmla="val 8989"/>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1170432"/>
          </a:xfrm>
          <a:prstGeom prst="rect">
            <a:avLst/>
          </a:prstGeom>
          <a:noFill/>
          <a:ln/>
        </p:spPr>
        <p:txBody>
          <a:bodyPr wrap="square" lIns="0" tIns="0" rIns="0" bIns="0" rtlCol="0" anchor="t"/>
          <a:lstStyle/>
          <a:p>
            <a:pPr indent="0" marL="0">
              <a:lnSpc>
                <a:spcPct val="116000"/>
              </a:lnSpc>
              <a:buNone/>
            </a:pPr>
            <a:r>
              <a:rPr lang="en-US" sz="2000" dirty="0">
                <a:solidFill>
                  <a:srgbClr val="0E1426"/>
                </a:solidFill>
                <a:latin typeface="Calibri" pitchFamily="34" charset="0"/>
                <a:ea typeface="Calibri" pitchFamily="34" charset="-122"/>
                <a:cs typeface="Calibri" pitchFamily="34" charset="-120"/>
              </a:rPr>
              <a:t>Renksiz azot monoksit havayla karşılaşınca kahverengi azot dioksite dönüşür: 2NO(g) + O₂(g) → 2NO₂(g). (a) Tepkimenin ΔH°'sini bulunuz. (b) Normal koşullarda 4,48 L NO harcandığında kaç kJ ısı açığa çıkar?</a:t>
            </a:r>
            <a:endParaRPr lang="en-US" sz="2000" dirty="0"/>
          </a:p>
        </p:txBody>
      </p:sp>
      <p:sp>
        <p:nvSpPr>
          <p:cNvPr id="11" name="Shape 9"/>
          <p:cNvSpPr/>
          <p:nvPr/>
        </p:nvSpPr>
        <p:spPr>
          <a:xfrm>
            <a:off x="3148266" y="3474720"/>
            <a:ext cx="5895163" cy="2779776"/>
          </a:xfrm>
          <a:prstGeom prst="roundRect">
            <a:avLst>
              <a:gd name="adj" fmla="val 526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claude-1000/-opt-dersler/1d623a45-0112-427a-9abb-0c648368bda2/scratchpad/sunum/sekiller/olusum-entalpisi-18.png">    </p:cNvPr>
          <p:cNvPicPr>
            <a:picLocks noChangeAspect="1"/>
          </p:cNvPicPr>
          <p:nvPr/>
        </p:nvPicPr>
        <p:blipFill>
          <a:blip r:embed="rId1"/>
          <a:stretch>
            <a:fillRect/>
          </a:stretch>
        </p:blipFill>
        <p:spPr>
          <a:xfrm>
            <a:off x="3376866" y="3584448"/>
            <a:ext cx="5437963" cy="2560320"/>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125</a:t>
            </a:r>
            <a:endParaRPr lang="en-US" sz="105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4 / 7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Renksiz gazdan kahverengi gaza</a:t>
            </a:r>
            <a:endParaRPr lang="en-US" sz="1450" dirty="0"/>
          </a:p>
        </p:txBody>
      </p:sp>
      <p:sp>
        <p:nvSpPr>
          <p:cNvPr id="8" name="Shape 6"/>
          <p:cNvSpPr/>
          <p:nvPr/>
        </p:nvSpPr>
        <p:spPr>
          <a:xfrm>
            <a:off x="640080" y="1645920"/>
            <a:ext cx="10911535" cy="1764792"/>
          </a:xfrm>
          <a:prstGeom prst="roundRect">
            <a:avLst>
              <a:gd name="adj" fmla="val 8290"/>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216152"/>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Renksiz azot monoksit havayla karşılaşınca kahverengi azot dioksite dönüşür: 2NO(g) + O₂(g) → 2NO₂(g). (a) Tepkimenin ΔH°'sini bulunuz. (b) Normal koşullarda 4,48 L NO harcandığında kaç kJ ısı açığa çıkar?</a:t>
            </a:r>
            <a:endParaRPr lang="en-US" sz="2000" dirty="0"/>
          </a:p>
        </p:txBody>
      </p:sp>
      <p:sp>
        <p:nvSpPr>
          <p:cNvPr id="11" name="Shape 9"/>
          <p:cNvSpPr/>
          <p:nvPr/>
        </p:nvSpPr>
        <p:spPr>
          <a:xfrm>
            <a:off x="640080"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776472"/>
            <a:ext cx="54864" cy="2203704"/>
          </a:xfrm>
          <a:prstGeom prst="rect">
            <a:avLst/>
          </a:prstGeom>
          <a:solidFill>
            <a:srgbClr val="2957D4"/>
          </a:solidFill>
          <a:ln/>
        </p:spPr>
      </p:sp>
      <p:sp>
        <p:nvSpPr>
          <p:cNvPr id="13" name="Text 11"/>
          <p:cNvSpPr txBox="1"/>
          <p:nvPr/>
        </p:nvSpPr>
        <p:spPr>
          <a:xfrm>
            <a:off x="914400" y="3758184"/>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ΔH°f: NO(g) = +90,3</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NO₂(g) = +33,2 kJ/mol</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O₂(g) = 0</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V(NO) = 4,48 L (NK)</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NK'da 1 mol gaz 22,4 L</a:t>
            </a:r>
            <a:endParaRPr lang="en-US" sz="1800" dirty="0"/>
          </a:p>
        </p:txBody>
      </p:sp>
      <p:sp>
        <p:nvSpPr>
          <p:cNvPr id="15" name="Shape 13"/>
          <p:cNvSpPr/>
          <p:nvPr/>
        </p:nvSpPr>
        <p:spPr>
          <a:xfrm>
            <a:off x="6233008"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776472"/>
            <a:ext cx="54864" cy="2203704"/>
          </a:xfrm>
          <a:prstGeom prst="rect">
            <a:avLst/>
          </a:prstGeom>
          <a:solidFill>
            <a:srgbClr val="5F4BD8"/>
          </a:solidFill>
          <a:ln/>
        </p:spPr>
      </p:sp>
      <p:sp>
        <p:nvSpPr>
          <p:cNvPr id="17" name="Text 15"/>
          <p:cNvSpPr txBox="1"/>
          <p:nvPr/>
        </p:nvSpPr>
        <p:spPr>
          <a:xfrm>
            <a:off x="6507328" y="3758184"/>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 ΔH°</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(b) 4,48 L NO harcanırken açığa çıkan ısı Q</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126</a:t>
            </a:r>
            <a:endParaRPr lang="en-US" sz="105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4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Renksiz gazdan kahverengi gaza</a:t>
            </a:r>
            <a:endParaRPr lang="en-US" sz="1450" dirty="0"/>
          </a:p>
        </p:txBody>
      </p:sp>
      <p:sp>
        <p:nvSpPr>
          <p:cNvPr id="8" name="Shape 6"/>
          <p:cNvSpPr/>
          <p:nvPr/>
        </p:nvSpPr>
        <p:spPr>
          <a:xfrm>
            <a:off x="640080" y="1645920"/>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2245157"/>
            <a:ext cx="420624" cy="420624"/>
          </a:xfrm>
          <a:prstGeom prst="roundRect">
            <a:avLst>
              <a:gd name="adj" fmla="val 26000"/>
            </a:avLst>
          </a:prstGeom>
          <a:solidFill>
            <a:srgbClr val="A56209"/>
          </a:solidFill>
          <a:ln/>
        </p:spPr>
      </p:sp>
      <p:sp>
        <p:nvSpPr>
          <p:cNvPr id="10" name="Text 8"/>
          <p:cNvSpPr txBox="1"/>
          <p:nvPr/>
        </p:nvSpPr>
        <p:spPr>
          <a:xfrm>
            <a:off x="914400" y="2245157"/>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1509370"/>
          </a:xfrm>
          <a:prstGeom prst="rect">
            <a:avLst/>
          </a:prstGeom>
          <a:noFill/>
          <a:ln/>
        </p:spPr>
        <p:txBody>
          <a:bodyPr wrap="square" lIns="0" tIns="0" rIns="0" bIns="0" rtlCol="0" anchor="ctr"/>
          <a:lstStyle/>
          <a:p>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(a)</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Σ ürünler = 2 · (+33,2) = +66,4 kJ; Σ girenler = 2 · (+90,3) + 0 = +180,6 kJ</a:t>
            </a:r>
            <a:endParaRPr lang="en-US" sz="2000" dirty="0"/>
          </a:p>
        </p:txBody>
      </p:sp>
      <p:sp>
        <p:nvSpPr>
          <p:cNvPr id="12" name="Shape 10"/>
          <p:cNvSpPr/>
          <p:nvPr/>
        </p:nvSpPr>
        <p:spPr>
          <a:xfrm>
            <a:off x="640080" y="342961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755746"/>
            <a:ext cx="420624" cy="420624"/>
          </a:xfrm>
          <a:prstGeom prst="roundRect">
            <a:avLst>
              <a:gd name="adj" fmla="val 26000"/>
            </a:avLst>
          </a:prstGeom>
          <a:solidFill>
            <a:srgbClr val="A56209"/>
          </a:solidFill>
          <a:ln/>
        </p:spPr>
      </p:sp>
      <p:sp>
        <p:nvSpPr>
          <p:cNvPr id="14" name="Text 12"/>
          <p:cNvSpPr txBox="1"/>
          <p:nvPr/>
        </p:nvSpPr>
        <p:spPr>
          <a:xfrm>
            <a:off x="914400" y="375574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348447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ΔH° = 66,4 − 180,6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−114,2 kJ</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(2 mol NO harcanırken)</a:t>
            </a:r>
            <a:endParaRPr lang="en-US" sz="2000" dirty="0"/>
          </a:p>
        </p:txBody>
      </p:sp>
      <p:sp>
        <p:nvSpPr>
          <p:cNvPr id="16" name="Shape 14"/>
          <p:cNvSpPr/>
          <p:nvPr/>
        </p:nvSpPr>
        <p:spPr>
          <a:xfrm>
            <a:off x="640080" y="466709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4993234"/>
            <a:ext cx="420624" cy="420624"/>
          </a:xfrm>
          <a:prstGeom prst="roundRect">
            <a:avLst>
              <a:gd name="adj" fmla="val 26000"/>
            </a:avLst>
          </a:prstGeom>
          <a:solidFill>
            <a:srgbClr val="A56209"/>
          </a:solidFill>
          <a:ln/>
        </p:spPr>
      </p:sp>
      <p:sp>
        <p:nvSpPr>
          <p:cNvPr id="18" name="Text 16"/>
          <p:cNvSpPr txBox="1"/>
          <p:nvPr/>
        </p:nvSpPr>
        <p:spPr>
          <a:xfrm>
            <a:off x="914400" y="499323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4721962"/>
            <a:ext cx="9859975" cy="963168"/>
          </a:xfrm>
          <a:prstGeom prst="rect">
            <a:avLst/>
          </a:prstGeom>
          <a:noFill/>
          <a:ln/>
        </p:spPr>
        <p:txBody>
          <a:bodyPr wrap="square" lIns="0" tIns="0" rIns="0" bIns="0" rtlCol="0" anchor="ctr"/>
          <a:lstStyle/>
          <a:p>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(b)</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n(NO) = 4,48 / 22,4 = 0,2 mol</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127</a:t>
            </a:r>
            <a:endParaRPr lang="en-US" sz="105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4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Renksiz gazdan kahverengi gaza</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2 mol NO için 114,2 kJ ise 0,2 mol için Q = 114,2 · 0,2 / 2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11,42 kJ</a:t>
            </a:r>
            <a:endParaRPr lang="en-US" sz="2000" dirty="0"/>
          </a:p>
        </p:txBody>
      </p:sp>
      <p:sp>
        <p:nvSpPr>
          <p:cNvPr id="12" name="Shape 10"/>
          <p:cNvSpPr/>
          <p:nvPr/>
        </p:nvSpPr>
        <p:spPr>
          <a:xfrm>
            <a:off x="640080" y="2883408"/>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482645"/>
            <a:ext cx="420624" cy="420624"/>
          </a:xfrm>
          <a:prstGeom prst="roundRect">
            <a:avLst>
              <a:gd name="adj" fmla="val 26000"/>
            </a:avLst>
          </a:prstGeom>
          <a:solidFill>
            <a:srgbClr val="A56209"/>
          </a:solidFill>
          <a:ln/>
        </p:spPr>
      </p:sp>
      <p:sp>
        <p:nvSpPr>
          <p:cNvPr id="14" name="Text 12"/>
          <p:cNvSpPr txBox="1"/>
          <p:nvPr/>
        </p:nvSpPr>
        <p:spPr>
          <a:xfrm>
            <a:off x="914400" y="3482645"/>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5" name="Text 13"/>
          <p:cNvSpPr txBox="1"/>
          <p:nvPr/>
        </p:nvSpPr>
        <p:spPr>
          <a:xfrm>
            <a:off x="1508760" y="2938272"/>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İki oluşum entalpisi de artı olduğu hâlde tepkime ekzotermiktir: NO₂, NO'dan daha aşağıdadır.</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128</a:t>
            </a:r>
            <a:endParaRPr lang="en-US" sz="105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5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Su buhar mı, sıvı mı?</a:t>
            </a:r>
            <a:endParaRPr lang="en-US" sz="1450" dirty="0"/>
          </a:p>
        </p:txBody>
      </p:sp>
      <p:sp>
        <p:nvSpPr>
          <p:cNvPr id="8" name="Shape 6"/>
          <p:cNvSpPr/>
          <p:nvPr/>
        </p:nvSpPr>
        <p:spPr>
          <a:xfrm>
            <a:off x="640080" y="1645920"/>
            <a:ext cx="10911535" cy="1627632"/>
          </a:xfrm>
          <a:prstGeom prst="roundRect">
            <a:avLst>
              <a:gd name="adj" fmla="val 8989"/>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1170432"/>
          </a:xfrm>
          <a:prstGeom prst="rect">
            <a:avLst/>
          </a:prstGeom>
          <a:noFill/>
          <a:ln/>
        </p:spPr>
        <p:txBody>
          <a:bodyPr wrap="square" lIns="0" tIns="0" rIns="0" bIns="0" rtlCol="0" anchor="t"/>
          <a:lstStyle/>
          <a:p>
            <a:pPr indent="0" marL="0">
              <a:lnSpc>
                <a:spcPct val="116000"/>
              </a:lnSpc>
              <a:buNone/>
            </a:pPr>
            <a:r>
              <a:rPr lang="en-US" sz="2000" dirty="0">
                <a:solidFill>
                  <a:srgbClr val="0E1426"/>
                </a:solidFill>
                <a:latin typeface="Calibri" pitchFamily="34" charset="0"/>
                <a:ea typeface="Calibri" pitchFamily="34" charset="-122"/>
                <a:cs typeface="Calibri" pitchFamily="34" charset="-120"/>
              </a:rPr>
              <a:t>4 g hidrojen gazı yeterli oksijenle yanıyor. Oluşan su (a) buhar olarak kalırsa, (b) sıvıya yoğuşursa kaç kJ ısı açığa çıkar? İki sonuç arasındaki fark nereden gelir?</a:t>
            </a:r>
            <a:endParaRPr lang="en-US" sz="2000" dirty="0"/>
          </a:p>
        </p:txBody>
      </p:sp>
      <p:sp>
        <p:nvSpPr>
          <p:cNvPr id="11" name="Shape 9"/>
          <p:cNvSpPr/>
          <p:nvPr/>
        </p:nvSpPr>
        <p:spPr>
          <a:xfrm>
            <a:off x="3099334" y="3474720"/>
            <a:ext cx="5993027" cy="2779776"/>
          </a:xfrm>
          <a:prstGeom prst="roundRect">
            <a:avLst>
              <a:gd name="adj" fmla="val 526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claude-1000/-opt-dersler/1d623a45-0112-427a-9abb-0c648368bda2/scratchpad/sunum/sekiller/olusum-entalpisi-19.png">    </p:cNvPr>
          <p:cNvPicPr>
            <a:picLocks noChangeAspect="1"/>
          </p:cNvPicPr>
          <p:nvPr/>
        </p:nvPicPr>
        <p:blipFill>
          <a:blip r:embed="rId1"/>
          <a:stretch>
            <a:fillRect/>
          </a:stretch>
        </p:blipFill>
        <p:spPr>
          <a:xfrm>
            <a:off x="3327934" y="3584448"/>
            <a:ext cx="5535827" cy="2560320"/>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129</a:t>
            </a:r>
            <a:endParaRPr lang="en-US" sz="105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5 / 7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Su buhar mı, sıvı mı?</a:t>
            </a:r>
            <a:endParaRPr lang="en-US" sz="1450" dirty="0"/>
          </a:p>
        </p:txBody>
      </p:sp>
      <p:sp>
        <p:nvSpPr>
          <p:cNvPr id="8" name="Shape 6"/>
          <p:cNvSpPr/>
          <p:nvPr/>
        </p:nvSpPr>
        <p:spPr>
          <a:xfrm>
            <a:off x="640080" y="1645920"/>
            <a:ext cx="10911535" cy="1764792"/>
          </a:xfrm>
          <a:prstGeom prst="roundRect">
            <a:avLst>
              <a:gd name="adj" fmla="val 8290"/>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216152"/>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4 g hidrojen gazı yeterli oksijenle yanıyor. Oluşan su (a) buhar olarak kalırsa, (b) sıvıya yoğuşursa kaç kJ ısı açığa çıkar? İki sonuç arasındaki fark nereden gelir?</a:t>
            </a:r>
            <a:endParaRPr lang="en-US" sz="2000" dirty="0"/>
          </a:p>
        </p:txBody>
      </p:sp>
      <p:sp>
        <p:nvSpPr>
          <p:cNvPr id="11" name="Shape 9"/>
          <p:cNvSpPr/>
          <p:nvPr/>
        </p:nvSpPr>
        <p:spPr>
          <a:xfrm>
            <a:off x="640080"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776472"/>
            <a:ext cx="54864" cy="2203704"/>
          </a:xfrm>
          <a:prstGeom prst="rect">
            <a:avLst/>
          </a:prstGeom>
          <a:solidFill>
            <a:srgbClr val="2957D4"/>
          </a:solidFill>
          <a:ln/>
        </p:spPr>
      </p:sp>
      <p:sp>
        <p:nvSpPr>
          <p:cNvPr id="13" name="Text 11"/>
          <p:cNvSpPr txBox="1"/>
          <p:nvPr/>
        </p:nvSpPr>
        <p:spPr>
          <a:xfrm>
            <a:off x="914400" y="3758184"/>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m(H₂) = 4 g</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M(H₂) = 2 g/mol</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ΔH°f: H₂O(g) = −241,8</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H₂O(s) = −285,8 kJ/mol</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H₂(g) ve O₂(g) element (0)</a:t>
            </a:r>
            <a:endParaRPr lang="en-US" sz="1800" dirty="0"/>
          </a:p>
        </p:txBody>
      </p:sp>
      <p:sp>
        <p:nvSpPr>
          <p:cNvPr id="15" name="Shape 13"/>
          <p:cNvSpPr/>
          <p:nvPr/>
        </p:nvSpPr>
        <p:spPr>
          <a:xfrm>
            <a:off x="6233008"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776472"/>
            <a:ext cx="54864" cy="2203704"/>
          </a:xfrm>
          <a:prstGeom prst="rect">
            <a:avLst/>
          </a:prstGeom>
          <a:solidFill>
            <a:srgbClr val="5F4BD8"/>
          </a:solidFill>
          <a:ln/>
        </p:spPr>
      </p:sp>
      <p:sp>
        <p:nvSpPr>
          <p:cNvPr id="17" name="Text 15"/>
          <p:cNvSpPr txBox="1"/>
          <p:nvPr/>
        </p:nvSpPr>
        <p:spPr>
          <a:xfrm>
            <a:off x="6507328" y="3758184"/>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buhar oluşurken açığa çıkan ısı Q₁</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sıvı oluşurken açığa çıkan ısı Q₂</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farkın nedeni</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130</a:t>
            </a:r>
            <a:endParaRPr lang="en-US" sz="105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5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Su buhar mı, sıvı mı?</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n(H₂) = 4 / 2 = 2 mol. Her mol H₂ 1 mol su verir: 2 mol su oluşur.</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Bu denklem suyun oluşum denklemidir: 1 mol H₂ için ΔH° = ΔH°f(H₂O).</a:t>
            </a:r>
            <a:endParaRPr lang="en-US" sz="2000" dirty="0"/>
          </a:p>
        </p:txBody>
      </p:sp>
      <p:sp>
        <p:nvSpPr>
          <p:cNvPr id="16" name="Shape 14"/>
          <p:cNvSpPr/>
          <p:nvPr/>
        </p:nvSpPr>
        <p:spPr>
          <a:xfrm>
            <a:off x="640080" y="4120896"/>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4447032"/>
            <a:ext cx="420624" cy="420624"/>
          </a:xfrm>
          <a:prstGeom prst="roundRect">
            <a:avLst>
              <a:gd name="adj" fmla="val 26000"/>
            </a:avLst>
          </a:prstGeom>
          <a:solidFill>
            <a:srgbClr val="A56209"/>
          </a:solidFill>
          <a:ln/>
        </p:spPr>
      </p:sp>
      <p:sp>
        <p:nvSpPr>
          <p:cNvPr id="18" name="Text 16"/>
          <p:cNvSpPr txBox="1"/>
          <p:nvPr/>
        </p:nvSpPr>
        <p:spPr>
          <a:xfrm>
            <a:off x="914400" y="444703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4175760"/>
            <a:ext cx="9859975" cy="963168"/>
          </a:xfrm>
          <a:prstGeom prst="rect">
            <a:avLst/>
          </a:prstGeom>
          <a:noFill/>
          <a:ln/>
        </p:spPr>
        <p:txBody>
          <a:bodyPr wrap="square" lIns="0" tIns="0" rIns="0" bIns="0" rtlCol="0" anchor="ctr"/>
          <a:lstStyle/>
          <a:p>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(a)</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Q₁ = 2 · 241,8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483,6 kJ</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131</a:t>
            </a:r>
            <a:endParaRPr lang="en-US" sz="105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5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Su buhar mı, sıvı mı?</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(b)</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Q₂ = 2 · 285,8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571,6 kJ</a:t>
            </a:r>
            <a:endParaRPr lang="en-US" sz="2000" dirty="0"/>
          </a:p>
        </p:txBody>
      </p:sp>
      <p:sp>
        <p:nvSpPr>
          <p:cNvPr id="12" name="Shape 10"/>
          <p:cNvSpPr/>
          <p:nvPr/>
        </p:nvSpPr>
        <p:spPr>
          <a:xfrm>
            <a:off x="640080" y="2883408"/>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482645"/>
            <a:ext cx="420624" cy="420624"/>
          </a:xfrm>
          <a:prstGeom prst="roundRect">
            <a:avLst>
              <a:gd name="adj" fmla="val 26000"/>
            </a:avLst>
          </a:prstGeom>
          <a:solidFill>
            <a:srgbClr val="A56209"/>
          </a:solidFill>
          <a:ln/>
        </p:spPr>
      </p:sp>
      <p:sp>
        <p:nvSpPr>
          <p:cNvPr id="14" name="Text 12"/>
          <p:cNvSpPr txBox="1"/>
          <p:nvPr/>
        </p:nvSpPr>
        <p:spPr>
          <a:xfrm>
            <a:off x="914400" y="3482645"/>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5" name="Text 13"/>
          <p:cNvSpPr txBox="1"/>
          <p:nvPr/>
        </p:nvSpPr>
        <p:spPr>
          <a:xfrm>
            <a:off x="1508760" y="2938272"/>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Fark 571,6 − 483,6 = 88,0 kJ = 2 · 44,0 kJ: 2 mol su buharının sıvıya yoğuşurken verdiği ısı.</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132</a:t>
            </a:r>
            <a:endParaRPr lang="en-US" sz="105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6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Kalorimetreden etilenin oluşum entalpisi</a:t>
            </a:r>
            <a:endParaRPr lang="en-US" sz="1450" dirty="0"/>
          </a:p>
        </p:txBody>
      </p:sp>
      <p:sp>
        <p:nvSpPr>
          <p:cNvPr id="8" name="Shape 6"/>
          <p:cNvSpPr/>
          <p:nvPr/>
        </p:nvSpPr>
        <p:spPr>
          <a:xfrm>
            <a:off x="640080" y="1645920"/>
            <a:ext cx="10911535" cy="1627632"/>
          </a:xfrm>
          <a:prstGeom prst="roundRect">
            <a:avLst>
              <a:gd name="adj" fmla="val 8989"/>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1170432"/>
          </a:xfrm>
          <a:prstGeom prst="rect">
            <a:avLst/>
          </a:prstGeom>
          <a:noFill/>
          <a:ln/>
        </p:spPr>
        <p:txBody>
          <a:bodyPr wrap="square" lIns="0" tIns="0" rIns="0" bIns="0" rtlCol="0" anchor="t"/>
          <a:lstStyle/>
          <a:p>
            <a:pPr indent="0" marL="0">
              <a:lnSpc>
                <a:spcPct val="116000"/>
              </a:lnSpc>
              <a:buNone/>
            </a:pPr>
            <a:r>
              <a:rPr lang="en-US" sz="2000" dirty="0">
                <a:solidFill>
                  <a:srgbClr val="0E1426"/>
                </a:solidFill>
                <a:latin typeface="Calibri" pitchFamily="34" charset="0"/>
                <a:ea typeface="Calibri" pitchFamily="34" charset="-122"/>
                <a:cs typeface="Calibri" pitchFamily="34" charset="-120"/>
              </a:rPr>
              <a:t>Sabit basınçta çalışan bir kalorimetrede 2,8 g etilen (C₂H₄) tamamen yakılıyor ve 141,1 kJ ısı açığa çıkıyor: C₂H₄(g) + 3O₂(g) → 2CO₂(g) + 2H₂O(s). Etilenin standart oluşum entalpisini bulunuz.</a:t>
            </a:r>
            <a:endParaRPr lang="en-US" sz="2000" dirty="0"/>
          </a:p>
        </p:txBody>
      </p:sp>
      <p:sp>
        <p:nvSpPr>
          <p:cNvPr id="11" name="Shape 9"/>
          <p:cNvSpPr/>
          <p:nvPr/>
        </p:nvSpPr>
        <p:spPr>
          <a:xfrm>
            <a:off x="3263426" y="3474720"/>
            <a:ext cx="5664843" cy="2779776"/>
          </a:xfrm>
          <a:prstGeom prst="roundRect">
            <a:avLst>
              <a:gd name="adj" fmla="val 526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claude-1000/-opt-dersler/1d623a45-0112-427a-9abb-0c648368bda2/scratchpad/sunum/sekiller/olusum-entalpisi-20.png">    </p:cNvPr>
          <p:cNvPicPr>
            <a:picLocks noChangeAspect="1"/>
          </p:cNvPicPr>
          <p:nvPr/>
        </p:nvPicPr>
        <p:blipFill>
          <a:blip r:embed="rId1"/>
          <a:stretch>
            <a:fillRect/>
          </a:stretch>
        </p:blipFill>
        <p:spPr>
          <a:xfrm>
            <a:off x="3492026" y="3584448"/>
            <a:ext cx="5207643" cy="2560320"/>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133</a:t>
            </a:r>
            <a:endParaRPr lang="en-US" sz="105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6 / 7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Kalorimetreden etilenin oluşum entalpisi</a:t>
            </a:r>
            <a:endParaRPr lang="en-US" sz="1450" dirty="0"/>
          </a:p>
        </p:txBody>
      </p:sp>
      <p:sp>
        <p:nvSpPr>
          <p:cNvPr id="8" name="Shape 6"/>
          <p:cNvSpPr/>
          <p:nvPr/>
        </p:nvSpPr>
        <p:spPr>
          <a:xfrm>
            <a:off x="640080" y="1645920"/>
            <a:ext cx="10911535" cy="1764792"/>
          </a:xfrm>
          <a:prstGeom prst="roundRect">
            <a:avLst>
              <a:gd name="adj" fmla="val 8290"/>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216152"/>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Sabit basınçta çalışan bir kalorimetrede 2,8 g etilen (C₂H₄) tamamen yakılıyor ve 141,1 kJ ısı açığa çıkıyor: C₂H₄(g) + 3O₂(g) → 2CO₂(g) + 2H₂O(s). Etilenin standart oluşum entalpisini bulunuz.</a:t>
            </a:r>
            <a:endParaRPr lang="en-US" sz="2000" dirty="0"/>
          </a:p>
        </p:txBody>
      </p:sp>
      <p:sp>
        <p:nvSpPr>
          <p:cNvPr id="11" name="Shape 9"/>
          <p:cNvSpPr/>
          <p:nvPr/>
        </p:nvSpPr>
        <p:spPr>
          <a:xfrm>
            <a:off x="640080"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776472"/>
            <a:ext cx="54864" cy="2203704"/>
          </a:xfrm>
          <a:prstGeom prst="rect">
            <a:avLst/>
          </a:prstGeom>
          <a:solidFill>
            <a:srgbClr val="2957D4"/>
          </a:solidFill>
          <a:ln/>
        </p:spPr>
      </p:sp>
      <p:sp>
        <p:nvSpPr>
          <p:cNvPr id="13" name="Text 11"/>
          <p:cNvSpPr txBox="1"/>
          <p:nvPr/>
        </p:nvSpPr>
        <p:spPr>
          <a:xfrm>
            <a:off x="914400" y="3758184"/>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500" dirty="0">
                <a:solidFill>
                  <a:srgbClr val="0E1426"/>
                </a:solidFill>
                <a:latin typeface="Calibri" pitchFamily="34" charset="0"/>
                <a:ea typeface="Calibri" pitchFamily="34" charset="-122"/>
                <a:cs typeface="Calibri" pitchFamily="34" charset="-120"/>
              </a:rPr>
              <a:t>m = 2,8 g C₂H₄</a:t>
            </a:r>
            <a:endParaRPr lang="en-US" sz="1500" dirty="0"/>
          </a:p>
          <a:p>
            <a:pPr marL="203200" indent="-203200">
              <a:lnSpc>
                <a:spcPct val="110000"/>
              </a:lnSpc>
              <a:spcAft>
                <a:spcPts val="500"/>
              </a:spcAft>
              <a:buSzPct val="100000"/>
              <a:buChar char="▪"/>
            </a:pPr>
            <a:r>
              <a:rPr lang="en-US" sz="1500" dirty="0">
                <a:solidFill>
                  <a:srgbClr val="0E1426"/>
                </a:solidFill>
                <a:latin typeface="Calibri" pitchFamily="34" charset="0"/>
                <a:ea typeface="Calibri" pitchFamily="34" charset="-122"/>
                <a:cs typeface="Calibri" pitchFamily="34" charset="-120"/>
              </a:rPr>
              <a:t>M(C₂H₄) = 2·12 + 4·1 = 28 g/mol</a:t>
            </a:r>
            <a:endParaRPr lang="en-US" sz="1500" dirty="0"/>
          </a:p>
          <a:p>
            <a:pPr marL="203200" indent="-203200">
              <a:lnSpc>
                <a:spcPct val="110000"/>
              </a:lnSpc>
              <a:spcAft>
                <a:spcPts val="500"/>
              </a:spcAft>
              <a:buSzPct val="100000"/>
              <a:buChar char="▪"/>
            </a:pPr>
            <a:r>
              <a:rPr lang="en-US" sz="1500" dirty="0">
                <a:solidFill>
                  <a:srgbClr val="0E1426"/>
                </a:solidFill>
                <a:latin typeface="Calibri" pitchFamily="34" charset="0"/>
                <a:ea typeface="Calibri" pitchFamily="34" charset="-122"/>
                <a:cs typeface="Calibri" pitchFamily="34" charset="-120"/>
              </a:rPr>
              <a:t>Q = 141,1 kJ (açığa çıkıyor)</a:t>
            </a:r>
            <a:endParaRPr lang="en-US" sz="1500" dirty="0"/>
          </a:p>
          <a:p>
            <a:pPr marL="203200" indent="-203200">
              <a:lnSpc>
                <a:spcPct val="110000"/>
              </a:lnSpc>
              <a:spcAft>
                <a:spcPts val="500"/>
              </a:spcAft>
              <a:buSzPct val="100000"/>
              <a:buChar char="▪"/>
            </a:pPr>
            <a:r>
              <a:rPr lang="en-US" sz="1500" dirty="0">
                <a:solidFill>
                  <a:srgbClr val="0E1426"/>
                </a:solidFill>
                <a:latin typeface="Calibri" pitchFamily="34" charset="0"/>
                <a:ea typeface="Calibri" pitchFamily="34" charset="-122"/>
                <a:cs typeface="Calibri" pitchFamily="34" charset="-120"/>
              </a:rPr>
              <a:t>ΔH°f: CO₂(g) = −393,5</a:t>
            </a:r>
            <a:endParaRPr lang="en-US" sz="1500" dirty="0"/>
          </a:p>
          <a:p>
            <a:pPr marL="203200" indent="-203200">
              <a:lnSpc>
                <a:spcPct val="110000"/>
              </a:lnSpc>
              <a:spcAft>
                <a:spcPts val="500"/>
              </a:spcAft>
              <a:buSzPct val="100000"/>
              <a:buChar char="▪"/>
            </a:pPr>
            <a:r>
              <a:rPr lang="en-US" sz="1500" dirty="0">
                <a:solidFill>
                  <a:srgbClr val="0E1426"/>
                </a:solidFill>
                <a:latin typeface="Calibri" pitchFamily="34" charset="0"/>
                <a:ea typeface="Calibri" pitchFamily="34" charset="-122"/>
                <a:cs typeface="Calibri" pitchFamily="34" charset="-120"/>
              </a:rPr>
              <a:t>H₂O(s) = −285,8 kJ/mol</a:t>
            </a:r>
            <a:endParaRPr lang="en-US" sz="1500" dirty="0"/>
          </a:p>
          <a:p>
            <a:pPr marL="203200" indent="-203200">
              <a:lnSpc>
                <a:spcPct val="110000"/>
              </a:lnSpc>
              <a:spcAft>
                <a:spcPts val="500"/>
              </a:spcAft>
              <a:buSzPct val="100000"/>
              <a:buChar char="▪"/>
            </a:pPr>
            <a:r>
              <a:rPr lang="en-US" sz="1500" dirty="0">
                <a:solidFill>
                  <a:srgbClr val="0E1426"/>
                </a:solidFill>
                <a:latin typeface="Calibri" pitchFamily="34" charset="0"/>
                <a:ea typeface="Calibri" pitchFamily="34" charset="-122"/>
                <a:cs typeface="Calibri" pitchFamily="34" charset="-120"/>
              </a:rPr>
              <a:t>O₂(g) = 0</a:t>
            </a:r>
            <a:endParaRPr lang="en-US" sz="1500" dirty="0"/>
          </a:p>
        </p:txBody>
      </p:sp>
      <p:sp>
        <p:nvSpPr>
          <p:cNvPr id="15" name="Shape 13"/>
          <p:cNvSpPr/>
          <p:nvPr/>
        </p:nvSpPr>
        <p:spPr>
          <a:xfrm>
            <a:off x="6233008"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776472"/>
            <a:ext cx="54864" cy="2203704"/>
          </a:xfrm>
          <a:prstGeom prst="rect">
            <a:avLst/>
          </a:prstGeom>
          <a:solidFill>
            <a:srgbClr val="5F4BD8"/>
          </a:solidFill>
          <a:ln/>
        </p:spPr>
      </p:sp>
      <p:sp>
        <p:nvSpPr>
          <p:cNvPr id="17" name="Text 15"/>
          <p:cNvSpPr txBox="1"/>
          <p:nvPr/>
        </p:nvSpPr>
        <p:spPr>
          <a:xfrm>
            <a:off x="6507328" y="3758184"/>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ΔH°f(C₂H₄)</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134</a:t>
            </a:r>
            <a:endParaRPr lang="en-US" sz="105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6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Kalorimetreden etilenin oluşum entalpisi</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n = 2,8 / 28 = 0,1 mol etilen yandı.</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1 mol için: 141,1 / 0,1 = 1411 kJ; ısı açığa çıktığı için ΔH° = −1411 kJ.</a:t>
            </a:r>
            <a:endParaRPr lang="en-US" sz="2000" dirty="0"/>
          </a:p>
        </p:txBody>
      </p:sp>
      <p:sp>
        <p:nvSpPr>
          <p:cNvPr id="16" name="Shape 14"/>
          <p:cNvSpPr/>
          <p:nvPr/>
        </p:nvSpPr>
        <p:spPr>
          <a:xfrm>
            <a:off x="640080" y="4120896"/>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4447032"/>
            <a:ext cx="420624" cy="420624"/>
          </a:xfrm>
          <a:prstGeom prst="roundRect">
            <a:avLst>
              <a:gd name="adj" fmla="val 26000"/>
            </a:avLst>
          </a:prstGeom>
          <a:solidFill>
            <a:srgbClr val="A56209"/>
          </a:solidFill>
          <a:ln/>
        </p:spPr>
      </p:sp>
      <p:sp>
        <p:nvSpPr>
          <p:cNvPr id="18" name="Text 16"/>
          <p:cNvSpPr txBox="1"/>
          <p:nvPr/>
        </p:nvSpPr>
        <p:spPr>
          <a:xfrm>
            <a:off x="914400" y="444703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4175760"/>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Σ ürünler = 2 · (−393,5) + 2 · (−285,8) = −787,0 − 571,6 = −1358,6 kJ</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135</a:t>
            </a:r>
            <a:endParaRPr lang="en-US" sz="105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6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Kalorimetreden etilenin oluşum entalpisi</a:t>
            </a:r>
            <a:endParaRPr lang="en-US" sz="1450" dirty="0"/>
          </a:p>
        </p:txBody>
      </p:sp>
      <p:sp>
        <p:nvSpPr>
          <p:cNvPr id="8" name="Shape 6"/>
          <p:cNvSpPr/>
          <p:nvPr/>
        </p:nvSpPr>
        <p:spPr>
          <a:xfrm>
            <a:off x="640080" y="1645920"/>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2245157"/>
            <a:ext cx="420624" cy="420624"/>
          </a:xfrm>
          <a:prstGeom prst="roundRect">
            <a:avLst>
              <a:gd name="adj" fmla="val 26000"/>
            </a:avLst>
          </a:prstGeom>
          <a:solidFill>
            <a:srgbClr val="A56209"/>
          </a:solidFill>
          <a:ln/>
        </p:spPr>
      </p:sp>
      <p:sp>
        <p:nvSpPr>
          <p:cNvPr id="10" name="Text 8"/>
          <p:cNvSpPr txBox="1"/>
          <p:nvPr/>
        </p:nvSpPr>
        <p:spPr>
          <a:xfrm>
            <a:off x="914400" y="2245157"/>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1" name="Text 9"/>
          <p:cNvSpPr txBox="1"/>
          <p:nvPr/>
        </p:nvSpPr>
        <p:spPr>
          <a:xfrm>
            <a:off x="1508760" y="1700784"/>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ΔH° = Σ ürünler − Σ girenler → −1411 = −1358,6 − x → x = −1358,6 + 1411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+52,4 kJ/mol</a:t>
            </a:r>
            <a:endParaRPr lang="en-US" sz="2000" dirty="0"/>
          </a:p>
        </p:txBody>
      </p:sp>
      <p:sp>
        <p:nvSpPr>
          <p:cNvPr id="12" name="Shape 10"/>
          <p:cNvSpPr/>
          <p:nvPr/>
        </p:nvSpPr>
        <p:spPr>
          <a:xfrm>
            <a:off x="640080" y="3429610"/>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4028846"/>
            <a:ext cx="420624" cy="420624"/>
          </a:xfrm>
          <a:prstGeom prst="roundRect">
            <a:avLst>
              <a:gd name="adj" fmla="val 26000"/>
            </a:avLst>
          </a:prstGeom>
          <a:solidFill>
            <a:srgbClr val="A56209"/>
          </a:solidFill>
          <a:ln/>
        </p:spPr>
      </p:sp>
      <p:sp>
        <p:nvSpPr>
          <p:cNvPr id="14" name="Text 12"/>
          <p:cNvSpPr txBox="1"/>
          <p:nvPr/>
        </p:nvSpPr>
        <p:spPr>
          <a:xfrm>
            <a:off x="914400" y="402884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5" name="Text 13"/>
          <p:cNvSpPr txBox="1"/>
          <p:nvPr/>
        </p:nvSpPr>
        <p:spPr>
          <a:xfrm>
            <a:off x="1508760" y="3484474"/>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Tablodaki +52,3 ile uyumlu: etilen elementlerinden ısı alarak oluşur, elementlerine göre daha az kararlıdır.</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136</a:t>
            </a:r>
            <a:endParaRPr lang="en-US" sz="105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7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Ray kaynağında termit</a:t>
            </a:r>
            <a:endParaRPr lang="en-US" sz="1450" dirty="0"/>
          </a:p>
        </p:txBody>
      </p:sp>
      <p:sp>
        <p:nvSpPr>
          <p:cNvPr id="8" name="Shape 6"/>
          <p:cNvSpPr/>
          <p:nvPr/>
        </p:nvSpPr>
        <p:spPr>
          <a:xfrm>
            <a:off x="640080" y="1645920"/>
            <a:ext cx="10911535" cy="1627632"/>
          </a:xfrm>
          <a:prstGeom prst="roundRect">
            <a:avLst>
              <a:gd name="adj" fmla="val 8989"/>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1170432"/>
          </a:xfrm>
          <a:prstGeom prst="rect">
            <a:avLst/>
          </a:prstGeom>
          <a:noFill/>
          <a:ln/>
        </p:spPr>
        <p:txBody>
          <a:bodyPr wrap="square" lIns="0" tIns="0" rIns="0" bIns="0" rtlCol="0" anchor="t"/>
          <a:lstStyle/>
          <a:p>
            <a:pPr indent="0" marL="0">
              <a:lnSpc>
                <a:spcPct val="116000"/>
              </a:lnSpc>
              <a:buNone/>
            </a:pPr>
            <a:r>
              <a:rPr lang="en-US" sz="2000" dirty="0">
                <a:solidFill>
                  <a:srgbClr val="0E1426"/>
                </a:solidFill>
                <a:latin typeface="Calibri" pitchFamily="34" charset="0"/>
                <a:ea typeface="Calibri" pitchFamily="34" charset="-122"/>
                <a:cs typeface="Calibri" pitchFamily="34" charset="-120"/>
              </a:rPr>
              <a:t>Bir ray kaynağında 320 g Fe₂O₃ yeterli alüminyumla tamamen tepkimeye giriyor: Fe₂O₃(k) + 2Al(k) → 2Fe(k) + Al₂O₃(k). (a) Tepkimenin ΔH°'sini, (b) açığa çıkan ısıyı, (c) gereken alüminyumun ve oluşan demirin kütlesini bulunuz.</a:t>
            </a:r>
            <a:endParaRPr lang="en-US" sz="2000" dirty="0"/>
          </a:p>
        </p:txBody>
      </p:sp>
      <p:sp>
        <p:nvSpPr>
          <p:cNvPr id="11" name="Shape 9"/>
          <p:cNvSpPr/>
          <p:nvPr/>
        </p:nvSpPr>
        <p:spPr>
          <a:xfrm>
            <a:off x="3306928" y="3474720"/>
            <a:ext cx="5577840" cy="2779776"/>
          </a:xfrm>
          <a:prstGeom prst="roundRect">
            <a:avLst>
              <a:gd name="adj" fmla="val 526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claude-1000/-opt-dersler/1d623a45-0112-427a-9abb-0c648368bda2/scratchpad/sunum/sekiller/olusum-entalpisi-21.png">    </p:cNvPr>
          <p:cNvPicPr>
            <a:picLocks noChangeAspect="1"/>
          </p:cNvPicPr>
          <p:nvPr/>
        </p:nvPicPr>
        <p:blipFill>
          <a:blip r:embed="rId1"/>
          <a:stretch>
            <a:fillRect/>
          </a:stretch>
        </p:blipFill>
        <p:spPr>
          <a:xfrm>
            <a:off x="3535528" y="3584448"/>
            <a:ext cx="5120640" cy="2560320"/>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137</a:t>
            </a:r>
            <a:endParaRPr lang="en-US" sz="105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7 / 7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Ray kaynağında termit</a:t>
            </a:r>
            <a:endParaRPr lang="en-US" sz="1450" dirty="0"/>
          </a:p>
        </p:txBody>
      </p:sp>
      <p:sp>
        <p:nvSpPr>
          <p:cNvPr id="8" name="Shape 6"/>
          <p:cNvSpPr/>
          <p:nvPr/>
        </p:nvSpPr>
        <p:spPr>
          <a:xfrm>
            <a:off x="640080" y="1645920"/>
            <a:ext cx="10911535" cy="1764792"/>
          </a:xfrm>
          <a:prstGeom prst="roundRect">
            <a:avLst>
              <a:gd name="adj" fmla="val 8290"/>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216152"/>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Bir ray kaynağında 320 g Fe₂O₃ yeterli alüminyumla tamamen tepkimeye giriyor: Fe₂O₃(k) + 2Al(k) → 2Fe(k) + Al₂O₃(k). (a) Tepkimenin ΔH°'sini, (b) açığa çıkan ısıyı, (c) gereken alüminyumun ve oluşan demirin kütlesini bulunuz.</a:t>
            </a:r>
            <a:endParaRPr lang="en-US" sz="2000" dirty="0"/>
          </a:p>
        </p:txBody>
      </p:sp>
      <p:sp>
        <p:nvSpPr>
          <p:cNvPr id="11" name="Shape 9"/>
          <p:cNvSpPr/>
          <p:nvPr/>
        </p:nvSpPr>
        <p:spPr>
          <a:xfrm>
            <a:off x="640080"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776472"/>
            <a:ext cx="54864" cy="2203704"/>
          </a:xfrm>
          <a:prstGeom prst="rect">
            <a:avLst/>
          </a:prstGeom>
          <a:solidFill>
            <a:srgbClr val="2957D4"/>
          </a:solidFill>
          <a:ln/>
        </p:spPr>
      </p:sp>
      <p:sp>
        <p:nvSpPr>
          <p:cNvPr id="13" name="Text 11"/>
          <p:cNvSpPr txBox="1"/>
          <p:nvPr/>
        </p:nvSpPr>
        <p:spPr>
          <a:xfrm>
            <a:off x="914400" y="3758184"/>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250" dirty="0">
                <a:solidFill>
                  <a:srgbClr val="0E1426"/>
                </a:solidFill>
                <a:latin typeface="Calibri" pitchFamily="34" charset="0"/>
                <a:ea typeface="Calibri" pitchFamily="34" charset="-122"/>
                <a:cs typeface="Calibri" pitchFamily="34" charset="-120"/>
              </a:rPr>
              <a:t>m(Fe₂O₃) = 320 g</a:t>
            </a:r>
            <a:endParaRPr lang="en-US" sz="1250" dirty="0"/>
          </a:p>
          <a:p>
            <a:pPr marL="203200" indent="-203200">
              <a:lnSpc>
                <a:spcPct val="110000"/>
              </a:lnSpc>
              <a:spcAft>
                <a:spcPts val="500"/>
              </a:spcAft>
              <a:buSzPct val="100000"/>
              <a:buChar char="▪"/>
            </a:pPr>
            <a:r>
              <a:rPr lang="en-US" sz="1250" dirty="0">
                <a:solidFill>
                  <a:srgbClr val="0E1426"/>
                </a:solidFill>
                <a:latin typeface="Calibri" pitchFamily="34" charset="0"/>
                <a:ea typeface="Calibri" pitchFamily="34" charset="-122"/>
                <a:cs typeface="Calibri" pitchFamily="34" charset="-120"/>
              </a:rPr>
              <a:t>M(Fe₂O₃) = 2·56 + 3·16 = 160 g/mol</a:t>
            </a:r>
            <a:endParaRPr lang="en-US" sz="1250" dirty="0"/>
          </a:p>
          <a:p>
            <a:pPr marL="203200" indent="-203200">
              <a:lnSpc>
                <a:spcPct val="110000"/>
              </a:lnSpc>
              <a:spcAft>
                <a:spcPts val="500"/>
              </a:spcAft>
              <a:buSzPct val="100000"/>
              <a:buChar char="▪"/>
            </a:pPr>
            <a:r>
              <a:rPr lang="en-US" sz="1250" dirty="0">
                <a:solidFill>
                  <a:srgbClr val="0E1426"/>
                </a:solidFill>
                <a:latin typeface="Calibri" pitchFamily="34" charset="0"/>
                <a:ea typeface="Calibri" pitchFamily="34" charset="-122"/>
                <a:cs typeface="Calibri" pitchFamily="34" charset="-120"/>
              </a:rPr>
              <a:t>M(Al) = 27</a:t>
            </a:r>
            <a:endParaRPr lang="en-US" sz="1250" dirty="0"/>
          </a:p>
          <a:p>
            <a:pPr marL="203200" indent="-203200">
              <a:lnSpc>
                <a:spcPct val="110000"/>
              </a:lnSpc>
              <a:spcAft>
                <a:spcPts val="500"/>
              </a:spcAft>
              <a:buSzPct val="100000"/>
              <a:buChar char="▪"/>
            </a:pPr>
            <a:r>
              <a:rPr lang="en-US" sz="1250" dirty="0">
                <a:solidFill>
                  <a:srgbClr val="0E1426"/>
                </a:solidFill>
                <a:latin typeface="Calibri" pitchFamily="34" charset="0"/>
                <a:ea typeface="Calibri" pitchFamily="34" charset="-122"/>
                <a:cs typeface="Calibri" pitchFamily="34" charset="-120"/>
              </a:rPr>
              <a:t>M(Fe) = 56 g/mol</a:t>
            </a:r>
            <a:endParaRPr lang="en-US" sz="1250" dirty="0"/>
          </a:p>
          <a:p>
            <a:pPr marL="203200" indent="-203200">
              <a:lnSpc>
                <a:spcPct val="110000"/>
              </a:lnSpc>
              <a:spcAft>
                <a:spcPts val="500"/>
              </a:spcAft>
              <a:buSzPct val="100000"/>
              <a:buChar char="▪"/>
            </a:pPr>
            <a:r>
              <a:rPr lang="en-US" sz="1250" dirty="0">
                <a:solidFill>
                  <a:srgbClr val="0E1426"/>
                </a:solidFill>
                <a:latin typeface="Calibri" pitchFamily="34" charset="0"/>
                <a:ea typeface="Calibri" pitchFamily="34" charset="-122"/>
                <a:cs typeface="Calibri" pitchFamily="34" charset="-120"/>
              </a:rPr>
              <a:t>ΔH°f: Fe₂O₃(k) = −824,2</a:t>
            </a:r>
            <a:endParaRPr lang="en-US" sz="1250" dirty="0"/>
          </a:p>
          <a:p>
            <a:pPr marL="203200" indent="-203200">
              <a:lnSpc>
                <a:spcPct val="110000"/>
              </a:lnSpc>
              <a:spcAft>
                <a:spcPts val="500"/>
              </a:spcAft>
              <a:buSzPct val="100000"/>
              <a:buChar char="▪"/>
            </a:pPr>
            <a:r>
              <a:rPr lang="en-US" sz="1250" dirty="0">
                <a:solidFill>
                  <a:srgbClr val="0E1426"/>
                </a:solidFill>
                <a:latin typeface="Calibri" pitchFamily="34" charset="0"/>
                <a:ea typeface="Calibri" pitchFamily="34" charset="-122"/>
                <a:cs typeface="Calibri" pitchFamily="34" charset="-120"/>
              </a:rPr>
              <a:t>Al₂O₃(k) = −1675,7 kJ/mol</a:t>
            </a:r>
            <a:endParaRPr lang="en-US" sz="1250" dirty="0"/>
          </a:p>
          <a:p>
            <a:pPr marL="203200" indent="-203200">
              <a:lnSpc>
                <a:spcPct val="110000"/>
              </a:lnSpc>
              <a:spcAft>
                <a:spcPts val="500"/>
              </a:spcAft>
              <a:buSzPct val="100000"/>
              <a:buChar char="▪"/>
            </a:pPr>
            <a:r>
              <a:rPr lang="en-US" sz="1250" dirty="0">
                <a:solidFill>
                  <a:srgbClr val="0E1426"/>
                </a:solidFill>
                <a:latin typeface="Calibri" pitchFamily="34" charset="0"/>
                <a:ea typeface="Calibri" pitchFamily="34" charset="-122"/>
                <a:cs typeface="Calibri" pitchFamily="34" charset="-120"/>
              </a:rPr>
              <a:t>Al(k), Fe(k) element (0)</a:t>
            </a:r>
            <a:endParaRPr lang="en-US" sz="1250" dirty="0"/>
          </a:p>
        </p:txBody>
      </p:sp>
      <p:sp>
        <p:nvSpPr>
          <p:cNvPr id="15" name="Shape 13"/>
          <p:cNvSpPr/>
          <p:nvPr/>
        </p:nvSpPr>
        <p:spPr>
          <a:xfrm>
            <a:off x="6233008"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776472"/>
            <a:ext cx="54864" cy="2203704"/>
          </a:xfrm>
          <a:prstGeom prst="rect">
            <a:avLst/>
          </a:prstGeom>
          <a:solidFill>
            <a:srgbClr val="5F4BD8"/>
          </a:solidFill>
          <a:ln/>
        </p:spPr>
      </p:sp>
      <p:sp>
        <p:nvSpPr>
          <p:cNvPr id="17" name="Text 15"/>
          <p:cNvSpPr txBox="1"/>
          <p:nvPr/>
        </p:nvSpPr>
        <p:spPr>
          <a:xfrm>
            <a:off x="6507328" y="3758184"/>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 ΔH°</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(b) açığa çıkan ısı Q</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(c) m(Al) ve m(Fe)</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138</a:t>
            </a:r>
            <a:endParaRPr lang="en-US" sz="105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7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Ray kaynağında termit</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(a)</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ΔH° = [−1675,7 + 2·0] − [−824,2 + 2·0]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−851,5 kJ</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(1 mol Fe₂O₃ için)</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n(Fe₂O₃) = 320 / 160 = 2 mol</a:t>
            </a:r>
            <a:endParaRPr lang="en-US" sz="2000" dirty="0"/>
          </a:p>
        </p:txBody>
      </p:sp>
      <p:sp>
        <p:nvSpPr>
          <p:cNvPr id="16" name="Shape 14"/>
          <p:cNvSpPr/>
          <p:nvPr/>
        </p:nvSpPr>
        <p:spPr>
          <a:xfrm>
            <a:off x="640080" y="4120896"/>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4447032"/>
            <a:ext cx="420624" cy="420624"/>
          </a:xfrm>
          <a:prstGeom prst="roundRect">
            <a:avLst>
              <a:gd name="adj" fmla="val 26000"/>
            </a:avLst>
          </a:prstGeom>
          <a:solidFill>
            <a:srgbClr val="A56209"/>
          </a:solidFill>
          <a:ln/>
        </p:spPr>
      </p:sp>
      <p:sp>
        <p:nvSpPr>
          <p:cNvPr id="18" name="Text 16"/>
          <p:cNvSpPr txBox="1"/>
          <p:nvPr/>
        </p:nvSpPr>
        <p:spPr>
          <a:xfrm>
            <a:off x="914400" y="444703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4175760"/>
            <a:ext cx="9859975" cy="963168"/>
          </a:xfrm>
          <a:prstGeom prst="rect">
            <a:avLst/>
          </a:prstGeom>
          <a:noFill/>
          <a:ln/>
        </p:spPr>
        <p:txBody>
          <a:bodyPr wrap="square" lIns="0" tIns="0" rIns="0" bIns="0" rtlCol="0" anchor="ctr"/>
          <a:lstStyle/>
          <a:p>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(b)</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Q = 2 · 851,5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1703 kJ</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139</a:t>
            </a:r>
            <a:endParaRPr lang="en-US" sz="105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7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Ray kaynağında termit</a:t>
            </a:r>
            <a:endParaRPr lang="en-US" sz="1450" dirty="0"/>
          </a:p>
        </p:txBody>
      </p:sp>
      <p:sp>
        <p:nvSpPr>
          <p:cNvPr id="8" name="Shape 6"/>
          <p:cNvSpPr/>
          <p:nvPr/>
        </p:nvSpPr>
        <p:spPr>
          <a:xfrm>
            <a:off x="640080" y="1645920"/>
            <a:ext cx="10911535" cy="1600200"/>
          </a:xfrm>
          <a:prstGeom prst="roundRect">
            <a:avLst>
              <a:gd name="adj" fmla="val 9143"/>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2235708"/>
            <a:ext cx="420624" cy="420624"/>
          </a:xfrm>
          <a:prstGeom prst="roundRect">
            <a:avLst>
              <a:gd name="adj" fmla="val 26000"/>
            </a:avLst>
          </a:prstGeom>
          <a:solidFill>
            <a:srgbClr val="A56209"/>
          </a:solidFill>
          <a:ln/>
        </p:spPr>
      </p:sp>
      <p:sp>
        <p:nvSpPr>
          <p:cNvPr id="10" name="Text 8"/>
          <p:cNvSpPr txBox="1"/>
          <p:nvPr/>
        </p:nvSpPr>
        <p:spPr>
          <a:xfrm>
            <a:off x="914400" y="2235708"/>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1" name="Text 9"/>
          <p:cNvSpPr txBox="1"/>
          <p:nvPr/>
        </p:nvSpPr>
        <p:spPr>
          <a:xfrm>
            <a:off x="1508760" y="1700784"/>
            <a:ext cx="9859975" cy="1490472"/>
          </a:xfrm>
          <a:prstGeom prst="rect">
            <a:avLst/>
          </a:prstGeom>
          <a:noFill/>
          <a:ln/>
        </p:spPr>
        <p:txBody>
          <a:bodyPr wrap="square" lIns="0" tIns="0" rIns="0" bIns="0" rtlCol="0" anchor="ctr"/>
          <a:lstStyle/>
          <a:p>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(c)</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1 mol Fe₂O₃ 2 mol Al ister ve 2 mol Fe verir: Al 4 mol → 4 · 27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108 g</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Fe 4 mol → 4 · 56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224 g</a:t>
            </a:r>
            <a:endParaRPr lang="en-US" sz="2000" dirty="0"/>
          </a:p>
        </p:txBody>
      </p:sp>
      <p:sp>
        <p:nvSpPr>
          <p:cNvPr id="12" name="Shape 10"/>
          <p:cNvSpPr/>
          <p:nvPr/>
        </p:nvSpPr>
        <p:spPr>
          <a:xfrm>
            <a:off x="640080" y="3410712"/>
            <a:ext cx="10911535" cy="1600200"/>
          </a:xfrm>
          <a:prstGeom prst="roundRect">
            <a:avLst>
              <a:gd name="adj" fmla="val 9143"/>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4000500"/>
            <a:ext cx="420624" cy="420624"/>
          </a:xfrm>
          <a:prstGeom prst="roundRect">
            <a:avLst>
              <a:gd name="adj" fmla="val 26000"/>
            </a:avLst>
          </a:prstGeom>
          <a:solidFill>
            <a:srgbClr val="A56209"/>
          </a:solidFill>
          <a:ln/>
        </p:spPr>
      </p:sp>
      <p:sp>
        <p:nvSpPr>
          <p:cNvPr id="14" name="Text 12"/>
          <p:cNvSpPr txBox="1"/>
          <p:nvPr/>
        </p:nvSpPr>
        <p:spPr>
          <a:xfrm>
            <a:off x="914400" y="400050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5" name="Text 13"/>
          <p:cNvSpPr txBox="1"/>
          <p:nvPr/>
        </p:nvSpPr>
        <p:spPr>
          <a:xfrm>
            <a:off x="1508760" y="3465576"/>
            <a:ext cx="9859975" cy="1490472"/>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Kütle denetimi: girenler 320 + 108 = 428 g; ürünler 224 g Fe + 2 mol Al₂O₃ (2 · 102 = 204 g) = 428 g ✓</a:t>
            </a:r>
            <a:endParaRPr lang="en-US" sz="2000" dirty="0"/>
          </a:p>
        </p:txBody>
      </p:sp>
      <p:sp>
        <p:nvSpPr>
          <p:cNvPr id="16" name="Shape 14"/>
          <p:cNvSpPr/>
          <p:nvPr/>
        </p:nvSpPr>
        <p:spPr>
          <a:xfrm>
            <a:off x="640080" y="5175504"/>
            <a:ext cx="10911535" cy="969264"/>
          </a:xfrm>
          <a:prstGeom prst="roundRect">
            <a:avLst>
              <a:gd name="adj" fmla="val 1509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Text 15"/>
          <p:cNvSpPr txBox="1"/>
          <p:nvPr/>
        </p:nvSpPr>
        <p:spPr>
          <a:xfrm>
            <a:off x="960120" y="5303520"/>
            <a:ext cx="1828800" cy="219456"/>
          </a:xfrm>
          <a:prstGeom prst="rect">
            <a:avLst/>
          </a:prstGeom>
          <a:noFill/>
          <a:ln/>
        </p:spPr>
        <p:txBody>
          <a:bodyPr wrap="square" lIns="0" tIns="0" rIns="0" bIns="0" rtlCol="0" anchor="ctr"/>
          <a:lstStyle/>
          <a:p>
            <a:pPr indent="0" marL="0">
              <a:buNone/>
            </a:pPr>
            <a:r>
              <a:rPr lang="en-US" sz="1000" b="1" spc="200" kern="0" dirty="0">
                <a:solidFill>
                  <a:srgbClr val="7B849E"/>
                </a:solidFill>
                <a:latin typeface="Calibri" pitchFamily="34" charset="0"/>
                <a:ea typeface="Calibri" pitchFamily="34" charset="-122"/>
                <a:cs typeface="Calibri" pitchFamily="34" charset="-120"/>
              </a:rPr>
              <a:t>NOT</a:t>
            </a:r>
            <a:endParaRPr lang="en-US" sz="1000" dirty="0"/>
          </a:p>
        </p:txBody>
      </p:sp>
      <p:sp>
        <p:nvSpPr>
          <p:cNvPr id="18" name="Text 16"/>
          <p:cNvSpPr txBox="1"/>
          <p:nvPr/>
        </p:nvSpPr>
        <p:spPr>
          <a:xfrm>
            <a:off x="960120" y="5541264"/>
            <a:ext cx="10271455" cy="512064"/>
          </a:xfrm>
          <a:prstGeom prst="rect">
            <a:avLst/>
          </a:prstGeom>
          <a:noFill/>
          <a:ln/>
        </p:spPr>
        <p:txBody>
          <a:bodyPr wrap="square" lIns="0" tIns="0" rIns="0" bIns="0" rtlCol="0" anchor="t"/>
          <a:lstStyle/>
          <a:p>
            <a:pPr indent="0" marL="0">
              <a:lnSpc>
                <a:spcPct val="112000"/>
              </a:lnSpc>
              <a:buNone/>
            </a:pPr>
            <a:r>
              <a:rPr lang="en-US" sz="1500" dirty="0">
                <a:solidFill>
                  <a:srgbClr val="4A5470"/>
                </a:solidFill>
                <a:latin typeface="Calibri" pitchFamily="34" charset="0"/>
                <a:ea typeface="Calibri" pitchFamily="34" charset="-122"/>
                <a:cs typeface="Calibri" pitchFamily="34" charset="-120"/>
              </a:rPr>
              <a:t>Not: ΔH° 25 °C'deki ürünler için hesaplanır. Gerçekte bu ısı ürünleri ısıtmaya ve demiri eritmeye harcanır; potadan akan sıvı demir bu yüzden göz kamaştırıcı bir parlaklıktadır.</a:t>
            </a:r>
            <a:endParaRPr lang="en-US" sz="15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140</a:t>
            </a:r>
            <a:endParaRPr lang="en-US" sz="105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1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AF7DC"/>
          </a:solidFill>
          <a:ln w="9525">
            <a:solidFill>
              <a:srgbClr val="3C8C21"/>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H₂(g) + ½O₂(g) → H₂O(g) · 2H₂(g) + O₂(g) → 2H₂O(s) · CO(g) + ½O₂(g) → CO₂(g) · C(grafit) + O₂(g) → CO₂(g). Bunlardan hangileri oluşum denklemidir?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ΔH°f değerlerini ikinci basamaktaki tablodan al. (NK'da 1 mol gaz 22,4 L; c(su) = 4,18 J/(g·°C))</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141</a:t>
            </a:r>
            <a:endParaRPr lang="en-US" sz="105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H₂(g) + ½O₂(g) → H₂O(g) · 2H₂(g) + O₂(g) → 2H₂O(s) · CO(g) + ½O₂(g) → CO₂(g) · C(grafit) + O₂(g) → CO₂(g). Bunlardan hangileri oluşum denklemidir?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Birinci ve dördüncü.</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İkisi de 1 mol bileşiği elementlerin en kararlı hâllerinden verir. İkinci denklem 2 mol su verir (ΔH'si 2·ΔH°f'dir); üçüncüsünde giren CO bir bileşiktir, element değildir.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142</a:t>
            </a:r>
            <a:endParaRPr lang="en-US" sz="105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2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AF7DC"/>
          </a:solidFill>
          <a:ln w="9525">
            <a:solidFill>
              <a:srgbClr val="3C8C21"/>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2SO₂(g) + O₂(g) → 2SO₃(g) tepkimesinin ΔH°'si kaç kJ'dir? (ΔH°f: SO₂ −296,8; SO₃ −395,7 kJ/mol)</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ΔH°f değerlerini ikinci basamaktaki tablodan al. (NK'da 1 mol gaz 22,4 L; c(su) = 4,18 J/(g·°C))</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143</a:t>
            </a:r>
            <a:endParaRPr lang="en-US" sz="105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2SO₂(g) + O₂(g) → 2SO₃(g) tepkimesinin ΔH°'si kaç kJ'dir? (ΔH°f: SO₂ −296,8; SO₃ −395,7 kJ/mol)</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ΔH° = 2 · (−395,7) − [2 · (−296,8) + 0] = −791,4 + 593,6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−197,8 kJ</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Tepkime ekzotermiktir.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144</a:t>
            </a:r>
            <a:endParaRPr lang="en-US" sz="105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3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6EDFB"/>
          </a:solidFill>
          <a:ln w="9525">
            <a:solidFill>
              <a:srgbClr val="2957D4"/>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Normal koşullarda 5,6 L metan tamamen yanıyor ve su sıvı oluşuyor. Kaç kJ ısı açığa çıkar?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ΔH°f değerlerini ikinci basamaktaki tablodan al. (NK'da 1 mol gaz 22,4 L; c(su) = 4,18 J/(g·°C))</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145</a:t>
            </a:r>
            <a:endParaRPr lang="en-US" sz="105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Normal koşullarda 5,6 L metan tamamen yanıyor ve su sıvı oluşuyor. Kaç kJ ısı açığa çıkar?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n = 5,6 / 22,4 = 0,25 mol. Metanın yanma entalpisi (su sıvı) −890,3 kJ olduğundan Q = 0,25 · 890,3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222,6 kJ</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146</a:t>
            </a:r>
            <a:endParaRPr lang="en-US" sz="1050"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4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6EDFB"/>
          </a:solidFill>
          <a:ln w="9525">
            <a:solidFill>
              <a:srgbClr val="2957D4"/>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C₂H₂(g) + 5/2 O₂(g) → 2CO₂(g) + H₂O(s) tepkimesi için ΔH° = −1299,5 kJ ölçülmüştür. Asetilenin ΔH°f'si kaç kJ/mol'dür?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ΔH°f değerlerini ikinci basamaktaki tablodan al. (NK'da 1 mol gaz 22,4 L; c(su) = 4,18 J/(g·°C))</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147</a:t>
            </a:r>
            <a:endParaRPr lang="en-US" sz="1050"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C₂H₂(g) + 5/2 O₂(g) → 2CO₂(g) + H₂O(s) tepkimesi için ΔH° = −1299,5 kJ ölçülmüştür. Asetilenin ΔH°f'si kaç kJ/mol'dür?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−1299,5 = [2 · (−393,5) + (−285,8)] − x = −1072,8 − x → x = −1072,8 + 1299,5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+226,7 kJ/mol</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Asetilen elementlerinden ısı alarak oluşur.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148</a:t>
            </a:r>
            <a:endParaRPr lang="en-US" sz="1050"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5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FBE9EE"/>
          </a:solidFill>
          <a:ln w="9525">
            <a:solidFill>
              <a:srgbClr val="C53455"/>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1 kg suyu 20 °C'den 80 °C'ye ısıtmak için en az kaç gram etanol yakılmalıdır? Isının tamamı suya geçsin (etanolün yanması: ΔH° = −1366,7 kJ).</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ΔH°f değerlerini ikinci basamaktaki tablodan al. (NK'da 1 mol gaz 22,4 L; c(su) = 4,18 J/(g·°C))</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149</a:t>
            </a:r>
            <a:endParaRPr lang="en-US" sz="1050"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1 kg suyu 20 °C'den 80 °C'ye ısıtmak için en az kaç gram etanol yakılmalıdır? Isının tamamı suya geçsin (etanolün yanması: ΔH° = −1366,7 kJ).</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q = 1000 · 4,18 · 60 = 250 800 J ≈ 250,8 kJ. n = 250,8 / 1366,7 = 0,1835 mol; m = 0,1835 · 46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8,4 g</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Isının yarısı havaya kaçsaydı iki katı, yaklaşık 16,9 g gerekirdi.</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150</a:t>
            </a:r>
            <a:endParaRPr lang="en-US" sz="1050"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C53455"/>
          </a:solidFill>
          <a:ln/>
          <a:effectLst>
            <a:outerShdw sx="100000" sy="100000" kx="0" ky="0" algn="bl" rotWithShape="0" blurRad="101600" dist="25400" dir="5400000">
              <a:srgbClr val="C53455">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Sık yapılan hatalar · 1 / 2</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6" name="Text 4"/>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Sınavda puan kaybettiren klasikler ve doğrusu.</a:t>
            </a:r>
            <a:endParaRPr lang="en-US" sz="1450" dirty="0"/>
          </a:p>
        </p:txBody>
      </p:sp>
      <p:sp>
        <p:nvSpPr>
          <p:cNvPr id="7" name="Shape 5"/>
          <p:cNvSpPr/>
          <p:nvPr/>
        </p:nvSpPr>
        <p:spPr>
          <a:xfrm>
            <a:off x="640080"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841248" y="1792224"/>
            <a:ext cx="310896" cy="310896"/>
          </a:xfrm>
          <a:prstGeom prst="roundRect">
            <a:avLst>
              <a:gd name="adj" fmla="val 26471"/>
            </a:avLst>
          </a:prstGeom>
          <a:solidFill>
            <a:srgbClr val="FBE9EE"/>
          </a:solidFill>
          <a:ln/>
        </p:spPr>
      </p:sp>
      <p:sp>
        <p:nvSpPr>
          <p:cNvPr id="9" name="Text 7"/>
          <p:cNvSpPr txBox="1"/>
          <p:nvPr/>
        </p:nvSpPr>
        <p:spPr>
          <a:xfrm>
            <a:off x="841248"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0" name="Text 8"/>
          <p:cNvSpPr txBox="1"/>
          <p:nvPr/>
        </p:nvSpPr>
        <p:spPr>
          <a:xfrm>
            <a:off x="1280160" y="1755648"/>
            <a:ext cx="4523080" cy="686562"/>
          </a:xfrm>
          <a:prstGeom prst="rect">
            <a:avLst/>
          </a:prstGeom>
          <a:noFill/>
          <a:ln/>
        </p:spPr>
        <p:txBody>
          <a:bodyPr wrap="square" lIns="0" tIns="0" rIns="0" bIns="0" rtlCol="0" anchor="t"/>
          <a:lstStyle/>
          <a:p>
            <a:pPr indent="0" marL="0">
              <a:lnSpc>
                <a:spcPct val="108000"/>
              </a:lnSpc>
              <a:buNone/>
            </a:pPr>
            <a:r>
              <a:rPr lang="en-US" sz="1750" b="1" dirty="0">
                <a:solidFill>
                  <a:srgbClr val="0E1426"/>
                </a:solidFill>
                <a:latin typeface="Calibri" pitchFamily="34" charset="0"/>
                <a:ea typeface="Calibri" pitchFamily="34" charset="-122"/>
                <a:cs typeface="Calibri" pitchFamily="34" charset="-120"/>
              </a:rPr>
              <a:t>“Her elementin oluşum entalpisi sıfırdır.”</a:t>
            </a:r>
            <a:endParaRPr lang="en-US" sz="1750" dirty="0"/>
          </a:p>
        </p:txBody>
      </p:sp>
      <p:sp>
        <p:nvSpPr>
          <p:cNvPr id="11" name="Shape 9"/>
          <p:cNvSpPr/>
          <p:nvPr/>
        </p:nvSpPr>
        <p:spPr>
          <a:xfrm>
            <a:off x="841248" y="2551938"/>
            <a:ext cx="310896" cy="310896"/>
          </a:xfrm>
          <a:prstGeom prst="roundRect">
            <a:avLst>
              <a:gd name="adj" fmla="val 26471"/>
            </a:avLst>
          </a:prstGeom>
          <a:solidFill>
            <a:srgbClr val="EAF7DC"/>
          </a:solidFill>
          <a:ln/>
        </p:spPr>
      </p:sp>
      <p:sp>
        <p:nvSpPr>
          <p:cNvPr id="12" name="Text 10"/>
          <p:cNvSpPr txBox="1"/>
          <p:nvPr/>
        </p:nvSpPr>
        <p:spPr>
          <a:xfrm>
            <a:off x="841248" y="2551938"/>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13" name="Text 11"/>
          <p:cNvSpPr txBox="1"/>
          <p:nvPr/>
        </p:nvSpPr>
        <p:spPr>
          <a:xfrm>
            <a:off x="1280160" y="2533650"/>
            <a:ext cx="4523080" cy="1142238"/>
          </a:xfrm>
          <a:prstGeom prst="rect">
            <a:avLst/>
          </a:prstGeom>
          <a:noFill/>
          <a:ln/>
        </p:spPr>
        <p:txBody>
          <a:bodyPr wrap="square" lIns="0" tIns="0" rIns="0" bIns="0" rtlCol="0" anchor="t"/>
          <a:lstStyle/>
          <a:p>
            <a:pPr indent="0" marL="0">
              <a:lnSpc>
                <a:spcPct val="108000"/>
              </a:lnSpc>
              <a:buNone/>
            </a:pPr>
            <a:r>
              <a:rPr lang="en-US" sz="1550" dirty="0">
                <a:solidFill>
                  <a:srgbClr val="4A5470"/>
                </a:solidFill>
                <a:latin typeface="Calibri" pitchFamily="34" charset="0"/>
                <a:ea typeface="Calibri" pitchFamily="34" charset="-122"/>
                <a:cs typeface="Calibri" pitchFamily="34" charset="-120"/>
              </a:rPr>
              <a:t> Yalnızca standart koşullardaki en kararlı hâl sıfırdır. Elmas (+1,9), ozon (+142,7), Br₂(g) (+30,9) ve H atomu (+218,0 kJ/mol) sıfır değildir.</a:t>
            </a:r>
            <a:endParaRPr lang="en-US" sz="1550" dirty="0"/>
          </a:p>
        </p:txBody>
      </p:sp>
      <p:sp>
        <p:nvSpPr>
          <p:cNvPr id="14" name="Shape 12"/>
          <p:cNvSpPr/>
          <p:nvPr/>
        </p:nvSpPr>
        <p:spPr>
          <a:xfrm>
            <a:off x="6205576"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6406744" y="1792224"/>
            <a:ext cx="310896" cy="310896"/>
          </a:xfrm>
          <a:prstGeom prst="roundRect">
            <a:avLst>
              <a:gd name="adj" fmla="val 26471"/>
            </a:avLst>
          </a:prstGeom>
          <a:solidFill>
            <a:srgbClr val="FBE9EE"/>
          </a:solidFill>
          <a:ln/>
        </p:spPr>
      </p:sp>
      <p:sp>
        <p:nvSpPr>
          <p:cNvPr id="16" name="Text 14"/>
          <p:cNvSpPr txBox="1"/>
          <p:nvPr/>
        </p:nvSpPr>
        <p:spPr>
          <a:xfrm>
            <a:off x="6406744"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7" name="Text 15"/>
          <p:cNvSpPr txBox="1"/>
          <p:nvPr/>
        </p:nvSpPr>
        <p:spPr>
          <a:xfrm>
            <a:off x="6845656" y="1755648"/>
            <a:ext cx="4523080" cy="379857"/>
          </a:xfrm>
          <a:prstGeom prst="rect">
            <a:avLst/>
          </a:prstGeom>
          <a:noFill/>
          <a:ln/>
        </p:spPr>
        <p:txBody>
          <a:bodyPr wrap="square" lIns="0" tIns="0" rIns="0" bIns="0" rtlCol="0" anchor="t"/>
          <a:lstStyle/>
          <a:p>
            <a:pPr indent="0" marL="0">
              <a:lnSpc>
                <a:spcPct val="108000"/>
              </a:lnSpc>
              <a:buNone/>
            </a:pPr>
            <a:r>
              <a:rPr lang="en-US" sz="1750" b="1" dirty="0">
                <a:solidFill>
                  <a:srgbClr val="0E1426"/>
                </a:solidFill>
                <a:latin typeface="Calibri" pitchFamily="34" charset="0"/>
                <a:ea typeface="Calibri" pitchFamily="34" charset="-122"/>
                <a:cs typeface="Calibri" pitchFamily="34" charset="-120"/>
              </a:rPr>
              <a:t>“Oluşum entalpisi her zaman eksidir.”</a:t>
            </a:r>
            <a:endParaRPr lang="en-US" sz="1750" dirty="0"/>
          </a:p>
        </p:txBody>
      </p:sp>
      <p:sp>
        <p:nvSpPr>
          <p:cNvPr id="18" name="Shape 16"/>
          <p:cNvSpPr/>
          <p:nvPr/>
        </p:nvSpPr>
        <p:spPr>
          <a:xfrm>
            <a:off x="6406744" y="2245233"/>
            <a:ext cx="310896" cy="310896"/>
          </a:xfrm>
          <a:prstGeom prst="roundRect">
            <a:avLst>
              <a:gd name="adj" fmla="val 26471"/>
            </a:avLst>
          </a:prstGeom>
          <a:solidFill>
            <a:srgbClr val="EAF7DC"/>
          </a:solidFill>
          <a:ln/>
        </p:spPr>
      </p:sp>
      <p:sp>
        <p:nvSpPr>
          <p:cNvPr id="19" name="Text 17"/>
          <p:cNvSpPr txBox="1"/>
          <p:nvPr/>
        </p:nvSpPr>
        <p:spPr>
          <a:xfrm>
            <a:off x="6406744" y="2245233"/>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0" name="Text 18"/>
          <p:cNvSpPr txBox="1"/>
          <p:nvPr/>
        </p:nvSpPr>
        <p:spPr>
          <a:xfrm>
            <a:off x="6845656" y="2226945"/>
            <a:ext cx="4523080" cy="1448943"/>
          </a:xfrm>
          <a:prstGeom prst="rect">
            <a:avLst/>
          </a:prstGeom>
          <a:noFill/>
          <a:ln/>
        </p:spPr>
        <p:txBody>
          <a:bodyPr wrap="square" lIns="0" tIns="0" rIns="0" bIns="0" rtlCol="0" anchor="t"/>
          <a:lstStyle/>
          <a:p>
            <a:pPr indent="0" marL="0">
              <a:lnSpc>
                <a:spcPct val="108000"/>
              </a:lnSpc>
              <a:buNone/>
            </a:pPr>
            <a:r>
              <a:rPr lang="en-US" sz="1550" dirty="0">
                <a:solidFill>
                  <a:srgbClr val="4A5470"/>
                </a:solidFill>
                <a:latin typeface="Calibri" pitchFamily="34" charset="0"/>
                <a:ea typeface="Calibri" pitchFamily="34" charset="-122"/>
                <a:cs typeface="Calibri" pitchFamily="34" charset="-120"/>
              </a:rPr>
              <a:t> NO (+90,3), C₂H₄ (+52,3) ve C₂H₂ (+226,7 kJ/mol) elementlerinden ısı alarak oluşur; bunların ΔH°f'si artıdır.</a:t>
            </a:r>
            <a:endParaRPr lang="en-US" sz="1550" dirty="0"/>
          </a:p>
        </p:txBody>
      </p:sp>
      <p:sp>
        <p:nvSpPr>
          <p:cNvPr id="21" name="Shape 19"/>
          <p:cNvSpPr/>
          <p:nvPr/>
        </p:nvSpPr>
        <p:spPr>
          <a:xfrm>
            <a:off x="640080"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841248" y="4133088"/>
            <a:ext cx="310896" cy="310896"/>
          </a:xfrm>
          <a:prstGeom prst="roundRect">
            <a:avLst>
              <a:gd name="adj" fmla="val 26471"/>
            </a:avLst>
          </a:prstGeom>
          <a:solidFill>
            <a:srgbClr val="FBE9EE"/>
          </a:solidFill>
          <a:ln/>
        </p:spPr>
      </p:sp>
      <p:sp>
        <p:nvSpPr>
          <p:cNvPr id="23" name="Text 21"/>
          <p:cNvSpPr txBox="1"/>
          <p:nvPr/>
        </p:nvSpPr>
        <p:spPr>
          <a:xfrm>
            <a:off x="841248"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24" name="Text 22"/>
          <p:cNvSpPr txBox="1"/>
          <p:nvPr/>
        </p:nvSpPr>
        <p:spPr>
          <a:xfrm>
            <a:off x="1280160" y="4096512"/>
            <a:ext cx="4523080" cy="379857"/>
          </a:xfrm>
          <a:prstGeom prst="rect">
            <a:avLst/>
          </a:prstGeom>
          <a:noFill/>
          <a:ln/>
        </p:spPr>
        <p:txBody>
          <a:bodyPr wrap="square" lIns="0" tIns="0" rIns="0" bIns="0" rtlCol="0" anchor="t"/>
          <a:lstStyle/>
          <a:p>
            <a:pPr indent="0" marL="0">
              <a:lnSpc>
                <a:spcPct val="108000"/>
              </a:lnSpc>
              <a:buNone/>
            </a:pPr>
            <a:r>
              <a:rPr lang="en-US" sz="1750" b="1" dirty="0">
                <a:solidFill>
                  <a:srgbClr val="0E1426"/>
                </a:solidFill>
                <a:latin typeface="Calibri" pitchFamily="34" charset="0"/>
                <a:ea typeface="Calibri" pitchFamily="34" charset="-122"/>
                <a:cs typeface="Calibri" pitchFamily="34" charset="-120"/>
              </a:rPr>
              <a:t>Katsayıyla çarpmayı unutmak.</a:t>
            </a:r>
            <a:endParaRPr lang="en-US" sz="1750" dirty="0"/>
          </a:p>
        </p:txBody>
      </p:sp>
      <p:sp>
        <p:nvSpPr>
          <p:cNvPr id="25" name="Shape 23"/>
          <p:cNvSpPr/>
          <p:nvPr/>
        </p:nvSpPr>
        <p:spPr>
          <a:xfrm>
            <a:off x="841248" y="4586097"/>
            <a:ext cx="310896" cy="310896"/>
          </a:xfrm>
          <a:prstGeom prst="roundRect">
            <a:avLst>
              <a:gd name="adj" fmla="val 26471"/>
            </a:avLst>
          </a:prstGeom>
          <a:solidFill>
            <a:srgbClr val="EAF7DC"/>
          </a:solidFill>
          <a:ln/>
        </p:spPr>
      </p:sp>
      <p:sp>
        <p:nvSpPr>
          <p:cNvPr id="26" name="Text 24"/>
          <p:cNvSpPr txBox="1"/>
          <p:nvPr/>
        </p:nvSpPr>
        <p:spPr>
          <a:xfrm>
            <a:off x="841248" y="4586097"/>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7" name="Text 25"/>
          <p:cNvSpPr txBox="1"/>
          <p:nvPr/>
        </p:nvSpPr>
        <p:spPr>
          <a:xfrm>
            <a:off x="1280160" y="4567809"/>
            <a:ext cx="4523080" cy="1448943"/>
          </a:xfrm>
          <a:prstGeom prst="rect">
            <a:avLst/>
          </a:prstGeom>
          <a:noFill/>
          <a:ln/>
        </p:spPr>
        <p:txBody>
          <a:bodyPr wrap="square" lIns="0" tIns="0" rIns="0" bIns="0" rtlCol="0" anchor="t"/>
          <a:lstStyle/>
          <a:p>
            <a:pPr indent="0" marL="0">
              <a:lnSpc>
                <a:spcPct val="108000"/>
              </a:lnSpc>
              <a:buNone/>
            </a:pPr>
            <a:r>
              <a:rPr lang="en-US" sz="1550" dirty="0">
                <a:solidFill>
                  <a:srgbClr val="4A5470"/>
                </a:solidFill>
                <a:latin typeface="Calibri" pitchFamily="34" charset="0"/>
                <a:ea typeface="Calibri" pitchFamily="34" charset="-122"/>
                <a:cs typeface="Calibri" pitchFamily="34" charset="-120"/>
              </a:rPr>
              <a:t> Tablodaki değer 1 mol içindir; denklemde 3H₂O(s) varsa 3 · (−285,8) = −857,4 kJ alınır.</a:t>
            </a:r>
            <a:endParaRPr lang="en-US" sz="1550" dirty="0"/>
          </a:p>
        </p:txBody>
      </p:sp>
      <p:sp>
        <p:nvSpPr>
          <p:cNvPr id="28" name="Shape 26"/>
          <p:cNvSpPr/>
          <p:nvPr/>
        </p:nvSpPr>
        <p:spPr>
          <a:xfrm>
            <a:off x="6205576"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9" name="Shape 27"/>
          <p:cNvSpPr/>
          <p:nvPr/>
        </p:nvSpPr>
        <p:spPr>
          <a:xfrm>
            <a:off x="6406744" y="4133088"/>
            <a:ext cx="310896" cy="310896"/>
          </a:xfrm>
          <a:prstGeom prst="roundRect">
            <a:avLst>
              <a:gd name="adj" fmla="val 26471"/>
            </a:avLst>
          </a:prstGeom>
          <a:solidFill>
            <a:srgbClr val="FBE9EE"/>
          </a:solidFill>
          <a:ln/>
        </p:spPr>
      </p:sp>
      <p:sp>
        <p:nvSpPr>
          <p:cNvPr id="30" name="Text 28"/>
          <p:cNvSpPr txBox="1"/>
          <p:nvPr/>
        </p:nvSpPr>
        <p:spPr>
          <a:xfrm>
            <a:off x="6406744"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31" name="Text 29"/>
          <p:cNvSpPr txBox="1"/>
          <p:nvPr/>
        </p:nvSpPr>
        <p:spPr>
          <a:xfrm>
            <a:off x="6845656" y="4096512"/>
            <a:ext cx="4523080" cy="379857"/>
          </a:xfrm>
          <a:prstGeom prst="rect">
            <a:avLst/>
          </a:prstGeom>
          <a:noFill/>
          <a:ln/>
        </p:spPr>
        <p:txBody>
          <a:bodyPr wrap="square" lIns="0" tIns="0" rIns="0" bIns="0" rtlCol="0" anchor="t"/>
          <a:lstStyle/>
          <a:p>
            <a:pPr indent="0" marL="0">
              <a:lnSpc>
                <a:spcPct val="108000"/>
              </a:lnSpc>
              <a:buNone/>
            </a:pPr>
            <a:r>
              <a:rPr lang="en-US" sz="1750" b="1" dirty="0">
                <a:solidFill>
                  <a:srgbClr val="0E1426"/>
                </a:solidFill>
                <a:latin typeface="Calibri" pitchFamily="34" charset="0"/>
                <a:ea typeface="Calibri" pitchFamily="34" charset="-122"/>
                <a:cs typeface="Calibri" pitchFamily="34" charset="-120"/>
              </a:rPr>
              <a:t>Girenlerden ürünleri çıkarmak.</a:t>
            </a:r>
            <a:endParaRPr lang="en-US" sz="1750" dirty="0"/>
          </a:p>
        </p:txBody>
      </p:sp>
      <p:sp>
        <p:nvSpPr>
          <p:cNvPr id="32" name="Shape 30"/>
          <p:cNvSpPr/>
          <p:nvPr/>
        </p:nvSpPr>
        <p:spPr>
          <a:xfrm>
            <a:off x="6406744" y="4586097"/>
            <a:ext cx="310896" cy="310896"/>
          </a:xfrm>
          <a:prstGeom prst="roundRect">
            <a:avLst>
              <a:gd name="adj" fmla="val 26471"/>
            </a:avLst>
          </a:prstGeom>
          <a:solidFill>
            <a:srgbClr val="EAF7DC"/>
          </a:solidFill>
          <a:ln/>
        </p:spPr>
      </p:sp>
      <p:sp>
        <p:nvSpPr>
          <p:cNvPr id="33" name="Text 31"/>
          <p:cNvSpPr txBox="1"/>
          <p:nvPr/>
        </p:nvSpPr>
        <p:spPr>
          <a:xfrm>
            <a:off x="6406744" y="4586097"/>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34" name="Text 32"/>
          <p:cNvSpPr txBox="1"/>
          <p:nvPr/>
        </p:nvSpPr>
        <p:spPr>
          <a:xfrm>
            <a:off x="6845656" y="4567809"/>
            <a:ext cx="4523080" cy="1448943"/>
          </a:xfrm>
          <a:prstGeom prst="rect">
            <a:avLst/>
          </a:prstGeom>
          <a:noFill/>
          <a:ln/>
        </p:spPr>
        <p:txBody>
          <a:bodyPr wrap="square" lIns="0" tIns="0" rIns="0" bIns="0" rtlCol="0" anchor="t"/>
          <a:lstStyle/>
          <a:p>
            <a:pPr indent="0" marL="0">
              <a:lnSpc>
                <a:spcPct val="108000"/>
              </a:lnSpc>
              <a:buNone/>
            </a:pPr>
            <a:r>
              <a:rPr lang="en-US" sz="1550" dirty="0">
                <a:solidFill>
                  <a:srgbClr val="4A5470"/>
                </a:solidFill>
                <a:latin typeface="Calibri" pitchFamily="34" charset="0"/>
                <a:ea typeface="Calibri" pitchFamily="34" charset="-122"/>
                <a:cs typeface="Calibri" pitchFamily="34" charset="-120"/>
              </a:rPr>
              <a:t> Oluşum entalpisiyle sıra “ürünler − girenler”dir. Bağ enerjisinde sıra terstir (kırılan − oluşan); ikisini karıştırmak sonucun işaretini ters çevirir.</a:t>
            </a:r>
            <a:endParaRPr lang="en-US" sz="1550" dirty="0"/>
          </a:p>
        </p:txBody>
      </p:sp>
      <p:sp>
        <p:nvSpPr>
          <p:cNvPr id="35" name="Shape 33"/>
          <p:cNvSpPr/>
          <p:nvPr/>
        </p:nvSpPr>
        <p:spPr>
          <a:xfrm>
            <a:off x="640080" y="6382512"/>
            <a:ext cx="128016" cy="128016"/>
          </a:xfrm>
          <a:prstGeom prst="roundRect">
            <a:avLst>
              <a:gd name="adj" fmla="val 28571"/>
            </a:avLst>
          </a:prstGeom>
          <a:solidFill>
            <a:srgbClr val="A9E648"/>
          </a:solidFill>
          <a:ln/>
        </p:spPr>
      </p:sp>
      <p:sp>
        <p:nvSpPr>
          <p:cNvPr id="36" name="Text 34"/>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37" name="Text 35"/>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151</a:t>
            </a:r>
            <a:endParaRPr lang="en-US" sz="1050"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C53455"/>
          </a:solidFill>
          <a:ln/>
          <a:effectLst>
            <a:outerShdw sx="100000" sy="100000" kx="0" ky="0" algn="bl" rotWithShape="0" blurRad="101600" dist="25400" dir="5400000">
              <a:srgbClr val="C53455">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Sık yapılan hatalar · 2 / 2</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6" name="Text 4"/>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Sınavda puan kaybettiren klasikler ve doğrusu.</a:t>
            </a:r>
            <a:endParaRPr lang="en-US" sz="1450" dirty="0"/>
          </a:p>
        </p:txBody>
      </p:sp>
      <p:sp>
        <p:nvSpPr>
          <p:cNvPr id="7" name="Shape 5"/>
          <p:cNvSpPr/>
          <p:nvPr/>
        </p:nvSpPr>
        <p:spPr>
          <a:xfrm>
            <a:off x="640080"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841248" y="1792224"/>
            <a:ext cx="310896" cy="310896"/>
          </a:xfrm>
          <a:prstGeom prst="roundRect">
            <a:avLst>
              <a:gd name="adj" fmla="val 26471"/>
            </a:avLst>
          </a:prstGeom>
          <a:solidFill>
            <a:srgbClr val="FBE9EE"/>
          </a:solidFill>
          <a:ln/>
        </p:spPr>
      </p:sp>
      <p:sp>
        <p:nvSpPr>
          <p:cNvPr id="9" name="Text 7"/>
          <p:cNvSpPr txBox="1"/>
          <p:nvPr/>
        </p:nvSpPr>
        <p:spPr>
          <a:xfrm>
            <a:off x="841248"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0" name="Text 8"/>
          <p:cNvSpPr txBox="1"/>
          <p:nvPr/>
        </p:nvSpPr>
        <p:spPr>
          <a:xfrm>
            <a:off x="1280160" y="1755648"/>
            <a:ext cx="4523080" cy="379857"/>
          </a:xfrm>
          <a:prstGeom prst="rect">
            <a:avLst/>
          </a:prstGeom>
          <a:noFill/>
          <a:ln/>
        </p:spPr>
        <p:txBody>
          <a:bodyPr wrap="square" lIns="0" tIns="0" rIns="0" bIns="0" rtlCol="0" anchor="t"/>
          <a:lstStyle/>
          <a:p>
            <a:pPr indent="0" marL="0">
              <a:lnSpc>
                <a:spcPct val="108000"/>
              </a:lnSpc>
              <a:buNone/>
            </a:pPr>
            <a:r>
              <a:rPr lang="en-US" sz="1750" b="1" dirty="0">
                <a:solidFill>
                  <a:srgbClr val="0E1426"/>
                </a:solidFill>
                <a:latin typeface="Calibri" pitchFamily="34" charset="0"/>
                <a:ea typeface="Calibri" pitchFamily="34" charset="-122"/>
                <a:cs typeface="Calibri" pitchFamily="34" charset="-120"/>
              </a:rPr>
              <a:t>Hâl simgesini atlamak.</a:t>
            </a:r>
            <a:endParaRPr lang="en-US" sz="1750" dirty="0"/>
          </a:p>
        </p:txBody>
      </p:sp>
      <p:sp>
        <p:nvSpPr>
          <p:cNvPr id="11" name="Shape 9"/>
          <p:cNvSpPr/>
          <p:nvPr/>
        </p:nvSpPr>
        <p:spPr>
          <a:xfrm>
            <a:off x="841248" y="2245233"/>
            <a:ext cx="310896" cy="310896"/>
          </a:xfrm>
          <a:prstGeom prst="roundRect">
            <a:avLst>
              <a:gd name="adj" fmla="val 26471"/>
            </a:avLst>
          </a:prstGeom>
          <a:solidFill>
            <a:srgbClr val="EAF7DC"/>
          </a:solidFill>
          <a:ln/>
        </p:spPr>
      </p:sp>
      <p:sp>
        <p:nvSpPr>
          <p:cNvPr id="12" name="Text 10"/>
          <p:cNvSpPr txBox="1"/>
          <p:nvPr/>
        </p:nvSpPr>
        <p:spPr>
          <a:xfrm>
            <a:off x="841248" y="2245233"/>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13" name="Text 11"/>
          <p:cNvSpPr txBox="1"/>
          <p:nvPr/>
        </p:nvSpPr>
        <p:spPr>
          <a:xfrm>
            <a:off x="1280160" y="2226945"/>
            <a:ext cx="4523080" cy="1448943"/>
          </a:xfrm>
          <a:prstGeom prst="rect">
            <a:avLst/>
          </a:prstGeom>
          <a:noFill/>
          <a:ln/>
        </p:spPr>
        <p:txBody>
          <a:bodyPr wrap="square" lIns="0" tIns="0" rIns="0" bIns="0" rtlCol="0" anchor="t"/>
          <a:lstStyle/>
          <a:p>
            <a:pPr indent="0" marL="0">
              <a:lnSpc>
                <a:spcPct val="108000"/>
              </a:lnSpc>
              <a:buNone/>
            </a:pPr>
            <a:r>
              <a:rPr lang="en-US" sz="1550" dirty="0">
                <a:solidFill>
                  <a:srgbClr val="4A5470"/>
                </a:solidFill>
                <a:latin typeface="Calibri" pitchFamily="34" charset="0"/>
                <a:ea typeface="Calibri" pitchFamily="34" charset="-122"/>
                <a:cs typeface="Calibri" pitchFamily="34" charset="-120"/>
              </a:rPr>
              <a:t> H₂O(s) −285,8, H₂O(g) −241,8 kJ/mol'dür; sorudaki hâle uygun satırı seç. Fark, mol başına 44 kJ'dir.</a:t>
            </a:r>
            <a:endParaRPr lang="en-US" sz="1550" dirty="0"/>
          </a:p>
        </p:txBody>
      </p:sp>
      <p:sp>
        <p:nvSpPr>
          <p:cNvPr id="14" name="Shape 12"/>
          <p:cNvSpPr/>
          <p:nvPr/>
        </p:nvSpPr>
        <p:spPr>
          <a:xfrm>
            <a:off x="6205576"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6406744" y="1792224"/>
            <a:ext cx="310896" cy="310896"/>
          </a:xfrm>
          <a:prstGeom prst="roundRect">
            <a:avLst>
              <a:gd name="adj" fmla="val 26471"/>
            </a:avLst>
          </a:prstGeom>
          <a:solidFill>
            <a:srgbClr val="FBE9EE"/>
          </a:solidFill>
          <a:ln/>
        </p:spPr>
      </p:sp>
      <p:sp>
        <p:nvSpPr>
          <p:cNvPr id="16" name="Text 14"/>
          <p:cNvSpPr txBox="1"/>
          <p:nvPr/>
        </p:nvSpPr>
        <p:spPr>
          <a:xfrm>
            <a:off x="6406744"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7" name="Text 15"/>
          <p:cNvSpPr txBox="1"/>
          <p:nvPr/>
        </p:nvSpPr>
        <p:spPr>
          <a:xfrm>
            <a:off x="6845656" y="1755648"/>
            <a:ext cx="4523080" cy="686562"/>
          </a:xfrm>
          <a:prstGeom prst="rect">
            <a:avLst/>
          </a:prstGeom>
          <a:noFill/>
          <a:ln/>
        </p:spPr>
        <p:txBody>
          <a:bodyPr wrap="square" lIns="0" tIns="0" rIns="0" bIns="0" rtlCol="0" anchor="t"/>
          <a:lstStyle/>
          <a:p>
            <a:pPr indent="0" marL="0">
              <a:lnSpc>
                <a:spcPct val="108000"/>
              </a:lnSpc>
              <a:buNone/>
            </a:pPr>
            <a:r>
              <a:rPr lang="en-US" sz="1750" b="1" dirty="0">
                <a:solidFill>
                  <a:srgbClr val="0E1426"/>
                </a:solidFill>
                <a:latin typeface="Calibri" pitchFamily="34" charset="0"/>
                <a:ea typeface="Calibri" pitchFamily="34" charset="-122"/>
                <a:cs typeface="Calibri" pitchFamily="34" charset="-120"/>
              </a:rPr>
              <a:t>1 mol ürün veren her denklemi oluşum denklemi saymak.</a:t>
            </a:r>
            <a:endParaRPr lang="en-US" sz="1750" dirty="0"/>
          </a:p>
        </p:txBody>
      </p:sp>
      <p:sp>
        <p:nvSpPr>
          <p:cNvPr id="18" name="Shape 16"/>
          <p:cNvSpPr/>
          <p:nvPr/>
        </p:nvSpPr>
        <p:spPr>
          <a:xfrm>
            <a:off x="6406744" y="2551938"/>
            <a:ext cx="310896" cy="310896"/>
          </a:xfrm>
          <a:prstGeom prst="roundRect">
            <a:avLst>
              <a:gd name="adj" fmla="val 26471"/>
            </a:avLst>
          </a:prstGeom>
          <a:solidFill>
            <a:srgbClr val="EAF7DC"/>
          </a:solidFill>
          <a:ln/>
        </p:spPr>
      </p:sp>
      <p:sp>
        <p:nvSpPr>
          <p:cNvPr id="19" name="Text 17"/>
          <p:cNvSpPr txBox="1"/>
          <p:nvPr/>
        </p:nvSpPr>
        <p:spPr>
          <a:xfrm>
            <a:off x="6406744" y="2551938"/>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0" name="Text 18"/>
          <p:cNvSpPr txBox="1"/>
          <p:nvPr/>
        </p:nvSpPr>
        <p:spPr>
          <a:xfrm>
            <a:off x="6845656" y="2533650"/>
            <a:ext cx="4523080" cy="1142238"/>
          </a:xfrm>
          <a:prstGeom prst="rect">
            <a:avLst/>
          </a:prstGeom>
          <a:noFill/>
          <a:ln/>
        </p:spPr>
        <p:txBody>
          <a:bodyPr wrap="square" lIns="0" tIns="0" rIns="0" bIns="0" rtlCol="0" anchor="t"/>
          <a:lstStyle/>
          <a:p>
            <a:pPr indent="0" marL="0">
              <a:lnSpc>
                <a:spcPct val="108000"/>
              </a:lnSpc>
              <a:buNone/>
            </a:pPr>
            <a:r>
              <a:rPr lang="en-US" sz="1550" dirty="0">
                <a:solidFill>
                  <a:srgbClr val="4A5470"/>
                </a:solidFill>
                <a:latin typeface="Calibri" pitchFamily="34" charset="0"/>
                <a:ea typeface="Calibri" pitchFamily="34" charset="-122"/>
                <a:cs typeface="Calibri" pitchFamily="34" charset="-120"/>
              </a:rPr>
              <a:t> CO(g) + ½O₂(g) → CO₂(g) ya da C(elmas) + O₂(g) → CO₂(g) oluşum denklemi değildir: girenler, elementlerin en kararlı hâlleri olmalıdır.</a:t>
            </a:r>
            <a:endParaRPr lang="en-US" sz="1550" dirty="0"/>
          </a:p>
        </p:txBody>
      </p:sp>
      <p:sp>
        <p:nvSpPr>
          <p:cNvPr id="21" name="Shape 19"/>
          <p:cNvSpPr/>
          <p:nvPr/>
        </p:nvSpPr>
        <p:spPr>
          <a:xfrm>
            <a:off x="640080"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841248" y="4133088"/>
            <a:ext cx="310896" cy="310896"/>
          </a:xfrm>
          <a:prstGeom prst="roundRect">
            <a:avLst>
              <a:gd name="adj" fmla="val 26471"/>
            </a:avLst>
          </a:prstGeom>
          <a:solidFill>
            <a:srgbClr val="FBE9EE"/>
          </a:solidFill>
          <a:ln/>
        </p:spPr>
      </p:sp>
      <p:sp>
        <p:nvSpPr>
          <p:cNvPr id="23" name="Text 21"/>
          <p:cNvSpPr txBox="1"/>
          <p:nvPr/>
        </p:nvSpPr>
        <p:spPr>
          <a:xfrm>
            <a:off x="841248"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24" name="Text 22"/>
          <p:cNvSpPr txBox="1"/>
          <p:nvPr/>
        </p:nvSpPr>
        <p:spPr>
          <a:xfrm>
            <a:off x="1280160" y="4096512"/>
            <a:ext cx="4523080" cy="686562"/>
          </a:xfrm>
          <a:prstGeom prst="rect">
            <a:avLst/>
          </a:prstGeom>
          <a:noFill/>
          <a:ln/>
        </p:spPr>
        <p:txBody>
          <a:bodyPr wrap="square" lIns="0" tIns="0" rIns="0" bIns="0" rtlCol="0" anchor="t"/>
          <a:lstStyle/>
          <a:p>
            <a:pPr indent="0" marL="0">
              <a:lnSpc>
                <a:spcPct val="108000"/>
              </a:lnSpc>
              <a:buNone/>
            </a:pPr>
            <a:r>
              <a:rPr lang="en-US" sz="1750" b="1" dirty="0">
                <a:solidFill>
                  <a:srgbClr val="0E1426"/>
                </a:solidFill>
                <a:latin typeface="Calibri" pitchFamily="34" charset="0"/>
                <a:ea typeface="Calibri" pitchFamily="34" charset="-122"/>
                <a:cs typeface="Calibri" pitchFamily="34" charset="-120"/>
              </a:rPr>
              <a:t>Standart koşulu normal koşulla karıştırmak.</a:t>
            </a:r>
            <a:endParaRPr lang="en-US" sz="1750" dirty="0"/>
          </a:p>
        </p:txBody>
      </p:sp>
      <p:sp>
        <p:nvSpPr>
          <p:cNvPr id="25" name="Shape 23"/>
          <p:cNvSpPr/>
          <p:nvPr/>
        </p:nvSpPr>
        <p:spPr>
          <a:xfrm>
            <a:off x="841248" y="4892802"/>
            <a:ext cx="310896" cy="310896"/>
          </a:xfrm>
          <a:prstGeom prst="roundRect">
            <a:avLst>
              <a:gd name="adj" fmla="val 26471"/>
            </a:avLst>
          </a:prstGeom>
          <a:solidFill>
            <a:srgbClr val="EAF7DC"/>
          </a:solidFill>
          <a:ln/>
        </p:spPr>
      </p:sp>
      <p:sp>
        <p:nvSpPr>
          <p:cNvPr id="26" name="Text 24"/>
          <p:cNvSpPr txBox="1"/>
          <p:nvPr/>
        </p:nvSpPr>
        <p:spPr>
          <a:xfrm>
            <a:off x="841248" y="4892802"/>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7" name="Text 25"/>
          <p:cNvSpPr txBox="1"/>
          <p:nvPr/>
        </p:nvSpPr>
        <p:spPr>
          <a:xfrm>
            <a:off x="1280160" y="4874514"/>
            <a:ext cx="4523080" cy="1142238"/>
          </a:xfrm>
          <a:prstGeom prst="rect">
            <a:avLst/>
          </a:prstGeom>
          <a:noFill/>
          <a:ln/>
        </p:spPr>
        <p:txBody>
          <a:bodyPr wrap="square" lIns="0" tIns="0" rIns="0" bIns="0" rtlCol="0" anchor="t"/>
          <a:lstStyle/>
          <a:p>
            <a:pPr indent="0" marL="0">
              <a:lnSpc>
                <a:spcPct val="108000"/>
              </a:lnSpc>
              <a:buNone/>
            </a:pPr>
            <a:r>
              <a:rPr lang="en-US" sz="1550" dirty="0">
                <a:solidFill>
                  <a:srgbClr val="4A5470"/>
                </a:solidFill>
                <a:latin typeface="Calibri" pitchFamily="34" charset="0"/>
                <a:ea typeface="Calibri" pitchFamily="34" charset="-122"/>
                <a:cs typeface="Calibri" pitchFamily="34" charset="-120"/>
              </a:rPr>
              <a:t> Standart koşullar 25 °C ve 1 atm'dir; 1 mol gazın 22,4 L geldiği normal koşullar ise 0 °C ve 1 atm'dir.</a:t>
            </a:r>
            <a:endParaRPr lang="en-US" sz="1550" dirty="0"/>
          </a:p>
        </p:txBody>
      </p:sp>
      <p:sp>
        <p:nvSpPr>
          <p:cNvPr id="28" name="Shape 26"/>
          <p:cNvSpPr/>
          <p:nvPr/>
        </p:nvSpPr>
        <p:spPr>
          <a:xfrm>
            <a:off x="6205576"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9" name="Shape 27"/>
          <p:cNvSpPr/>
          <p:nvPr/>
        </p:nvSpPr>
        <p:spPr>
          <a:xfrm>
            <a:off x="6406744" y="4133088"/>
            <a:ext cx="310896" cy="310896"/>
          </a:xfrm>
          <a:prstGeom prst="roundRect">
            <a:avLst>
              <a:gd name="adj" fmla="val 26471"/>
            </a:avLst>
          </a:prstGeom>
          <a:solidFill>
            <a:srgbClr val="FBE9EE"/>
          </a:solidFill>
          <a:ln/>
        </p:spPr>
      </p:sp>
      <p:sp>
        <p:nvSpPr>
          <p:cNvPr id="30" name="Text 28"/>
          <p:cNvSpPr txBox="1"/>
          <p:nvPr/>
        </p:nvSpPr>
        <p:spPr>
          <a:xfrm>
            <a:off x="6406744"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31" name="Text 29"/>
          <p:cNvSpPr txBox="1"/>
          <p:nvPr/>
        </p:nvSpPr>
        <p:spPr>
          <a:xfrm>
            <a:off x="6845656" y="4096512"/>
            <a:ext cx="4523080" cy="686562"/>
          </a:xfrm>
          <a:prstGeom prst="rect">
            <a:avLst/>
          </a:prstGeom>
          <a:noFill/>
          <a:ln/>
        </p:spPr>
        <p:txBody>
          <a:bodyPr wrap="square" lIns="0" tIns="0" rIns="0" bIns="0" rtlCol="0" anchor="t"/>
          <a:lstStyle/>
          <a:p>
            <a:pPr indent="0" marL="0">
              <a:lnSpc>
                <a:spcPct val="108000"/>
              </a:lnSpc>
              <a:buNone/>
            </a:pPr>
            <a:r>
              <a:rPr lang="en-US" sz="1750" b="1" dirty="0">
                <a:solidFill>
                  <a:srgbClr val="0E1426"/>
                </a:solidFill>
                <a:latin typeface="Calibri" pitchFamily="34" charset="0"/>
                <a:ea typeface="Calibri" pitchFamily="34" charset="-122"/>
                <a:cs typeface="Calibri" pitchFamily="34" charset="-120"/>
              </a:rPr>
              <a:t>ΔH°f'si çok eksi olan maddeyi iyi yakıt sanmak.</a:t>
            </a:r>
            <a:endParaRPr lang="en-US" sz="1750" dirty="0"/>
          </a:p>
        </p:txBody>
      </p:sp>
      <p:sp>
        <p:nvSpPr>
          <p:cNvPr id="32" name="Shape 30"/>
          <p:cNvSpPr/>
          <p:nvPr/>
        </p:nvSpPr>
        <p:spPr>
          <a:xfrm>
            <a:off x="6406744" y="4892802"/>
            <a:ext cx="310896" cy="310896"/>
          </a:xfrm>
          <a:prstGeom prst="roundRect">
            <a:avLst>
              <a:gd name="adj" fmla="val 26471"/>
            </a:avLst>
          </a:prstGeom>
          <a:solidFill>
            <a:srgbClr val="EAF7DC"/>
          </a:solidFill>
          <a:ln/>
        </p:spPr>
      </p:sp>
      <p:sp>
        <p:nvSpPr>
          <p:cNvPr id="33" name="Text 31"/>
          <p:cNvSpPr txBox="1"/>
          <p:nvPr/>
        </p:nvSpPr>
        <p:spPr>
          <a:xfrm>
            <a:off x="6406744" y="4892802"/>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34" name="Text 32"/>
          <p:cNvSpPr txBox="1"/>
          <p:nvPr/>
        </p:nvSpPr>
        <p:spPr>
          <a:xfrm>
            <a:off x="6845656" y="4874514"/>
            <a:ext cx="4523080" cy="1142238"/>
          </a:xfrm>
          <a:prstGeom prst="rect">
            <a:avLst/>
          </a:prstGeom>
          <a:noFill/>
          <a:ln/>
        </p:spPr>
        <p:txBody>
          <a:bodyPr wrap="square" lIns="0" tIns="0" rIns="0" bIns="0" rtlCol="0" anchor="t"/>
          <a:lstStyle/>
          <a:p>
            <a:pPr indent="0" marL="0">
              <a:lnSpc>
                <a:spcPct val="108000"/>
              </a:lnSpc>
              <a:buNone/>
            </a:pPr>
            <a:r>
              <a:rPr lang="en-US" sz="1550" dirty="0">
                <a:solidFill>
                  <a:srgbClr val="4A5470"/>
                </a:solidFill>
                <a:latin typeface="Calibri" pitchFamily="34" charset="0"/>
                <a:ea typeface="Calibri" pitchFamily="34" charset="-122"/>
                <a:cs typeface="Calibri" pitchFamily="34" charset="-120"/>
              </a:rPr>
              <a:t> CO₂ (−393,5) ve H₂O (−285,8) zaten “yanmış” maddelerdir, yanarak ısı veremez. İyi bir yakıtın ΔH°f'si sıfıra yakındır, yanma ürünlerininki ise çok aşağıdadır.</a:t>
            </a:r>
            <a:endParaRPr lang="en-US" sz="1550" dirty="0"/>
          </a:p>
        </p:txBody>
      </p:sp>
      <p:sp>
        <p:nvSpPr>
          <p:cNvPr id="35" name="Shape 33"/>
          <p:cNvSpPr/>
          <p:nvPr/>
        </p:nvSpPr>
        <p:spPr>
          <a:xfrm>
            <a:off x="640080" y="6382512"/>
            <a:ext cx="128016" cy="128016"/>
          </a:xfrm>
          <a:prstGeom prst="roundRect">
            <a:avLst>
              <a:gd name="adj" fmla="val 28571"/>
            </a:avLst>
          </a:prstGeom>
          <a:solidFill>
            <a:srgbClr val="A9E648"/>
          </a:solidFill>
          <a:ln/>
        </p:spPr>
      </p:sp>
      <p:sp>
        <p:nvSpPr>
          <p:cNvPr id="36" name="Text 34"/>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dersler.perinet.org/olusum-entalpisi.html</a:t>
            </a:r>
            <a:endParaRPr lang="en-US" sz="1050" dirty="0"/>
          </a:p>
        </p:txBody>
      </p:sp>
      <p:sp>
        <p:nvSpPr>
          <p:cNvPr id="37" name="Text 35"/>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152</a:t>
            </a:r>
            <a:endParaRPr lang="en-US" sz="1050"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bg>
      <p:bgPr>
        <a:solidFill>
          <a:srgbClr val="0E1426"/>
        </a:solidFill>
      </p:bgPr>
    </p:bg>
    <p:spTree>
      <p:nvGrpSpPr>
        <p:cNvPr id="1" name=""/>
        <p:cNvGrpSpPr/>
        <p:nvPr/>
      </p:nvGrpSpPr>
      <p:grpSpPr>
        <a:xfrm>
          <a:off x="0" y="0"/>
          <a:ext cx="0" cy="0"/>
          <a:chOff x="0" y="0"/>
          <a:chExt cx="0" cy="0"/>
        </a:xfrm>
      </p:grpSpPr>
      <p:sp>
        <p:nvSpPr>
          <p:cNvPr id="2" name="Shape 0"/>
          <p:cNvSpPr/>
          <p:nvPr/>
        </p:nvSpPr>
        <p:spPr>
          <a:xfrm>
            <a:off x="868680" y="1143000"/>
            <a:ext cx="54864" cy="548640"/>
          </a:xfrm>
          <a:prstGeom prst="rect">
            <a:avLst/>
          </a:prstGeom>
          <a:solidFill>
            <a:srgbClr val="C6F36B"/>
          </a:solidFill>
          <a:ln/>
        </p:spPr>
      </p:sp>
      <p:sp>
        <p:nvSpPr>
          <p:cNvPr id="3" name="Text 1"/>
          <p:cNvSpPr txBox="1"/>
          <p:nvPr/>
        </p:nvSpPr>
        <p:spPr>
          <a:xfrm>
            <a:off x="1097280" y="1005840"/>
            <a:ext cx="5486400" cy="822960"/>
          </a:xfrm>
          <a:prstGeom prst="rect">
            <a:avLst/>
          </a:prstGeom>
          <a:noFill/>
          <a:ln/>
        </p:spPr>
        <p:txBody>
          <a:bodyPr wrap="square" lIns="0" tIns="0" rIns="0" bIns="0" rtlCol="0" anchor="ctr"/>
          <a:lstStyle/>
          <a:p>
            <a:pPr indent="0" marL="0">
              <a:buNone/>
            </a:pPr>
            <a:r>
              <a:rPr lang="en-US" sz="4000" b="1" spc="-100" kern="0" dirty="0">
                <a:solidFill>
                  <a:srgbClr val="FFFFFF"/>
                </a:solidFill>
                <a:latin typeface="Cambria" pitchFamily="34" charset="0"/>
                <a:ea typeface="Cambria" pitchFamily="34" charset="-122"/>
                <a:cs typeface="Cambria" pitchFamily="34" charset="-120"/>
              </a:rPr>
              <a:t>Özetle</a:t>
            </a:r>
            <a:endParaRPr lang="en-US" sz="4000" dirty="0"/>
          </a:p>
        </p:txBody>
      </p:sp>
      <p:sp>
        <p:nvSpPr>
          <p:cNvPr id="4" name="Text 2"/>
          <p:cNvSpPr txBox="1"/>
          <p:nvPr/>
        </p:nvSpPr>
        <p:spPr>
          <a:xfrm>
            <a:off x="868680" y="2057400"/>
            <a:ext cx="4572000"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AKLINDA KALSIN</a:t>
            </a:r>
            <a:endParaRPr lang="en-US" sz="1050" dirty="0"/>
          </a:p>
        </p:txBody>
      </p:sp>
      <p:sp>
        <p:nvSpPr>
          <p:cNvPr id="5" name="Text 3"/>
          <p:cNvSpPr txBox="1"/>
          <p:nvPr/>
        </p:nvSpPr>
        <p:spPr>
          <a:xfrm>
            <a:off x="868680" y="2450592"/>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01</a:t>
            </a:r>
            <a:endParaRPr lang="en-US" sz="1800" dirty="0"/>
          </a:p>
        </p:txBody>
      </p:sp>
      <p:sp>
        <p:nvSpPr>
          <p:cNvPr id="6" name="Text 4"/>
          <p:cNvSpPr txBox="1"/>
          <p:nvPr/>
        </p:nvSpPr>
        <p:spPr>
          <a:xfrm>
            <a:off x="1463040" y="2450592"/>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Standart koşul </a:t>
            </a:r>
            <a:pPr indent="0" marL="0">
              <a:buNone/>
            </a:pPr>
            <a:r>
              <a:rPr lang="en-US" sz="1500" b="1" dirty="0">
                <a:solidFill>
                  <a:srgbClr val="FFFFFF"/>
                </a:solidFill>
                <a:latin typeface="Calibri" pitchFamily="34" charset="0"/>
                <a:ea typeface="Calibri" pitchFamily="34" charset="-122"/>
                <a:cs typeface="Calibri" pitchFamily="34" charset="-120"/>
              </a:rPr>
              <a:t>25 °C, 1 atm</a:t>
            </a:r>
            <a:endParaRPr lang="en-US" sz="1500" dirty="0"/>
          </a:p>
        </p:txBody>
      </p:sp>
      <p:sp>
        <p:nvSpPr>
          <p:cNvPr id="7" name="Text 5"/>
          <p:cNvSpPr txBox="1"/>
          <p:nvPr/>
        </p:nvSpPr>
        <p:spPr>
          <a:xfrm>
            <a:off x="868680" y="3236976"/>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02</a:t>
            </a:r>
            <a:endParaRPr lang="en-US" sz="1800" dirty="0"/>
          </a:p>
        </p:txBody>
      </p:sp>
      <p:sp>
        <p:nvSpPr>
          <p:cNvPr id="8" name="Text 6"/>
          <p:cNvSpPr txBox="1"/>
          <p:nvPr/>
        </p:nvSpPr>
        <p:spPr>
          <a:xfrm>
            <a:off x="1463040" y="3236976"/>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Kararlı element </a:t>
            </a:r>
            <a:pPr indent="0" marL="0">
              <a:buNone/>
            </a:pPr>
            <a:r>
              <a:rPr lang="en-US" sz="1500" b="1" dirty="0">
                <a:solidFill>
                  <a:srgbClr val="FFFFFF"/>
                </a:solidFill>
                <a:latin typeface="Calibri" pitchFamily="34" charset="0"/>
                <a:ea typeface="Calibri" pitchFamily="34" charset="-122"/>
                <a:cs typeface="Calibri" pitchFamily="34" charset="-120"/>
              </a:rPr>
              <a:t>ΔH°f = 0</a:t>
            </a:r>
            <a:endParaRPr lang="en-US" sz="1500" dirty="0"/>
          </a:p>
        </p:txBody>
      </p:sp>
      <p:sp>
        <p:nvSpPr>
          <p:cNvPr id="9" name="Text 7"/>
          <p:cNvSpPr txBox="1"/>
          <p:nvPr/>
        </p:nvSpPr>
        <p:spPr>
          <a:xfrm>
            <a:off x="868680" y="4023360"/>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03</a:t>
            </a:r>
            <a:endParaRPr lang="en-US" sz="1800" dirty="0"/>
          </a:p>
        </p:txBody>
      </p:sp>
      <p:sp>
        <p:nvSpPr>
          <p:cNvPr id="10" name="Text 8"/>
          <p:cNvSpPr txBox="1"/>
          <p:nvPr/>
        </p:nvSpPr>
        <p:spPr>
          <a:xfrm>
            <a:off x="1463040" y="4023360"/>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Elmas </a:t>
            </a:r>
            <a:pPr indent="0" marL="0">
              <a:buNone/>
            </a:pPr>
            <a:r>
              <a:rPr lang="en-US" sz="1500" b="1" dirty="0">
                <a:solidFill>
                  <a:srgbClr val="FFFFFF"/>
                </a:solidFill>
                <a:latin typeface="Calibri" pitchFamily="34" charset="0"/>
                <a:ea typeface="Calibri" pitchFamily="34" charset="-122"/>
                <a:cs typeface="Calibri" pitchFamily="34" charset="-120"/>
              </a:rPr>
              <a:t>+1,9 kJ/mol</a:t>
            </a:r>
            <a:endParaRPr lang="en-US" sz="1500" dirty="0"/>
          </a:p>
        </p:txBody>
      </p:sp>
      <p:sp>
        <p:nvSpPr>
          <p:cNvPr id="11" name="Text 9"/>
          <p:cNvSpPr txBox="1"/>
          <p:nvPr/>
        </p:nvSpPr>
        <p:spPr>
          <a:xfrm>
            <a:off x="868680" y="4809744"/>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04</a:t>
            </a:r>
            <a:endParaRPr lang="en-US" sz="1800" dirty="0"/>
          </a:p>
        </p:txBody>
      </p:sp>
      <p:sp>
        <p:nvSpPr>
          <p:cNvPr id="12" name="Text 10"/>
          <p:cNvSpPr txBox="1"/>
          <p:nvPr/>
        </p:nvSpPr>
        <p:spPr>
          <a:xfrm>
            <a:off x="1463040" y="4809744"/>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ΔH° = </a:t>
            </a:r>
            <a:pPr indent="0" marL="0">
              <a:buNone/>
            </a:pPr>
            <a:r>
              <a:rPr lang="en-US" sz="1500" b="1" dirty="0">
                <a:solidFill>
                  <a:srgbClr val="FFFFFF"/>
                </a:solidFill>
                <a:latin typeface="Calibri" pitchFamily="34" charset="0"/>
                <a:ea typeface="Calibri" pitchFamily="34" charset="-122"/>
                <a:cs typeface="Calibri" pitchFamily="34" charset="-120"/>
              </a:rPr>
              <a:t>ürünler − girenler</a:t>
            </a:r>
            <a:endParaRPr lang="en-US" sz="1500" dirty="0"/>
          </a:p>
        </p:txBody>
      </p:sp>
      <p:sp>
        <p:nvSpPr>
          <p:cNvPr id="13" name="Text 11"/>
          <p:cNvSpPr txBox="1"/>
          <p:nvPr/>
        </p:nvSpPr>
        <p:spPr>
          <a:xfrm>
            <a:off x="6446520" y="2057400"/>
            <a:ext cx="4572000"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TEMEL BAĞINTILAR</a:t>
            </a:r>
            <a:endParaRPr lang="en-US" sz="1050" dirty="0"/>
          </a:p>
        </p:txBody>
      </p:sp>
      <p:sp>
        <p:nvSpPr>
          <p:cNvPr id="14" name="Shape 12"/>
          <p:cNvSpPr/>
          <p:nvPr/>
        </p:nvSpPr>
        <p:spPr>
          <a:xfrm>
            <a:off x="6446520" y="2395728"/>
            <a:ext cx="5105095" cy="694944"/>
          </a:xfrm>
          <a:prstGeom prst="roundRect">
            <a:avLst>
              <a:gd name="adj" fmla="val 13158"/>
            </a:avLst>
          </a:prstGeom>
          <a:solidFill>
            <a:srgbClr val="1C2542"/>
          </a:solidFill>
          <a:ln w="9525">
            <a:solidFill>
              <a:srgbClr val="2C3860"/>
            </a:solidFill>
            <a:prstDash val="solid"/>
          </a:ln>
        </p:spPr>
      </p:sp>
      <p:sp>
        <p:nvSpPr>
          <p:cNvPr id="15" name="Text 13"/>
          <p:cNvSpPr txBox="1"/>
          <p:nvPr/>
        </p:nvSpPr>
        <p:spPr>
          <a:xfrm>
            <a:off x="6647688" y="2395728"/>
            <a:ext cx="2910535"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ΔH° = ΣnΔH°f(ürün) − ΣnΔH°f(giren)</a:t>
            </a:r>
            <a:endParaRPr lang="en-US" sz="1350" dirty="0"/>
          </a:p>
        </p:txBody>
      </p:sp>
      <p:sp>
        <p:nvSpPr>
          <p:cNvPr id="16" name="Text 14"/>
          <p:cNvSpPr txBox="1"/>
          <p:nvPr/>
        </p:nvSpPr>
        <p:spPr>
          <a:xfrm>
            <a:off x="9631375" y="2395728"/>
            <a:ext cx="1737360"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tepkime entalpisi</a:t>
            </a:r>
            <a:endParaRPr lang="en-US" sz="1200" dirty="0"/>
          </a:p>
        </p:txBody>
      </p:sp>
      <p:sp>
        <p:nvSpPr>
          <p:cNvPr id="17" name="Shape 15"/>
          <p:cNvSpPr/>
          <p:nvPr/>
        </p:nvSpPr>
        <p:spPr>
          <a:xfrm>
            <a:off x="6446520" y="3218688"/>
            <a:ext cx="5105095" cy="694944"/>
          </a:xfrm>
          <a:prstGeom prst="roundRect">
            <a:avLst>
              <a:gd name="adj" fmla="val 13158"/>
            </a:avLst>
          </a:prstGeom>
          <a:solidFill>
            <a:srgbClr val="1C2542"/>
          </a:solidFill>
          <a:ln w="9525">
            <a:solidFill>
              <a:srgbClr val="2C3860"/>
            </a:solidFill>
            <a:prstDash val="solid"/>
          </a:ln>
        </p:spPr>
      </p:sp>
      <p:sp>
        <p:nvSpPr>
          <p:cNvPr id="18" name="Text 16"/>
          <p:cNvSpPr txBox="1"/>
          <p:nvPr/>
        </p:nvSpPr>
        <p:spPr>
          <a:xfrm>
            <a:off x="6647688" y="3218688"/>
            <a:ext cx="2903220"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ΔH°f(kararlı element) = 0</a:t>
            </a:r>
            <a:endParaRPr lang="en-US" sz="1350" dirty="0"/>
          </a:p>
        </p:txBody>
      </p:sp>
      <p:sp>
        <p:nvSpPr>
          <p:cNvPr id="19" name="Text 17"/>
          <p:cNvSpPr txBox="1"/>
          <p:nvPr/>
        </p:nvSpPr>
        <p:spPr>
          <a:xfrm>
            <a:off x="9624060" y="3218688"/>
            <a:ext cx="1744675"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başlangıç noktası</a:t>
            </a:r>
            <a:endParaRPr lang="en-US" sz="1200" dirty="0"/>
          </a:p>
        </p:txBody>
      </p:sp>
      <p:sp>
        <p:nvSpPr>
          <p:cNvPr id="20" name="Shape 18"/>
          <p:cNvSpPr/>
          <p:nvPr/>
        </p:nvSpPr>
        <p:spPr>
          <a:xfrm>
            <a:off x="6446520" y="4041648"/>
            <a:ext cx="5105095" cy="694944"/>
          </a:xfrm>
          <a:prstGeom prst="roundRect">
            <a:avLst>
              <a:gd name="adj" fmla="val 13158"/>
            </a:avLst>
          </a:prstGeom>
          <a:solidFill>
            <a:srgbClr val="1C2542"/>
          </a:solidFill>
          <a:ln w="9525">
            <a:solidFill>
              <a:srgbClr val="2C3860"/>
            </a:solidFill>
            <a:prstDash val="solid"/>
          </a:ln>
        </p:spPr>
      </p:sp>
      <p:sp>
        <p:nvSpPr>
          <p:cNvPr id="21" name="Text 19"/>
          <p:cNvSpPr txBox="1"/>
          <p:nvPr/>
        </p:nvSpPr>
        <p:spPr>
          <a:xfrm>
            <a:off x="6647688" y="4041648"/>
            <a:ext cx="1463040"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Q = n·|ΔH|</a:t>
            </a:r>
            <a:endParaRPr lang="en-US" sz="1350" dirty="0"/>
          </a:p>
        </p:txBody>
      </p:sp>
      <p:sp>
        <p:nvSpPr>
          <p:cNvPr id="22" name="Text 20"/>
          <p:cNvSpPr txBox="1"/>
          <p:nvPr/>
        </p:nvSpPr>
        <p:spPr>
          <a:xfrm>
            <a:off x="8183880" y="4041648"/>
            <a:ext cx="3184855"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n mol için ısı</a:t>
            </a:r>
            <a:endParaRPr lang="en-US" sz="1200" dirty="0"/>
          </a:p>
        </p:txBody>
      </p:sp>
      <p:sp>
        <p:nvSpPr>
          <p:cNvPr id="23" name="Shape 21"/>
          <p:cNvSpPr/>
          <p:nvPr/>
        </p:nvSpPr>
        <p:spPr>
          <a:xfrm>
            <a:off x="6446520" y="4864608"/>
            <a:ext cx="5105095" cy="694944"/>
          </a:xfrm>
          <a:prstGeom prst="roundRect">
            <a:avLst>
              <a:gd name="adj" fmla="val 13158"/>
            </a:avLst>
          </a:prstGeom>
          <a:solidFill>
            <a:srgbClr val="1C2542"/>
          </a:solidFill>
          <a:ln w="9525">
            <a:solidFill>
              <a:srgbClr val="2C3860"/>
            </a:solidFill>
            <a:prstDash val="solid"/>
          </a:ln>
        </p:spPr>
      </p:sp>
      <p:sp>
        <p:nvSpPr>
          <p:cNvPr id="24" name="Text 22"/>
          <p:cNvSpPr txBox="1"/>
          <p:nvPr/>
        </p:nvSpPr>
        <p:spPr>
          <a:xfrm>
            <a:off x="6647688" y="4864608"/>
            <a:ext cx="1956816"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n = m/M = V/22,4</a:t>
            </a:r>
            <a:endParaRPr lang="en-US" sz="1350" dirty="0"/>
          </a:p>
        </p:txBody>
      </p:sp>
      <p:sp>
        <p:nvSpPr>
          <p:cNvPr id="25" name="Text 23"/>
          <p:cNvSpPr txBox="1"/>
          <p:nvPr/>
        </p:nvSpPr>
        <p:spPr>
          <a:xfrm>
            <a:off x="8677656" y="4864608"/>
            <a:ext cx="2691079"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mol sayısı (gaz, NK)</a:t>
            </a:r>
            <a:endParaRPr lang="en-US" sz="1200" dirty="0"/>
          </a:p>
        </p:txBody>
      </p:sp>
      <p:sp>
        <p:nvSpPr>
          <p:cNvPr id="26" name="Shape 24"/>
          <p:cNvSpPr/>
          <p:nvPr/>
        </p:nvSpPr>
        <p:spPr>
          <a:xfrm>
            <a:off x="868680" y="5806440"/>
            <a:ext cx="10058400" cy="566928"/>
          </a:xfrm>
          <a:prstGeom prst="roundRect">
            <a:avLst>
              <a:gd name="adj" fmla="val 16129"/>
            </a:avLst>
          </a:prstGeom>
          <a:solidFill>
            <a:srgbClr val="1C2542"/>
          </a:solidFill>
          <a:ln w="9525">
            <a:solidFill>
              <a:srgbClr val="2C3860"/>
            </a:solidFill>
            <a:prstDash val="solid"/>
          </a:ln>
        </p:spPr>
      </p:sp>
      <p:sp>
        <p:nvSpPr>
          <p:cNvPr id="27" name="Text 25"/>
          <p:cNvSpPr txBox="1"/>
          <p:nvPr/>
        </p:nvSpPr>
        <p:spPr>
          <a:xfrm>
            <a:off x="1188720" y="5806440"/>
            <a:ext cx="9418320" cy="566928"/>
          </a:xfrm>
          <a:prstGeom prst="rect">
            <a:avLst/>
          </a:prstGeom>
          <a:noFill/>
          <a:ln/>
        </p:spPr>
        <p:txBody>
          <a:bodyPr wrap="square" lIns="0" tIns="0" rIns="0" bIns="0" rtlCol="0" anchor="ctr"/>
          <a:lstStyle/>
          <a:p>
            <a:pPr indent="0" marL="0">
              <a:buNone/>
            </a:pPr>
            <a:r>
              <a:rPr lang="en-US" sz="1300" dirty="0">
                <a:solidFill>
                  <a:srgbClr val="AEBBD6"/>
                </a:solidFill>
                <a:latin typeface="Calibri" pitchFamily="34" charset="0"/>
                <a:ea typeface="Calibri" pitchFamily="34" charset="-122"/>
                <a:cs typeface="Calibri" pitchFamily="34" charset="-120"/>
              </a:rPr>
              <a:t>Etkileşimli deneyler, canlı grafikler ve hızlı test:  </a:t>
            </a:r>
            <a:pPr indent="0" marL="0">
              <a:buNone/>
            </a:pPr>
            <a:r>
              <a:rPr lang="en-US" sz="1300" b="1" dirty="0">
                <a:solidFill>
                  <a:srgbClr val="C6F36B"/>
                </a:solidFill>
                <a:latin typeface="Calibri" pitchFamily="34" charset="0"/>
                <a:ea typeface="Calibri" pitchFamily="34" charset="-122"/>
                <a:cs typeface="Calibri" pitchFamily="34" charset="-120"/>
              </a:rPr>
              <a:t>dersler.perinet.org/olusum-entalpisi.html</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153</Slides>
  <Notes>153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153</vt:i4>
      </vt:variant>
    </vt:vector>
  </HeadingPairs>
  <TitlesOfParts>
    <vt:vector size="1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vector>
  </TitlesOfParts>
  <Company>dersler.perinet.org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Standart oluşum ve tepkime entalpisi — Dersler</dc:title>
  <dc:subject>Kimya · Kimyasal Tepkimelerde Enerji</dc:subject>
  <dc:creator>Dersler</dc:creator>
  <cp:lastModifiedBy>Dersler</cp:lastModifiedBy>
  <cp:revision>1</cp:revision>
  <dcterms:created xsi:type="dcterms:W3CDTF">2026-10-02T16:20:20Z</dcterms:created>
  <dcterms:modified xsi:type="dcterms:W3CDTF">2026-10-02T16:20:20Z</dcterms:modified>
</cp:coreProperties>
</file>