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Bardaktaki kaşık neden kırık görünür? Havuzun dibi neden göründüğünden derindir? Işık bir ortamdan diğerine geçerken hız değiştirir ve bu yüzden yol değiştirir — tıpkı asfalttan kuma giren bir arabanın bir tekeri önce yavaşlayınca dönmesi gibi. Gözlükten gökkuşağına, fiber optikten seraba kadar bu konudaki her şey tek bir bağıntıdan çıkar: n₁·sin i = n₂·sin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Bardaktaki kaşık neden kırık görünür? Havuzun dibi neden göründüğünden derindir? Işık bir ortamdan diğerine geçerken hız değiştirir ve bu yüzden yol değiştirir — tıpkı asfalttan kuma giren bir arabanın bir tekeri önce yavaşlayınca dönmesi gibi. Gözlükten gökkuşağına, fiber optikten seraba kadar bu konudaki her şey tek bir bağıntıdan çıkar: n₁·sin i = n₂·sin 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Kırılma nedir?
2. Kırılma indisi
3. Snell yasası
4. Hız, dalga boyu ve frekans
5. Tam yansıma ve sınır açı
6. Paralel kenarlı levhada yandan kayma
7. Günlük hayatta kırılma
8. Çözümlü örnekler
9.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Kırılma nedir?
Işık, saydam bir ortamdan başka bir saydam ortama geçerken hızı değişir. Sınıra eğik geldiyse bu hız değişimi doğrultusunu da değiştirir; bu olaya kırılma denir.
• Sınıra dik gelen ışın (i = 0) kırılmaz, doğrultusunu korur; yalnızca hızı değişir.
• Kırılan ışın, gelen ışın ve normal aynı düzlemdedir.
• Kırılma sırasında ışığın bir kısmı her zaman yansır.
Çizim: Açılar her zaman normalden ölçülür, yüzeyden değil. Işık daha yoğun bir ortama geçerken yavaşlar ve normale yaklaşır (r &lt; i); daha az yoğun bir ortama geçerken hızlanır ve normalden uzaklaşır. Yüzeye dik gelen ışın (i = 0) hiç kırılmaz, doğrultusunu korur. Işığın bir kısmı her zaman yansır da — bu yüzden camda kendi yansımanı görebilirsin.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Kırılma indisi
Bir ortamın kırılma indisi, ışığın boşluktaki hızının o ortamdaki hızına oranıdır:
n = c / v   c = 3·10⁸ m/s
Ortam | n | Işığın hızı
Boşluk / hava | 1,00 | 3,00·10⁸ m/s
Su | 1,33 | 2,26·10⁸ m/s
Cam | 1,50 | 2,00·10⁸ m/s
Elmas | 2,42 | 1,24·10⁸ m/s
İndisi büyük olan ortama çok yoğun, küçük olana az yoğun ortam denir. Bu “yoğunluk” kütle yoğunluğu değil, optik yoğunluktur.
Çizim: Kırılma indisi, ışığın o ortamda ne kadar yavaşladığını söyler: n = c/v. İki çubuk birbirinin aynadaki görüntüsü gibidir — indis büyüdükçe hız küçülür. Elmasta ışık boşluktakinin yalnızca %41'i kadar hızlı ilerler; elmasın o çarpıcı parlaklığı ve ışığı içinde hapsetmesi bu yüksek indisin sonucudur.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Snell yasası
n₁ · sin i = n₂ · sin r
• Az yoğundan çok yoğuna (n₁ &lt; n₂): ışın normale yaklaşır, r &lt; i.
• Çok yoğundan az yoğuna (n₁ &gt; n₂): ışın normalden uzaklaşır, r &gt; i.
• i = 0 ise r = 0: dik gelen ışın kırılmaz.
Hatırlatma: Açılar yine normalle ölçülür. Soruda “yüzeyle 30° açı yapıyor” deniyorsa gelme açısı 60°'dir.
Çizim: Snell yasası her iki yönde de aynıdır: n₁·sin i = n₂·sin r. Hangi tarafın indisi büyükse, o taraftaki açı küçüktür — yani ışın yoğun ortamda normale daha yakın gider. Bunu ezberlemek yerine şöyle düşün: yavaşlayan taraf normale yanaşır.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Hız, dalga boyu ve frekans
Kırılmada değişenler ve değişmeyenler:
Büyüklük | Kırılmada
Frekans (f) | değişmez — kaynağa bağlıdır
Hız (v) | değişir: v = c/n
Dalga boyu (λ) | değişir: λ = λ₀/n
Renk | değişmez (frekans değişmediği için)
v = λ · f   n₁/n₂ = v₂/v₁ = λ₂/λ₁
Cephe modeli kırılmayı sezgisel yapar: dalga cephesinin bir ucu yavaşlarken öteki ucu hızlı gittiği için cephe döner ve ışın yön değiştirir.
Çizim: Dalga cepheleri yoğun ortama girince sıklaşır: hız düştüğü için aynı sürede daha kısa yol alınır, yani dalga boyu küçülür. Ama frekans değişmez — saniyede kaç cephenin sınırdan geçtiği, kaynağın saniyede kaç dalga ürettiğine bağlıdır ve ortam bunu değiştiremez. Rengin değişmemesinin sebebi de budur: renk frekansla belirlenir.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yansıma ve sınır açı
Işık çok yoğun ortamdan az yoğun ortama geçerken kırılma açısı gelme açısından büyüktür. Gelme açısı artırıldıkça kırılan ışın yüzeye yaklaşır; belli bir açıda kırılma açısı 90° olur. Bu açıya sınır açı denir.
sin θ(sınır) = n₂ / n₁
• Gelme açısı sınır açıdan büyükse ışık ortamı terk edemez; tamamı yansır. Buna tam yansıma denir.
• Tam yansıma yalnızca çok yoğundan az yoğuna geçişte olur.
• Su–hava için sınır açı ≈ 48,8°; cam–hava için ≈ 41,8°; elmas–hava için ≈ 24,4°.
Elmasın parlaklığı bu küçük sınır açıdan gelir: içeri giren ışık defalarca tam yansımaya uğrar ve ancak belirli yüzlerden dışarı çıkabilir. Fiber optik kablo da aynı ilkeyle çalışır.
Çizim: Yoğun ortamdan çıkarken ışın normalden uzaklaşır; geliş açısını büyüttükçe kırılan ışın yüzeye iyice yatar. Sınır açıda kırılma açısı 90° olur ve ışın tam yüzey boyunca gider. Bu açıyı bir derece bile aşarsan ışık dışarı hiç çıkamaz, tamamen geri yansır. Fiber optik kabloların, elmasın parıltısının ve serapların ortak sırrı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Paralel kenarlı levhada yandan kayma
Işık paralel yüzlü bir cam levhaya girerken normale yaklaşır, çıkarken aynı açıyla uzaklaşır. Sonuçta çıkan ışın gelen ışına paraleldir, ama yanal olarak kaymıştır:
d = t · sin(i − r) / cos r
Kalınlık ve gelme açısı arttıkça kayma büyür. Dik gelişte (i = 0) kayma sıfırdır.
Çizim: Levhaya giren ışın normale yaklaşır, çıkarken tam o kadar normalden uzaklaşır: iki kırılma birbirini götürür ve çıkan ışın gelenle paraleldir. Değişen tek şey ışının yana kaymasıdır. Kayma miktarı levha kalınlaştıkça ve geliş açısı büyüdükçe artar: d = t·sin(i − r)/cos r. Kalın bir cam arkasından bakınca cisimlerin hafifçe kaymış görünmesinin sebebi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Günlük hayatta kırılma
• Suya batan kaşık kırık görünür: sudan gelen ışınlar yüzeyde kırılır.
• Havuz sığ görünür: görünür derinlik gerçek derinlikten küçüktür (bir sonraki konu).
• Serap: sıcak hava katmanlarının indisi farklıdır; ışık kıvrılır.
• Gökkuşağı: su damlasında kırılma + tam yansıma + kırılma.
• Gözlük ve mercekler: kırılmayı kontrollü kullanır.
• Fiber optik: tam yansımayla ışığı kilometrelerce taşır.
Çizim: İkisi de aynı olayın sonucu. Sudan çıkan ışınlar yüzeyde kırılıp normalden uzaklaşınca, göz onları düz bir çizgi boyunca geri izler ve cismi olduğundan yukarıda görür. Kaşığın su altındaki kısmı yükseldiği için kırık, havuzun tabanı yükseldiği için sığ görünür. Bu yüzden suya balıklama atlamadan önce derinliği gözle değil ölçerek bilmek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Snell yasası
Havadan (n = 1) suya (n = 4/3) 53° ile giren ışının kırılma açısını bulunuz. (sin53° = 0,8)
1. n₁·sin i = n₂·sin r → 1 · 0,8 = (4/3) · sin r
2. sin r = 0,8 · 3/4 = 0,6
3. r = 37°
4. Işın normale yaklaştı: beklenen sonuç, çünkü su daha yoğun.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Hız ve dalga boyu
Dalga boyu havada 600 nm olan ışık, kırılma indisi 1,5 olan cama giriyor. Camdaki hızı ve dalga boyu nedir?
1. v = c/n = 3·10⁸ / 1,5 = 2·10⁸ m/s
2. λ = λ₀/n = 600/1,5 = 400 nm
3. f = v/λ = 2·10⁸ / 400·10⁻⁹ = 5·10¹⁴ Hz
4. Havadaki frekans da 3·10⁸/600·10⁻⁹ = 5·10¹⁴ Hz ✓ frekans değişmedi.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Sınır açı
Kırılma indisi 2 olan bir ortamdan havaya geçişte sınır açı kaç derecedir?
1. sin θ = n₂/n₁ = 1/2 = 0,5
2. θ = 30°
3. 30°'den büyük açılarla gelen ışınlar ortamı terk edemez, tamamen yansır.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Yandan kayma
Kalınlığı 6 cm olan cam levhaya (n = 1,5) 50° ile gelen ışının yandan kayması ne kadardır?
1. sin r = sin50° / 1,5 = 0,766/1,5 = 0,511 → r ≈ 30,7°
2. d = t·sin(i − r)/cos r = 6 · sin(19,3°) / cos(30,7°)
3. d = 6 · 0,331 / 0,860 ≈ 2,3 cm
4. Çıkan ışın, gelen ışına paraleldir; yalnızca 2,3 cm kaymıştır.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Frekansın değiştiğini sanmak. Kırılmada frekans değişmez; değişen hız ve dalga boyudur.
• Dik gelen ışının kırıldığını düşünmek. i = 0 ise ışın doğrultusunu korur (hızı yine de değişir).
• Tam yansımayı her geçişte aramak. Yalnızca çok yoğundan az yoğuna geçişte olur.
• Açıları yüzeyle ölçmek. Kırılmada da açılar normalle ölçülür.
• “Yoğun ortam” ile kütle yoğunluğunu karıştırmak. Burada kastedilen optik yoğunluk, yani kırılma indisidir.
• Levhadan çıkan ışının doğrultusunun değiştiğini sanmak. Paralel kenarlı levhada çıkan ışın gelen ışına paraleldir.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İndis n = c / v · Snell n₁sin i = n₂sin r · Frekans değişmez · Sınır açı sin θ = n₂/n₁
n = c / v — kırılma indisi
n₁·sin i = n₂·sin r — Snell yasası
λ = λ₀ / n — ortamdaki dalga boyu
sin θ(sınır) = n₂ / n₁ — tam yansıma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9509760" y="2651760"/>
            <a:ext cx="1828800" cy="1828800"/>
          </a:xfrm>
          <a:prstGeom prst="ellipse">
            <a:avLst/>
          </a:prstGeom>
          <a:ln w="9525">
            <a:solidFill>
              <a:srgbClr val="82AAFF">
                <a:alpha val="16000"/>
              </a:srgbClr>
            </a:solidFill>
            <a:prstDash val="solid"/>
          </a:ln>
        </p:spPr>
      </p:sp>
      <p:sp>
        <p:nvSpPr>
          <p:cNvPr id="3" name="Shape 1"/>
          <p:cNvSpPr/>
          <p:nvPr/>
        </p:nvSpPr>
        <p:spPr>
          <a:xfrm>
            <a:off x="8686800" y="1828800"/>
            <a:ext cx="3474720" cy="3474720"/>
          </a:xfrm>
          <a:prstGeom prst="ellipse">
            <a:avLst/>
          </a:prstGeom>
          <a:ln w="9525">
            <a:solidFill>
              <a:srgbClr val="A093FF">
                <a:alpha val="13000"/>
              </a:srgbClr>
            </a:solidFill>
            <a:prstDash val="solid"/>
          </a:ln>
        </p:spPr>
      </p:sp>
      <p:sp>
        <p:nvSpPr>
          <p:cNvPr id="4" name="Shape 2"/>
          <p:cNvSpPr/>
          <p:nvPr/>
        </p:nvSpPr>
        <p:spPr>
          <a:xfrm>
            <a:off x="7863840" y="1005840"/>
            <a:ext cx="5120640" cy="5120640"/>
          </a:xfrm>
          <a:prstGeom prst="ellipse">
            <a:avLst/>
          </a:prstGeom>
          <a:ln w="9525">
            <a:solidFill>
              <a:srgbClr val="82AAFF">
                <a:alpha val="10000"/>
              </a:srgbClr>
            </a:solidFill>
            <a:prstDash val="solid"/>
          </a:ln>
        </p:spPr>
      </p:sp>
      <p:sp>
        <p:nvSpPr>
          <p:cNvPr id="5" name="Shape 3"/>
          <p:cNvSpPr/>
          <p:nvPr/>
        </p:nvSpPr>
        <p:spPr>
          <a:xfrm>
            <a:off x="7461504" y="5541264"/>
            <a:ext cx="73152" cy="73152"/>
          </a:xfrm>
          <a:prstGeom prst="ellipse">
            <a:avLst/>
          </a:prstGeom>
          <a:solidFill>
            <a:srgbClr val="82AAFF">
              <a:alpha val="45000"/>
            </a:srgbClr>
          </a:solidFill>
          <a:ln/>
        </p:spPr>
      </p:sp>
      <p:sp>
        <p:nvSpPr>
          <p:cNvPr id="6" name="Shape 4"/>
          <p:cNvSpPr/>
          <p:nvPr/>
        </p:nvSpPr>
        <p:spPr>
          <a:xfrm>
            <a:off x="7885684" y="4707862"/>
            <a:ext cx="78232" cy="78232"/>
          </a:xfrm>
          <a:prstGeom prst="ellipse">
            <a:avLst/>
          </a:prstGeom>
          <a:solidFill>
            <a:srgbClr val="82AAFF">
              <a:alpha val="48889"/>
            </a:srgbClr>
          </a:solidFill>
          <a:ln/>
        </p:spPr>
      </p:sp>
      <p:sp>
        <p:nvSpPr>
          <p:cNvPr id="7" name="Shape 5"/>
          <p:cNvSpPr/>
          <p:nvPr/>
        </p:nvSpPr>
        <p:spPr>
          <a:xfrm>
            <a:off x="8309864" y="4082175"/>
            <a:ext cx="83312" cy="83312"/>
          </a:xfrm>
          <a:prstGeom prst="ellipse">
            <a:avLst/>
          </a:prstGeom>
          <a:solidFill>
            <a:srgbClr val="82AAFF">
              <a:alpha val="52778"/>
            </a:srgbClr>
          </a:solidFill>
          <a:ln/>
        </p:spPr>
      </p:sp>
      <p:sp>
        <p:nvSpPr>
          <p:cNvPr id="8" name="Shape 6"/>
          <p:cNvSpPr/>
          <p:nvPr/>
        </p:nvSpPr>
        <p:spPr>
          <a:xfrm>
            <a:off x="8734044" y="3664204"/>
            <a:ext cx="88392" cy="88392"/>
          </a:xfrm>
          <a:prstGeom prst="ellipse">
            <a:avLst/>
          </a:prstGeom>
          <a:solidFill>
            <a:srgbClr val="82AAFF">
              <a:alpha val="56667"/>
            </a:srgbClr>
          </a:solidFill>
          <a:ln/>
        </p:spPr>
      </p:sp>
      <p:sp>
        <p:nvSpPr>
          <p:cNvPr id="9" name="Shape 7"/>
          <p:cNvSpPr/>
          <p:nvPr/>
        </p:nvSpPr>
        <p:spPr>
          <a:xfrm>
            <a:off x="9158224" y="3453948"/>
            <a:ext cx="93472" cy="93472"/>
          </a:xfrm>
          <a:prstGeom prst="ellipse">
            <a:avLst/>
          </a:prstGeom>
          <a:solidFill>
            <a:srgbClr val="82AAFF">
              <a:alpha val="60556"/>
            </a:srgbClr>
          </a:solidFill>
          <a:ln/>
        </p:spPr>
      </p:sp>
      <p:sp>
        <p:nvSpPr>
          <p:cNvPr id="10" name="Shape 8"/>
          <p:cNvSpPr/>
          <p:nvPr/>
        </p:nvSpPr>
        <p:spPr>
          <a:xfrm>
            <a:off x="9582404" y="3451408"/>
            <a:ext cx="98552" cy="98552"/>
          </a:xfrm>
          <a:prstGeom prst="ellipse">
            <a:avLst/>
          </a:prstGeom>
          <a:solidFill>
            <a:srgbClr val="82AAFF">
              <a:alpha val="64444"/>
            </a:srgbClr>
          </a:solidFill>
          <a:ln/>
        </p:spPr>
      </p:sp>
      <p:sp>
        <p:nvSpPr>
          <p:cNvPr id="11" name="Shape 9"/>
          <p:cNvSpPr/>
          <p:nvPr/>
        </p:nvSpPr>
        <p:spPr>
          <a:xfrm>
            <a:off x="10006584" y="3656584"/>
            <a:ext cx="103632" cy="103632"/>
          </a:xfrm>
          <a:prstGeom prst="ellipse">
            <a:avLst/>
          </a:prstGeom>
          <a:solidFill>
            <a:srgbClr val="82AAFF">
              <a:alpha val="68333"/>
            </a:srgbClr>
          </a:solidFill>
          <a:ln/>
        </p:spPr>
      </p:sp>
      <p:sp>
        <p:nvSpPr>
          <p:cNvPr id="12" name="Shape 10"/>
          <p:cNvSpPr/>
          <p:nvPr/>
        </p:nvSpPr>
        <p:spPr>
          <a:xfrm>
            <a:off x="10430764" y="4069475"/>
            <a:ext cx="108712" cy="108712"/>
          </a:xfrm>
          <a:prstGeom prst="ellipse">
            <a:avLst/>
          </a:prstGeom>
          <a:solidFill>
            <a:srgbClr val="82AAFF">
              <a:alpha val="72222"/>
            </a:srgbClr>
          </a:solidFill>
          <a:ln/>
        </p:spPr>
      </p:sp>
      <p:sp>
        <p:nvSpPr>
          <p:cNvPr id="13" name="Shape 11"/>
          <p:cNvSpPr/>
          <p:nvPr/>
        </p:nvSpPr>
        <p:spPr>
          <a:xfrm>
            <a:off x="10854944" y="4690082"/>
            <a:ext cx="113792" cy="113792"/>
          </a:xfrm>
          <a:prstGeom prst="ellipse">
            <a:avLst/>
          </a:prstGeom>
          <a:solidFill>
            <a:srgbClr val="82AAFF">
              <a:alpha val="76111"/>
            </a:srgbClr>
          </a:solidFill>
          <a:ln/>
        </p:spPr>
      </p:sp>
      <p:sp>
        <p:nvSpPr>
          <p:cNvPr id="14" name="Shape 12"/>
          <p:cNvSpPr/>
          <p:nvPr/>
        </p:nvSpPr>
        <p:spPr>
          <a:xfrm>
            <a:off x="11279124" y="5518404"/>
            <a:ext cx="118872" cy="118872"/>
          </a:xfrm>
          <a:prstGeom prst="ellipse">
            <a:avLst/>
          </a:prstGeom>
          <a:solidFill>
            <a:srgbClr val="C6F36B"/>
          </a:solidFill>
          <a:ln/>
        </p:spPr>
      </p:sp>
      <p:sp>
        <p:nvSpPr>
          <p:cNvPr id="15" name="Shape 13"/>
          <p:cNvSpPr/>
          <p:nvPr/>
        </p:nvSpPr>
        <p:spPr>
          <a:xfrm>
            <a:off x="868680" y="822960"/>
            <a:ext cx="310896" cy="310896"/>
          </a:xfrm>
          <a:prstGeom prst="roundRect">
            <a:avLst>
              <a:gd name="adj" fmla="val 29412"/>
            </a:avLst>
          </a:prstGeom>
          <a:solidFill>
            <a:srgbClr val="A9E648"/>
          </a:solidFill>
          <a:ln/>
        </p:spPr>
      </p:sp>
      <p:sp>
        <p:nvSpPr>
          <p:cNvPr id="16" name="Text 14"/>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17" name="Shape 15"/>
          <p:cNvSpPr/>
          <p:nvPr/>
        </p:nvSpPr>
        <p:spPr>
          <a:xfrm>
            <a:off x="640080" y="1965960"/>
            <a:ext cx="54864" cy="1097280"/>
          </a:xfrm>
          <a:prstGeom prst="rect">
            <a:avLst/>
          </a:prstGeom>
          <a:solidFill>
            <a:srgbClr val="C6F36B"/>
          </a:solidFill>
          <a:ln/>
        </p:spPr>
      </p:sp>
      <p:sp>
        <p:nvSpPr>
          <p:cNvPr id="18" name="Text 16"/>
          <p:cNvSpPr txBox="1"/>
          <p:nvPr/>
        </p:nvSpPr>
        <p:spPr>
          <a:xfrm>
            <a:off x="868680" y="1554480"/>
            <a:ext cx="76809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OPTİK · KONU 04</a:t>
            </a:r>
            <a:endParaRPr lang="en-US" sz="1300" dirty="0"/>
          </a:p>
        </p:txBody>
      </p:sp>
      <p:sp>
        <p:nvSpPr>
          <p:cNvPr id="19" name="Text 17"/>
          <p:cNvSpPr txBox="1"/>
          <p:nvPr/>
        </p:nvSpPr>
        <p:spPr>
          <a:xfrm>
            <a:off x="822960" y="1920240"/>
            <a:ext cx="7863840" cy="1188720"/>
          </a:xfrm>
          <a:prstGeom prst="rect">
            <a:avLst/>
          </a:prstGeom>
          <a:noFill/>
          <a:ln/>
        </p:spPr>
        <p:txBody>
          <a:bodyPr wrap="square" lIns="0" tIns="0" rIns="0" bIns="0" rtlCol="0" anchor="ctr"/>
          <a:lstStyle/>
          <a:p>
            <a:pPr indent="0" marL="0">
              <a:buNone/>
            </a:pPr>
            <a:r>
              <a:rPr lang="en-US" sz="4800" b="1" spc="-100" kern="0" dirty="0">
                <a:solidFill>
                  <a:srgbClr val="FFFFFF"/>
                </a:solidFill>
                <a:latin typeface="Cambria" pitchFamily="34" charset="0"/>
                <a:ea typeface="Cambria" pitchFamily="34" charset="-122"/>
                <a:cs typeface="Cambria" pitchFamily="34" charset="-120"/>
              </a:rPr>
              <a:t>Kırılma</a:t>
            </a:r>
            <a:endParaRPr lang="en-US" sz="4800" dirty="0"/>
          </a:p>
        </p:txBody>
      </p:sp>
      <p:sp>
        <p:nvSpPr>
          <p:cNvPr id="20" name="Text 18"/>
          <p:cNvSpPr txBox="1"/>
          <p:nvPr/>
        </p:nvSpPr>
        <p:spPr>
          <a:xfrm>
            <a:off x="868680" y="3291840"/>
            <a:ext cx="6766560" cy="1051560"/>
          </a:xfrm>
          <a:prstGeom prst="rect">
            <a:avLst/>
          </a:prstGeom>
          <a:noFill/>
          <a:ln/>
        </p:spPr>
        <p:txBody>
          <a:bodyPr wrap="square" lIns="0" tIns="0" rIns="0" bIns="0" rtlCol="0" anchor="ctr"/>
          <a:lstStyle/>
          <a:p>
            <a:pPr indent="0" marL="0">
              <a:lnSpc>
                <a:spcPct val="125000"/>
              </a:lnSpc>
              <a:buNone/>
            </a:pPr>
            <a:r>
              <a:rPr lang="en-US" sz="1450" dirty="0">
                <a:solidFill>
                  <a:srgbClr val="C3CEE8"/>
                </a:solidFill>
                <a:latin typeface="Calibri" pitchFamily="34" charset="0"/>
                <a:ea typeface="Calibri" pitchFamily="34" charset="-122"/>
                <a:cs typeface="Calibri" pitchFamily="34" charset="-120"/>
              </a:rPr>
              <a:t>Işık bir ortamdan diğerine geçerken hız değiştirir; hız değişince de yön değiştirir. Suya sokulan kaşığın kırık görünmesinden fiber optik kabloya kadar her şey tek bir bağıntıya dayanır: n₁·sin i = n₂·sin r.</a:t>
            </a:r>
            <a:endParaRPr lang="en-US" sz="1450" dirty="0"/>
          </a:p>
        </p:txBody>
      </p:sp>
      <p:sp>
        <p:nvSpPr>
          <p:cNvPr id="21" name="Shape 19"/>
          <p:cNvSpPr/>
          <p:nvPr/>
        </p:nvSpPr>
        <p:spPr>
          <a:xfrm>
            <a:off x="868680" y="4553712"/>
            <a:ext cx="7680960" cy="566928"/>
          </a:xfrm>
          <a:prstGeom prst="roundRect">
            <a:avLst>
              <a:gd name="adj" fmla="val 16129"/>
            </a:avLst>
          </a:prstGeom>
          <a:solidFill>
            <a:srgbClr val="1C2542"/>
          </a:solidFill>
          <a:ln w="9525">
            <a:solidFill>
              <a:srgbClr val="2C3860"/>
            </a:solidFill>
            <a:prstDash val="solid"/>
          </a:ln>
        </p:spPr>
      </p:sp>
      <p:sp>
        <p:nvSpPr>
          <p:cNvPr id="22" name="Text 20"/>
          <p:cNvSpPr txBox="1"/>
          <p:nvPr/>
        </p:nvSpPr>
        <p:spPr>
          <a:xfrm>
            <a:off x="1097280" y="4553712"/>
            <a:ext cx="7315200" cy="566928"/>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n = c / v   ·   n₁·sin i = n₂·sin r   ·   λ = λ₀ / n</a:t>
            </a:r>
            <a:endParaRPr lang="en-US" sz="135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dersler.perinet.org/kirilma.html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Bardaktaki kaşık neden kırık görünür? Havuzun dibi neden göründüğünden derindir? Işık bir ortamdan diğerine geçerken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hız değiştirir</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ve bu yüzden yol değiştirir — tıpkı asfalttan kuma giren bir arabanın bir tekeri önce yavaşlayınca dönmesi gibi. Gözlükten gökkuşağına, fiber optikten seraba kadar bu konudaki her şey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tek bir bağıntıdan</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çıkar: n₁·sin i = n₂·sin r.</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 anlatımının dokuz başlığı, sırasıyla.</a:t>
            </a:r>
            <a:endParaRPr lang="en-US" sz="1450" dirty="0"/>
          </a:p>
        </p:txBody>
      </p:sp>
      <p:sp>
        <p:nvSpPr>
          <p:cNvPr id="6" name="Shape 4"/>
          <p:cNvSpPr/>
          <p:nvPr/>
        </p:nvSpPr>
        <p:spPr>
          <a:xfrm>
            <a:off x="640080"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77824" y="1792224"/>
            <a:ext cx="365760" cy="365760"/>
          </a:xfrm>
          <a:prstGeom prst="roundRect">
            <a:avLst>
              <a:gd name="adj" fmla="val 26000"/>
            </a:avLst>
          </a:prstGeom>
          <a:solidFill>
            <a:srgbClr val="2957D4"/>
          </a:solidFill>
          <a:ln/>
        </p:spPr>
      </p:sp>
      <p:sp>
        <p:nvSpPr>
          <p:cNvPr id="8" name="Text 6"/>
          <p:cNvSpPr txBox="1"/>
          <p:nvPr/>
        </p:nvSpPr>
        <p:spPr>
          <a:xfrm>
            <a:off x="877824"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9" name="Text 7"/>
          <p:cNvSpPr txBox="1"/>
          <p:nvPr/>
        </p:nvSpPr>
        <p:spPr>
          <a:xfrm>
            <a:off x="1371600"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Kırılma nedir?</a:t>
            </a:r>
            <a:endParaRPr lang="en-US" sz="1400" dirty="0"/>
          </a:p>
        </p:txBody>
      </p:sp>
      <p:sp>
        <p:nvSpPr>
          <p:cNvPr id="10" name="Text 8"/>
          <p:cNvSpPr txBox="1"/>
          <p:nvPr/>
        </p:nvSpPr>
        <p:spPr>
          <a:xfrm>
            <a:off x="896112"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Işık, saydam bir ortamdan başka bir saydam ortama geçerken hızı değişir.</a:t>
            </a:r>
            <a:endParaRPr lang="en-US" sz="1050" dirty="0"/>
          </a:p>
        </p:txBody>
      </p:sp>
      <p:sp>
        <p:nvSpPr>
          <p:cNvPr id="11" name="Shape 9"/>
          <p:cNvSpPr/>
          <p:nvPr/>
        </p:nvSpPr>
        <p:spPr>
          <a:xfrm>
            <a:off x="4398264"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4636008" y="1792224"/>
            <a:ext cx="365760" cy="365760"/>
          </a:xfrm>
          <a:prstGeom prst="roundRect">
            <a:avLst>
              <a:gd name="adj" fmla="val 26000"/>
            </a:avLst>
          </a:prstGeom>
          <a:solidFill>
            <a:srgbClr val="5F4BD8"/>
          </a:solidFill>
          <a:ln/>
        </p:spPr>
      </p:sp>
      <p:sp>
        <p:nvSpPr>
          <p:cNvPr id="13" name="Text 11"/>
          <p:cNvSpPr txBox="1"/>
          <p:nvPr/>
        </p:nvSpPr>
        <p:spPr>
          <a:xfrm>
            <a:off x="4636008"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4" name="Text 12"/>
          <p:cNvSpPr txBox="1"/>
          <p:nvPr/>
        </p:nvSpPr>
        <p:spPr>
          <a:xfrm>
            <a:off x="5129784"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Kırılma indisi</a:t>
            </a:r>
            <a:endParaRPr lang="en-US" sz="1400" dirty="0"/>
          </a:p>
        </p:txBody>
      </p:sp>
      <p:sp>
        <p:nvSpPr>
          <p:cNvPr id="15" name="Text 13"/>
          <p:cNvSpPr txBox="1"/>
          <p:nvPr/>
        </p:nvSpPr>
        <p:spPr>
          <a:xfrm>
            <a:off x="4654296"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Bir ortamın kırılma indisi, ışığın boşluktaki hızının o ortamdaki hızına oranıdır:</a:t>
            </a:r>
            <a:endParaRPr lang="en-US" sz="1050" dirty="0"/>
          </a:p>
        </p:txBody>
      </p:sp>
      <p:sp>
        <p:nvSpPr>
          <p:cNvPr id="16" name="Shape 14"/>
          <p:cNvSpPr/>
          <p:nvPr/>
        </p:nvSpPr>
        <p:spPr>
          <a:xfrm>
            <a:off x="8156448" y="1572768"/>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8394192" y="1792224"/>
            <a:ext cx="365760" cy="365760"/>
          </a:xfrm>
          <a:prstGeom prst="roundRect">
            <a:avLst>
              <a:gd name="adj" fmla="val 26000"/>
            </a:avLst>
          </a:prstGeom>
          <a:solidFill>
            <a:srgbClr val="3C8C21"/>
          </a:solidFill>
          <a:ln/>
        </p:spPr>
      </p:sp>
      <p:sp>
        <p:nvSpPr>
          <p:cNvPr id="18" name="Text 16"/>
          <p:cNvSpPr txBox="1"/>
          <p:nvPr/>
        </p:nvSpPr>
        <p:spPr>
          <a:xfrm>
            <a:off x="8394192" y="1792224"/>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9" name="Text 17"/>
          <p:cNvSpPr txBox="1"/>
          <p:nvPr/>
        </p:nvSpPr>
        <p:spPr>
          <a:xfrm>
            <a:off x="8887968" y="1755648"/>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Snell yasası</a:t>
            </a:r>
            <a:endParaRPr lang="en-US" sz="1400" dirty="0"/>
          </a:p>
        </p:txBody>
      </p:sp>
      <p:sp>
        <p:nvSpPr>
          <p:cNvPr id="20" name="Text 18"/>
          <p:cNvSpPr txBox="1"/>
          <p:nvPr/>
        </p:nvSpPr>
        <p:spPr>
          <a:xfrm>
            <a:off x="8412480" y="2249424"/>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Az yoğundan çok yoğuna (n₁ &lt; n₂): ışın normale yaklaşır, r &lt; i.</a:t>
            </a:r>
            <a:endParaRPr lang="en-US" sz="1050" dirty="0"/>
          </a:p>
        </p:txBody>
      </p:sp>
      <p:sp>
        <p:nvSpPr>
          <p:cNvPr id="21" name="Shape 19"/>
          <p:cNvSpPr/>
          <p:nvPr/>
        </p:nvSpPr>
        <p:spPr>
          <a:xfrm>
            <a:off x="640080"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77824" y="3273552"/>
            <a:ext cx="365760" cy="365760"/>
          </a:xfrm>
          <a:prstGeom prst="roundRect">
            <a:avLst>
              <a:gd name="adj" fmla="val 26000"/>
            </a:avLst>
          </a:prstGeom>
          <a:solidFill>
            <a:srgbClr val="A56209"/>
          </a:solidFill>
          <a:ln/>
        </p:spPr>
      </p:sp>
      <p:sp>
        <p:nvSpPr>
          <p:cNvPr id="23" name="Text 21"/>
          <p:cNvSpPr txBox="1"/>
          <p:nvPr/>
        </p:nvSpPr>
        <p:spPr>
          <a:xfrm>
            <a:off x="877824"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1371600"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Hız, dalga boyu ve frekans</a:t>
            </a:r>
            <a:endParaRPr lang="en-US" sz="1400" dirty="0"/>
          </a:p>
        </p:txBody>
      </p:sp>
      <p:sp>
        <p:nvSpPr>
          <p:cNvPr id="25" name="Text 23"/>
          <p:cNvSpPr txBox="1"/>
          <p:nvPr/>
        </p:nvSpPr>
        <p:spPr>
          <a:xfrm>
            <a:off x="896112"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Kırılmada değişenler ve değişmeyenler:</a:t>
            </a:r>
            <a:endParaRPr lang="en-US" sz="1050" dirty="0"/>
          </a:p>
        </p:txBody>
      </p:sp>
      <p:sp>
        <p:nvSpPr>
          <p:cNvPr id="26" name="Shape 24"/>
          <p:cNvSpPr/>
          <p:nvPr/>
        </p:nvSpPr>
        <p:spPr>
          <a:xfrm>
            <a:off x="4398264"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7" name="Shape 25"/>
          <p:cNvSpPr/>
          <p:nvPr/>
        </p:nvSpPr>
        <p:spPr>
          <a:xfrm>
            <a:off x="4636008" y="3273552"/>
            <a:ext cx="365760" cy="365760"/>
          </a:xfrm>
          <a:prstGeom prst="roundRect">
            <a:avLst>
              <a:gd name="adj" fmla="val 26000"/>
            </a:avLst>
          </a:prstGeom>
          <a:solidFill>
            <a:srgbClr val="2957D4"/>
          </a:solidFill>
          <a:ln/>
        </p:spPr>
      </p:sp>
      <p:sp>
        <p:nvSpPr>
          <p:cNvPr id="28" name="Text 26"/>
          <p:cNvSpPr txBox="1"/>
          <p:nvPr/>
        </p:nvSpPr>
        <p:spPr>
          <a:xfrm>
            <a:off x="4636008"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29" name="Text 27"/>
          <p:cNvSpPr txBox="1"/>
          <p:nvPr/>
        </p:nvSpPr>
        <p:spPr>
          <a:xfrm>
            <a:off x="5129784"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Tam yansıma ve sınır açı</a:t>
            </a:r>
            <a:endParaRPr lang="en-US" sz="1400" dirty="0"/>
          </a:p>
        </p:txBody>
      </p:sp>
      <p:sp>
        <p:nvSpPr>
          <p:cNvPr id="30" name="Text 28"/>
          <p:cNvSpPr txBox="1"/>
          <p:nvPr/>
        </p:nvSpPr>
        <p:spPr>
          <a:xfrm>
            <a:off x="4654296"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Işık çok yoğun ortamdan az yoğun ortama geçerken kırılma açısı gelme açısından büyüktür.</a:t>
            </a:r>
            <a:endParaRPr lang="en-US" sz="1050" dirty="0"/>
          </a:p>
        </p:txBody>
      </p:sp>
      <p:sp>
        <p:nvSpPr>
          <p:cNvPr id="31" name="Shape 29"/>
          <p:cNvSpPr/>
          <p:nvPr/>
        </p:nvSpPr>
        <p:spPr>
          <a:xfrm>
            <a:off x="8156448" y="3054096"/>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2" name="Shape 30"/>
          <p:cNvSpPr/>
          <p:nvPr/>
        </p:nvSpPr>
        <p:spPr>
          <a:xfrm>
            <a:off x="8394192" y="3273552"/>
            <a:ext cx="365760" cy="365760"/>
          </a:xfrm>
          <a:prstGeom prst="roundRect">
            <a:avLst>
              <a:gd name="adj" fmla="val 26000"/>
            </a:avLst>
          </a:prstGeom>
          <a:solidFill>
            <a:srgbClr val="5F4BD8"/>
          </a:solidFill>
          <a:ln/>
        </p:spPr>
      </p:sp>
      <p:sp>
        <p:nvSpPr>
          <p:cNvPr id="33" name="Text 31"/>
          <p:cNvSpPr txBox="1"/>
          <p:nvPr/>
        </p:nvSpPr>
        <p:spPr>
          <a:xfrm>
            <a:off x="8394192" y="327355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6</a:t>
            </a:r>
            <a:endParaRPr lang="en-US" sz="1150" dirty="0"/>
          </a:p>
        </p:txBody>
      </p:sp>
      <p:sp>
        <p:nvSpPr>
          <p:cNvPr id="34" name="Text 32"/>
          <p:cNvSpPr txBox="1"/>
          <p:nvPr/>
        </p:nvSpPr>
        <p:spPr>
          <a:xfrm>
            <a:off x="8887968" y="3236976"/>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Paralel kenarlı levhada yandan kayma</a:t>
            </a:r>
            <a:endParaRPr lang="en-US" sz="1400" dirty="0"/>
          </a:p>
        </p:txBody>
      </p:sp>
      <p:sp>
        <p:nvSpPr>
          <p:cNvPr id="35" name="Text 33"/>
          <p:cNvSpPr txBox="1"/>
          <p:nvPr/>
        </p:nvSpPr>
        <p:spPr>
          <a:xfrm>
            <a:off x="8412480" y="3730752"/>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Işık paralel yüzlü bir cam levhaya girerken normale yaklaşır, çıkarken aynı açıyla…</a:t>
            </a:r>
            <a:endParaRPr lang="en-US" sz="1050" dirty="0"/>
          </a:p>
        </p:txBody>
      </p:sp>
      <p:sp>
        <p:nvSpPr>
          <p:cNvPr id="36" name="Shape 34"/>
          <p:cNvSpPr/>
          <p:nvPr/>
        </p:nvSpPr>
        <p:spPr>
          <a:xfrm>
            <a:off x="640080"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7" name="Shape 35"/>
          <p:cNvSpPr/>
          <p:nvPr/>
        </p:nvSpPr>
        <p:spPr>
          <a:xfrm>
            <a:off x="877824" y="4754880"/>
            <a:ext cx="365760" cy="365760"/>
          </a:xfrm>
          <a:prstGeom prst="roundRect">
            <a:avLst>
              <a:gd name="adj" fmla="val 26000"/>
            </a:avLst>
          </a:prstGeom>
          <a:solidFill>
            <a:srgbClr val="3C8C21"/>
          </a:solidFill>
          <a:ln/>
        </p:spPr>
      </p:sp>
      <p:sp>
        <p:nvSpPr>
          <p:cNvPr id="38" name="Text 36"/>
          <p:cNvSpPr txBox="1"/>
          <p:nvPr/>
        </p:nvSpPr>
        <p:spPr>
          <a:xfrm>
            <a:off x="877824"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7</a:t>
            </a:r>
            <a:endParaRPr lang="en-US" sz="1150" dirty="0"/>
          </a:p>
        </p:txBody>
      </p:sp>
      <p:sp>
        <p:nvSpPr>
          <p:cNvPr id="39" name="Text 37"/>
          <p:cNvSpPr txBox="1"/>
          <p:nvPr/>
        </p:nvSpPr>
        <p:spPr>
          <a:xfrm>
            <a:off x="1371600"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Günlük hayatta kırılma</a:t>
            </a:r>
            <a:endParaRPr lang="en-US" sz="1400" dirty="0"/>
          </a:p>
        </p:txBody>
      </p:sp>
      <p:sp>
        <p:nvSpPr>
          <p:cNvPr id="40" name="Text 38"/>
          <p:cNvSpPr txBox="1"/>
          <p:nvPr/>
        </p:nvSpPr>
        <p:spPr>
          <a:xfrm>
            <a:off x="896112"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Suya batan kaşık kırık görünür: sudan gelen ışınlar yüzeyde kırılır.</a:t>
            </a:r>
            <a:endParaRPr lang="en-US" sz="1050" dirty="0"/>
          </a:p>
        </p:txBody>
      </p:sp>
      <p:sp>
        <p:nvSpPr>
          <p:cNvPr id="41" name="Shape 39"/>
          <p:cNvSpPr/>
          <p:nvPr/>
        </p:nvSpPr>
        <p:spPr>
          <a:xfrm>
            <a:off x="4398264"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2" name="Shape 40"/>
          <p:cNvSpPr/>
          <p:nvPr/>
        </p:nvSpPr>
        <p:spPr>
          <a:xfrm>
            <a:off x="4636008" y="4754880"/>
            <a:ext cx="365760" cy="365760"/>
          </a:xfrm>
          <a:prstGeom prst="roundRect">
            <a:avLst>
              <a:gd name="adj" fmla="val 26000"/>
            </a:avLst>
          </a:prstGeom>
          <a:solidFill>
            <a:srgbClr val="A56209"/>
          </a:solidFill>
          <a:ln/>
        </p:spPr>
      </p:sp>
      <p:sp>
        <p:nvSpPr>
          <p:cNvPr id="43" name="Text 41"/>
          <p:cNvSpPr txBox="1"/>
          <p:nvPr/>
        </p:nvSpPr>
        <p:spPr>
          <a:xfrm>
            <a:off x="4636008"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8</a:t>
            </a:r>
            <a:endParaRPr lang="en-US" sz="1150" dirty="0"/>
          </a:p>
        </p:txBody>
      </p:sp>
      <p:sp>
        <p:nvSpPr>
          <p:cNvPr id="44" name="Text 42"/>
          <p:cNvSpPr txBox="1"/>
          <p:nvPr/>
        </p:nvSpPr>
        <p:spPr>
          <a:xfrm>
            <a:off x="5129784"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Çözümlü örnekler</a:t>
            </a:r>
            <a:endParaRPr lang="en-US" sz="1400" dirty="0"/>
          </a:p>
        </p:txBody>
      </p:sp>
      <p:sp>
        <p:nvSpPr>
          <p:cNvPr id="45" name="Text 43"/>
          <p:cNvSpPr txBox="1"/>
          <p:nvPr/>
        </p:nvSpPr>
        <p:spPr>
          <a:xfrm>
            <a:off x="4654296"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4 çözümlü örnek, adım adım; g ve yaklaşık değerler anlatımla aynı.</a:t>
            </a:r>
            <a:endParaRPr lang="en-US" sz="1050" dirty="0"/>
          </a:p>
        </p:txBody>
      </p:sp>
      <p:sp>
        <p:nvSpPr>
          <p:cNvPr id="46" name="Shape 44"/>
          <p:cNvSpPr/>
          <p:nvPr/>
        </p:nvSpPr>
        <p:spPr>
          <a:xfrm>
            <a:off x="8156448" y="4535424"/>
            <a:ext cx="3392424" cy="1298448"/>
          </a:xfrm>
          <a:prstGeom prst="roundRect">
            <a:avLst>
              <a:gd name="adj" fmla="val 1126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7" name="Shape 45"/>
          <p:cNvSpPr/>
          <p:nvPr/>
        </p:nvSpPr>
        <p:spPr>
          <a:xfrm>
            <a:off x="8394192" y="4754880"/>
            <a:ext cx="365760" cy="365760"/>
          </a:xfrm>
          <a:prstGeom prst="roundRect">
            <a:avLst>
              <a:gd name="adj" fmla="val 26000"/>
            </a:avLst>
          </a:prstGeom>
          <a:solidFill>
            <a:srgbClr val="C53455"/>
          </a:solidFill>
          <a:ln/>
        </p:spPr>
      </p:sp>
      <p:sp>
        <p:nvSpPr>
          <p:cNvPr id="48" name="Text 46"/>
          <p:cNvSpPr txBox="1"/>
          <p:nvPr/>
        </p:nvSpPr>
        <p:spPr>
          <a:xfrm>
            <a:off x="8394192" y="47548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9</a:t>
            </a:r>
            <a:endParaRPr lang="en-US" sz="1150" dirty="0"/>
          </a:p>
        </p:txBody>
      </p:sp>
      <p:sp>
        <p:nvSpPr>
          <p:cNvPr id="49" name="Text 47"/>
          <p:cNvSpPr txBox="1"/>
          <p:nvPr/>
        </p:nvSpPr>
        <p:spPr>
          <a:xfrm>
            <a:off x="8887968" y="4718304"/>
            <a:ext cx="2478024" cy="438912"/>
          </a:xfrm>
          <a:prstGeom prst="rect">
            <a:avLst/>
          </a:prstGeom>
          <a:noFill/>
          <a:ln/>
        </p:spPr>
        <p:txBody>
          <a:bodyPr wrap="square" lIns="0" tIns="0" rIns="0" bIns="0" rtlCol="0" anchor="ctr"/>
          <a:lstStyle/>
          <a:p>
            <a:pPr indent="0" marL="0">
              <a:buNone/>
            </a:pPr>
            <a:r>
              <a:rPr lang="en-US" sz="1400" b="1" dirty="0">
                <a:solidFill>
                  <a:srgbClr val="0E1426"/>
                </a:solidFill>
                <a:latin typeface="Calibri" pitchFamily="34" charset="0"/>
                <a:ea typeface="Calibri" pitchFamily="34" charset="-122"/>
                <a:cs typeface="Calibri" pitchFamily="34" charset="-120"/>
              </a:rPr>
              <a:t>Sık yapılan hatalar</a:t>
            </a:r>
            <a:endParaRPr lang="en-US" sz="1400" dirty="0"/>
          </a:p>
        </p:txBody>
      </p:sp>
      <p:sp>
        <p:nvSpPr>
          <p:cNvPr id="50" name="Text 48"/>
          <p:cNvSpPr txBox="1"/>
          <p:nvPr/>
        </p:nvSpPr>
        <p:spPr>
          <a:xfrm>
            <a:off x="8412480" y="5212080"/>
            <a:ext cx="2916936" cy="566928"/>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6 yaygın yanılgı ve her birinin doğrusu.</a:t>
            </a:r>
            <a:endParaRPr lang="en-US" sz="1050" dirty="0"/>
          </a:p>
        </p:txBody>
      </p:sp>
      <p:sp>
        <p:nvSpPr>
          <p:cNvPr id="51" name="Shape 49"/>
          <p:cNvSpPr/>
          <p:nvPr/>
        </p:nvSpPr>
        <p:spPr>
          <a:xfrm>
            <a:off x="640080" y="6382512"/>
            <a:ext cx="128016" cy="128016"/>
          </a:xfrm>
          <a:prstGeom prst="roundRect">
            <a:avLst>
              <a:gd name="adj" fmla="val 28571"/>
            </a:avLst>
          </a:prstGeom>
          <a:solidFill>
            <a:srgbClr val="A9E648"/>
          </a:solidFill>
          <a:ln/>
        </p:spPr>
      </p:sp>
      <p:sp>
        <p:nvSpPr>
          <p:cNvPr id="52" name="Text 5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53" name="Text 5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Kırılma nedir?</a:t>
            </a:r>
            <a:endParaRPr lang="en-US" sz="3200" dirty="0"/>
          </a:p>
        </p:txBody>
      </p:sp>
      <p:sp>
        <p:nvSpPr>
          <p:cNvPr id="5" name="Text 3"/>
          <p:cNvSpPr txBox="1"/>
          <p:nvPr/>
        </p:nvSpPr>
        <p:spPr>
          <a:xfrm>
            <a:off x="640080" y="1481328"/>
            <a:ext cx="5486400" cy="124968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Işık, saydam bir ortamdan başka bir saydam ortama geçerken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hızı değişir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Sınıra eğik geldiyse bu hız değişimi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doğrultusunu da değiştirir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bu olaya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kırılma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denir.</a:t>
            </a:r>
            <a:endParaRPr lang="en-US" sz="1600" dirty="0"/>
          </a:p>
        </p:txBody>
      </p:sp>
      <p:sp>
        <p:nvSpPr>
          <p:cNvPr id="6" name="Text 4"/>
          <p:cNvSpPr txBox="1"/>
          <p:nvPr/>
        </p:nvSpPr>
        <p:spPr>
          <a:xfrm>
            <a:off x="640080" y="2840736"/>
            <a:ext cx="5486400" cy="187452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Sınıra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dik</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gelen ışın (i = 0) kırılmaz, doğrultusunu korur; yalnızca hızı değişir.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Kırılan ışın, gelen ışın ve normal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aynı düzlemdedir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Kırılma sırasında ışığın bir kısmı her zaman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yansır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7" name="Shape 5"/>
          <p:cNvSpPr/>
          <p:nvPr/>
        </p:nvSpPr>
        <p:spPr>
          <a:xfrm>
            <a:off x="6419088" y="1481328"/>
            <a:ext cx="5132527" cy="3488916"/>
          </a:xfrm>
          <a:prstGeom prst="roundRect">
            <a:avLst>
              <a:gd name="adj" fmla="val 419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8" name="Image 0" descr="/tmp/claude-1000/-opt-dersler/a4dee546-de71-4ec2-8add-be39dd273d29/scratchpad/sekiller/kirilma-01.png">    </p:cNvPr>
          <p:cNvPicPr>
            <a:picLocks noChangeAspect="1"/>
          </p:cNvPicPr>
          <p:nvPr/>
        </p:nvPicPr>
        <p:blipFill>
          <a:blip r:embed="rId1"/>
          <a:stretch>
            <a:fillRect/>
          </a:stretch>
        </p:blipFill>
        <p:spPr>
          <a:xfrm>
            <a:off x="6601968" y="1664208"/>
            <a:ext cx="4766767" cy="2025876"/>
          </a:xfrm>
          <a:prstGeom prst="rect">
            <a:avLst/>
          </a:prstGeom>
        </p:spPr>
      </p:pic>
      <p:sp>
        <p:nvSpPr>
          <p:cNvPr id="9" name="Shape 6"/>
          <p:cNvSpPr/>
          <p:nvPr/>
        </p:nvSpPr>
        <p:spPr>
          <a:xfrm>
            <a:off x="6601968" y="3781524"/>
            <a:ext cx="4766767" cy="0"/>
          </a:xfrm>
          <a:prstGeom prst="line">
            <a:avLst/>
          </a:prstGeom>
          <a:noFill/>
          <a:ln w="9525">
            <a:solidFill>
              <a:srgbClr val="E1E5EE"/>
            </a:solidFill>
            <a:prstDash val="dash"/>
          </a:ln>
        </p:spPr>
      </p:sp>
      <p:sp>
        <p:nvSpPr>
          <p:cNvPr id="10" name="Text 7"/>
          <p:cNvSpPr txBox="1"/>
          <p:nvPr/>
        </p:nvSpPr>
        <p:spPr>
          <a:xfrm>
            <a:off x="6601968" y="3836388"/>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Açılar her zaman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normalden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ölçülür, yüzeyden değil. Işık daha yoğun bir ortama geçerken yavaşlar ve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normale yaklaşır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(r &lt; i); daha az yoğun bir ortama geçerken hızlanır ve normalden uzaklaşır. Yüzeye dik gelen ışın (i = 0) hiç kırılmaz, doğrultusunu korur. Işığın bir kısmı her zaman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yansır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da — bu yüzden camda kendi yansımanı görebilirsin.</a:t>
            </a:r>
            <a:endParaRPr lang="en-US" sz="105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Kırılma indisi</a:t>
            </a:r>
            <a:endParaRPr lang="en-US" sz="3200" dirty="0"/>
          </a:p>
        </p:txBody>
      </p:sp>
      <p:sp>
        <p:nvSpPr>
          <p:cNvPr id="5" name="Text 3"/>
          <p:cNvSpPr txBox="1"/>
          <p:nvPr/>
        </p:nvSpPr>
        <p:spPr>
          <a:xfrm>
            <a:off x="640080" y="1481328"/>
            <a:ext cx="5852160" cy="525780"/>
          </a:xfrm>
          <a:prstGeom prst="rect">
            <a:avLst/>
          </a:prstGeom>
          <a:noFill/>
          <a:ln/>
        </p:spPr>
        <p:txBody>
          <a:bodyPr wrap="square" lIns="0" tIns="0" rIns="0" bIns="0" rtlCol="0" anchor="t"/>
          <a:lstStyle/>
          <a:p>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Bir ortamın kırılma indisi, ışığın boşluktaki hızının o ortamdaki hızına oranıdır:</a:t>
            </a:r>
            <a:endParaRPr lang="en-US" sz="1500" dirty="0"/>
          </a:p>
        </p:txBody>
      </p:sp>
      <p:sp>
        <p:nvSpPr>
          <p:cNvPr id="6" name="Shape 4"/>
          <p:cNvSpPr/>
          <p:nvPr/>
        </p:nvSpPr>
        <p:spPr>
          <a:xfrm>
            <a:off x="640080" y="2135124"/>
            <a:ext cx="1345997"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135124"/>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 = c / v</a:t>
            </a:r>
            <a:endParaRPr lang="en-US" sz="1300" dirty="0"/>
          </a:p>
        </p:txBody>
      </p:sp>
      <p:sp>
        <p:nvSpPr>
          <p:cNvPr id="8" name="Shape 6"/>
          <p:cNvSpPr/>
          <p:nvPr/>
        </p:nvSpPr>
        <p:spPr>
          <a:xfrm>
            <a:off x="2095805" y="2135124"/>
            <a:ext cx="1741018"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095805" y="2135124"/>
            <a:ext cx="174101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c = 3·10⁸ m/s</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2756916"/>
          <a:ext cx="5852160" cy="914400"/>
        </p:xfrm>
        <a:graphic>
          <a:graphicData uri="http://schemas.openxmlformats.org/drawingml/2006/table">
            <a:tbl>
              <a:tblPr/>
              <a:tblGrid>
                <a:gridCol w="2537257"/>
                <a:gridCol w="972819"/>
                <a:gridCol w="2342084"/>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Ortam</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n</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Işığın hızı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Boşluk / hava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3,00·10⁸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1,33</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2,26·10⁸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Cam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1,50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2,00·10⁸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Elmas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2,42</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1,24·10⁸ m/s</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1" name="Text 8"/>
          <p:cNvSpPr txBox="1"/>
          <p:nvPr/>
        </p:nvSpPr>
        <p:spPr>
          <a:xfrm>
            <a:off x="640080" y="4576572"/>
            <a:ext cx="5852160" cy="916686"/>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İndisi büyük olan ortama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çok yoğun</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küçük olana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az yoğun</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 ortam denir.</a:t>
            </a:r>
            <a:endParaRPr lang="en-US" sz="1500" dirty="0"/>
          </a:p>
          <a:p>
            <a:pPr marL="203200" indent="-203200">
              <a:lnSpc>
                <a:spcPct val="115000"/>
              </a:lnSpc>
              <a:spcAft>
                <a:spcPts val="500"/>
              </a:spcAft>
              <a:buSzPct val="100000"/>
              <a:buChar char="▪"/>
            </a:pPr>
            <a:r>
              <a:rPr lang="en-US" sz="1500" dirty="0">
                <a:solidFill>
                  <a:srgbClr val="4A5470"/>
                </a:solidFill>
                <a:latin typeface="Calibri" pitchFamily="34" charset="0"/>
                <a:ea typeface="Calibri" pitchFamily="34" charset="-122"/>
                <a:cs typeface="Calibri" pitchFamily="34" charset="-120"/>
              </a:rPr>
              <a:t>Bu “yoğunluk” kütle yoğunluğu değil, </a:t>
            </a:r>
            <a:pPr indent="0" marL="0">
              <a:lnSpc>
                <a:spcPct val="115000"/>
              </a:lnSpc>
              <a:buNone/>
            </a:pPr>
            <a:r>
              <a:rPr lang="en-US" sz="1500" b="1" dirty="0">
                <a:solidFill>
                  <a:srgbClr val="0E1426"/>
                </a:solidFill>
                <a:latin typeface="Calibri" pitchFamily="34" charset="0"/>
                <a:ea typeface="Calibri" pitchFamily="34" charset="-122"/>
                <a:cs typeface="Calibri" pitchFamily="34" charset="-120"/>
              </a:rPr>
              <a:t>optik yoğunluktur</a:t>
            </a:r>
            <a:pPr indent="0" marL="0">
              <a:lnSpc>
                <a:spcPct val="115000"/>
              </a:lnSpc>
              <a:buNone/>
            </a:pPr>
            <a:r>
              <a:rPr lang="en-US" sz="1500" dirty="0">
                <a:solidFill>
                  <a:srgbClr val="4A5470"/>
                </a:solidFill>
                <a:latin typeface="Calibri" pitchFamily="34" charset="0"/>
                <a:ea typeface="Calibri" pitchFamily="34" charset="-122"/>
                <a:cs typeface="Calibri" pitchFamily="34" charset="-120"/>
              </a:rPr>
              <a:t>.</a:t>
            </a:r>
            <a:endParaRPr lang="en-US" sz="1500" dirty="0"/>
          </a:p>
        </p:txBody>
      </p:sp>
      <p:sp>
        <p:nvSpPr>
          <p:cNvPr id="12" name="Shape 9"/>
          <p:cNvSpPr/>
          <p:nvPr/>
        </p:nvSpPr>
        <p:spPr>
          <a:xfrm>
            <a:off x="6784848" y="1481328"/>
            <a:ext cx="4766767" cy="3296705"/>
          </a:xfrm>
          <a:prstGeom prst="roundRect">
            <a:avLst>
              <a:gd name="adj" fmla="val 44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3" name="Image 0" descr="/tmp/claude-1000/-opt-dersler/a4dee546-de71-4ec2-8add-be39dd273d29/scratchpad/sekiller/kirilma-02.png">    </p:cNvPr>
          <p:cNvPicPr>
            <a:picLocks noChangeAspect="1"/>
          </p:cNvPicPr>
          <p:nvPr/>
        </p:nvPicPr>
        <p:blipFill>
          <a:blip r:embed="rId1"/>
          <a:stretch>
            <a:fillRect/>
          </a:stretch>
        </p:blipFill>
        <p:spPr>
          <a:xfrm>
            <a:off x="6967728" y="1664208"/>
            <a:ext cx="4401007" cy="1833665"/>
          </a:xfrm>
          <a:prstGeom prst="rect">
            <a:avLst/>
          </a:prstGeom>
        </p:spPr>
      </p:pic>
      <p:sp>
        <p:nvSpPr>
          <p:cNvPr id="14" name="Shape 10"/>
          <p:cNvSpPr/>
          <p:nvPr/>
        </p:nvSpPr>
        <p:spPr>
          <a:xfrm>
            <a:off x="6967728" y="3589313"/>
            <a:ext cx="4401007" cy="0"/>
          </a:xfrm>
          <a:prstGeom prst="line">
            <a:avLst/>
          </a:prstGeom>
          <a:noFill/>
          <a:ln w="9525">
            <a:solidFill>
              <a:srgbClr val="E1E5EE"/>
            </a:solidFill>
            <a:prstDash val="dash"/>
          </a:ln>
        </p:spPr>
      </p:sp>
      <p:sp>
        <p:nvSpPr>
          <p:cNvPr id="15" name="Text 11"/>
          <p:cNvSpPr txBox="1"/>
          <p:nvPr/>
        </p:nvSpPr>
        <p:spPr>
          <a:xfrm>
            <a:off x="6967728" y="3644177"/>
            <a:ext cx="440100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Kırılma indisi, ışığın o ortamda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ne kadar yavaşladığını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söyler: n = c/v. İki çubuk birbirinin aynadaki görüntüsü gibidir — indis büyüdükçe hız küçülür. Elmasta ışık boşluktakinin yalnızca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%41'i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kadar hızlı ilerler; elmasın o çarpıcı parlaklığı ve ışığı içinde hapsetmesi bu yüksek indisin sonucudur.</a:t>
            </a:r>
            <a:endParaRPr lang="en-US" sz="1050" dirty="0"/>
          </a:p>
        </p:txBody>
      </p:sp>
      <p:sp>
        <p:nvSpPr>
          <p:cNvPr id="16" name="Shape 12"/>
          <p:cNvSpPr/>
          <p:nvPr/>
        </p:nvSpPr>
        <p:spPr>
          <a:xfrm>
            <a:off x="640080" y="6382512"/>
            <a:ext cx="128016" cy="128016"/>
          </a:xfrm>
          <a:prstGeom prst="roundRect">
            <a:avLst>
              <a:gd name="adj" fmla="val 28571"/>
            </a:avLst>
          </a:prstGeom>
          <a:solidFill>
            <a:srgbClr val="A9E648"/>
          </a:solidFill>
          <a:ln/>
        </p:spPr>
      </p:sp>
      <p:sp>
        <p:nvSpPr>
          <p:cNvPr id="17"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8"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Snell yasası</a:t>
            </a:r>
            <a:endParaRPr lang="en-US" sz="3200" dirty="0"/>
          </a:p>
        </p:txBody>
      </p:sp>
      <p:sp>
        <p:nvSpPr>
          <p:cNvPr id="5" name="Shape 3"/>
          <p:cNvSpPr/>
          <p:nvPr/>
        </p:nvSpPr>
        <p:spPr>
          <a:xfrm>
            <a:off x="640080" y="1481328"/>
            <a:ext cx="2728570" cy="457200"/>
          </a:xfrm>
          <a:prstGeom prst="roundRect">
            <a:avLst>
              <a:gd name="adj" fmla="val 24000"/>
            </a:avLst>
          </a:prstGeom>
          <a:solidFill>
            <a:srgbClr val="EEF2FC"/>
          </a:solidFill>
          <a:ln w="9525">
            <a:solidFill>
              <a:srgbClr val="CBD7F4"/>
            </a:solidFill>
            <a:prstDash val="solid"/>
          </a:ln>
        </p:spPr>
      </p:sp>
      <p:sp>
        <p:nvSpPr>
          <p:cNvPr id="6" name="Text 4"/>
          <p:cNvSpPr txBox="1"/>
          <p:nvPr/>
        </p:nvSpPr>
        <p:spPr>
          <a:xfrm>
            <a:off x="640080" y="1481328"/>
            <a:ext cx="2728570"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n₁ · sin i = n₂ · sin r</a:t>
            </a:r>
            <a:endParaRPr lang="en-US" sz="1300" dirty="0"/>
          </a:p>
        </p:txBody>
      </p:sp>
      <p:sp>
        <p:nvSpPr>
          <p:cNvPr id="7" name="Text 5"/>
          <p:cNvSpPr txBox="1"/>
          <p:nvPr/>
        </p:nvSpPr>
        <p:spPr>
          <a:xfrm>
            <a:off x="640080" y="2103120"/>
            <a:ext cx="5486400" cy="159410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Az yoğundan çok yoğuna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(n₁ &lt; n₂): ışın normale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yaklaşır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r &lt; i.</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Çok yoğundan az yoğuna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(n₁ &gt; n₂): ışın normalden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uzaklaşır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r &gt; i.</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i = 0 ise r = 0: dik gelen ışın kırılmaz.</a:t>
            </a:r>
            <a:endParaRPr lang="en-US" sz="1600" dirty="0"/>
          </a:p>
        </p:txBody>
      </p:sp>
      <p:sp>
        <p:nvSpPr>
          <p:cNvPr id="8" name="Shape 6"/>
          <p:cNvSpPr/>
          <p:nvPr/>
        </p:nvSpPr>
        <p:spPr>
          <a:xfrm>
            <a:off x="640080" y="3806952"/>
            <a:ext cx="5486400" cy="1191006"/>
          </a:xfrm>
          <a:prstGeom prst="roundRect">
            <a:avLst>
              <a:gd name="adj" fmla="val 921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658368" y="3953256"/>
            <a:ext cx="45720" cy="898398"/>
          </a:xfrm>
          <a:prstGeom prst="rect">
            <a:avLst/>
          </a:prstGeom>
          <a:solidFill>
            <a:srgbClr val="3C8C21"/>
          </a:solidFill>
          <a:ln/>
        </p:spPr>
      </p:sp>
      <p:sp>
        <p:nvSpPr>
          <p:cNvPr id="10" name="Text 8"/>
          <p:cNvSpPr txBox="1"/>
          <p:nvPr/>
        </p:nvSpPr>
        <p:spPr>
          <a:xfrm>
            <a:off x="914400" y="3916680"/>
            <a:ext cx="5029200" cy="971550"/>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Hatırlatma:</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Açılar yine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normalle</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ölçülür. Soruda “yüzeyle 30° açı yapıyor” deniyorsa gelme açısı 60°'dir.</a:t>
            </a:r>
            <a:endParaRPr lang="en-US" sz="1500" dirty="0"/>
          </a:p>
        </p:txBody>
      </p:sp>
      <p:sp>
        <p:nvSpPr>
          <p:cNvPr id="11" name="Shape 9"/>
          <p:cNvSpPr/>
          <p:nvPr/>
        </p:nvSpPr>
        <p:spPr>
          <a:xfrm>
            <a:off x="6419088" y="1481328"/>
            <a:ext cx="5132527" cy="3349369"/>
          </a:xfrm>
          <a:prstGeom prst="roundRect">
            <a:avLst>
              <a:gd name="adj" fmla="val 436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a4dee546-de71-4ec2-8add-be39dd273d29/scratchpad/sekiller/kirilma-03.png">    </p:cNvPr>
          <p:cNvPicPr>
            <a:picLocks noChangeAspect="1"/>
          </p:cNvPicPr>
          <p:nvPr/>
        </p:nvPicPr>
        <p:blipFill>
          <a:blip r:embed="rId1"/>
          <a:stretch>
            <a:fillRect/>
          </a:stretch>
        </p:blipFill>
        <p:spPr>
          <a:xfrm>
            <a:off x="6601968" y="1664208"/>
            <a:ext cx="4766767" cy="2065551"/>
          </a:xfrm>
          <a:prstGeom prst="rect">
            <a:avLst/>
          </a:prstGeom>
        </p:spPr>
      </p:pic>
      <p:sp>
        <p:nvSpPr>
          <p:cNvPr id="13" name="Shape 10"/>
          <p:cNvSpPr/>
          <p:nvPr/>
        </p:nvSpPr>
        <p:spPr>
          <a:xfrm>
            <a:off x="6601968" y="3821199"/>
            <a:ext cx="4766767" cy="0"/>
          </a:xfrm>
          <a:prstGeom prst="line">
            <a:avLst/>
          </a:prstGeom>
          <a:noFill/>
          <a:ln w="9525">
            <a:solidFill>
              <a:srgbClr val="E1E5EE"/>
            </a:solidFill>
            <a:prstDash val="dash"/>
          </a:ln>
        </p:spPr>
      </p:sp>
      <p:sp>
        <p:nvSpPr>
          <p:cNvPr id="14" name="Text 11"/>
          <p:cNvSpPr txBox="1"/>
          <p:nvPr/>
        </p:nvSpPr>
        <p:spPr>
          <a:xfrm>
            <a:off x="6601968" y="3876063"/>
            <a:ext cx="4766767" cy="771754"/>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Snell yasası her iki yönde de aynıdır: n₁·sin i = n₂·sin r. Hangi tarafın indisi büyükse, o taraftaki açı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küçüktür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yani ışın yoğun ortamda normale daha yakın gider. Bunu ezberlemek yerine şöyle düşün: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yavaşlayan taraf normale yanaşır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a:t>
            </a:r>
            <a:endParaRPr lang="en-US" sz="1050" dirty="0"/>
          </a:p>
        </p:txBody>
      </p:sp>
      <p:sp>
        <p:nvSpPr>
          <p:cNvPr id="15" name="Shape 12"/>
          <p:cNvSpPr/>
          <p:nvPr/>
        </p:nvSpPr>
        <p:spPr>
          <a:xfrm>
            <a:off x="640080" y="6382512"/>
            <a:ext cx="128016" cy="128016"/>
          </a:xfrm>
          <a:prstGeom prst="roundRect">
            <a:avLst>
              <a:gd name="adj" fmla="val 28571"/>
            </a:avLst>
          </a:prstGeom>
          <a:solidFill>
            <a:srgbClr val="A9E648"/>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Hız, dalga boyu ve frekans</a:t>
            </a:r>
            <a:endParaRPr lang="en-US" sz="3200" dirty="0"/>
          </a:p>
        </p:txBody>
      </p:sp>
      <p:sp>
        <p:nvSpPr>
          <p:cNvPr id="5" name="Text 3"/>
          <p:cNvSpPr txBox="1"/>
          <p:nvPr/>
        </p:nvSpPr>
        <p:spPr>
          <a:xfrm>
            <a:off x="640080" y="1481328"/>
            <a:ext cx="5486400" cy="280416"/>
          </a:xfrm>
          <a:prstGeom prst="rect">
            <a:avLst/>
          </a:prstGeom>
          <a:noFill/>
          <a:ln/>
        </p:spPr>
        <p:txBody>
          <a:bodyPr wrap="square" lIns="0" tIns="0" rIns="0" bIns="0" rtlCol="0" anchor="t"/>
          <a:lstStyle/>
          <a:p>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Kırılmada değişenler ve değişmeyenler:</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889760"/>
          <a:ext cx="5486400" cy="914400"/>
        </p:xfrm>
        <a:graphic>
          <a:graphicData uri="http://schemas.openxmlformats.org/drawingml/2006/table">
            <a:tbl>
              <a:tblPr/>
              <a:tblGrid>
                <a:gridCol w="1567543"/>
                <a:gridCol w="3918857"/>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Büyüklük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Kırılmada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Frekans (f)</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değişmez — kaynağa bağlıdır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Hız (v)</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değişir: v = c/n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Dalga boyu (λ)</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değişir: λ = λ₀/n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Renk</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değişmez (frekans değişmediği için)</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7" name="Shape 4"/>
          <p:cNvSpPr/>
          <p:nvPr/>
        </p:nvSpPr>
        <p:spPr>
          <a:xfrm>
            <a:off x="640080" y="3709416"/>
            <a:ext cx="1345997" cy="457200"/>
          </a:xfrm>
          <a:prstGeom prst="roundRect">
            <a:avLst>
              <a:gd name="adj" fmla="val 24000"/>
            </a:avLst>
          </a:prstGeom>
          <a:solidFill>
            <a:srgbClr val="EEF2FC"/>
          </a:solidFill>
          <a:ln w="9525">
            <a:solidFill>
              <a:srgbClr val="CBD7F4"/>
            </a:solidFill>
            <a:prstDash val="solid"/>
          </a:ln>
        </p:spPr>
      </p:sp>
      <p:sp>
        <p:nvSpPr>
          <p:cNvPr id="8" name="Text 5"/>
          <p:cNvSpPr txBox="1"/>
          <p:nvPr/>
        </p:nvSpPr>
        <p:spPr>
          <a:xfrm>
            <a:off x="640080" y="3709416"/>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v = λ · f</a:t>
            </a:r>
            <a:endParaRPr lang="en-US" sz="1300" dirty="0"/>
          </a:p>
        </p:txBody>
      </p:sp>
      <p:sp>
        <p:nvSpPr>
          <p:cNvPr id="9" name="Shape 6"/>
          <p:cNvSpPr/>
          <p:nvPr/>
        </p:nvSpPr>
        <p:spPr>
          <a:xfrm>
            <a:off x="2095805" y="3709416"/>
            <a:ext cx="2531059" cy="457200"/>
          </a:xfrm>
          <a:prstGeom prst="roundRect">
            <a:avLst>
              <a:gd name="adj" fmla="val 24000"/>
            </a:avLst>
          </a:prstGeom>
          <a:solidFill>
            <a:srgbClr val="EEF2FC"/>
          </a:solidFill>
          <a:ln w="9525">
            <a:solidFill>
              <a:srgbClr val="CBD7F4"/>
            </a:solidFill>
            <a:prstDash val="solid"/>
          </a:ln>
        </p:spPr>
      </p:sp>
      <p:sp>
        <p:nvSpPr>
          <p:cNvPr id="10" name="Text 7"/>
          <p:cNvSpPr txBox="1"/>
          <p:nvPr/>
        </p:nvSpPr>
        <p:spPr>
          <a:xfrm>
            <a:off x="2095805" y="3709416"/>
            <a:ext cx="2531059"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n₁/n₂ = v₂/v₁ = λ₂/λ₁</a:t>
            </a:r>
            <a:endParaRPr lang="en-US" sz="1300" dirty="0"/>
          </a:p>
        </p:txBody>
      </p:sp>
      <p:sp>
        <p:nvSpPr>
          <p:cNvPr id="11" name="Text 8"/>
          <p:cNvSpPr txBox="1"/>
          <p:nvPr/>
        </p:nvSpPr>
        <p:spPr>
          <a:xfrm>
            <a:off x="640080" y="4331208"/>
            <a:ext cx="5486400" cy="841248"/>
          </a:xfrm>
          <a:prstGeom prst="rect">
            <a:avLst/>
          </a:prstGeom>
          <a:noFill/>
          <a:ln/>
        </p:spPr>
        <p:txBody>
          <a:bodyPr wrap="square" lIns="0" tIns="0" rIns="0" bIns="0" rtlCol="0" anchor="t"/>
          <a:lstStyle/>
          <a:p>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Cephe modeli kırılmayı sezgisel yapar: dalga cephesinin bir ucu yavaşlarken öteki ucu hızlı gittiği için cephe döner ve ışın yön değiştirir.</a:t>
            </a:r>
            <a:endParaRPr lang="en-US" sz="1600" dirty="0"/>
          </a:p>
        </p:txBody>
      </p:sp>
      <p:sp>
        <p:nvSpPr>
          <p:cNvPr id="12" name="Shape 9"/>
          <p:cNvSpPr/>
          <p:nvPr/>
        </p:nvSpPr>
        <p:spPr>
          <a:xfrm>
            <a:off x="6419088" y="1481328"/>
            <a:ext cx="5132527" cy="3488916"/>
          </a:xfrm>
          <a:prstGeom prst="roundRect">
            <a:avLst>
              <a:gd name="adj" fmla="val 419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3" name="Image 0" descr="/tmp/claude-1000/-opt-dersler/a4dee546-de71-4ec2-8add-be39dd273d29/scratchpad/sekiller/kirilma-04.png">    </p:cNvPr>
          <p:cNvPicPr>
            <a:picLocks noChangeAspect="1"/>
          </p:cNvPicPr>
          <p:nvPr/>
        </p:nvPicPr>
        <p:blipFill>
          <a:blip r:embed="rId1"/>
          <a:stretch>
            <a:fillRect/>
          </a:stretch>
        </p:blipFill>
        <p:spPr>
          <a:xfrm>
            <a:off x="6601968" y="1664208"/>
            <a:ext cx="4766767" cy="2025876"/>
          </a:xfrm>
          <a:prstGeom prst="rect">
            <a:avLst/>
          </a:prstGeom>
        </p:spPr>
      </p:pic>
      <p:sp>
        <p:nvSpPr>
          <p:cNvPr id="14" name="Shape 10"/>
          <p:cNvSpPr/>
          <p:nvPr/>
        </p:nvSpPr>
        <p:spPr>
          <a:xfrm>
            <a:off x="6601968" y="3781524"/>
            <a:ext cx="4766767" cy="0"/>
          </a:xfrm>
          <a:prstGeom prst="line">
            <a:avLst/>
          </a:prstGeom>
          <a:noFill/>
          <a:ln w="9525">
            <a:solidFill>
              <a:srgbClr val="E1E5EE"/>
            </a:solidFill>
            <a:prstDash val="dash"/>
          </a:ln>
        </p:spPr>
      </p:sp>
      <p:sp>
        <p:nvSpPr>
          <p:cNvPr id="15" name="Text 11"/>
          <p:cNvSpPr txBox="1"/>
          <p:nvPr/>
        </p:nvSpPr>
        <p:spPr>
          <a:xfrm>
            <a:off x="6601968" y="3836388"/>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Dalga cepheleri yoğun ortama girince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sıklaşır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hız düştüğü için aynı sürede daha kısa yol alınır, yani dalga boyu küçülür. Ama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frekans değişmez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saniyede kaç cephenin sınırdan geçtiği, kaynağın saniyede kaç dalga ürettiğine bağlıdır ve ortam bunu değiştiremez. Rengin değişmemesinin sebebi de budur: renk frekansla belirlenir.</a:t>
            </a:r>
            <a:endParaRPr lang="en-US" sz="1050" dirty="0"/>
          </a:p>
        </p:txBody>
      </p:sp>
      <p:sp>
        <p:nvSpPr>
          <p:cNvPr id="16" name="Shape 12"/>
          <p:cNvSpPr/>
          <p:nvPr/>
        </p:nvSpPr>
        <p:spPr>
          <a:xfrm>
            <a:off x="640080" y="6382512"/>
            <a:ext cx="128016" cy="128016"/>
          </a:xfrm>
          <a:prstGeom prst="roundRect">
            <a:avLst>
              <a:gd name="adj" fmla="val 28571"/>
            </a:avLst>
          </a:prstGeom>
          <a:solidFill>
            <a:srgbClr val="A9E648"/>
          </a:solidFill>
          <a:ln/>
        </p:spPr>
      </p:sp>
      <p:sp>
        <p:nvSpPr>
          <p:cNvPr id="17"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8"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Tam yansıma ve sınır açı</a:t>
            </a:r>
            <a:endParaRPr lang="en-US" sz="3200" dirty="0"/>
          </a:p>
        </p:txBody>
      </p:sp>
      <p:sp>
        <p:nvSpPr>
          <p:cNvPr id="5" name="Text 3"/>
          <p:cNvSpPr txBox="1"/>
          <p:nvPr/>
        </p:nvSpPr>
        <p:spPr>
          <a:xfrm>
            <a:off x="640080" y="1481328"/>
            <a:ext cx="6675120" cy="133121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Işık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çok yoğun ortamdan az yoğun ortama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geçerken kırılma açısı gelme açısından büyüktür.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Gelme açısı artırıldıkça kırılan ışın yüzeye yaklaşır; belli bir açıda kırılma açısı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90°</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olur.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Bu açıya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sınır açı</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denir.</a:t>
            </a:r>
            <a:endParaRPr lang="en-US" sz="1300" dirty="0"/>
          </a:p>
        </p:txBody>
      </p:sp>
      <p:sp>
        <p:nvSpPr>
          <p:cNvPr id="6" name="Shape 4"/>
          <p:cNvSpPr/>
          <p:nvPr/>
        </p:nvSpPr>
        <p:spPr>
          <a:xfrm>
            <a:off x="640080" y="2922270"/>
            <a:ext cx="2629814"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922270"/>
            <a:ext cx="2629814"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sin θ(sınır) = n₂ / n₁</a:t>
            </a:r>
            <a:endParaRPr lang="en-US" sz="1300" dirty="0"/>
          </a:p>
        </p:txBody>
      </p:sp>
      <p:sp>
        <p:nvSpPr>
          <p:cNvPr id="8" name="Text 6"/>
          <p:cNvSpPr txBox="1"/>
          <p:nvPr/>
        </p:nvSpPr>
        <p:spPr>
          <a:xfrm>
            <a:off x="640080" y="3544062"/>
            <a:ext cx="6675120" cy="133121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Gelme açısı sınır açıdan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büyükse</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ışık ortamı terk edemez; tamamı yansır. Buna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tam yansıma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denir.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Tam yansıma yalnızca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çok yoğundan az yoğuna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geçişte olur.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Su–hava için sınır açı ≈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48,8°</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cam–hava için ≈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41,8°</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elmas–hava için ≈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24,4°</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p:txBody>
      </p:sp>
      <p:sp>
        <p:nvSpPr>
          <p:cNvPr id="9" name="Shape 7"/>
          <p:cNvSpPr/>
          <p:nvPr/>
        </p:nvSpPr>
        <p:spPr>
          <a:xfrm>
            <a:off x="640080" y="4985004"/>
            <a:ext cx="6675120" cy="1033272"/>
          </a:xfrm>
          <a:prstGeom prst="roundRect">
            <a:avLst>
              <a:gd name="adj" fmla="val 1061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658368" y="5131308"/>
            <a:ext cx="45720" cy="740664"/>
          </a:xfrm>
          <a:prstGeom prst="rect">
            <a:avLst/>
          </a:prstGeom>
          <a:solidFill>
            <a:srgbClr val="3C8C21"/>
          </a:solidFill>
          <a:ln/>
        </p:spPr>
      </p:sp>
      <p:sp>
        <p:nvSpPr>
          <p:cNvPr id="11" name="Text 9"/>
          <p:cNvSpPr txBox="1"/>
          <p:nvPr/>
        </p:nvSpPr>
        <p:spPr>
          <a:xfrm>
            <a:off x="914400" y="5094732"/>
            <a:ext cx="6217920" cy="813816"/>
          </a:xfrm>
          <a:prstGeom prst="rect">
            <a:avLst/>
          </a:prstGeom>
          <a:noFill/>
          <a:ln/>
        </p:spPr>
        <p:txBody>
          <a:bodyPr wrap="square" lIns="0" tIns="0" rIns="0" bIns="0" rtlCol="0" anchor="ctr"/>
          <a:lstStyle/>
          <a:p>
            <a:pPr indent="0" marL="0">
              <a:lnSpc>
                <a:spcPct val="112000"/>
              </a:lnSpc>
              <a:buNone/>
            </a:pPr>
            <a:r>
              <a:rPr lang="en-US" sz="1200" b="1" dirty="0">
                <a:solidFill>
                  <a:srgbClr val="0E1426"/>
                </a:solidFill>
                <a:latin typeface="Calibri" pitchFamily="34" charset="0"/>
                <a:ea typeface="Calibri" pitchFamily="34" charset="-122"/>
                <a:cs typeface="Calibri" pitchFamily="34" charset="-120"/>
              </a:rPr>
              <a:t>Elmasın parlaklığı</a:t>
            </a:r>
            <a:pPr indent="0" marL="0">
              <a:lnSpc>
                <a:spcPct val="112000"/>
              </a:lnSpc>
              <a:buNone/>
            </a:pPr>
            <a:r>
              <a:rPr lang="en-US" sz="1200" dirty="0">
                <a:solidFill>
                  <a:srgbClr val="4A5470"/>
                </a:solidFill>
                <a:latin typeface="Calibri" pitchFamily="34" charset="0"/>
                <a:ea typeface="Calibri" pitchFamily="34" charset="-122"/>
                <a:cs typeface="Calibri" pitchFamily="34" charset="-120"/>
              </a:rPr>
              <a:t> bu küçük sınır açıdan gelir: içeri giren ışık defalarca tam yansımaya uğrar ve ancak belirli yüzlerden dışarı çıkabilir. Fiber optik kablo da aynı ilkeyle çalışır.</a:t>
            </a:r>
            <a:endParaRPr lang="en-US" sz="1200" dirty="0"/>
          </a:p>
        </p:txBody>
      </p:sp>
      <p:sp>
        <p:nvSpPr>
          <p:cNvPr id="12" name="Shape 10"/>
          <p:cNvSpPr/>
          <p:nvPr/>
        </p:nvSpPr>
        <p:spPr>
          <a:xfrm>
            <a:off x="7607808" y="1481328"/>
            <a:ext cx="3943807" cy="3371936"/>
          </a:xfrm>
          <a:prstGeom prst="roundRect">
            <a:avLst>
              <a:gd name="adj" fmla="val 433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3" name="Image 0" descr="/tmp/claude-1000/-opt-dersler/a4dee546-de71-4ec2-8add-be39dd273d29/scratchpad/sekiller/kirilma-05.png">    </p:cNvPr>
          <p:cNvPicPr>
            <a:picLocks noChangeAspect="1"/>
          </p:cNvPicPr>
          <p:nvPr/>
        </p:nvPicPr>
        <p:blipFill>
          <a:blip r:embed="rId1"/>
          <a:stretch>
            <a:fillRect/>
          </a:stretch>
        </p:blipFill>
        <p:spPr>
          <a:xfrm>
            <a:off x="7790688" y="1664208"/>
            <a:ext cx="3578047" cy="1550451"/>
          </a:xfrm>
          <a:prstGeom prst="rect">
            <a:avLst/>
          </a:prstGeom>
        </p:spPr>
      </p:pic>
      <p:sp>
        <p:nvSpPr>
          <p:cNvPr id="14" name="Shape 11"/>
          <p:cNvSpPr/>
          <p:nvPr/>
        </p:nvSpPr>
        <p:spPr>
          <a:xfrm>
            <a:off x="7790688" y="3306099"/>
            <a:ext cx="3578047" cy="0"/>
          </a:xfrm>
          <a:prstGeom prst="line">
            <a:avLst/>
          </a:prstGeom>
          <a:noFill/>
          <a:ln w="9525">
            <a:solidFill>
              <a:srgbClr val="E1E5EE"/>
            </a:solidFill>
            <a:prstDash val="dash"/>
          </a:ln>
        </p:spPr>
      </p:sp>
      <p:sp>
        <p:nvSpPr>
          <p:cNvPr id="15" name="Text 12"/>
          <p:cNvSpPr txBox="1"/>
          <p:nvPr/>
        </p:nvSpPr>
        <p:spPr>
          <a:xfrm>
            <a:off x="7790688" y="3360963"/>
            <a:ext cx="357804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Yoğun ortamdan çıkarken ışın normalden uzaklaşır; geliş açısını büyüttükçe kırılan ışın yüzeye iyice yatar.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Sınır açıda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kırılma açısı 90° olur ve ışın tam yüzey boyunca gider. Bu açıyı bir derece bile aşarsan ışık dışarı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hiç çıkamaz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tamamen geri yansır. Fiber optik kabloların, elmasın parıltısının ve serapların ortak sırrı budur.</a:t>
            </a:r>
            <a:endParaRPr lang="en-US" sz="1050" dirty="0"/>
          </a:p>
        </p:txBody>
      </p:sp>
      <p:sp>
        <p:nvSpPr>
          <p:cNvPr id="16" name="Shape 13"/>
          <p:cNvSpPr/>
          <p:nvPr/>
        </p:nvSpPr>
        <p:spPr>
          <a:xfrm>
            <a:off x="640080" y="6382512"/>
            <a:ext cx="128016" cy="128016"/>
          </a:xfrm>
          <a:prstGeom prst="roundRect">
            <a:avLst>
              <a:gd name="adj" fmla="val 28571"/>
            </a:avLst>
          </a:prstGeom>
          <a:solidFill>
            <a:srgbClr val="A9E648"/>
          </a:solidFill>
          <a:ln/>
        </p:spPr>
      </p:sp>
      <p:sp>
        <p:nvSpPr>
          <p:cNvPr id="17"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8"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Paralel kenarlı levhada yandan kayma</a:t>
            </a:r>
            <a:endParaRPr lang="en-US" sz="3200" dirty="0"/>
          </a:p>
        </p:txBody>
      </p:sp>
      <p:sp>
        <p:nvSpPr>
          <p:cNvPr id="5" name="Text 3"/>
          <p:cNvSpPr txBox="1"/>
          <p:nvPr/>
        </p:nvSpPr>
        <p:spPr>
          <a:xfrm>
            <a:off x="640080" y="1481328"/>
            <a:ext cx="5486400" cy="124968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Işık paralel yüzlü bir cam levhaya girerken normale yaklaşır, çıkarken aynı açıyla uzaklaşır.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Sonuçta </a:t>
            </a:r>
            <a:pPr indent="0" marL="0">
              <a:lnSpc>
                <a:spcPct val="115000"/>
              </a:lnSpc>
              <a:buNone/>
            </a:pPr>
            <a:r>
              <a:rPr lang="en-US" sz="1600" b="1" dirty="0">
                <a:solidFill>
                  <a:srgbClr val="0E1426"/>
                </a:solidFill>
                <a:latin typeface="Calibri" pitchFamily="34" charset="0"/>
                <a:ea typeface="Calibri" pitchFamily="34" charset="-122"/>
                <a:cs typeface="Calibri" pitchFamily="34" charset="-120"/>
              </a:rPr>
              <a:t>çıkan ışın gelen ışına paraleldir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ama yanal olarak kaymıştır:</a:t>
            </a:r>
            <a:endParaRPr lang="en-US" sz="1600" dirty="0"/>
          </a:p>
        </p:txBody>
      </p:sp>
      <p:sp>
        <p:nvSpPr>
          <p:cNvPr id="6" name="Shape 4"/>
          <p:cNvSpPr/>
          <p:nvPr/>
        </p:nvSpPr>
        <p:spPr>
          <a:xfrm>
            <a:off x="640080" y="2840736"/>
            <a:ext cx="3024835"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2840736"/>
            <a:ext cx="302483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d = t · sin(i − r) / cos r</a:t>
            </a:r>
            <a:endParaRPr lang="en-US" sz="1300" dirty="0"/>
          </a:p>
        </p:txBody>
      </p:sp>
      <p:sp>
        <p:nvSpPr>
          <p:cNvPr id="8" name="Text 6"/>
          <p:cNvSpPr txBox="1"/>
          <p:nvPr/>
        </p:nvSpPr>
        <p:spPr>
          <a:xfrm>
            <a:off x="640080" y="3462528"/>
            <a:ext cx="5486400" cy="688848"/>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Kalınlık ve gelme açısı arttıkça kayma büyür.</a:t>
            </a:r>
            <a:endParaRPr lang="en-US" sz="1600" dirty="0"/>
          </a:p>
          <a:p>
            <a:pPr marL="203200" indent="-203200">
              <a:lnSpc>
                <a:spcPct val="115000"/>
              </a:lnSpc>
              <a:spcAft>
                <a:spcPts val="500"/>
              </a:spcAft>
              <a:buSzPct val="100000"/>
              <a:buChar char="▪"/>
            </a:pPr>
            <a:r>
              <a:rPr lang="en-US" sz="1600" dirty="0">
                <a:solidFill>
                  <a:srgbClr val="4A5470"/>
                </a:solidFill>
                <a:latin typeface="Calibri" pitchFamily="34" charset="0"/>
                <a:ea typeface="Calibri" pitchFamily="34" charset="-122"/>
                <a:cs typeface="Calibri" pitchFamily="34" charset="-120"/>
              </a:rPr>
              <a:t>Dik gelişte (i = 0) kayma sıfırdır.</a:t>
            </a:r>
            <a:endParaRPr lang="en-US" sz="1600" dirty="0"/>
          </a:p>
        </p:txBody>
      </p:sp>
      <p:sp>
        <p:nvSpPr>
          <p:cNvPr id="9" name="Shape 7"/>
          <p:cNvSpPr/>
          <p:nvPr/>
        </p:nvSpPr>
        <p:spPr>
          <a:xfrm>
            <a:off x="6419088" y="1481328"/>
            <a:ext cx="5132527" cy="3628320"/>
          </a:xfrm>
          <a:prstGeom prst="roundRect">
            <a:avLst>
              <a:gd name="adj" fmla="val 40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0" name="Image 0" descr="/tmp/claude-1000/-opt-dersler/a4dee546-de71-4ec2-8add-be39dd273d29/scratchpad/sekiller/kirilma-06.png">    </p:cNvPr>
          <p:cNvPicPr>
            <a:picLocks noChangeAspect="1"/>
          </p:cNvPicPr>
          <p:nvPr/>
        </p:nvPicPr>
        <p:blipFill>
          <a:blip r:embed="rId1"/>
          <a:stretch>
            <a:fillRect/>
          </a:stretch>
        </p:blipFill>
        <p:spPr>
          <a:xfrm>
            <a:off x="6601968" y="1664208"/>
            <a:ext cx="4766767" cy="1986058"/>
          </a:xfrm>
          <a:prstGeom prst="rect">
            <a:avLst/>
          </a:prstGeom>
        </p:spPr>
      </p:pic>
      <p:sp>
        <p:nvSpPr>
          <p:cNvPr id="11" name="Shape 8"/>
          <p:cNvSpPr/>
          <p:nvPr/>
        </p:nvSpPr>
        <p:spPr>
          <a:xfrm>
            <a:off x="6601968" y="3741706"/>
            <a:ext cx="4766767" cy="0"/>
          </a:xfrm>
          <a:prstGeom prst="line">
            <a:avLst/>
          </a:prstGeom>
          <a:noFill/>
          <a:ln w="9525">
            <a:solidFill>
              <a:srgbClr val="E1E5EE"/>
            </a:solidFill>
            <a:prstDash val="dash"/>
          </a:ln>
        </p:spPr>
      </p:sp>
      <p:sp>
        <p:nvSpPr>
          <p:cNvPr id="12" name="Text 9"/>
          <p:cNvSpPr txBox="1"/>
          <p:nvPr/>
        </p:nvSpPr>
        <p:spPr>
          <a:xfrm>
            <a:off x="6601968" y="3796570"/>
            <a:ext cx="476676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Levhaya giren ışın normale yaklaşır, çıkarken tam o kadar normalden uzaklaşır: iki kırılma birbirini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götürür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 çıkan ışın gelenle paraleldir. Değişen tek şey ışının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yana kaymasıdır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Kayma miktarı levha kalınlaştıkça ve geliş açısı büyüdükçe artar: d = t·sin(i − r)/cos r. Kalın bir cam arkasından bakınca cisimlerin hafifçe kaymış görünmesinin sebebi budur.</a:t>
            </a:r>
            <a:endParaRPr lang="en-US" sz="1050" dirty="0"/>
          </a:p>
        </p:txBody>
      </p:sp>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Günlük hayatta kırılma</a:t>
            </a:r>
            <a:endParaRPr lang="en-US" sz="3200" dirty="0"/>
          </a:p>
        </p:txBody>
      </p:sp>
      <p:sp>
        <p:nvSpPr>
          <p:cNvPr id="5" name="Text 3"/>
          <p:cNvSpPr txBox="1"/>
          <p:nvPr/>
        </p:nvSpPr>
        <p:spPr>
          <a:xfrm>
            <a:off x="640080" y="1481328"/>
            <a:ext cx="5486400" cy="374904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Suya batan kaşık kırık görünür: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sudan gelen ışınlar yüzeyde kırılır.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Havuz sığ görünür: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görünür derinlik gerçek derinlikten küçüktür (bir sonraki konu).</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Serap:</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sıcak hava katmanlarının indisi farklıdır; ışık kıvrılır.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Gökkuşağı:</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su damlasında kırılma + tam yansıma + kırılma.</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Gözlük ve mercekler: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kırılmayı kontrollü kullanır.</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Fiber optik:</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tam yansımayla ışığı kilometrelerce taşır.</a:t>
            </a:r>
            <a:endParaRPr lang="en-US" sz="1600" dirty="0"/>
          </a:p>
        </p:txBody>
      </p:sp>
      <p:sp>
        <p:nvSpPr>
          <p:cNvPr id="6" name="Shape 4"/>
          <p:cNvSpPr/>
          <p:nvPr/>
        </p:nvSpPr>
        <p:spPr>
          <a:xfrm>
            <a:off x="6419088" y="1481328"/>
            <a:ext cx="5132527" cy="3668138"/>
          </a:xfrm>
          <a:prstGeom prst="roundRect">
            <a:avLst>
              <a:gd name="adj" fmla="val 39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claude-1000/-opt-dersler/a4dee546-de71-4ec2-8add-be39dd273d29/scratchpad/sekiller/kirilma-07.png">    </p:cNvPr>
          <p:cNvPicPr>
            <a:picLocks noChangeAspect="1"/>
          </p:cNvPicPr>
          <p:nvPr/>
        </p:nvPicPr>
        <p:blipFill>
          <a:blip r:embed="rId1"/>
          <a:stretch>
            <a:fillRect/>
          </a:stretch>
        </p:blipFill>
        <p:spPr>
          <a:xfrm>
            <a:off x="6601968" y="1664208"/>
            <a:ext cx="4766767" cy="2025876"/>
          </a:xfrm>
          <a:prstGeom prst="rect">
            <a:avLst/>
          </a:prstGeom>
        </p:spPr>
      </p:pic>
      <p:sp>
        <p:nvSpPr>
          <p:cNvPr id="8" name="Shape 5"/>
          <p:cNvSpPr/>
          <p:nvPr/>
        </p:nvSpPr>
        <p:spPr>
          <a:xfrm>
            <a:off x="6601968" y="3781524"/>
            <a:ext cx="4766767" cy="0"/>
          </a:xfrm>
          <a:prstGeom prst="line">
            <a:avLst/>
          </a:prstGeom>
          <a:noFill/>
          <a:ln w="9525">
            <a:solidFill>
              <a:srgbClr val="E1E5EE"/>
            </a:solidFill>
            <a:prstDash val="dash"/>
          </a:ln>
        </p:spPr>
      </p:sp>
      <p:sp>
        <p:nvSpPr>
          <p:cNvPr id="9" name="Text 6"/>
          <p:cNvSpPr txBox="1"/>
          <p:nvPr/>
        </p:nvSpPr>
        <p:spPr>
          <a:xfrm>
            <a:off x="6601968" y="3836388"/>
            <a:ext cx="476676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İkisi de aynı olayın sonucu. Sudan çıkan ışınlar yüzeyde kırılıp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normalden uzaklaşınca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göz onları düz bir çizgi boyunca geri izler ve cismi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olduğundan yukarıda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görür. Kaşığın su altındaki kısmı yükseldiği için kırık, havuzun tabanı yükseldiği için sığ görünür. Bu yüzden suya balıklama atlamadan önce derinliği gözle değil ölçerek bilmek gerekir.</a:t>
            </a:r>
            <a:endParaRPr lang="en-US" sz="105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Snell yasası</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Havadan (n = 1) suya (n = 4/3) 53° ile giren ışının kırılma açısını bulunuz. (sin53° = 0,8)</a:t>
            </a:r>
            <a:endParaRPr lang="en-US" sz="1600" dirty="0"/>
          </a:p>
        </p:txBody>
      </p:sp>
      <p:sp>
        <p:nvSpPr>
          <p:cNvPr id="9" name="Shape 7"/>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892026"/>
            <a:ext cx="384048" cy="384048"/>
          </a:xfrm>
          <a:prstGeom prst="roundRect">
            <a:avLst>
              <a:gd name="adj" fmla="val 26000"/>
            </a:avLst>
          </a:prstGeom>
          <a:solidFill>
            <a:srgbClr val="A56209"/>
          </a:solidFill>
          <a:ln/>
        </p:spPr>
      </p:sp>
      <p:sp>
        <p:nvSpPr>
          <p:cNvPr id="11" name="Text 9"/>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n₁·sin i = n₂·sin r → 1 · 0,8 = (4/3) · sin r</a:t>
            </a:r>
            <a:endParaRPr lang="en-US" sz="1600" dirty="0"/>
          </a:p>
        </p:txBody>
      </p:sp>
      <p:sp>
        <p:nvSpPr>
          <p:cNvPr id="13" name="Shape 11"/>
          <p:cNvSpPr/>
          <p:nvPr/>
        </p:nvSpPr>
        <p:spPr>
          <a:xfrm>
            <a:off x="5212080" y="268677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951166"/>
            <a:ext cx="384048" cy="384048"/>
          </a:xfrm>
          <a:prstGeom prst="roundRect">
            <a:avLst>
              <a:gd name="adj" fmla="val 26000"/>
            </a:avLst>
          </a:prstGeom>
          <a:solidFill>
            <a:srgbClr val="A56209"/>
          </a:solidFill>
          <a:ln/>
        </p:spPr>
      </p:sp>
      <p:sp>
        <p:nvSpPr>
          <p:cNvPr id="15" name="Text 13"/>
          <p:cNvSpPr txBox="1"/>
          <p:nvPr/>
        </p:nvSpPr>
        <p:spPr>
          <a:xfrm>
            <a:off x="5449824" y="29511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74163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sin r = 0,8 · 3/4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0,6</a:t>
            </a:r>
            <a:endParaRPr lang="en-US" sz="1600" dirty="0"/>
          </a:p>
        </p:txBody>
      </p:sp>
      <p:sp>
        <p:nvSpPr>
          <p:cNvPr id="17" name="Shape 15"/>
          <p:cNvSpPr/>
          <p:nvPr/>
        </p:nvSpPr>
        <p:spPr>
          <a:xfrm>
            <a:off x="5212080" y="374591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010306"/>
            <a:ext cx="384048" cy="384048"/>
          </a:xfrm>
          <a:prstGeom prst="roundRect">
            <a:avLst>
              <a:gd name="adj" fmla="val 26000"/>
            </a:avLst>
          </a:prstGeom>
          <a:solidFill>
            <a:srgbClr val="A56209"/>
          </a:solidFill>
          <a:ln/>
        </p:spPr>
      </p:sp>
      <p:sp>
        <p:nvSpPr>
          <p:cNvPr id="19" name="Text 17"/>
          <p:cNvSpPr txBox="1"/>
          <p:nvPr/>
        </p:nvSpPr>
        <p:spPr>
          <a:xfrm>
            <a:off x="5449824" y="40103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380077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r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37°</a:t>
            </a:r>
            <a:endParaRPr lang="en-US" sz="1600" dirty="0"/>
          </a:p>
        </p:txBody>
      </p:sp>
      <p:sp>
        <p:nvSpPr>
          <p:cNvPr id="21" name="Shape 19"/>
          <p:cNvSpPr/>
          <p:nvPr/>
        </p:nvSpPr>
        <p:spPr>
          <a:xfrm>
            <a:off x="5212080" y="480505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282886"/>
            <a:ext cx="384048" cy="384048"/>
          </a:xfrm>
          <a:prstGeom prst="roundRect">
            <a:avLst>
              <a:gd name="adj" fmla="val 26000"/>
            </a:avLst>
          </a:prstGeom>
          <a:solidFill>
            <a:srgbClr val="A56209"/>
          </a:solidFill>
          <a:ln/>
        </p:spPr>
      </p:sp>
      <p:sp>
        <p:nvSpPr>
          <p:cNvPr id="23" name="Text 21"/>
          <p:cNvSpPr txBox="1"/>
          <p:nvPr/>
        </p:nvSpPr>
        <p:spPr>
          <a:xfrm>
            <a:off x="5449824" y="52828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485991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Işın normale yaklaştı: beklenen sonuç, çünkü su daha yoğun.</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Hız ve dalga boyu</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Dalga boyu havada 600 nm olan ışık, kırılma indisi 1,5 olan cama giriyor. Camdaki hızı ve dalga boyu nedir?</a:t>
            </a:r>
            <a:endParaRPr lang="en-US" sz="1600" dirty="0"/>
          </a:p>
        </p:txBody>
      </p:sp>
      <p:sp>
        <p:nvSpPr>
          <p:cNvPr id="9" name="Shape 7"/>
          <p:cNvSpPr/>
          <p:nvPr/>
        </p:nvSpPr>
        <p:spPr>
          <a:xfrm>
            <a:off x="5212080" y="162763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892026"/>
            <a:ext cx="384048" cy="384048"/>
          </a:xfrm>
          <a:prstGeom prst="roundRect">
            <a:avLst>
              <a:gd name="adj" fmla="val 26000"/>
            </a:avLst>
          </a:prstGeom>
          <a:solidFill>
            <a:srgbClr val="A56209"/>
          </a:solidFill>
          <a:ln/>
        </p:spPr>
      </p:sp>
      <p:sp>
        <p:nvSpPr>
          <p:cNvPr id="11" name="Text 9"/>
          <p:cNvSpPr txBox="1"/>
          <p:nvPr/>
        </p:nvSpPr>
        <p:spPr>
          <a:xfrm>
            <a:off x="5449824" y="189202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v = c/n = 3·10⁸ / 1,5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2·10⁸ m/s</a:t>
            </a:r>
            <a:endParaRPr lang="en-US" sz="1600" dirty="0"/>
          </a:p>
        </p:txBody>
      </p:sp>
      <p:sp>
        <p:nvSpPr>
          <p:cNvPr id="13" name="Shape 11"/>
          <p:cNvSpPr/>
          <p:nvPr/>
        </p:nvSpPr>
        <p:spPr>
          <a:xfrm>
            <a:off x="5212080" y="268677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951166"/>
            <a:ext cx="384048" cy="384048"/>
          </a:xfrm>
          <a:prstGeom prst="roundRect">
            <a:avLst>
              <a:gd name="adj" fmla="val 26000"/>
            </a:avLst>
          </a:prstGeom>
          <a:solidFill>
            <a:srgbClr val="A56209"/>
          </a:solidFill>
          <a:ln/>
        </p:spPr>
      </p:sp>
      <p:sp>
        <p:nvSpPr>
          <p:cNvPr id="15" name="Text 13"/>
          <p:cNvSpPr txBox="1"/>
          <p:nvPr/>
        </p:nvSpPr>
        <p:spPr>
          <a:xfrm>
            <a:off x="5449824" y="295116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74163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λ = λ₀/n = 600/1,5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400 nm</a:t>
            </a:r>
            <a:endParaRPr lang="en-US" sz="1600" dirty="0"/>
          </a:p>
        </p:txBody>
      </p:sp>
      <p:sp>
        <p:nvSpPr>
          <p:cNvPr id="17" name="Shape 15"/>
          <p:cNvSpPr/>
          <p:nvPr/>
        </p:nvSpPr>
        <p:spPr>
          <a:xfrm>
            <a:off x="5212080" y="3745912"/>
            <a:ext cx="6339535" cy="912836"/>
          </a:xfrm>
          <a:prstGeom prst="roundRect">
            <a:avLst>
              <a:gd name="adj" fmla="val 1602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010306"/>
            <a:ext cx="384048" cy="384048"/>
          </a:xfrm>
          <a:prstGeom prst="roundRect">
            <a:avLst>
              <a:gd name="adj" fmla="val 26000"/>
            </a:avLst>
          </a:prstGeom>
          <a:solidFill>
            <a:srgbClr val="A56209"/>
          </a:solidFill>
          <a:ln/>
        </p:spPr>
      </p:sp>
      <p:sp>
        <p:nvSpPr>
          <p:cNvPr id="19" name="Text 17"/>
          <p:cNvSpPr txBox="1"/>
          <p:nvPr/>
        </p:nvSpPr>
        <p:spPr>
          <a:xfrm>
            <a:off x="5449824" y="401030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3800776"/>
            <a:ext cx="5379415" cy="80310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f = v/λ = 2·10⁸ / 400·10⁻⁹ = 5·10¹⁴ Hz</a:t>
            </a:r>
            <a:endParaRPr lang="en-US" sz="1600" dirty="0"/>
          </a:p>
        </p:txBody>
      </p:sp>
      <p:sp>
        <p:nvSpPr>
          <p:cNvPr id="21" name="Shape 19"/>
          <p:cNvSpPr/>
          <p:nvPr/>
        </p:nvSpPr>
        <p:spPr>
          <a:xfrm>
            <a:off x="5212080" y="4805052"/>
            <a:ext cx="6339535" cy="1339716"/>
          </a:xfrm>
          <a:prstGeom prst="roundRect">
            <a:avLst>
              <a:gd name="adj" fmla="val 1092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282886"/>
            <a:ext cx="384048" cy="384048"/>
          </a:xfrm>
          <a:prstGeom prst="roundRect">
            <a:avLst>
              <a:gd name="adj" fmla="val 26000"/>
            </a:avLst>
          </a:prstGeom>
          <a:solidFill>
            <a:srgbClr val="A56209"/>
          </a:solidFill>
          <a:ln/>
        </p:spPr>
      </p:sp>
      <p:sp>
        <p:nvSpPr>
          <p:cNvPr id="23" name="Text 21"/>
          <p:cNvSpPr txBox="1"/>
          <p:nvPr/>
        </p:nvSpPr>
        <p:spPr>
          <a:xfrm>
            <a:off x="5449824" y="528288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4859916"/>
            <a:ext cx="5379415" cy="122998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Havadaki frekans da 3·10⁸/600·10⁻⁹ = 5·10¹⁴ Hz ✓ frekans değişmedi.</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Sınır açı</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Kırılma indisi 2 olan bir ortamdan havaya geçişte sınır açı kaç derecedir?</a:t>
            </a:r>
            <a:endParaRPr lang="en-US" sz="1600" dirty="0"/>
          </a:p>
        </p:txBody>
      </p:sp>
      <p:sp>
        <p:nvSpPr>
          <p:cNvPr id="9" name="Shape 7"/>
          <p:cNvSpPr/>
          <p:nvPr/>
        </p:nvSpPr>
        <p:spPr>
          <a:xfrm>
            <a:off x="5212080" y="1627632"/>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2044744"/>
            <a:ext cx="384048" cy="384048"/>
          </a:xfrm>
          <a:prstGeom prst="roundRect">
            <a:avLst>
              <a:gd name="adj" fmla="val 26000"/>
            </a:avLst>
          </a:prstGeom>
          <a:solidFill>
            <a:srgbClr val="A56209"/>
          </a:solidFill>
          <a:ln/>
        </p:spPr>
      </p:sp>
      <p:sp>
        <p:nvSpPr>
          <p:cNvPr id="11" name="Text 9"/>
          <p:cNvSpPr txBox="1"/>
          <p:nvPr/>
        </p:nvSpPr>
        <p:spPr>
          <a:xfrm>
            <a:off x="5449824" y="20447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sin θ = n₂/n₁ = 1/2 = 0,5</a:t>
            </a:r>
            <a:endParaRPr lang="en-US" sz="1600" dirty="0"/>
          </a:p>
        </p:txBody>
      </p:sp>
      <p:sp>
        <p:nvSpPr>
          <p:cNvPr id="13" name="Shape 11"/>
          <p:cNvSpPr/>
          <p:nvPr/>
        </p:nvSpPr>
        <p:spPr>
          <a:xfrm>
            <a:off x="5212080" y="2992207"/>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409319"/>
            <a:ext cx="384048" cy="384048"/>
          </a:xfrm>
          <a:prstGeom prst="roundRect">
            <a:avLst>
              <a:gd name="adj" fmla="val 26000"/>
            </a:avLst>
          </a:prstGeom>
          <a:solidFill>
            <a:srgbClr val="A56209"/>
          </a:solidFill>
          <a:ln/>
        </p:spPr>
      </p:sp>
      <p:sp>
        <p:nvSpPr>
          <p:cNvPr id="15" name="Text 13"/>
          <p:cNvSpPr txBox="1"/>
          <p:nvPr/>
        </p:nvSpPr>
        <p:spPr>
          <a:xfrm>
            <a:off x="5449824" y="340931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3047071"/>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θ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30°</a:t>
            </a:r>
            <a:endParaRPr lang="en-US" sz="1600" dirty="0"/>
          </a:p>
        </p:txBody>
      </p:sp>
      <p:sp>
        <p:nvSpPr>
          <p:cNvPr id="17" name="Shape 15"/>
          <p:cNvSpPr/>
          <p:nvPr/>
        </p:nvSpPr>
        <p:spPr>
          <a:xfrm>
            <a:off x="5212080" y="4356783"/>
            <a:ext cx="6339535" cy="1787985"/>
          </a:xfrm>
          <a:prstGeom prst="roundRect">
            <a:avLst>
              <a:gd name="adj" fmla="val 81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5058751"/>
            <a:ext cx="384048" cy="384048"/>
          </a:xfrm>
          <a:prstGeom prst="roundRect">
            <a:avLst>
              <a:gd name="adj" fmla="val 26000"/>
            </a:avLst>
          </a:prstGeom>
          <a:solidFill>
            <a:srgbClr val="A56209"/>
          </a:solidFill>
          <a:ln/>
        </p:spPr>
      </p:sp>
      <p:sp>
        <p:nvSpPr>
          <p:cNvPr id="19" name="Text 17"/>
          <p:cNvSpPr txBox="1"/>
          <p:nvPr/>
        </p:nvSpPr>
        <p:spPr>
          <a:xfrm>
            <a:off x="5449824" y="505875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411647"/>
            <a:ext cx="5379415" cy="1678257"/>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30°'den büyük açılarla gelen ışınlar ortamı terk edemez, tamamen yansır.</a:t>
            </a:r>
            <a:endParaRPr lang="en-US" sz="1600" dirty="0"/>
          </a:p>
        </p:txBody>
      </p:sp>
      <p:sp>
        <p:nvSpPr>
          <p:cNvPr id="21" name="Shape 19"/>
          <p:cNvSpPr/>
          <p:nvPr/>
        </p:nvSpPr>
        <p:spPr>
          <a:xfrm>
            <a:off x="640080" y="6382512"/>
            <a:ext cx="128016" cy="128016"/>
          </a:xfrm>
          <a:prstGeom prst="roundRect">
            <a:avLst>
              <a:gd name="adj" fmla="val 28571"/>
            </a:avLst>
          </a:prstGeom>
          <a:solidFill>
            <a:srgbClr val="A9E648"/>
          </a:solidFill>
          <a:ln/>
        </p:spPr>
      </p:sp>
      <p:sp>
        <p:nvSpPr>
          <p:cNvPr id="22" name="Text 2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23" name="Text 2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4</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Yandan kayma</a:t>
            </a:r>
            <a:endParaRPr lang="en-US" sz="1450" dirty="0"/>
          </a:p>
        </p:txBody>
      </p:sp>
      <p:sp>
        <p:nvSpPr>
          <p:cNvPr id="6" name="Shape 4"/>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Text 5"/>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8" name="Text 6"/>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Kalınlığı 6 cm olan cam levhaya (n = 1,5) 50° ile gelen ışının yandan kayması ne kadardır?</a:t>
            </a:r>
            <a:endParaRPr lang="en-US" sz="1600" dirty="0"/>
          </a:p>
        </p:txBody>
      </p:sp>
      <p:sp>
        <p:nvSpPr>
          <p:cNvPr id="9" name="Shape 7"/>
          <p:cNvSpPr/>
          <p:nvPr/>
        </p:nvSpPr>
        <p:spPr>
          <a:xfrm>
            <a:off x="5212080" y="1627632"/>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5449824" y="1989509"/>
            <a:ext cx="384048" cy="384048"/>
          </a:xfrm>
          <a:prstGeom prst="roundRect">
            <a:avLst>
              <a:gd name="adj" fmla="val 26000"/>
            </a:avLst>
          </a:prstGeom>
          <a:solidFill>
            <a:srgbClr val="A56209"/>
          </a:solidFill>
          <a:ln/>
        </p:spPr>
      </p:sp>
      <p:sp>
        <p:nvSpPr>
          <p:cNvPr id="11" name="Text 9"/>
          <p:cNvSpPr txBox="1"/>
          <p:nvPr/>
        </p:nvSpPr>
        <p:spPr>
          <a:xfrm>
            <a:off x="5449824" y="198950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10"/>
          <p:cNvSpPr txBox="1"/>
          <p:nvPr/>
        </p:nvSpPr>
        <p:spPr>
          <a:xfrm>
            <a:off x="5989320" y="1682496"/>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sin r = sin50° / 1,5 = 0,766/1,5 = 0,511 → r ≈ 30,7°</a:t>
            </a:r>
            <a:endParaRPr lang="en-US" sz="1600" dirty="0"/>
          </a:p>
        </p:txBody>
      </p:sp>
      <p:sp>
        <p:nvSpPr>
          <p:cNvPr id="13" name="Shape 11"/>
          <p:cNvSpPr/>
          <p:nvPr/>
        </p:nvSpPr>
        <p:spPr>
          <a:xfrm>
            <a:off x="5212080" y="2881738"/>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3243615"/>
            <a:ext cx="384048" cy="384048"/>
          </a:xfrm>
          <a:prstGeom prst="roundRect">
            <a:avLst>
              <a:gd name="adj" fmla="val 26000"/>
            </a:avLst>
          </a:prstGeom>
          <a:solidFill>
            <a:srgbClr val="A56209"/>
          </a:solidFill>
          <a:ln/>
        </p:spPr>
      </p:sp>
      <p:sp>
        <p:nvSpPr>
          <p:cNvPr id="15" name="Text 13"/>
          <p:cNvSpPr txBox="1"/>
          <p:nvPr/>
        </p:nvSpPr>
        <p:spPr>
          <a:xfrm>
            <a:off x="5449824" y="324361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6" name="Text 14"/>
          <p:cNvSpPr txBox="1"/>
          <p:nvPr/>
        </p:nvSpPr>
        <p:spPr>
          <a:xfrm>
            <a:off x="5989320" y="2936602"/>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 = t·sin(i − r)/cos r = 6 · sin(19,3°) / cos(30,7°)</a:t>
            </a:r>
            <a:endParaRPr lang="en-US" sz="1600" dirty="0"/>
          </a:p>
        </p:txBody>
      </p:sp>
      <p:sp>
        <p:nvSpPr>
          <p:cNvPr id="17" name="Shape 15"/>
          <p:cNvSpPr/>
          <p:nvPr/>
        </p:nvSpPr>
        <p:spPr>
          <a:xfrm>
            <a:off x="5212080" y="4135844"/>
            <a:ext cx="6339535" cy="754818"/>
          </a:xfrm>
          <a:prstGeom prst="roundRect">
            <a:avLst>
              <a:gd name="adj" fmla="val 193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4321229"/>
            <a:ext cx="384048" cy="384048"/>
          </a:xfrm>
          <a:prstGeom prst="roundRect">
            <a:avLst>
              <a:gd name="adj" fmla="val 26000"/>
            </a:avLst>
          </a:prstGeom>
          <a:solidFill>
            <a:srgbClr val="A56209"/>
          </a:solidFill>
          <a:ln/>
        </p:spPr>
      </p:sp>
      <p:sp>
        <p:nvSpPr>
          <p:cNvPr id="19" name="Text 17"/>
          <p:cNvSpPr txBox="1"/>
          <p:nvPr/>
        </p:nvSpPr>
        <p:spPr>
          <a:xfrm>
            <a:off x="5449824" y="432122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0" name="Text 18"/>
          <p:cNvSpPr txBox="1"/>
          <p:nvPr/>
        </p:nvSpPr>
        <p:spPr>
          <a:xfrm>
            <a:off x="5989320" y="4190708"/>
            <a:ext cx="5379415" cy="645090"/>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d = 6 · 0,331 / 0,860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2,3 cm</a:t>
            </a:r>
            <a:endParaRPr lang="en-US" sz="1600" dirty="0"/>
          </a:p>
        </p:txBody>
      </p:sp>
      <p:sp>
        <p:nvSpPr>
          <p:cNvPr id="21" name="Shape 19"/>
          <p:cNvSpPr/>
          <p:nvPr/>
        </p:nvSpPr>
        <p:spPr>
          <a:xfrm>
            <a:off x="5212080" y="5036966"/>
            <a:ext cx="6339535" cy="1107802"/>
          </a:xfrm>
          <a:prstGeom prst="roundRect">
            <a:avLst>
              <a:gd name="adj" fmla="val 13207"/>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398843"/>
            <a:ext cx="384048" cy="384048"/>
          </a:xfrm>
          <a:prstGeom prst="roundRect">
            <a:avLst>
              <a:gd name="adj" fmla="val 26000"/>
            </a:avLst>
          </a:prstGeom>
          <a:solidFill>
            <a:srgbClr val="A56209"/>
          </a:solidFill>
          <a:ln/>
        </p:spPr>
      </p:sp>
      <p:sp>
        <p:nvSpPr>
          <p:cNvPr id="23" name="Text 21"/>
          <p:cNvSpPr txBox="1"/>
          <p:nvPr/>
        </p:nvSpPr>
        <p:spPr>
          <a:xfrm>
            <a:off x="5449824" y="539884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4" name="Text 22"/>
          <p:cNvSpPr txBox="1"/>
          <p:nvPr/>
        </p:nvSpPr>
        <p:spPr>
          <a:xfrm>
            <a:off x="5989320" y="5091830"/>
            <a:ext cx="5379415" cy="998074"/>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Çıkan ışın, gelen ışına paraleldir; yalnızca 2,3 cm kaymıştır.</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6" name="Shape 4"/>
          <p:cNvSpPr/>
          <p:nvPr/>
        </p:nvSpPr>
        <p:spPr>
          <a:xfrm>
            <a:off x="640080" y="162763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41248" y="1773936"/>
            <a:ext cx="274320" cy="274320"/>
          </a:xfrm>
          <a:prstGeom prst="roundRect">
            <a:avLst>
              <a:gd name="adj" fmla="val 26667"/>
            </a:avLst>
          </a:prstGeom>
          <a:solidFill>
            <a:srgbClr val="FBE9EE"/>
          </a:solidFill>
          <a:ln/>
        </p:spPr>
      </p:sp>
      <p:sp>
        <p:nvSpPr>
          <p:cNvPr id="8" name="Text 6"/>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9" name="Text 7"/>
          <p:cNvSpPr txBox="1"/>
          <p:nvPr/>
        </p:nvSpPr>
        <p:spPr>
          <a:xfrm>
            <a:off x="1225296" y="174650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Frekansın değiştiğini sanmak.</a:t>
            </a:r>
            <a:endParaRPr lang="en-US" sz="1500" dirty="0"/>
          </a:p>
        </p:txBody>
      </p:sp>
      <p:sp>
        <p:nvSpPr>
          <p:cNvPr id="10" name="Shape 8"/>
          <p:cNvSpPr/>
          <p:nvPr/>
        </p:nvSpPr>
        <p:spPr>
          <a:xfrm>
            <a:off x="841248" y="2137410"/>
            <a:ext cx="274320" cy="274320"/>
          </a:xfrm>
          <a:prstGeom prst="roundRect">
            <a:avLst>
              <a:gd name="adj" fmla="val 26667"/>
            </a:avLst>
          </a:prstGeom>
          <a:solidFill>
            <a:srgbClr val="EAF7DC"/>
          </a:solidFill>
          <a:ln/>
        </p:spPr>
      </p:sp>
      <p:sp>
        <p:nvSpPr>
          <p:cNvPr id="11" name="Text 9"/>
          <p:cNvSpPr txBox="1"/>
          <p:nvPr/>
        </p:nvSpPr>
        <p:spPr>
          <a:xfrm>
            <a:off x="841248" y="213741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2" name="Text 10"/>
          <p:cNvSpPr txBox="1"/>
          <p:nvPr/>
        </p:nvSpPr>
        <p:spPr>
          <a:xfrm>
            <a:off x="1225296" y="211912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Kırılmada frekans değişmez; değişen hız ve dalga boyudur.</a:t>
            </a:r>
            <a:endParaRPr lang="en-US" sz="1400" dirty="0"/>
          </a:p>
        </p:txBody>
      </p:sp>
      <p:sp>
        <p:nvSpPr>
          <p:cNvPr id="13" name="Shape 11"/>
          <p:cNvSpPr/>
          <p:nvPr/>
        </p:nvSpPr>
        <p:spPr>
          <a:xfrm>
            <a:off x="6205576" y="162763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6406744" y="1773936"/>
            <a:ext cx="274320" cy="274320"/>
          </a:xfrm>
          <a:prstGeom prst="roundRect">
            <a:avLst>
              <a:gd name="adj" fmla="val 26667"/>
            </a:avLst>
          </a:prstGeom>
          <a:solidFill>
            <a:srgbClr val="FBE9EE"/>
          </a:solidFill>
          <a:ln/>
        </p:spPr>
      </p:sp>
      <p:sp>
        <p:nvSpPr>
          <p:cNvPr id="15" name="Text 13"/>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6" name="Text 14"/>
          <p:cNvSpPr txBox="1"/>
          <p:nvPr/>
        </p:nvSpPr>
        <p:spPr>
          <a:xfrm>
            <a:off x="6790792" y="174650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Dik gelen ışının kırıldığını düşünmek.</a:t>
            </a:r>
            <a:endParaRPr lang="en-US" sz="1500" dirty="0"/>
          </a:p>
        </p:txBody>
      </p:sp>
      <p:sp>
        <p:nvSpPr>
          <p:cNvPr id="17" name="Shape 15"/>
          <p:cNvSpPr/>
          <p:nvPr/>
        </p:nvSpPr>
        <p:spPr>
          <a:xfrm>
            <a:off x="6406744" y="2137410"/>
            <a:ext cx="274320" cy="274320"/>
          </a:xfrm>
          <a:prstGeom prst="roundRect">
            <a:avLst>
              <a:gd name="adj" fmla="val 26667"/>
            </a:avLst>
          </a:prstGeom>
          <a:solidFill>
            <a:srgbClr val="EAF7DC"/>
          </a:solidFill>
          <a:ln/>
        </p:spPr>
      </p:sp>
      <p:sp>
        <p:nvSpPr>
          <p:cNvPr id="18" name="Text 16"/>
          <p:cNvSpPr txBox="1"/>
          <p:nvPr/>
        </p:nvSpPr>
        <p:spPr>
          <a:xfrm>
            <a:off x="6406744" y="213741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9" name="Text 17"/>
          <p:cNvSpPr txBox="1"/>
          <p:nvPr/>
        </p:nvSpPr>
        <p:spPr>
          <a:xfrm>
            <a:off x="6790792" y="211912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i = 0 ise ışın doğrultusunu korur (hızı yine de değişir).</a:t>
            </a:r>
            <a:endParaRPr lang="en-US" sz="1400" dirty="0"/>
          </a:p>
        </p:txBody>
      </p:sp>
      <p:sp>
        <p:nvSpPr>
          <p:cNvPr id="20" name="Shape 18"/>
          <p:cNvSpPr/>
          <p:nvPr/>
        </p:nvSpPr>
        <p:spPr>
          <a:xfrm>
            <a:off x="640080" y="318211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1" name="Shape 19"/>
          <p:cNvSpPr/>
          <p:nvPr/>
        </p:nvSpPr>
        <p:spPr>
          <a:xfrm>
            <a:off x="841248" y="3328416"/>
            <a:ext cx="274320" cy="274320"/>
          </a:xfrm>
          <a:prstGeom prst="roundRect">
            <a:avLst>
              <a:gd name="adj" fmla="val 26667"/>
            </a:avLst>
          </a:prstGeom>
          <a:solidFill>
            <a:srgbClr val="FBE9EE"/>
          </a:solidFill>
          <a:ln/>
        </p:spPr>
      </p:sp>
      <p:sp>
        <p:nvSpPr>
          <p:cNvPr id="22" name="Text 20"/>
          <p:cNvSpPr txBox="1"/>
          <p:nvPr/>
        </p:nvSpPr>
        <p:spPr>
          <a:xfrm>
            <a:off x="841248" y="332841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3" name="Text 21"/>
          <p:cNvSpPr txBox="1"/>
          <p:nvPr/>
        </p:nvSpPr>
        <p:spPr>
          <a:xfrm>
            <a:off x="1225296" y="330098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Tam yansımayı her geçişte aramak.</a:t>
            </a:r>
            <a:endParaRPr lang="en-US" sz="1500" dirty="0"/>
          </a:p>
        </p:txBody>
      </p:sp>
      <p:sp>
        <p:nvSpPr>
          <p:cNvPr id="24" name="Shape 22"/>
          <p:cNvSpPr/>
          <p:nvPr/>
        </p:nvSpPr>
        <p:spPr>
          <a:xfrm>
            <a:off x="841248" y="3691890"/>
            <a:ext cx="274320" cy="274320"/>
          </a:xfrm>
          <a:prstGeom prst="roundRect">
            <a:avLst>
              <a:gd name="adj" fmla="val 26667"/>
            </a:avLst>
          </a:prstGeom>
          <a:solidFill>
            <a:srgbClr val="EAF7DC"/>
          </a:solidFill>
          <a:ln/>
        </p:spPr>
      </p:sp>
      <p:sp>
        <p:nvSpPr>
          <p:cNvPr id="25" name="Text 23"/>
          <p:cNvSpPr txBox="1"/>
          <p:nvPr/>
        </p:nvSpPr>
        <p:spPr>
          <a:xfrm>
            <a:off x="841248" y="369189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6" name="Text 24"/>
          <p:cNvSpPr txBox="1"/>
          <p:nvPr/>
        </p:nvSpPr>
        <p:spPr>
          <a:xfrm>
            <a:off x="1225296" y="367360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Yalnızca çok yoğundan az yoğuna geçişte olur.</a:t>
            </a:r>
            <a:endParaRPr lang="en-US" sz="1400" dirty="0"/>
          </a:p>
        </p:txBody>
      </p:sp>
      <p:sp>
        <p:nvSpPr>
          <p:cNvPr id="27" name="Shape 25"/>
          <p:cNvSpPr/>
          <p:nvPr/>
        </p:nvSpPr>
        <p:spPr>
          <a:xfrm>
            <a:off x="6205576" y="318211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6406744" y="3328416"/>
            <a:ext cx="274320" cy="274320"/>
          </a:xfrm>
          <a:prstGeom prst="roundRect">
            <a:avLst>
              <a:gd name="adj" fmla="val 26667"/>
            </a:avLst>
          </a:prstGeom>
          <a:solidFill>
            <a:srgbClr val="FBE9EE"/>
          </a:solidFill>
          <a:ln/>
        </p:spPr>
      </p:sp>
      <p:sp>
        <p:nvSpPr>
          <p:cNvPr id="29" name="Text 27"/>
          <p:cNvSpPr txBox="1"/>
          <p:nvPr/>
        </p:nvSpPr>
        <p:spPr>
          <a:xfrm>
            <a:off x="6406744" y="332841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0" name="Text 28"/>
          <p:cNvSpPr txBox="1"/>
          <p:nvPr/>
        </p:nvSpPr>
        <p:spPr>
          <a:xfrm>
            <a:off x="6790792" y="3300984"/>
            <a:ext cx="4559656" cy="31775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Açıları yüzeyle ölçmek.</a:t>
            </a:r>
            <a:endParaRPr lang="en-US" sz="1500" dirty="0"/>
          </a:p>
        </p:txBody>
      </p:sp>
      <p:sp>
        <p:nvSpPr>
          <p:cNvPr id="31" name="Shape 29"/>
          <p:cNvSpPr/>
          <p:nvPr/>
        </p:nvSpPr>
        <p:spPr>
          <a:xfrm>
            <a:off x="6406744" y="3691890"/>
            <a:ext cx="274320" cy="274320"/>
          </a:xfrm>
          <a:prstGeom prst="roundRect">
            <a:avLst>
              <a:gd name="adj" fmla="val 26667"/>
            </a:avLst>
          </a:prstGeom>
          <a:solidFill>
            <a:srgbClr val="EAF7DC"/>
          </a:solidFill>
          <a:ln/>
        </p:spPr>
      </p:sp>
      <p:sp>
        <p:nvSpPr>
          <p:cNvPr id="32" name="Text 30"/>
          <p:cNvSpPr txBox="1"/>
          <p:nvPr/>
        </p:nvSpPr>
        <p:spPr>
          <a:xfrm>
            <a:off x="6406744" y="369189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3" name="Text 31"/>
          <p:cNvSpPr txBox="1"/>
          <p:nvPr/>
        </p:nvSpPr>
        <p:spPr>
          <a:xfrm>
            <a:off x="6790792" y="3673602"/>
            <a:ext cx="4559656" cy="80695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Kırılmada da açılar normalle ölçülür.</a:t>
            </a:r>
            <a:endParaRPr lang="en-US" sz="1400" dirty="0"/>
          </a:p>
        </p:txBody>
      </p:sp>
      <p:sp>
        <p:nvSpPr>
          <p:cNvPr id="34" name="Shape 32"/>
          <p:cNvSpPr/>
          <p:nvPr/>
        </p:nvSpPr>
        <p:spPr>
          <a:xfrm>
            <a:off x="640080" y="473659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841248" y="4882896"/>
            <a:ext cx="274320" cy="274320"/>
          </a:xfrm>
          <a:prstGeom prst="roundRect">
            <a:avLst>
              <a:gd name="adj" fmla="val 26667"/>
            </a:avLst>
          </a:prstGeom>
          <a:solidFill>
            <a:srgbClr val="FBE9EE"/>
          </a:solidFill>
          <a:ln/>
        </p:spPr>
      </p:sp>
      <p:sp>
        <p:nvSpPr>
          <p:cNvPr id="36" name="Text 34"/>
          <p:cNvSpPr txBox="1"/>
          <p:nvPr/>
        </p:nvSpPr>
        <p:spPr>
          <a:xfrm>
            <a:off x="841248" y="488289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7" name="Text 35"/>
          <p:cNvSpPr txBox="1"/>
          <p:nvPr/>
        </p:nvSpPr>
        <p:spPr>
          <a:xfrm>
            <a:off x="1225296" y="4855464"/>
            <a:ext cx="4559656" cy="58064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“Yoğun ortam” ile kütle yoğunluğunu karıştırmak.</a:t>
            </a:r>
            <a:endParaRPr lang="en-US" sz="1500" dirty="0"/>
          </a:p>
        </p:txBody>
      </p:sp>
      <p:sp>
        <p:nvSpPr>
          <p:cNvPr id="38" name="Shape 36"/>
          <p:cNvSpPr/>
          <p:nvPr/>
        </p:nvSpPr>
        <p:spPr>
          <a:xfrm>
            <a:off x="841248" y="5509260"/>
            <a:ext cx="274320" cy="274320"/>
          </a:xfrm>
          <a:prstGeom prst="roundRect">
            <a:avLst>
              <a:gd name="adj" fmla="val 26667"/>
            </a:avLst>
          </a:prstGeom>
          <a:solidFill>
            <a:srgbClr val="EAF7DC"/>
          </a:solidFill>
          <a:ln/>
        </p:spPr>
      </p:sp>
      <p:sp>
        <p:nvSpPr>
          <p:cNvPr id="39" name="Text 37"/>
          <p:cNvSpPr txBox="1"/>
          <p:nvPr/>
        </p:nvSpPr>
        <p:spPr>
          <a:xfrm>
            <a:off x="841248" y="550926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40" name="Text 38"/>
          <p:cNvSpPr txBox="1"/>
          <p:nvPr/>
        </p:nvSpPr>
        <p:spPr>
          <a:xfrm>
            <a:off x="1225296" y="5490972"/>
            <a:ext cx="4559656" cy="54406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Burada kastedilen optik yoğunluk, yani kırılma indisidir.</a:t>
            </a:r>
            <a:endParaRPr lang="en-US" sz="1400" dirty="0"/>
          </a:p>
        </p:txBody>
      </p:sp>
      <p:sp>
        <p:nvSpPr>
          <p:cNvPr id="41" name="Shape 39"/>
          <p:cNvSpPr/>
          <p:nvPr/>
        </p:nvSpPr>
        <p:spPr>
          <a:xfrm>
            <a:off x="6205576" y="4736592"/>
            <a:ext cx="5346040" cy="1408176"/>
          </a:xfrm>
          <a:prstGeom prst="roundRect">
            <a:avLst>
              <a:gd name="adj" fmla="val 1039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2" name="Shape 40"/>
          <p:cNvSpPr/>
          <p:nvPr/>
        </p:nvSpPr>
        <p:spPr>
          <a:xfrm>
            <a:off x="6406744" y="4882896"/>
            <a:ext cx="274320" cy="274320"/>
          </a:xfrm>
          <a:prstGeom prst="roundRect">
            <a:avLst>
              <a:gd name="adj" fmla="val 26667"/>
            </a:avLst>
          </a:prstGeom>
          <a:solidFill>
            <a:srgbClr val="FBE9EE"/>
          </a:solidFill>
          <a:ln/>
        </p:spPr>
      </p:sp>
      <p:sp>
        <p:nvSpPr>
          <p:cNvPr id="43" name="Text 41"/>
          <p:cNvSpPr txBox="1"/>
          <p:nvPr/>
        </p:nvSpPr>
        <p:spPr>
          <a:xfrm>
            <a:off x="6406744" y="488289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44" name="Text 42"/>
          <p:cNvSpPr txBox="1"/>
          <p:nvPr/>
        </p:nvSpPr>
        <p:spPr>
          <a:xfrm>
            <a:off x="6790792" y="4855464"/>
            <a:ext cx="4559656" cy="580644"/>
          </a:xfrm>
          <a:prstGeom prst="rect">
            <a:avLst/>
          </a:prstGeom>
          <a:noFill/>
          <a:ln/>
        </p:spPr>
        <p:txBody>
          <a:bodyPr wrap="square" lIns="0" tIns="0" rIns="0" bIns="0" rtlCol="0" anchor="t"/>
          <a:lstStyle/>
          <a:p>
            <a:pPr indent="0" marL="0">
              <a:lnSpc>
                <a:spcPct val="108000"/>
              </a:lnSpc>
              <a:buNone/>
            </a:pPr>
            <a:r>
              <a:rPr lang="en-US" sz="1500" b="1" dirty="0">
                <a:solidFill>
                  <a:srgbClr val="0E1426"/>
                </a:solidFill>
                <a:latin typeface="Calibri" pitchFamily="34" charset="0"/>
                <a:ea typeface="Calibri" pitchFamily="34" charset="-122"/>
                <a:cs typeface="Calibri" pitchFamily="34" charset="-120"/>
              </a:rPr>
              <a:t>Levhadan çıkan ışının doğrultusunun değiştiğini sanmak.</a:t>
            </a:r>
            <a:endParaRPr lang="en-US" sz="1500" dirty="0"/>
          </a:p>
        </p:txBody>
      </p:sp>
      <p:sp>
        <p:nvSpPr>
          <p:cNvPr id="45" name="Shape 43"/>
          <p:cNvSpPr/>
          <p:nvPr/>
        </p:nvSpPr>
        <p:spPr>
          <a:xfrm>
            <a:off x="6406744" y="5509260"/>
            <a:ext cx="274320" cy="274320"/>
          </a:xfrm>
          <a:prstGeom prst="roundRect">
            <a:avLst>
              <a:gd name="adj" fmla="val 26667"/>
            </a:avLst>
          </a:prstGeom>
          <a:solidFill>
            <a:srgbClr val="EAF7DC"/>
          </a:solidFill>
          <a:ln/>
        </p:spPr>
      </p:sp>
      <p:sp>
        <p:nvSpPr>
          <p:cNvPr id="46" name="Text 44"/>
          <p:cNvSpPr txBox="1"/>
          <p:nvPr/>
        </p:nvSpPr>
        <p:spPr>
          <a:xfrm>
            <a:off x="6406744" y="5509260"/>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47" name="Text 45"/>
          <p:cNvSpPr txBox="1"/>
          <p:nvPr/>
        </p:nvSpPr>
        <p:spPr>
          <a:xfrm>
            <a:off x="6790792" y="5490972"/>
            <a:ext cx="4559656" cy="544068"/>
          </a:xfrm>
          <a:prstGeom prst="rect">
            <a:avLst/>
          </a:prstGeom>
          <a:noFill/>
          <a:ln/>
        </p:spPr>
        <p:txBody>
          <a:bodyPr wrap="square" lIns="0" tIns="0" rIns="0" bIns="0" rtlCol="0" anchor="t"/>
          <a:lstStyle/>
          <a:p>
            <a:pPr indent="0" marL="0">
              <a:lnSpc>
                <a:spcPct val="108000"/>
              </a:lnSpc>
              <a:buNone/>
            </a:pPr>
            <a:r>
              <a:rPr lang="en-US" sz="1400" dirty="0">
                <a:solidFill>
                  <a:srgbClr val="4A5470"/>
                </a:solidFill>
                <a:latin typeface="Calibri" pitchFamily="34" charset="0"/>
                <a:ea typeface="Calibri" pitchFamily="34" charset="-122"/>
                <a:cs typeface="Calibri" pitchFamily="34" charset="-120"/>
              </a:rPr>
              <a:t> Paralel kenarlı levhada çıkan ışın gelen ışına paraleldir.</a:t>
            </a:r>
            <a:endParaRPr lang="en-US" sz="1400" dirty="0"/>
          </a:p>
        </p:txBody>
      </p:sp>
      <p:sp>
        <p:nvSpPr>
          <p:cNvPr id="48" name="Shape 46"/>
          <p:cNvSpPr/>
          <p:nvPr/>
        </p:nvSpPr>
        <p:spPr>
          <a:xfrm>
            <a:off x="640080" y="6382512"/>
            <a:ext cx="128016" cy="128016"/>
          </a:xfrm>
          <a:prstGeom prst="roundRect">
            <a:avLst>
              <a:gd name="adj" fmla="val 28571"/>
            </a:avLst>
          </a:prstGeom>
          <a:solidFill>
            <a:srgbClr val="A9E648"/>
          </a:solidFill>
          <a:ln/>
        </p:spPr>
      </p:sp>
      <p:sp>
        <p:nvSpPr>
          <p:cNvPr id="49" name="Text 4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dersler.perinet.org/kirilma.html</a:t>
            </a:r>
            <a:endParaRPr lang="en-US" sz="1050" dirty="0"/>
          </a:p>
        </p:txBody>
      </p:sp>
      <p:sp>
        <p:nvSpPr>
          <p:cNvPr id="50" name="Text 4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İndis </a:t>
            </a:r>
            <a:pPr indent="0" marL="0">
              <a:buNone/>
            </a:pPr>
            <a:r>
              <a:rPr lang="en-US" sz="1500" b="1" dirty="0">
                <a:solidFill>
                  <a:srgbClr val="FFFFFF"/>
                </a:solidFill>
                <a:latin typeface="Calibri" pitchFamily="34" charset="0"/>
                <a:ea typeface="Calibri" pitchFamily="34" charset="-122"/>
                <a:cs typeface="Calibri" pitchFamily="34" charset="-120"/>
              </a:rPr>
              <a:t>n = c / v</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Snell </a:t>
            </a:r>
            <a:pPr indent="0" marL="0">
              <a:buNone/>
            </a:pPr>
            <a:r>
              <a:rPr lang="en-US" sz="1500" b="1" dirty="0">
                <a:solidFill>
                  <a:srgbClr val="FFFFFF"/>
                </a:solidFill>
                <a:latin typeface="Calibri" pitchFamily="34" charset="0"/>
                <a:ea typeface="Calibri" pitchFamily="34" charset="-122"/>
                <a:cs typeface="Calibri" pitchFamily="34" charset="-120"/>
              </a:rPr>
              <a:t>n₁sin i = n₂sin r</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Frekans </a:t>
            </a:r>
            <a:pPr indent="0" marL="0">
              <a:buNone/>
            </a:pPr>
            <a:r>
              <a:rPr lang="en-US" sz="1500" b="1" dirty="0">
                <a:solidFill>
                  <a:srgbClr val="FFFFFF"/>
                </a:solidFill>
                <a:latin typeface="Calibri" pitchFamily="34" charset="0"/>
                <a:ea typeface="Calibri" pitchFamily="34" charset="-122"/>
                <a:cs typeface="Calibri" pitchFamily="34" charset="-120"/>
              </a:rPr>
              <a:t>değişmez</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Sınır açı </a:t>
            </a:r>
            <a:pPr indent="0" marL="0">
              <a:buNone/>
            </a:pPr>
            <a:r>
              <a:rPr lang="en-US" sz="1500" b="1" dirty="0">
                <a:solidFill>
                  <a:srgbClr val="FFFFFF"/>
                </a:solidFill>
                <a:latin typeface="Calibri" pitchFamily="34" charset="0"/>
                <a:ea typeface="Calibri" pitchFamily="34" charset="-122"/>
                <a:cs typeface="Calibri" pitchFamily="34" charset="-120"/>
              </a:rPr>
              <a:t>sin θ = n₂/n₁</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n = c / v</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kırılma indisi</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2272284"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n₁·sin i = n₂·sin r</a:t>
            </a:r>
            <a:endParaRPr lang="en-US" sz="1350" dirty="0"/>
          </a:p>
        </p:txBody>
      </p:sp>
      <p:sp>
        <p:nvSpPr>
          <p:cNvPr id="19" name="Text 17"/>
          <p:cNvSpPr txBox="1"/>
          <p:nvPr/>
        </p:nvSpPr>
        <p:spPr>
          <a:xfrm>
            <a:off x="8993124" y="3218688"/>
            <a:ext cx="2375611"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Snell yasası</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λ = λ₀ / n</a:t>
            </a:r>
            <a:endParaRPr lang="en-US" sz="1350" dirty="0"/>
          </a:p>
        </p:txBody>
      </p:sp>
      <p:sp>
        <p:nvSpPr>
          <p:cNvPr id="22" name="Text 20"/>
          <p:cNvSpPr txBox="1"/>
          <p:nvPr/>
        </p:nvSpPr>
        <p:spPr>
          <a:xfrm>
            <a:off x="8183880" y="404164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ortamdaki dalga boyu</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2587752"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sin θ(sınır) = n₂ / n₁</a:t>
            </a:r>
            <a:endParaRPr lang="en-US" sz="1350" dirty="0"/>
          </a:p>
        </p:txBody>
      </p:sp>
      <p:sp>
        <p:nvSpPr>
          <p:cNvPr id="25" name="Text 23"/>
          <p:cNvSpPr txBox="1"/>
          <p:nvPr/>
        </p:nvSpPr>
        <p:spPr>
          <a:xfrm>
            <a:off x="9308592" y="4864608"/>
            <a:ext cx="2060143"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tam yansıma</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dersler.perinet.org/kirilma.html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05 · Görünür derinlik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Kırılma — Dersler</dc:title>
  <dc:subject>Fizik · Optik</dc:subject>
  <dc:creator>Dersler</dc:creator>
  <cp:lastModifiedBy>Dersler</cp:lastModifiedBy>
  <cp:revision>1</cp:revision>
  <dcterms:created xsi:type="dcterms:W3CDTF">2026-09-20T18:42:37Z</dcterms:created>
  <dcterms:modified xsi:type="dcterms:W3CDTF">2026-09-20T18:42:37Z</dcterms:modified>
</cp:coreProperties>
</file>