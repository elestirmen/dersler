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Lst>
  <p:notesMasterIdLst>
    <p:notesMasterId r:id="rId1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notesMaster" Target="notesMasters/notesMaster1.xml"/><Relationship Id="rId128" Type="http://schemas.openxmlformats.org/officeDocument/2006/relationships/presProps" Target="presProps.xml"/><Relationship Id="rId129" Type="http://schemas.openxmlformats.org/officeDocument/2006/relationships/viewProps" Target="viewProps.xml"/><Relationship Id="rId130" Type="http://schemas.openxmlformats.org/officeDocument/2006/relationships/theme" Target="theme/theme1.xml"/><Relationship Id="rId1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Bardaktaki kaşık neden kırık görünür? Havuzun dibi neden göründüğünden derindir? Işık bir ortamdan diğerine geçerken hız değiştirir ve bu yüzden yol değiştirir — tıpkı asfalttan kuma giren bir arabanın, bir tekeri önce yavaşlayınca dönmesi gibi. Gözlükten gökkuşağına, fiber optikten seraba kadar bu konudaki her şey tek bir bağıntıdan çıkar: n₁·sin i = n₂·sin r. Anlatım dört basamakta ilerliyor: önce gündelik sahnelerde kırılmayı gözleyip adını koyacağız, sonra bu bağıntıyı dalga cephelerinden adım adım çıkarıp sayılarla deneyeceğiz, ardından tam yansımaya, levhadan geçen ışına ve katman katman kıvrılan havaya geçeceğiz. En sonda kolaydan zora sıralanmış örneklerle hepsini birlikte kullanacağız.
Kapak görseli: Bardaktaki kaşık. Suya eğik daldırılmış bir kaşığa yandan bakınca, su yüzeyinin hizasında kopmuş ya da bükülmüş gibi görünür; oysa kaşık dümdüzdür. Değişen kaşık değil, sudan gözüne gelen ışının yoludur. Yandan bakarken bardağın yuvarlak duvarı da suyla birlikte bir mercek gibi davranır ve bu kaymayı büyütür. Bardağın yanında masaya düşen parlak ışık desenleri de aynı olayın izidir: su ve cam, güneş ışınlarını kırarak bazı noktalarda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Bardaktaki kaşık neden kırık görünür? Havuzun dibi neden göründüğünden derindir? Işık bir ortamdan diğerine geçerken hız değiştirir ve bu yüzden yol değiştirir — tıpkı asfalttan kuma giren bir arabanın, bir tekeri önce yavaşlayınca dönmesi gibi. Gözlükten gökkuşağına, fiber optikten seraba kadar bu konudaki her şey tek bir bağıntıdan çıkar: n₁·sin i = n₂·sin r. Anlatım dört basamakta ilerliyor: önce gündelik sahnelerde kırılmayı gözleyip adını koyacağız, sonra bu bağıntıyı dalga cephelerinden adım adım çıkarıp sayılarla deneyeceğiz, ardından tam yansımaya, levhadan geçen ışına ve katman katman kıvrılan havaya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ışığın yol değiştirdiği sahnelere bak, kırılmanın ne olduğunu ve ışının hangi yöne saptığını formülsüz kavra.
   01 Önce gözlemle: ışık ne zaman yolundan sapar?
   02 Kırılma nedir?
   03 Kırılma indisi: ışık ne kadar yavaşlar?
   04 Neden yön değişir? Yavaşlayan taraf normale yanaşır
2. Orta — Bağıntılar: kırılmanın yönünü sayıya dök, Snell yasasını dalga cephelerinden çıkar, hız ve dalga boyuna ne olduğunu gör.
   05 Snell yasası ve nereden geldiği
   06 Sayılarla hisset: ışın ne kadar kırılır?
   07 Hız, dalga boyu ve frekans
3. İleri — Derinleşme: Snell yasası çözümsüz kalınca, ışık levhadan ve katman katman havadan geçince, kırılma gerçek hayata çıkınca ne olur?
   08 Tam yansıma ve sınır açı
   09 Paralel kenarlı levhada yandan kayma
   10 Katman katman kırılma: serap ve atmosfer
   11 Kırılma gerçek dünyada
4. Pekiştir — Kolaydan zora çözümlü örnekler ve kırılma sorularında puan kaybettiren klasik hatalar.
   12 Çözümlü örnekler
   13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Hız: bir şeyin bir saniyede aldığı yol. Metre/saniye (m/s) ile ölçülür; ışık boşlukta her saniye yaklaşık 300 000 km yol alır.
• Normal: ışının yüzeye çarptığı noktada yüzeye dik (90°) çizilen yardımcı çizgi. Aynalar konusunda açıları hep bu çizgiden ölçmüştün.
• Yansıma: ışığın bir yüzeye çarpıp geri dönmesi. Gelme açısı yansıma açısına eşittir; aynada kendini bu sayede görürsün.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Sinüs: dik üçgende bir açının karşısındaki kenarın en uzun kenara bölümü. sin30° = 0,5 ve sin90° = 1'dir; hiçbir açının sinüsü 1'den büyük olmaz.
• Oran: “kaç katı?” sorusunun cevabı. 6 ÷ 2 = 3 ise 6, 2'nin 3 katıdır. m/s'yi m/s'ye bölünce birim sadeleşir, geriye yalın bir sayı kalır.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ışığın yol değiştirdiği sahnelere bak, kırılmanın ne olduğunu ve ışının hangi yöne saptığını formülsüz kavra.
01 Önce gözlemle: ışık ne zaman yolundan sapar?
02 Kırılma nedir?
03 Kırılma indisi: ışık ne kadar yavaşlar?
04 Neden yön değişir? Yavaşlayan taraf normale yanaşır
Görsel: Sıcak yolda ileride parlayan “su”, aslında gökyüzünün görüntüsüdür. Asfaltın hemen üstündeki sıcak havada ışık biraz daha hızlı ilerler; yola yatık inen ışınlar bu yüzden yukarı doğru kıvrılıp gözüne gelir. Arabanın altındaki ters görüntü de aynı kıvrılmış ışınlarla oluşur. Bu sahneye serap denir; üçüncü basamakta nedenini ayrıntılı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ışık ne zaman yolundan sapar? — adım 1/3
• Işık, aynı saydam ortamda kaldığı sürece doğru boyunca ilerler: odaya vuran güneş huzmesinin tozlarda görünen kenarları dümdüzdür.
• Gözün bu kurala güvenir; bir cismi, ondan gelen ışının geldiği doğrultunun tam karşısında sanırsın.
• Ama ışık bir ortamdan ötekine geçerken bu güven sarsılır.
• Aşağıdaki gözlemlerin hepsinde ışık, iki farklı saydam ortamın ya da farklı sıcaklıktaki hava katmanlarının sınırından geçiyor: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ışık ne zaman yolundan sapar? — adım 2/3
• Kaşık kırık görünür: sudaki kısmı, su yüzeyinin hizasında yukarıdaki sapla aynı doğrultuda durmaz.
• Havuz sığ görünür: dipteki fayanslar, ayağını basınca şaşıracağın kadar yakın durur.
• Yolda “su birikintisi”: yazın sıcak asfaltta ilerideki yol ıslak ve parlak görünür; yaklaşınca kaybolur.
• Yıldızlar titrer: yıldız ışığı, sürekli çalkalanan hava katmanlarından geçerken sağa sola sapar.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ışık ne zaman yolundan sapar? — adım 3/3
• Kalın camın arkası kayar: kalın bir camın arkasındaki çizgiler, camın kenarında yana kaymış görünür.
• Bu sahnelerin ortak noktası şu: ışık, yolunun bir yerinde kendisini farklı hızda taşıyan bir ortama giriyor.
• Göz ise ışının kıvrıldığından habersizdir; son doğrultuyu geriye uzatır ve cismi orada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tek bir saydam ortamda doğru boyunca gider; başka bir ortama geçerken yolundan sapabilir. Göz son doğrultuyu geriye uzattığı için kaşık kırık, havuz sığ, sıcak yol ıslak görünür.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Sıcak yoldaki “su birikintisi” sen yaklaştıkça neden hep ileri kaçar ya da kaybolur?
Sınıfa sorun, birkaç tahmin alın; sonra cevap slaytına geçin.
Cevap: Serap yalnızca yola çok yatık gelen ışınlarla oluşur. Uzaktaki yol parçasına neredeyse yere paralel bakarsın; yaklaştıkça aynı parçaya daha dik bakmaya başlarsın ve ışınlar artık yeterince kıvrılamaz. Parlak bölge bu yüzden her zaman senden belli bir uzaklıkta, ileride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Serap yalnızca yola çok yatık gelen ışınlarla oluşur. Uzaktaki yol parçasına neredeyse yere paralel bakarsın; yaklaştıkça aynı parçaya daha dik bakmaya başlarsın ve ışınlar artık yeterince kıvrılamaz. Parlak bölge bu yüzden her zaman senden belli bir uzaklıkta, ileride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nedir? — adım 1/5
• Işık, saydam bir ortamdan başka bir saydam ortama geçerken hızı değişir.
• Sınıra eğik geldiyse bu hız değişimi doğrultusunu da değiştirir; bu olaya kırılma denir.
• Sözcük, ışının sınırda bir dirsek yapmasını anlatır: ışın her iki ortamda da doğru boyunca gider, yalnızca sınırda yön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nedir? — adım 2/5
• Kırılmayı anlatmak için sınırda bir yardımcı çizgi kullanırız.
• Işının yüzeye çarptığı noktadan yüzeye dik çizilen doğruya normal denir.
• Gelen ışının normalle yaptığı açı gelme açısı (i), kırılan ışının normalle yaptığı açı kırılma açısı (r) adını alır.
• Açıların yüzeyden değil normalden ölçülmesi keyfî değildir: dik gelen ışın için ikisi de sıfır olur ve kurallar en sade hâlini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nedir? — adım 3/5
• Sınıra dik gelen ışın (i = 0) kırılmaz, doğrultusunu korur; yalnızca hızı değişir.
• Kırılan ışın, gelen ışın ve normal aynı düzlemdedir.
• Kırılma sırasında ışığın bir kısmı her zaman yansır.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nedir? — şekil
Açılar her zaman normalden ölçülür, yüzeyden değil. Işık daha yoğun bir ortama geçerken yavaşlar ve normale yaklaşır (r &lt; i); daha az yoğun bir ortama geçerken hızlanır ve normalden uzaklaşır. Yüzeye dik gelen ışın (i = 0) hiç kırılmaz, doğrultusunu korur. Işığın bir kısmı her zaman yansır da — bu yüzden camda kendi yansımanı görebilirsin.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nedir? — adım 5/5
• Son madde gündelik bir gözlemi açıklar: akşam, ışığı yanan bir odadan pencereye bakınca camda kendi yansımanı görürsün.
• Dik gelişte camın her yüzeyi ışığın yaklaşık yüzde dördünü yansıtır; dışarısı karanlık olunca bu küçük pay bile belirgin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Kırılma, ışığın bir saydam ortamdan ötekine eğik geçerken hız değişimi yüzünden doğrultu değiştirmesidir. Açılar yüzeyden değil normalden ölçülür; dik gelen ışın kırılmaz.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indisi: ışık ne kadar yavaşlar? — adım 1/5
• Boşlukta ışık saniyede yaklaşık 300 000 km yol alır; bu hızla bir saniyede Dünya'nın çevresini 7,5 kez dolanabilirdi.
• Madde içinde ise daha yavaştır: ışık ortamın atomlarındaki elektronları titreştirir ve bu etkileşim ilerleyişini geciktirir.
• Bir ortamın kırılma indisi, ışığın boşluktaki hızının o ortamdaki hızına oranıdır:
n = c / v   c = 3·10⁸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indisi: ışık ne kadar yavaşlar? — adım 2/5
Ortam | n | Işığın hızı
Boşluk / hava | 1,00 | 3,00·10⁸ m/s
Su | 1,33 | 2,26·10⁸ m/s
Cam | 1,50 | 2,00·10⁸ m/s
Elmas | 2,42 | 1,24·10⁸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indisi: ışık ne kadar yavaşlar? — adım 3/5
• Tabloyu şöyle oku: su için n = 1,33, yani ışık suda boşluktakinden 1,33 kat yavaş gider.
• İndisin birimi yoktur, çünkü iki hızın oranıdır.
• Gündelik saydam ortamlarda indis 1'den küçük olmaz; havanınki 1,0003 civarındadır ve problemlerde 1 alınır.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indisi: ışık ne kadar yavaşlar? — adım 4/5
• İndisi büyük olan ortama çok yoğun, küçük olana az yoğun ortam denir.
• Bu “yoğunluk” kütle yoğunluğu değil, optik yoğunluktur.
• Zeytinyağı sudan hafiftir ve suyun üstünde yüzer, ama indisi (yaklaşık 1,47) sudan büyüktür: optik olarak sudan daha yoğundur.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indisi: ışık ne kadar yavaşlar? — şekil
Kırılma indisi, ışığın o ortamda ne kadar yavaşladığını söyler: n = c/v. İki çubuk birbirinin aynadaki görüntüsü gibidir — indis büyüdükçe hız küçülür. Elmasta ışık boşluktakinin yalnızca %41'i kadar hızlı ilerler; elmasın o çarpıcı parlaklığı ve ışığı içinde hapsetmesi bu yüksek indisin sonucudur.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Kırılma indisi n = c/v, ışığın bir ortamda boşluğa göre kaç kat yavaşladığını söyler. İndisi büyük ortam optik olarak çok yoğundur; bu, kütle yoğunluğuyla aynı şey değildir.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Işık elmasa girince yavaşlıyorsa, elmastan havaya çıkınca yeniden hızlanır mı?
Sınıfa sorun, birkaç tahmin alın; sonra cevap slaytına geçin.
Cevap: Evet. Işığın hızı ne kadar yol aldığına ya da nereden geldiğine değil, içinde bulunduğu ortama bağlıdır. Elmasın içinde 1,24·10⁸ m/s ile giden ışık, havaya çıktığı anda yeniden yaklaşık 3·10⁸ m/s ile ilerler. Yavaşlama bir yorgunluk değil, ortamın bir özelliğidir.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Evet. Işığın hızı ne kadar yol aldığına ya da nereden geldiğine değil, içinde bulunduğu ortama bağlıdır. Elmasın içinde 1,24·10⁸ m/s ile giden ışık, havaya çıktığı anda yeniden yaklaşık 3·10⁸ m/s ile ilerler. Yavaşlama bir yorgunluk değil, ortamın bir özelliğidir.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yön değişir? Yavaşlayan taraf normale yanaşır — adım 1/6
• Işığın yavaşlaması neden yönünü de değiştirsin?
• Asfalttan çimenliğe eğik giren bir oyuncak arabayı düşün.
• Ön tekerlerden biri çimene önce değer ve yavaşlar; öteki hâlâ asfaltta hızla dönmektedir.
• Hızlı taraf yavaş tarafın etrafında döner ve araba normale doğru yön değiştirir.
• Çimenlikten asfalta çıkarken tersi olur: araba normalden uzaklaşır.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yön değişir? Yavaşlayan taraf normale yanaşır — adım 2/6
• Işık demetinin genişliği boyunca uzanan dalga cephesi, bu arabanın aks çizgisi gibidir: cephenin sınıra önce varan ucu yavaşlar, öteki ucu bir süre daha hızlı ilerler ve cephe döner.
• Bu basit resimden dört kural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yön değişir? Yavaşlayan taraf normale yanaşır — adım 3/6
• Yavaşlarsa yaklaşır: az yoğundan çok yoğuna geçen ışın normale yaklaşır; kırılma açısı gelme açısından küçüktür.
• Hızlanırsa uzaklaşır: çok yoğundan az yoğuna geçen ışın normalden uzaklaşır; kırılma açısı büyür.
• Dik gelirse sapmaz: cephenin iki ucu sınıra aynı anda varır ve birlikte yavaşlar; dönme olmaz.
• Yol tersinirdir: ters yönde gönderilen ışın, geldiği yolu aynen geri 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yön değişir? Yavaşlayan taraf normale yanaşır — şekil
İkisi de aynı olayın sonucu. Sudan çıkan ışınlar yüzeyde kırılıp normalden uzaklaşınca, göz onları düz bir çizgi boyunca geri izler ve cismi olduğundan yukarıda görür. Kaşığın su altındaki kısmı yükseldiği için kırık, havuzun tabanı yükseldiği için sığ görünür. Bu yüzden suya balıklama atlamadan önce derinliği gözle değil ölçerek bilmek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yön değişir? Yavaşlayan taraf normale yanaşır — adım 5/6
• Artık kaşığın sırrı çözülüyor.
• Kaşığın sudaki kısmından çıkan ışınlar sudan havaya geçer, hızlanır ve normalden uzaklaşır.
• Göz ışınları düz bir çizgi boyunca geriye uzatır ve kaşığın sudaki kısmını olduğundan yukarıda görür.
• Suyun dışındaki kısım yerinde göründüğü için iki parça yüzeyde düzgünce birleşmez ve kaşık kırık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yön değişir? Yavaşlayan taraf normale yanaşır — adım 6/6
• Havuzun sığ görünmesi de aynı olaydır; ayrıntısı bir sonraki konu olan görünür derinlikte.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yavaşladığı ortama geçerken normale yaklaşır, hızlandığı ortama geçerken normalden uzaklaşır. Sudan çıkan ışınlar normalden uzaklaştığı için kaşığın sudaki kısmı olduğundan yukarıda görünür.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kırılmanın yönünü sayıya dök, Snell yasasını dalga cephelerinden çıkar, hız ve dalga boyuna ne olduğunu gör.
05 Snell yasası ve nereden geldiği
06 Sayılarla hisset: ışın ne kadar kırılır?
07 Hız, dalga boyu ve frekans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1/8
• Kırılmanın yönünü biliyoruz; şimdi “ne kadar” sorusunu yanıtlayalım.
• Gelme ve kırılma açıları, iki ortamın indisleriyle tek bir bağıntı üzerinden bağlıdır.
• Bu bağıntı, 1621'de onu deneylerle bulan Willebrord Snellius'un adını taşır; aynı ilişki 10. yüzyılda İbn Sehl'in mercekler üzerine yazdığı incelemede de geçer.
n₁ · sin i = n₂ · sin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2/8
Formüldeki harfler ne anlama geliyor?
Sembol | Anlamı | Birimi
n₁ | ışığın geldiği ortamın kırılma indisi (hava için 1) | —
n₂ | ışığın geçtiği ortamın kırılma indisi (su için 4/3 ≈ 1,33) | —
i | gelme açısı: gelen ışının normalle yaptığı açı | derece (°)
r | kırılma açısı: kırılan ışının normalle yaptığı açı | derece (°)
sin i, sin r | bu açıların sinüsü; soruda verilir (ör. sin53° = 0,8)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3/8
• Az yoğundan çok yoğuna (n₁ &lt; n₂): ışın normale yaklaşır, r &lt; i.
• Çok yoğundan az yoğuna (n₁ &gt; n₂): ışın normalden uzaklaşır, r &gt; i.
• i = 0 ise r = 0: dik gelen ışın kırılmaz.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4/8
Bağıntı nereden geliyor?
• Snell yasasını bir önceki bölümdeki dönen cephe resminden birkaç adımda çıkarabilirsin.
• Bir dalga cephesinin A ucu sınıra değmiş, B ucu ise sınıra hâlâ BD kadar uzakta olsun.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5/8
• Aynı süre: B ucu D'ye varana kadar t süresi geçer: BD = v₁·t. Bu sürede A ucu ikinci ortamda AC = v₂·t kadar ilerler.
• İki dik üçgen: AD, sınır üzerindeki ortak kenardır. Cephe sınırla i açısı yaptığı için sin i = BD/AD; aynı biçimde sin r = AC/AD.
• Oranı al: sin i / sin r = BD/AC = v₁/v₂. Ortak kenar AD sadeleşir.
• İndise çevir: v = c/n olduğundan v₁/v₂ = n₂/n₁. Buradan n₁·sin i = n₂·sin r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6/8
Hatırlatma: Açılar yine normalle ölçülür. Soruda “yüzeyle 30° açı yapıyor” deniyorsa gelme açısı 60°'dir.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şekil
Snell yasası her iki yönde de aynıdır: n₁·sin i = n₂·sin r. Hangi tarafın indisi büyükse, o taraftaki açı küçüktür — yani ışın yoğun ortamda normale daha yakın gider. Bunu ezberlemek yerine şöyle düşün: yavaşlayan taraf normale yanaşır.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Snell yasası ve nereden geldiği — adım 8/8
• Bağıntıyı uç durumlarla sına.
• İki ortamın indisi eşitse sin i = sin r çıkar ve ışın hiç sapmaz: cam bir çubuk, indisi camınkine eşit bir yağa daldırılınca neredeyse görünmez olur. i = 0 için de sin r = 0 çıkar; dik gelen ışın düz geçer.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Snell yasası n₁·sin i = n₂·sin r, dalga cephesinin iki ucunun farklı hızlarından çıkar. İndisi büyük taraftaki açı küçüktür; indisler eşitse ışın hiç sapmaz.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ışın ne kadar kırılır? — adım 1/5
• Sayfanın 01 numaralı bölümündeki Snell laboratuvarında havadan suya 45° ile gönderilen ışın suda 32,1° ile ilerler.
• Aynı ışın cama ya da elmasa girseydi ne olurdu?
• Snell yasasıyla hesaplanmış değerler (ışın havadan geliyor; su için n = 1,33, cam için 1,50, elmas için 2,42):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ışın ne kadar kırılır? — adım 2/5
Gelme açısı (havada) | Suda | Camda | Elmasta
0° | 0° | 0° | 0°
30° | 22,1° | 19,5° | 11,9°
45° | 32,1° | 28,1° | 17,0°
60° | 40,6° | 35,3° | 21,0°
90°'ye yakın (yalayarak) | 48,8° | 41,8° | 24,4°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ışın ne kadar kırılır? — adım 3/5
• Tablodan dört düzen okunur:
• İndis büyüdükçe sapma artar: aynı 45°'lik ışın suda 13°, elmasta 28° kadar normale yaklaşıyor.
• Açılar orantılı değil: gelme açısı 30°'den 60°'ye çıkınca sudaki açı 22,1°'den 40,6°'ye çıkıyor; orantılı olan sinüslerdir.
• Bir tavan var: ışın suya yüzeyi yalayarak girse bile sudaki açı 48,8°'yi geçemiyor.
• Küçük açılarda kısa yol: açı küçükken r ≈ i / n yazılabilir; 10° ile suya giren ışın yaklaşık 7,5° ile ilerler.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ışın ne kadar kırılır? — adım 4/5
• Üçüncü madde tam yansımanın habercisidir: 48,8° sayısını üçüncü basamakta yeniden göreceğiz.
• Son madde ise bir sonraki konunun, görünür derinliğin temelidir: dike yakın bakışta açılar küçüktür ve hesap basit bir bölmeye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ışın ne kadar kırılır? — şekil
Suya giren yeşil lazer ışını yüzeye çarptığı noktada bükülüyor ve suyun içinde daha dik bir yol izliyor; su ışığı yavaşlattığı için ışın normale yaklaşır. Giriş noktasından yukarı dönen soluk ışın, kırılmada ışığın bir kısmının her zaman yansıdığını gösterir. Ne kadar büküleceğini Snell yasası belirler: tablodaki gibi havadan 60° ile gelen ışın suda 40,6° ile ilerler, yani normale yalnızca 20° kadar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İndis büyüdükçe aynı ışın normale daha çok yaklaşır. Açılar değil sinüsleri orantılıdır; havadan suya giren ışın hiçbir zaman 48,8°'den büyük açıyla ilerleyemez.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Havadan suya 30° ile giren ışın suda 22,1° ile gidiyor. Sudan havaya 22,1° ile çıkan ışın havada kaç derece yapar?
Sınıfa sorun, birkaç tahmin alın; sonra cevap slaytına geçin.
Cevap: Tam 30°. Işık yolunun tersinirliği gereği, ters yönde gönderilen ışın aynı yolu geri izler. Snell yasası da bunu söyler: 1,33·sin 22,1° = 1·sin r bağıntısı, ilk hesabın tersten okunuşudur. Tablodaki her satır iki yönde de geçerlidir.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Tam 30°. Işık yolunun tersinirliği gereği, ters yönde gönderilen ışın aynı yolu geri izler. Snell yasası da bunu söyler: 1,33·sin 22,1° = 1·sin r bağıntısı, ilk hesabın tersten okunuşudur. Tablodaki her satır iki yönde de geçerlidir.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dalga boyu ve frekans — adım 1/5
• Işık bir dalgadır ve her dalganın üç temel büyüklüğü vardır: saniyede kaç titreşim yaptığını söyleyen frekans (f), ardışık iki tepe arasındaki uzaklık olan dalga boyu (λ) ve ilerleme hızı (v).
• Üçü v = λ·f bağıntısıyla bağlıdır.
• Kırılmada değişenler ve değişmeyenler: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dalga boyu ve frekans — adım 2/5
Büyüklük | Kırılmada
Frekans (f) | değişmez — kaynağa bağlıdır
Hız (v) | değişir: v = c/n
Dalga boyu (λ) | değişir: λ = λ₀/n
Renk | değişmez (frekans değişmediği için)
v = λ · f   n₁/n₂ = v₂/v₁ = λ₂/λ₁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dalga boyu ve frekans — adım 3/5
Frekans neden değişmez?
• Sınırda kopukluk olmaz: sınırın iki yanındaki dalga, sınır üzerinde aynı anda aynı biçimde titreşmek zorundadır.
• Giren cephe = çıkan cephe: sınırdan saniyede kaç cephe giriyorsa öteki yandan o kadar çıkar; frekans kaynağın frekansıdır.
• Hız düşerse dalga boyu kısalır: f sabitken v = λ·f bağıntısında v küçülürse λ da aynı oranda küçülür: λ = λ₀/n.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dalga boyu ve frekans — adım 4/5
• Cephe modeli kırılmayı sezgisel yapar: dalga cephesinin bir ucu yavaşlarken öteki ucu hızlı gittiği için cephe döner ve ışın yön değiştirir.
• Sayfanın 03 numaralı bölümünde bunu canlı izleyebilirsin: havada 600 nm olan dalga boyu camda 400 nm'ye iner, frekans 5,0·10¹⁴ Hz'de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dalga boyu ve frekans — şekil
Dalga cepheleri yoğun ortama girince sıklaşır: hız düştüğü için aynı sürede daha kısa yol alınır, yani dalga boyu küçülür. Ama frekans değişmez — saniyede kaç cephenin sınırdan geçtiği, kaynağın saniyede kaç dalga ürettiğine bağlıdır ve ortam bunu değiştiremez. Rengin değişmemesinin sebebi de budur: renk frekansla belirlenir.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Kırılmada frekans ve renk değişmez; hız v = c/n, dalga boyu λ = λ₀/n olur. Hız ve dalga boyu aynı oranda küçüldüğü için v = λ·f bağıntısı her ortamda sağlanır.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Sığ ve berrak bir havuzun dibindeki kırmızı top, suyun altından bakan dalgıca neden yine kırmızı görünür?
Sınıfa sorun, birkaç tahmin alın; sonra cevap slaytına geçin.
Cevap: Rengi belirleyen frekanstır ve kırılmada frekans değişmez. Işık suda yavaşlar ve dalga boyu kısalır, ama göz ışığın frekansına göre renk algılar. Derin suda kırmızının soluklaşması başka bir olaydır: su, kırmızı ışığı yol boyunca soğurur.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Rengi belirleyen frekanstır ve kırılmada frekans değişmez. Işık suda yavaşlar ve dalga boyu kısalır, ama göz ışığın frekansına göre renk algılar. Derin suda kırmızının soluklaşması başka bir olaydır: su, kırmızı ışığı yol boyunca soğurur.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Snell yasası çözümsüz kalınca, ışık levhadan ve katman katman havadan geçince, kırılma gerçek hayata çıkınca ne olur?
08 Tam yansıma ve sınır açı
09 Paralel kenarlı levhada yandan kayma
10 Katman katman kırılma: serap ve atmosfer
11 Kırılma gerçek dünyada
Görsel: Elmasın parıltısı bir kırılma hesabıdır. Sınır açısı yalnızca 24,4° olduğu için içeri giren ışık alt yüzlere çoğunlukla bu açıdan büyük açılarla çarpar, tam yansır ve üst yüzlerden geri çıkar. Elmas renkleri de camdan belirgin biçimde daha çok ayırır; kadifeye düşen renkli ışık lekeleri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 ve sınır açı — adım 1/5
• Işık çok yoğun ortamdan az yoğun ortama geçerken kırılma açısı gelme açısından büyüktür.
• Gelme açısı artırıldıkça kırılan ışın yüzeye yaklaşır; belli bir açıda kırılma açısı 90° olur.
• Bu açıya sınır açı denir.
• Snell yasasına r = 90° koyarsan bağıntısı hemen çıkar: sin 90° = 1 olduğundan n₁·sin θ = n₂.
sin θ(sınır) = n₂ / n₁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 ve sınır açı — adım 2/5
• Gelme açısı sınır açıdan büyükse ışık ortamı terk edemez; tamamı yansır. Buna tam yansıma denir.
• Tam yansıma yalnızca çok yoğundan az yoğuna geçişte olur.
• Su–hava için sınır açı ≈ 48,8°; cam–hava için ≈ 41,8°; elmas–hava için ≈ 24,4°.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 ve sınır açı — adım 3/5
• Önceki basamaktaki tablonun “tavanı” burada anlam kazanıyor.
• Havadan suya yalayarak giren ışın suda 48,8° ile ilerliyordu; yol tersinir olduğu için sudan 48,8° ile gelen ışın da havada yüzeyi yalar.
• Daha büyük bir açı için Snell yasası sin r &gt; 1 ister; hiçbir açının sinüsü 1'i aşamayacağı için kırılan ışın yoktur ve ışığın tamamı geri döner.
• Sayfanın 02 numaralı bölümünde açıyı adım adım büyüt: sınır açıya yaklaştıkça kırılan ışığın payı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 ve sınır açı — adım 4/5
Elmasın parlaklığı bu küçük sınır açıdan gelir: içeri giren ışık defalarca tam yansımaya uğrar ve ancak belirli yüzlerden dışarı çıkabilir. Fiber optik kablo da aynı ilkeyle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yansıma ve sınır açı — şekil
Yoğun ortamdan çıkarken ışın normalden uzaklaşır; geliş açısını büyüttükçe kırılan ışın yüzeye iyice yatar. Sınır açıda kırılma açısı 90° olur ve ışın tam yüzey boyunca gider. Bu açıyı bir derece bile aşarsan ışık dışarı hiç çıkamaz, tamamen geri yansır. Fiber optik kabloların, elmasın parıltısının ve serapların ortak sırrı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Çok yoğundan az yoğuna geçişte gelme açısı sınır açıyı (sin θ = n₂/n₁) aşarsa kırılan ışın kalmaz, ışığın tamamı yansır. Sınır açı su–hava için 48,8°, elmas–hava için 24,4°'dir.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Havadan suya giren ışında tam yansıma neden hiçbir açıda olmaz?
Sınıfa sorun, birkaç tahmin alın; sonra cevap slaytına geçin.
Cevap: Havadan suya geçen ışın yavaşlar ve normale yaklaşır; kırılma açısı her zaman gelme açısından küçüktür. Snell yasasından sin r = sin i / 1,33 çıkar ve bu değer hiçbir zaman 1'i geçemez. Kırılan ışın her açıda vardır; tam yansıma için ışığın yoğun ortamın içinden gelmesi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Havadan suya geçen ışın yavaşlar ve normale yaklaşır; kırılma açısı her zaman gelme açısından küçüktür. Snell yasasından sin r = sin i / 1,33 çıkar ve bu değer hiçbir zaman 1'i geçemez. Kırılan ışın her açıda vardır; tam yansıma için ışığın yoğun ortamın içinden gelmesi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Paralel kenarlı levhada yandan kayma — adım 1/6
• Işık paralel yüzlü bir cam levhaya girerken normale yaklaşır, çıkarken aynı açıyla uzaklaşır.
• Sonuçta çıkan ışın gelen ışına paraleldir, ama yanal olarak kaymıştır:
d = t · sin(i − r) / cos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Paralel kenarlı levhada yandan kayma — adım 2/6
Bağıntı nereden geliyor?
• Girişte: ışın levhaya i ile gelir, içeride sin r = sin i / n ile bulunan r açısıyla ilerler.
• Çıkışta: alt yüz üst yüze paralel olduğu için ışın alt yüze yine r ile gelir ve havaya i ile çıkar.
• Levhadaki yol: t kalınlığındaki levhada ışının aldığı yol L = t / cos r'dir.
• Kayma: bu yol gelen ışının uzantısıyla (i − r) açısı yapar; aradaki dik uzaklık d = L·sin(i − r)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Paralel kenarlı levhada yandan kayma — adım 3/6
• Kalınlık ve gelme açısı arttıkça kayma büyür.
• Dik gelişte (i = 0) kayma sıfırdır.
• Sayfanın 04 numaralı bölümündeki başlangıç değerleriyle, yani 6 cm kalınlığında ve indisi 1,5 olan bir levha için hesap şunu veriyor: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Paralel kenarlı levhada yandan kayma — adım 4/6
Gelme açısı | Levhadaki açı | Yandan kayma
0° | 0° | 0 cm
30° | 19,5° | 1,2 cm
50° | 30,7° | 2,3 cm
70° | 38,8° | 4,0 cm
80° | 41,0° | 5,0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Paralel kenarlı levhada yandan kayma — adım 5/6
• Kayma açıyla hızla büyüyor ve yüzeyi yalayan ışında levhanın kalınlığına, yani 6 cm'ye yaklaşıyor: i = 90° için sin(90° − r) = cos r olur ve formül d = t verir.
• İnce levhalarda ise kayma küçüktür: 4 mm'lik pencere camında 45°'lik ışın yalnızca 1,3 mm kadar kayar.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Paralel kenarlı levhada yandan kayma — şekil
Levhaya giren ışın normale yaklaşır, çıkarken tam o kadar normalden uzaklaşır: iki kırılma birbirini götürür ve çıkan ışın gelenle paraleldir. Değişen tek şey ışının yana kaymasıdır. Kayma miktarı levha kalınlaştıkça ve geliş açısı büyüdükçe artar: d = t·sin(i − r)/cos r. Kalın bir cam arkasından bakınca cisimlerin hafifçe kaymış görünmesinin sebebi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Paralel kenarlı levhadan çıkan ışın gelene paraleldir, yalnızca d = t·sin(i − r)/cos r kadar yana kayar. Kayma kalınlık, açı ve indisle artar; dik gelişte sıfırdır.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Levhanın indisi büyütülürse aynı açıyla gelen ışının kayması artar mı, azalır mı?
Sınıfa sorun, birkaç tahmin alın; sonra cevap slaytına geçin.
Cevap: Artar. İndis büyüdükçe ışın levhanın içinde normale daha çok yaklaşır, r küçülür ve (i − r) farkı büyür. 6 cm'lik levhaya 50° ile gelen ışının kayması n = 1,5'te 2,3 cm iken n = 2'de yaklaşık 3,0 cm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Artar. İndis büyüdükçe ışın levhanın içinde normale daha çok yaklaşır, r küçülür ve (i − r) farkı büyür. 6 cm'lik levhaya 50° ile gelen ışının kayması n = 1,5'te 2,3 cm iken n = 2'de yaklaşık 3,0 cm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Katman katman kırılma: serap ve atmosfer — adım 1/5
• Işık tek bir sınırdan değil, üst üste birçok paralel katmandan geçerse ne olur?
• Snell yasası her sınırda yeniden uygulanır ve bir sınırın sağ tarafı bir sonrakinin sol tarafı olur.
• Sonuç sade ve güçlüdür:
n₁·sin θ₁ = n₂·sin θ₂   n₂·sin θ₂ = n₃·sin θ₃   n · sin θ = sabit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Katman katman kırılma: serap ve atmosfer — adım 2/5
• Yani paralel katmanlarda n·sin θ çarpımı korunur.
• Işının son ortamdaki açısı yalnızca ilk ve son ortamın indisine bağlıdır; aradaki katmanlar ışını kaydırır ama son doğrultuyu değiştirmez.
• Hava da böyle bir katmanlar yığını gibi davranabilir: sıcak hava daha seyrektir ve indisi biraz daha küçüktür.
• İndis yavaş yavaş değişince ışın kırık bir çizgi yerine eğri bir yol izler ve hep indisin büyük olduğu tarafa doğru bükülür.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Katman katman kırılma: serap ve atmosfer — adım 3/5
• Serap: asfaltın üstündeki sıcak havaya yatık inen ışın, indisi azalan katmanlarda normalden uzaklaşır ve yere değmeden yukarı döner.
• Batan Güneş: atmosfer ufka yakın ışınları yaklaşık yarım derece büker; bu, Güneş'in görünen çapı kadardır.
• Titreyen yıldızlar: karışan sıcak ve soğuk hava hücreleri, yıldızdan gelen ince ışın demetini sürekli farklı yönlere saptırır.
• Havaya kalkan gemiler: soğuk denizin üstünde durum tersine döner; ışın aşağı bükülür, uzaktaki cisimler yükselmiş görünebilir.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Katman katman kırılma: serap ve atmosfer — adım 4/5
• Serapta göz, yukarı dönüp kendisine gelen ışını yoldan gelmiş sanır ve yolda gökyüzünün parlak görüntüsünü, yani “su”yu görür.
• Birinci basamaktaki görselde arabanın altında beliren ters görüntü, olayın bir yansıma gibi davrandığını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Katman katman kırılma: serap ve atmosfer — şekil
Batan Güneş ufka yaklaştığında genişliği aynı kalırken dikey yönde kısalır ve basık bir disk gibi görünür. Ufka yakın ışınlar atmosferin katmanlarından geçerken indisin büyük olduğu tarafa, aşağıya doğru bükülür; diskin alt kenarından gelen ışık daha yoğun katmanlardan geçtiği için daha çok bükülür ve alt kenar üst kenardan daha çok yükselmiş görünür. Buradaki basıklık abartılıdır: gerçek bir gün batımında disk dikey yönde yalnızca altıda bir kadar kısalır.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Paralel katmanlarda n·sin θ çarpımı korunur; indis yavaş değişince ışın indisi büyük tarafa bükülen bir eğri çizer. Serap, batan Güneş'in yükselmesi ve yıldızların titremesi bundandır.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Güneş batarken ufka değdiğini gördüğün anda Güneş gerçekte nerededir?
Sınıfa sorun, birkaç tahmin alın; sonra cevap slaytına geçin.
Cevap: Neredeyse tamamen ufkun altındadır. Atmosfer ufka yakın ışınları yere doğru yaklaşık yarım derece büker; bu, Güneş'in görünen çapı kadardır. Göz son doğrultuyu geriye uzattığı için Güneş'i olduğundan yukarıda görürsün; bu yüzden gündüz, atmosfer olmasaydı olacağından birkaç dakika uzun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Neredeyse tamamen ufkun altındadır. Atmosfer ufka yakın ışınları yere doğru yaklaşık yarım derece büker; bu, Güneş'in görünen çapı kadardır. Göz son doğrultuyu geriye uzattığı için Güneş'i olduğundan yukarıda görürsün; bu yüzden gündüz, atmosfer olmasaydı olacağından birkaç dakika uzun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gerçek dünyada — adım 1/3
• Kırılma yalnızca göz yanılgısı üretmez; insanlar onu yüzyıllardır bilerek kullanır.
• Işığı toplayan, yönlendiren ya da hapseden her optik aracın arkasında iki seçim vardır: indisi uygun bir malzeme ve Snell yasasıyla hesaplanmış bir yüzey şekli.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gerçek dünyada — adım 2/3
• Gözün kendisi: gözün odaklama gücünün yaklaşık üçte ikisini, havayla sınırdaki saydam kornea tabakası sağlar.
• Su altında bulanık görme: kornea (n ≈ 1,38) ile su (1,33) arasındaki fark küçüktür; kornea ışığı neredeyse kırmaz.
• Gözlük ve mercekler: kırılmayı eğri yüzeylerle kontrollü kullanır; yüksek indisli cam aynı gücü daha ince mercekle verir.
• Fiber optik: çekirdekte (n ≈ 1,47) tam yansımayla hapsolan ışık, 1000 km'lik hattı yaklaşık 5 milisaniyede geçer.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Kırılma gerçek dünyada — adım 3/3
• Gökkuşağı: güneş ışığı damlaya girerken kırılır, arka yüzde yansır, çıkarken yeniden kırılır; indis renge bağlı olduğu için renkler ayrılır.
• Elmas ve cam taş: elmasın sınır açısı 24,4°, camınki 41,8°; aynı kesimdeki cam taştan ışık alttan kaçar.
• Gökkuşağındaki yansıma çoğu zaman “tam yansıma” diye anlatılır, ama öyle değildir: damlanın arka yüzüne gelen ışının açısı yaklaşık 40°'dir ve suyun 48,8°'lik sınır açısından küçüktür.
• Işığın bir kısmı damladan arkaya kaçar, bir kısmı yansıyıp geri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Göz, gözlük, fiber optik, gökkuşağı ve elmas kırılmanın iki yüzünü kullanır: ışığı saptırmak için indis farkını, ışığı hapsetmek için sınır açıyı.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pırlanta kesimi camdan yapılırsa neden elmas kadar parlamaz?
Sınıfa sorun, birkaç tahmin alın; sonra cevap slaytına geçin.
Cevap: Camın sınır açısı 41,8°, elmasınki 24,4°'dir. Cam taşın alt yüzlerine gelen ışınların önemli bir kısmı 41,8°'den küçük açıyla çarpar ve tam yansımak yerine alttan dışarı kaçar. Üstten gözüne dönen ışık azalır; cam renkleri elmas kadar ayırmadığı için renkli ışıltı da zayıftır.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Camın sınır açısı 41,8°, elmasınki 24,4°'dir. Cam taşın alt yüzlerine gelen ışınların önemli bir kısmı 41,8°'den küçük açıyla çarpar ve tam yansımak yerine alttan dışarı kaçar. Üstten gözüne dönen ışık azalır; cam renkleri elmas kadar ayırmadığı için renkli ışıltı da zayıftır.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kırılma sorularında puan kaybettiren klasik hatalar.
12 Çözümlü örnekler
13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Snell yasası
Havadan (n = 1) suya (n = 4/3) 53° ile giren ışının kırılma açısını bulunuz. (sin53° = 0,8)
Verilenler: n₁ = 1 (hava) · n₂ = 4/3 (su) · i = 53° · sin53° = 0,8 · sin37° = 0,6
İstenen: kırılma açısı 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Snell yasası — çözüm
1. n₁·sin i = n₂·sin r → 1 · 0,8 = (4/3) · sin r
2. sin r = 0,8 · 3/4 =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Snell yasası — çözüm
3. r = 37°
4. Işın normale yaklaştı: beklenen sonuç, çünkü su daha yoğun.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Hız ve dalga boyu
Dalga boyu havada 600 nm olan ışık, kırılma indisi 1,5 olan cama giriyor. Camdaki hızı ve dalga boyu nedir?
Verilenler: λ₀ = 600 nm (havadaki dalga boyu) · n = 1,5 (cam) · c = 3·10⁸ m/s
İstenen: camdaki hız v · camdaki dalga boyu λ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Hız ve dalga boyu — çözüm
1. v = c/n = 3·10⁸ / 1,5 = 2·10⁸ m/s
2. λ = λ₀/n = 600/1,5 = 400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Hız ve dalga boyu — çözüm
3. f = v/λ = 2·10⁸ / 400·10⁻⁹ = 5·10¹⁴ Hz
4. Havadaki frekans da 3·10⁸/600·10⁻⁹ = 5·10¹⁴ Hz ✓ frekans değişmedi.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Sınır açı
Kırılma indisi 2 olan bir ortamdan havaya geçişte sınır açı kaç derecedir?
Verilenler: n₁ = 2 (ışığın çıktığı ortam) · n₂ = 1 (hava) · sin30° = 0,5
İstenen: sınır açı θ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Sınır açı — çözüm
1. sin θ = n₂/n₁ = 1/2 = 0,5
2. θ = 30°
3. 30°'den büyük açılarla gelen ışınlar ortamı terk edemez, tamamen yansır.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Sudan havaya: kırılır mı, yansır mı?
Suyun (n = 4/3) içindeki bir kaynaktan çıkan iki ışın su yüzeyine 37° ve 60° ile geliyor. Her birine ne olur? (sin37° = 0,6; sin60° ≈ 0,87)
Verilenler: n₁ = 4/3 (su) · n₂ = 1 (hava) · gelme açıları 37° ve 60° · sin37° = 0,6 · sin53° = 0,8 · sin60° ≈ 0,87
İstenen: her ışın için: havaya kırılarak mı çıkar, tam mı yansır? Kırılıyorsa kırılma açısı 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Sudan havaya: kırılır mı, yansır mı? — çözüm
1. Işık yoğun ortamdan çıkıyor; önce sınır açıyı bul: sin θ = 1 / (4/3) = 0,75 → θ ≈ 48,6°.
2. 37° &lt; 48,6° olduğu için ilk ışın kırılır: (4/3) · 0,6 = 1 · sin r → sin r = 0,8 → r = 53°.
3. Kontrol: 53° &gt; 37°, ışın normalden uzaklaştı ✓ (Örnek 1'in tersten okunuşu).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Sudan havaya: kırılır mı, yansır mı? — çözüm
4. 60° &gt; 48,6°: Snell yasası sin r = (4/3) · 0,87 ≈ 1,16 ister; sinüs 1'i aşamaz.
5. İkinci ışın tam yansır, 60°'lik yansıma açısıyla suyun içine döner.
Not: n = 4/3 ile sınır açı 48,6°, n = 1,33 ile 48,8° çıkar; fark yalnızca yuvarlamadan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Yandan kayma
Kalınlığı 6 cm olan cam levhaya (n = 1,5) 50° ile gelen ışının yandan kayması ne kadardır?
Verilenler: t = 6 cm (levhanın kalınlığı) · n = 1,5 (cam) · n(hava) = 1 · i = 50° · sin50° ≈ 0,766
İstenen: yandan kayma d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Yandan kayma — çözüm
1. sin r = sin50° / 1,5 = 0,766/1,5 = 0,511 → r ≈ 30,7°
2. d = t·sin(i − r)/cos r = 6 · sin(19,3°) / cos(30,7°)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Yandan kayma — çözüm
3. d = 6 · 0,331 / 0,860 ≈ 2,3 cm
4. Çıkan ışın, gelen ışına paraleldir; yalnızca 2,3 cm kaymıştır.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Cam levhadan suya geçen ışın
Havadan 53° ile gelen ışın, yatay bir cam levhadan (n = 1,5) geçip hemen altındaki suya (n = 4/3) giriyor. Işının camdaki ve sudaki kırılma açılarını bulunuz. (sin53° = 0,8; sin37° = 0,6)
Verilenler: i = 53° (havada) · n(hava) = 1 · n(cam) = 1,5 · n(su) = 4/3 · sin53° = 0,8 · sin37° = 0,6
İstenen: camdaki kırılma açısı r₁ · sudaki kırılma açısı r₂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Cam levhadan suya geçen ışın — çözüm
1. Hava → cam: 1 · 0,8 = 1,5 · sin r₁ → sin r₁ ≈ 0,53 → r₁ ≈ 32°.
2. Cam–su sınırı üst yüze paralel olduğu için ışın bu sınıra da r₁ açısıyla gelir.
3. Cam → su: 1,5 · sin r₁ = (4/3) · sin r₂. Sol taraf ilk adımdan zaten 0,8'dir.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Cam levhadan suya geçen ışın — çözüm
4. (4/3) · sin r₂ = 0,8 → sin r₂ = 0,6 → r₂ = 37°.
5. Cam hiç olmasaydı da sudaki açı 37° olurdu (Örnek 1): n·sin θ çarpımı her katmanda korunur.
Kısa yol: paralel katmanlarda ara katmanları atla, doğrudan 1 · sin 53° = (4/3) · sin r₂ yaz.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Havuz lambasının ışık dairesi
Bir havuzun 2 m derinliğindeki küçük lamba her yöne ışık yayıyor. Su yüzeyinde ışığın dışarı çıkabildiği dairenin yarıçapı kaç metredir? (n = 4/3; sin θ = 0,75 için tan θ ≈ 1,13)
Verilenler: h = 2 m (lambanın derinliği) · n(su) = 4/3 · n(hava) = 1 · sin θ = 0,75 için tan θ ≈ 1,13
İstenen: ışığın su yüzeyinden çıktığı dairenin yarıçapı R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Havuz lambasının ışık dairesi — çözüm
1. Yüzeye sınır açıdan küçük açıyla gelen ışınlar dışarı çıkar, büyük açıyla gelenler tam yansır.
2. sin θ = 1 / (4/3) = 0,75 → θ ≈ 48,6°.
3. Sınır açıyla çıkan ışın, lambanın tam üstündeki noktadan R kadar ötede yüzeye varır: tan θ = R /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Havuz lambasının ışık dairesi — çözüm
4. R = h · tan θ = 2 · 1,13 ≈ 2,3 m.
5. Işığın çıktığı dairenin alanı π · R² ≈ 16 m²; dışarıdaki yüzeyden lambanın ışığı çıkmaz.
Aynı geometri ters çalışır: su altındaki bir dalgıç gökyüzünün tamamını yaklaşık 97°'lik bir koninin içinde, parlak bir pencere gibi görür (Snell penceresi).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Işık bir plastiğin içinde 2,5·10⁸ m/s hızla ilerliyor. Bu plastiğin kırılma indisi kaçtır?
Öğrencilere 2–3 dakika verin; sonra cevap slaytını açın.
Cevap: Cevap: n = c / v = 3·10⁸ / 2,5·10⁸ = 1,2. İki hız birbirine bölündüğü için indisin birimi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 = c / v = 3·10⁸ / 2,5·10⁸ = 1,2. İki hız birbirine bölündüğü için indisin birimi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Havadan kırılma indisi 1,6 olan bir cama 53° ile giren ışın camda kaç derecelik kırılma açısıyla ilerler?
Öğrencilere 2–3 dakika verin; sonra cevap slaytını açın.
Cevap: Cevap: n₁·sin i = n₂·sin r → 1 · 0,8 = 1,6 · sin r → sin r = 0,5 → r = 30°. Işın normale yaklaştı (30° &lt; 53°)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n₁·sin i = n₂·sin r → 1 · 0,8 = 1,6 · sin r → sin r = 0,5 → r = 30°. Işın normale yaklaştı (30° &lt; 53°)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Işık, kırılma indisi 1,2 olan bir sıvıdan indisi 1,6 olan bir cama 53° ile geçiyor. Kırılma açısı kaç derecedir?
Öğrencilere 2–3 dakika verin; sonra cevap slaytını açın.
Cevap: Cevap: n₁·sin i = n₂·sin r → 1,2 · 0,8 = 1,6 · sin r → 0,96 = 1,6 · sin r → sin r = 0,6 → r = 37°. Işık indisi büyük ortama geçtiği için normale yaklaştı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n₁·sin i = n₂·sin r → 1,2 · 0,8 = 1,6 · sin r → 0,96 = 1,6 · sin r → sin r = 0,6 → r = 37°. Işık indisi büyük ortama geçtiği için normale yaklaştı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Kırılma indisi 5/3 olan bir camın içinden cam–hava yüzeyine 45° ile gelen ışın havaya çıkar mı, yoksa tam mı yansır?
Öğrencilere 2–3 dakika verin; sonra cevap slaytını açın.
Cevap: Cevap: Önce sınır açıyı bul: sin θ = n₂ / n₁ = 1 / (5/3) = 3/5 = 0,6 → θ = 37°. Gelme açısı 45°, sınır açıdan büyük; ışın havaya çıkamaz ve tam yansır.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Önce sınır açıyı bul: sin θ = n₂ / n₁ = 1 / (5/3) = 3/5 = 0,6 → θ = 37°. Gelme açısı 45°, sınır açıdan büyük; ışın havaya çıkamaz ve tam yansır.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Işığın hızı A ortamında 2·10⁸ m/s, B ortamında 1,5·10⁸ m/s. A'dan B'ye 53° ile geçen ışının kırılma açısı kaç derecedir?
Öğrencilere 2–3 dakika verin; sonra cevap slaytını açın.
Cevap: Cevap: Önce indisler: nA = c / vA = 3·10⁸ / 2·10⁸ = 1,5 ve nB = 3·10⁸ / 1,5·10⁸ = 2. Snell: 1,5 · 0,8 = 2 · sin r → 1,2 = 2 · sin r → sin r = 0,6 → r = 37°. Işık yavaşladığı ortama geçtiği için normale yaklaştı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Önce indisler: nA = c / vA = 3·10⁸ / 2·10⁸ = 1,5 ve nB = 3·10⁸ / 1,5·10⁸ = 2. Snell: 1,5 · 0,8 = 2 · sin r → 1,2 = 2 · sin r → sin r = 0,6 → r = 37°. Işık yavaşladığı ortama geçtiği için normale yaklaştı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Frekansın değiştiğini sanmak. Kırılmada frekans değişmez; değişen hız ve dalga boyudur.
• Dik gelen ışının kırıldığını düşünmek. i = 0 ise ışın doğrultusunu korur (hızı yine de değişir).
• Tam yansımayı her geçişte aramak. Yalnızca çok yoğundan az yoğuna geçişte olur.
• Açıları yüzeyle ölçmek. Kırılmada da açılar normalle ölçülür.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“Yoğun ortam” ile kütle yoğunluğunu karıştırmak. Burada kastedilen optik yoğunluk, yani kırılma indisidir.
• Levhadan çıkan ışının doğrultusunun değiştiğini sanmak. Paralel kenarlı levhada çıkan ışın gelen ışına paraleldir.
• sin r &gt; 1 çıkınca hesap hatası yaptığını sanmak. Bu sonuç, kırılan ışının olmadığını, yani ışığın tam yansımaya uğradığını söyler.
• Sınır açıyı sin θ = n₁/n₂ ile hesaplamak. Sinüs 1'i aşamaz; oran her zaman küçük indisin büyük indise bölümüdür.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İndis n = c / v · Snell n₁sin i = n₂sin r · Frekans değişmez · Sınır açı sin θ = n₂/n₁
n = c / v — kırılma indisi
n₁·sin i = n₂·sin r — Snell yasası
λ = λ₀ / n — ortamdaki dalga boyu
sin θ(sınır) = n₂ / n₁ — tam yansıma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10/sek/kirilma-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04</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Kırılma</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Işık bir ortamdan diğerine geçerken hız değiştirir; hız değişince de yön değiştirir. Suya sokulan kaşığın kırık görünmesinden fiber optik kabloya kadar her şey tek bir bağıntıya dayanır: n₁·sin i = n₂·sin 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dersler.perinet.org/kirilma.html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Bardaktaki kaşık neden kırık görünür?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Havuzun dibi neden göründüğünden derindir?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Işık bir ortamdan diğerine geçerken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hız değiştirir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ve bu yüzden yol değiştirir — tıpkı asfalttan kuma giren bir arabanın, bir tekeri önce yavaşlayınca dönmesi gibi.</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Gözlükten gökkuşağına, fiber optikten seraba kadar bu konudaki her şey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tek bir bağıntıdan</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çıkar: n₁·sin i = n₂·sin 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Önce sezgi: ışığın yol değiştirdiği sahnelere bak, kırılmanın ne olduğunu ve ışının hangi yöne saptığını formülsüz kavra.</a:t>
            </a:r>
            <a:endParaRPr lang="en-US" sz="10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ışık ne zaman yolundan sapar?</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Kırılma nedir?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Kırılma indisi: ışık ne kadar yavaşlar?</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Neden yön değişir? Yavaşlayan taraf normale yanaşır</a:t>
            </a:r>
            <a:endParaRPr lang="en-US" sz="11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Bağıntılar: kırılmanın yönünü sayıya dök, Snell yasasını dalga cephelerinden çıkar, hız ve dalga boyuna ne olduğunu gör.</a:t>
            </a:r>
            <a:endParaRPr lang="en-US" sz="10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60350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Snell yasası ve nereden geldiği</a:t>
            </a:r>
            <a:endParaRPr lang="en-US" sz="1250" dirty="0"/>
          </a:p>
        </p:txBody>
      </p:sp>
      <p:sp>
        <p:nvSpPr>
          <p:cNvPr id="30" name="Text 28"/>
          <p:cNvSpPr txBox="1"/>
          <p:nvPr/>
        </p:nvSpPr>
        <p:spPr>
          <a:xfrm>
            <a:off x="3637712" y="4224528"/>
            <a:ext cx="384048" cy="60350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Sayılarla hisset: ışın ne kadar kırılır?</a:t>
            </a:r>
            <a:endParaRPr lang="en-US" sz="1200" dirty="0"/>
          </a:p>
        </p:txBody>
      </p:sp>
      <p:sp>
        <p:nvSpPr>
          <p:cNvPr id="32" name="Text 30"/>
          <p:cNvSpPr txBox="1"/>
          <p:nvPr/>
        </p:nvSpPr>
        <p:spPr>
          <a:xfrm>
            <a:off x="3637712" y="4882896"/>
            <a:ext cx="384048" cy="60350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dalga boyu ve frekans</a:t>
            </a:r>
            <a:endParaRPr lang="en-US" sz="1250" dirty="0"/>
          </a:p>
        </p:txBody>
      </p:sp>
      <p:sp>
        <p:nvSpPr>
          <p:cNvPr id="34" name="Shape 32"/>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5" name="Shape 33"/>
          <p:cNvSpPr/>
          <p:nvPr/>
        </p:nvSpPr>
        <p:spPr>
          <a:xfrm>
            <a:off x="6379312" y="1645920"/>
            <a:ext cx="2211248" cy="64008"/>
          </a:xfrm>
          <a:prstGeom prst="rect">
            <a:avLst/>
          </a:prstGeom>
          <a:solidFill>
            <a:srgbClr val="5F4BD8"/>
          </a:solidFill>
          <a:ln/>
        </p:spPr>
      </p:sp>
      <p:sp>
        <p:nvSpPr>
          <p:cNvPr id="36" name="Shape 34"/>
          <p:cNvSpPr/>
          <p:nvPr/>
        </p:nvSpPr>
        <p:spPr>
          <a:xfrm>
            <a:off x="6415888" y="1920240"/>
            <a:ext cx="420624" cy="420624"/>
          </a:xfrm>
          <a:prstGeom prst="roundRect">
            <a:avLst>
              <a:gd name="adj" fmla="val 26000"/>
            </a:avLst>
          </a:prstGeom>
          <a:solidFill>
            <a:srgbClr val="5F4BD8"/>
          </a:solidFill>
          <a:ln/>
        </p:spPr>
      </p:sp>
      <p:sp>
        <p:nvSpPr>
          <p:cNvPr id="37" name="Text 35"/>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39" name="Text 37"/>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Snell yasası çözümsüz kalınca, ışık levhadan ve katman katman havadan geçince, kırılma gerçek hayata çıkınca ne olur?</a:t>
            </a:r>
            <a:endParaRPr lang="en-US" sz="1000" dirty="0"/>
          </a:p>
        </p:txBody>
      </p:sp>
      <p:sp>
        <p:nvSpPr>
          <p:cNvPr id="40" name="Shape 38"/>
          <p:cNvSpPr/>
          <p:nvPr/>
        </p:nvSpPr>
        <p:spPr>
          <a:xfrm>
            <a:off x="6415888" y="3429000"/>
            <a:ext cx="2138096" cy="0"/>
          </a:xfrm>
          <a:prstGeom prst="line">
            <a:avLst/>
          </a:prstGeom>
          <a:noFill/>
          <a:ln w="9525">
            <a:solidFill>
              <a:srgbClr val="E1E5EE"/>
            </a:solidFill>
            <a:prstDash val="dash"/>
          </a:ln>
        </p:spPr>
      </p:sp>
      <p:sp>
        <p:nvSpPr>
          <p:cNvPr id="41" name="Text 39"/>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08</a:t>
            </a:r>
            <a:endParaRPr lang="en-US" sz="1100" dirty="0"/>
          </a:p>
        </p:txBody>
      </p:sp>
      <p:sp>
        <p:nvSpPr>
          <p:cNvPr id="42" name="Text 40"/>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Tam yansıma ve sınır açı</a:t>
            </a:r>
            <a:endParaRPr lang="en-US" sz="1250" dirty="0"/>
          </a:p>
        </p:txBody>
      </p:sp>
      <p:sp>
        <p:nvSpPr>
          <p:cNvPr id="43" name="Text 41"/>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Paralel kenarlı levhada yandan kayma</a:t>
            </a:r>
            <a:endParaRPr lang="en-US" sz="1250" dirty="0"/>
          </a:p>
        </p:txBody>
      </p:sp>
      <p:sp>
        <p:nvSpPr>
          <p:cNvPr id="45" name="Text 43"/>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Katman katman kırılma: serap ve atmosfer</a:t>
            </a:r>
            <a:endParaRPr lang="en-US" sz="1200" dirty="0"/>
          </a:p>
        </p:txBody>
      </p:sp>
      <p:sp>
        <p:nvSpPr>
          <p:cNvPr id="47" name="Text 45"/>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Kırılma gerçek dünyada</a:t>
            </a:r>
            <a:endParaRPr lang="en-US" sz="1250" dirty="0"/>
          </a:p>
        </p:txBody>
      </p:sp>
      <p:sp>
        <p:nvSpPr>
          <p:cNvPr id="49" name="Shape 47"/>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0" name="Shape 48"/>
          <p:cNvSpPr/>
          <p:nvPr/>
        </p:nvSpPr>
        <p:spPr>
          <a:xfrm>
            <a:off x="9157487" y="1645920"/>
            <a:ext cx="2211248" cy="64008"/>
          </a:xfrm>
          <a:prstGeom prst="rect">
            <a:avLst/>
          </a:prstGeom>
          <a:solidFill>
            <a:srgbClr val="A56209"/>
          </a:solidFill>
          <a:ln/>
        </p:spPr>
      </p:sp>
      <p:sp>
        <p:nvSpPr>
          <p:cNvPr id="51" name="Shape 49"/>
          <p:cNvSpPr/>
          <p:nvPr/>
        </p:nvSpPr>
        <p:spPr>
          <a:xfrm>
            <a:off x="9194063" y="1920240"/>
            <a:ext cx="420624" cy="420624"/>
          </a:xfrm>
          <a:prstGeom prst="roundRect">
            <a:avLst>
              <a:gd name="adj" fmla="val 26000"/>
            </a:avLst>
          </a:prstGeom>
          <a:solidFill>
            <a:srgbClr val="A56209"/>
          </a:solidFill>
          <a:ln/>
        </p:spPr>
      </p:sp>
      <p:sp>
        <p:nvSpPr>
          <p:cNvPr id="52" name="Text 50"/>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3" name="Text 51"/>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4" name="Text 52"/>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kırılma sorularında puan kaybettiren klasik hatalar.</a:t>
            </a:r>
            <a:endParaRPr lang="en-US" sz="1150" dirty="0"/>
          </a:p>
        </p:txBody>
      </p:sp>
      <p:sp>
        <p:nvSpPr>
          <p:cNvPr id="55" name="Shape 53"/>
          <p:cNvSpPr/>
          <p:nvPr/>
        </p:nvSpPr>
        <p:spPr>
          <a:xfrm>
            <a:off x="9194063" y="3429000"/>
            <a:ext cx="2138096" cy="0"/>
          </a:xfrm>
          <a:prstGeom prst="line">
            <a:avLst/>
          </a:prstGeom>
          <a:noFill/>
          <a:ln w="9525">
            <a:solidFill>
              <a:srgbClr val="E1E5EE"/>
            </a:solidFill>
            <a:prstDash val="dash"/>
          </a:ln>
        </p:spPr>
      </p:sp>
      <p:sp>
        <p:nvSpPr>
          <p:cNvPr id="56" name="Text 54"/>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8" name="Text 56"/>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0" name="Shape 58"/>
          <p:cNvSpPr/>
          <p:nvPr/>
        </p:nvSpPr>
        <p:spPr>
          <a:xfrm>
            <a:off x="640080" y="6382512"/>
            <a:ext cx="128016" cy="128016"/>
          </a:xfrm>
          <a:prstGeom prst="roundRect">
            <a:avLst>
              <a:gd name="adj" fmla="val 28571"/>
            </a:avLst>
          </a:prstGeom>
          <a:solidFill>
            <a:srgbClr val="A9E648"/>
          </a:solidFill>
          <a:ln/>
        </p:spPr>
      </p:sp>
      <p:sp>
        <p:nvSpPr>
          <p:cNvPr id="61" name="Text 5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62" name="Text 6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Hız:</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şeyin bir saniyede aldığı yol. Metre/saniye (m/s) ile ölçülür; ışık boşlukta her saniye yaklaşık 300 000 km yol alır.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Normal: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ışının yüzeye çarptığı noktada yüzeye dik (90°) çizilen yardımcı çizgi. Aynalar konusunda açıları hep bu çizgiden ölçmüştün.</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Yansıma: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ışığın bir yüzeye çarpıp geri dönmesi. Gelme açısı yansıma açısına eşittir; aynada kendini bu sayede görürsün.</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Sinüs:</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dik üçgende bir açının karşısındaki kenarın en uzun kenara bölümü. sin30° = 0,5 ve sin90° = 1'dir; hiçbir açının sinüsü 1'den büyük olmaz.</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Oran:</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“kaç katı?” sorusunun cevabı. 6 ÷ 2 = 3 ise 6, 2'nin 3 katıdır. m/s'yi m/s'ye bölünce birim sadeleşir, geriye yalın bir sayı kalır.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ışığın yol değiştirdiği sahnelere bak, kırılmanın ne olduğunu ve ışının hangi yöne saptığını formülsüz kavra.</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ışık ne zaman yolundan sapar?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Kırılma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Kırılma indisi: ışık ne kadar yavaşlar?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Neden yön değişir? Yavaşlayan taraf normale yanaşır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10/sek/kirilma-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Sıcak yolda ileride parlayan “su”</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aslında gökyüzünün görüntüsüdür. Asfaltın hemen üstündeki sıcak havada ışık biraz daha hızlı ilerler; yola yatık inen ışınlar bu yüzden yukarı doğru kıvrılıp gözüne gelir. Arabanın altındaki ters görüntü de aynı kıvrılmış ışınlarla oluşur. Bu sahneye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serap</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denir; üçüncü basamakta nedenini ayrıntılı göreceğiz.</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dersler.perinet.org/kirilma.html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ışık ne zaman yolundan sapar?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aynı saydam ortamda kaldığı sürece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doğru boyunca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ilerler: odaya vuran güneş huzmesinin tozlarda görünen kenarları dümdüzdür.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Gözün bu kurala güvenir; bir cismi, ondan gelen ışının geldiği doğrultunun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tam karşısında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sanırsın.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ışık bir ortamdan ötekine geçerken bu güven sarsılır.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gözlemlerin hepsinde ışık, iki farklı saydam ortamın ya da farklı sıcaklıktaki hava katmanlarının sınırından geçiyor: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ışık ne zaman yolundan sapar?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Kaşık kırık görünür: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sudaki kısmı, su yüzeyinin hizasında yukarıdaki sapla aynı doğrultuda durmaz.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Havuz sığ görünür: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dipteki fayanslar, ayağını basınca şaşıracağın kadar yakın durur.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Yolda “su birikintisi”: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yazın sıcak asfaltta ilerideki yol ıslak ve parlak görünür; yaklaşınca kaybolur.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Yıldızlar titrer: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yıldız ışığı, sürekli çalkalanan hava katmanlarından geçerken sağa sola sapar.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ışık ne zaman yolundan sapar?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Kalın camın arkası kayar: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kalın bir camın arkasındaki çizgiler, camın kenarında yana kaymış görünür.</a:t>
            </a:r>
            <a:endParaRPr lang="en-US" sz="2100" dirty="0"/>
          </a:p>
        </p:txBody>
      </p:sp>
      <p:sp>
        <p:nvSpPr>
          <p:cNvPr id="7" name="Text 5"/>
          <p:cNvSpPr txBox="1"/>
          <p:nvPr/>
        </p:nvSpPr>
        <p:spPr>
          <a:xfrm>
            <a:off x="640080" y="23545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sahnelerin ortak noktası şu: ışık, yolunun bir yerinde kendisini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farklı hızda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taşıyan bir ortama giriyor.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 ise ışının kıvrıldığından habersizdir; son doğrultuyu geriye uzatır ve cismi orada görür.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ışık ne zaman yolundan sapar?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tek bir saydam ortamda doğru boyunca gider; başka bir ortama geçerken yolundan sapabilir. Göz son doğrultuyu geriye uzattığı için kaşık kırık, havuz sığ, sıcak yol ıslak görünür.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Sıcak yoldaki “su birikintisi” sen yaklaştıkça neden hep ileri kaçar ya da kaybolur?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ışık ne zaman yolundan sapar?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Sıcak yoldaki “su birikintisi” sen yaklaştıkça neden hep ileri kaçar ya da kaybolur?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Serap yalnızca yola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çok yatık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gelen ışınlarla oluşur. Uzaktaki yol parçasına neredeyse yere paralel bakarsın; yaklaştıkça aynı parçaya daha dik bakmaya başlarsın ve ışınlar artık yeterince kıvrılamaz. Parlak bölge bu yüzden her zaman senden belli bir uzaklıkta, ileride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saydam bir ortamdan başka bir saydam ortama geçerken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hızı değişir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Sınıra eğik geldiyse bu hız değişimi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doğrultusunu da değiştirir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bu olaya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kırılma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Sözcük, ışının sınırda bir dirsek yapmasını anlatır: ışın her iki ortamda da doğru boyunca gider, yalnızca sınırda yön değiştirir.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Kırılmayı anlatmak için sınırda bir yardımcı çizgi kullanırız.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Işının yüzeye çarptığı noktadan yüzeye dik çizilen doğruya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normal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Gelen ışının normalle yaptığı açı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gelme açısı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 kırılan ışının normalle yaptığı açı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kırılma açısı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(r) adını 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Açıların yüzeyden değil normalden ölçülmesi keyfî değildir: dik gelen ışın için ikisi de sıfır olur ve kurallar en sade hâlini 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Sınıra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dik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gelen ışın (i = 0) kırılmaz, doğrultusunu korur; yalnızca hızı değişir.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Kırılan ışın, gelen ışın ve normal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aynı düzlemdedir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Kırılma sırasında ışığın bir kısmı her zaman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yansır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795478" y="1234440"/>
            <a:ext cx="860073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1.png">    </p:cNvPr>
          <p:cNvPicPr>
            <a:picLocks noChangeAspect="1"/>
          </p:cNvPicPr>
          <p:nvPr/>
        </p:nvPicPr>
        <p:blipFill>
          <a:blip r:embed="rId1"/>
          <a:stretch>
            <a:fillRect/>
          </a:stretch>
        </p:blipFill>
        <p:spPr>
          <a:xfrm>
            <a:off x="2024078" y="1325880"/>
            <a:ext cx="814353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Açılar her zaman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normalden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ölçülür, yüzeyden değil. Işık daha yoğun bir ortama geçerken yavaşlar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normale yaklaşır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(r &lt; i); daha az yoğun bir ortama geçerken hızlanır ve normalden uzaklaşır. Yüzeye dik gelen ışın (i = 0) hiç kırılmaz, doğrultusunu korur. Işığın bir kısmı her zaman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yansır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da — bu yüzden camda kendi yansımanı görebilirsin.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madde gündelik bir gözlemi açıklar: akşam, ışığı yanan bir odadan pencereye bakınca camda kendi yansımanı görürsün.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Dik gelişte camın her yüzeyi ışığın yaklaşık yüzde dördünü yansıtır; dışarısı karanlık olunca bu küçük pay bile belirgin olur.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Kırılma, ışığın bir saydam ortamdan ötekine eğik geçerken hız değişimi yüzünden doğrultu değiştirmesidir. Açılar yüzeyden değil normalden ölçülür; dik gelen ışın kırılmaz.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indisi: ışık ne kadar yavaşlar?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Boşlukta ışık saniyede yaklaşık 300 000 km yol alır; bu hızla bir saniyede Dünya'nın çevresini 7,5 kez dolanabilirdi.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Madde içinde ise daha yavaştır: ışık ortamın atomlarındaki elektronları titreştirir ve bu etkileşim ilerleyişini geciktirir.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ortamın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kırılma indisi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ışığın boşluktaki hızının o ortamdaki hızına oranıdır:</a:t>
            </a:r>
            <a:endParaRPr lang="en-US" sz="2200" dirty="0"/>
          </a:p>
        </p:txBody>
      </p:sp>
      <p:sp>
        <p:nvSpPr>
          <p:cNvPr id="7" name="Shape 5"/>
          <p:cNvSpPr/>
          <p:nvPr/>
        </p:nvSpPr>
        <p:spPr>
          <a:xfrm>
            <a:off x="640080" y="4114800"/>
            <a:ext cx="179953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14800"/>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c / v</a:t>
            </a:r>
            <a:endParaRPr lang="en-US" sz="1800" dirty="0"/>
          </a:p>
        </p:txBody>
      </p:sp>
      <p:sp>
        <p:nvSpPr>
          <p:cNvPr id="9" name="Shape 7"/>
          <p:cNvSpPr/>
          <p:nvPr/>
        </p:nvSpPr>
        <p:spPr>
          <a:xfrm>
            <a:off x="2585923" y="4114800"/>
            <a:ext cx="23554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585923" y="4114800"/>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 = 3·10⁸ m/s</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indisi: ışık ne kadar yavaşlar?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891378"/>
                <a:gridCol w="1505039"/>
                <a:gridCol w="451511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Ortam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Işığın hızı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Boşluk / hava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3,00·10⁸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2,26·10⁸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Cam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2,00·10⁸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Elmas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1,24·10⁸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indisi: ışık ne kadar yavaşlar?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Tabloyu şöyle oku: su için n = 1,33, yani ışık suda boşluktakinden 1,33 kat yavaş gider.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İndisin birimi yoktur, çünkü iki hızın oranıdır.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Gündelik saydam ortamlarda indis 1'den küçük olmaz; havanınki 1,0003 civarındadır ve problemlerde 1 alınır.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indisi: ışık ne kadar yavaşlar?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İndisi büyük olan ortama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çok yoğun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küçük olana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az yoğun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ortam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“yoğunluk” kütle yoğunluğu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optik yoğunluktur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Zeytinyağı sudan hafiftir ve suyun üstünde yüzer, ama indisi (yaklaşık 1,47) sudan büyüktür: optik olarak sudan daha yoğundur.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indisi: ışık ne kadar yavaşlar?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429908" y="1234440"/>
            <a:ext cx="933187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2.png">    </p:cNvPr>
          <p:cNvPicPr>
            <a:picLocks noChangeAspect="1"/>
          </p:cNvPicPr>
          <p:nvPr/>
        </p:nvPicPr>
        <p:blipFill>
          <a:blip r:embed="rId1"/>
          <a:stretch>
            <a:fillRect/>
          </a:stretch>
        </p:blipFill>
        <p:spPr>
          <a:xfrm>
            <a:off x="1658508" y="1325880"/>
            <a:ext cx="887467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Kırılma indisi, ışığın o ortamda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ne kadar yavaşladığını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söyler: n = c/v. İki çubuk birbirinin aynadaki görüntüsü gibidir — indis büyüdükçe hız küçülür. Elmasta ışık boşluktakinin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%41'i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kadar hızlı ilerler; elmasın o çarpıcı parlaklığı ve ışığı içinde hapsetmesi bu yüksek indisin sonucudur.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indisi: ışık ne kadar yavaşlar?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Kırılma indisi n = c/v, ışığın bir ortamda boşluğa göre kaç kat yavaşladığını söyler. İndisi büyük ortam optik olarak çok yoğundur; bu, kütle yoğunluğuyla aynı şey değildir.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elmasa girince yavaşlıyorsa, elmastan havaya çıkınca yeniden hızlanır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Kırılma indisi: ışık ne kadar yavaşlar?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elmasa girince yavaşlıyorsa, elmastan havaya çıkınca yeniden hızlanır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Evet. Işığın hızı ne kadar yol aldığına ya da nereden geldiğine değil,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içinde bulunduğu ortama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bağlıdır. Elmasın içinde 1,24·10⁸ m/s ile giden ışık, havaya çıktığı anda yeniden yaklaşık 3·10⁸ m/s ile ilerler. Yavaşlama bir yorgunluk değil, ortamın bir özelliğidir.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Işığın yavaşlaması neden yönünü de değiştirsin?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Asfalttan çimenliğe eğik giren bir oyuncak arabayı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 tekerlerden biri çimene önce değer ve yavaşlar; öteki hâlâ asfaltta hızla dönmektedir.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Hızlı taraf yavaş tarafın etrafında döner ve araba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normale doğru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yön değiştirir.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Çimenlikten asfalta çıkarken tersi olur: araba normalden uzaklaşır.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demetinin genişliği boyunca uzanan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dalga cephesi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bu arabanın aks çizgisi gibidir: cephenin sınıra önce varan ucu yavaşlar, öteki ucu bir süre daha hızlı ilerler ve cephe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basit resimden dört kural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Yavaşlarsa yaklaşır: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az yoğundan çok yoğuna geçen ışın normale yaklaşır; kırılma açısı gelme açısından küçüktür.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Hızlanırsa uzaklaşır: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çok yoğundan az yoğuna geçen ışın normalden uzaklaşır; kırılma açısı büyür.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Dik gelirse sapmaz: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cephenin iki ucu sınıra aynı anda varır ve birlikte yavaşlar; dönme olmaz.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Yol tersinirdir: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ters yönde gönderilen ışın, geldiği yolu aynen geri izler.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1795478" y="1234440"/>
            <a:ext cx="860073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3.png">    </p:cNvPr>
          <p:cNvPicPr>
            <a:picLocks noChangeAspect="1"/>
          </p:cNvPicPr>
          <p:nvPr/>
        </p:nvPicPr>
        <p:blipFill>
          <a:blip r:embed="rId1"/>
          <a:stretch>
            <a:fillRect/>
          </a:stretch>
        </p:blipFill>
        <p:spPr>
          <a:xfrm>
            <a:off x="2024078" y="1325880"/>
            <a:ext cx="814353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İkisi de aynı olayın sonucu. Sudan çıkan ışınlar yüzeyde kırılıp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normalden uzaklaşınca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göz onları düz bir çizgi boyunca geri izler ve cismi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olduğundan yukarıda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görür. Kaşığın su altındaki kısmı yükseldiği için kırık, havuzun tabanı yükseldiği için sığ görünür. Bu yüzden suya balıklama atlamadan önce derinliği gözle değil ölçerek bilmek gerekir.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Artık kaşığın sırrı çözülüyor.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Kaşığın sudaki kısmından çıkan ışınlar sudan havaya geçer, hızlanır ve normalden uzaklaşır.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 ışınları düz bir çizgi boyunca geriye uzatır ve kaşığın sudaki kısmını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olduğundan yukarıda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görür.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Suyun dışındaki kısım yerinde göründüğü için iki parça yüzeyde düzgünce birleşmez ve kaşık kırık görünür.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Havuzun sığ görünmesi de aynı olaydır; ayrıntısı bir sonraki konu olan görünür derinlikte.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Neden yön değişir? Yavaşlayan taraf normale yanaşır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yavaşladığı ortama geçerken normale yaklaşır, hızlandığı ortama geçerken normalden uzaklaşır. Sudan çıkan ışınlar normalden uzaklaştığı için kaşığın sudaki kısmı olduğundan yukarıda görünür.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kırılmanın yönünü sayıya dök, Snell yasasını dalga cephelerinden çıkar, hız ve dalga boyuna ne olduğunu gör.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Snell yasası ve nereden geldiği</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Sayılarla hisset: ışın ne kadar kırılır?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Hız, dalga boyu ve frekans</a:t>
            </a:r>
            <a:endParaRPr lang="en-US" sz="1300" dirty="0"/>
          </a:p>
        </p:txBody>
      </p:sp>
      <p:sp>
        <p:nvSpPr>
          <p:cNvPr id="9" name="Text 7"/>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0" name="Shape 8"/>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1" name="Text 9"/>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n = c / v</a:t>
            </a:r>
            <a:endParaRPr lang="en-US" sz="1500" dirty="0"/>
          </a:p>
        </p:txBody>
      </p:sp>
      <p:sp>
        <p:nvSpPr>
          <p:cNvPr id="12" name="Text 10"/>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kırılma indisi</a:t>
            </a:r>
            <a:endParaRPr lang="en-US" sz="1200" dirty="0"/>
          </a:p>
        </p:txBody>
      </p:sp>
      <p:sp>
        <p:nvSpPr>
          <p:cNvPr id="13" name="Shape 11"/>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4" name="Text 12"/>
          <p:cNvSpPr txBox="1"/>
          <p:nvPr/>
        </p:nvSpPr>
        <p:spPr>
          <a:xfrm>
            <a:off x="6400800" y="2350008"/>
            <a:ext cx="253288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n₁·sin i = n₂·sin r</a:t>
            </a:r>
            <a:endParaRPr lang="en-US" sz="1500" dirty="0"/>
          </a:p>
        </p:txBody>
      </p:sp>
      <p:sp>
        <p:nvSpPr>
          <p:cNvPr id="15" name="Text 13"/>
          <p:cNvSpPr txBox="1"/>
          <p:nvPr/>
        </p:nvSpPr>
        <p:spPr>
          <a:xfrm>
            <a:off x="9025128" y="2350008"/>
            <a:ext cx="234360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Snell yasası</a:t>
            </a:r>
            <a:endParaRPr lang="en-US" sz="1200" dirty="0"/>
          </a:p>
        </p:txBody>
      </p:sp>
      <p:sp>
        <p:nvSpPr>
          <p:cNvPr id="16" name="Shape 14"/>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7" name="Text 15"/>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λ = λ₀ / n</a:t>
            </a:r>
            <a:endParaRPr lang="en-US" sz="1500" dirty="0"/>
          </a:p>
        </p:txBody>
      </p:sp>
      <p:sp>
        <p:nvSpPr>
          <p:cNvPr id="18" name="Text 16"/>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ortamdaki dalga boyu</a:t>
            </a:r>
            <a:endParaRPr lang="en-US" sz="1200" dirty="0"/>
          </a:p>
        </p:txBody>
      </p:sp>
      <p:sp>
        <p:nvSpPr>
          <p:cNvPr id="19" name="Shape 17"/>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0" name="Text 18"/>
          <p:cNvSpPr txBox="1"/>
          <p:nvPr/>
        </p:nvSpPr>
        <p:spPr>
          <a:xfrm>
            <a:off x="6400800" y="4087368"/>
            <a:ext cx="288950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sin θ(sınır) = n₂ / n₁</a:t>
            </a:r>
            <a:endParaRPr lang="en-US" sz="1500" dirty="0"/>
          </a:p>
        </p:txBody>
      </p:sp>
      <p:sp>
        <p:nvSpPr>
          <p:cNvPr id="21" name="Text 19"/>
          <p:cNvSpPr txBox="1"/>
          <p:nvPr/>
        </p:nvSpPr>
        <p:spPr>
          <a:xfrm>
            <a:off x="9381744" y="4087368"/>
            <a:ext cx="198699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tam yansıma</a:t>
            </a:r>
            <a:endParaRPr lang="en-US" sz="1200" dirty="0"/>
          </a:p>
        </p:txBody>
      </p:sp>
      <p:sp>
        <p:nvSpPr>
          <p:cNvPr id="22" name="Shape 20"/>
          <p:cNvSpPr/>
          <p:nvPr/>
        </p:nvSpPr>
        <p:spPr>
          <a:xfrm>
            <a:off x="640080" y="6382512"/>
            <a:ext cx="128016" cy="128016"/>
          </a:xfrm>
          <a:prstGeom prst="roundRect">
            <a:avLst>
              <a:gd name="adj" fmla="val 28571"/>
            </a:avLst>
          </a:prstGeom>
          <a:solidFill>
            <a:srgbClr val="C6F36B"/>
          </a:solidFill>
          <a:ln/>
        </p:spPr>
      </p:sp>
      <p:sp>
        <p:nvSpPr>
          <p:cNvPr id="23"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dersler.perinet.org/kirilma.html</a:t>
            </a:r>
            <a:endParaRPr lang="en-US" sz="1050" dirty="0"/>
          </a:p>
        </p:txBody>
      </p:sp>
      <p:sp>
        <p:nvSpPr>
          <p:cNvPr id="24" name="Text 2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8</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Kırılmanın yönünü biliyoruz; şimdi “ne kadar” sorusunu yanıtlayalım.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Gelme ve kırılma açıları, iki ortamın indisleriyle tek bir bağıntı üzerinden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bağıntı, 1621'de onu deneylerle bulan Willebrord Snellius'un adını taşır; aynı ilişki 10. yüzyılda İbn Sehl'in mercekler üzerine yazdığı incelemede de geçer.</a:t>
            </a:r>
            <a:endParaRPr lang="en-US" sz="2200" dirty="0"/>
          </a:p>
        </p:txBody>
      </p:sp>
      <p:sp>
        <p:nvSpPr>
          <p:cNvPr id="7" name="Shape 5"/>
          <p:cNvSpPr/>
          <p:nvPr/>
        </p:nvSpPr>
        <p:spPr>
          <a:xfrm>
            <a:off x="640080" y="4114800"/>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14800"/>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n₁ · sin i = n₂ · sin 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8</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2111910"/>
                <a:gridCol w="7039700"/>
                <a:gridCol w="175992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n₁</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ışığın geldiği ortamın kırılma indisi (hava için 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ışığın geçtiği ortamın kırılma indisi (su için 4/3 ≈ 1,33)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gelme açısı: gelen ışının normalle yaptığı açı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kırılma açısı: kırılan ışının normalle yaptığı açı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sin i, sin 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bu açıların sinüsü; soruda verilir (ör. sin53° = 0,8)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8</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Az yoğundan çok yoğuna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(n₁ &lt; n₂): ışın normale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yaklaşır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 &lt; 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Çok yoğundan az yoğuna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(n₁ &gt; n₂): ışın normalden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uzaklaşır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 &gt; i.</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i = 0 ise r = 0: dik gelen ışın kırılmaz.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8</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 nereden geliyor?</a:t>
            </a:r>
            <a:endParaRPr lang="en-US" sz="2200" dirty="0"/>
          </a:p>
        </p:txBody>
      </p:sp>
      <p:sp>
        <p:nvSpPr>
          <p:cNvPr id="8" name="Text 6"/>
          <p:cNvSpPr txBox="1"/>
          <p:nvPr/>
        </p:nvSpPr>
        <p:spPr>
          <a:xfrm>
            <a:off x="640080" y="1892808"/>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Snell yasasını bir önceki bölümdeki dönen cephe resminden birkaç adımda çıkarabilirsin.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dalga cephesinin A ucu sınıra değmiş, B ucu ise sınıra hâlâ BD kadar uzakta olsun.</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8</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Aynı süre: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 ucu D'ye varana kadar t süresi geçer: BD = v₁·t. Bu sürede A ucu ikinci ortamda AC = v₂·t kadar ilerler.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 dik üçgen: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AD, sınır üzerindeki ortak kenardır. Cephe sınırla i açısı yaptığı için sin i = BD/AD; aynı biçimde sin r = AC/AD.</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Oranı al: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sin i / sin r = BD/AC = v₁/v₂. Ortak kenar AD sadeleşir.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İndise çevir: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 = c/n olduğundan v₁/v₂ = n₂/n₁. Buradan n₁·sin i = n₂·sin r çıkar.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8</a:t>
            </a:r>
            <a:endParaRPr lang="en-US" sz="950" dirty="0"/>
          </a:p>
        </p:txBody>
      </p:sp>
      <p:sp>
        <p:nvSpPr>
          <p:cNvPr id="6" name="Shape 4"/>
          <p:cNvSpPr/>
          <p:nvPr/>
        </p:nvSpPr>
        <p:spPr>
          <a:xfrm>
            <a:off x="640080" y="1325880"/>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704088"/>
          </a:xfrm>
          <a:prstGeom prst="rect">
            <a:avLst/>
          </a:prstGeom>
          <a:solidFill>
            <a:srgbClr val="3C8C21"/>
          </a:solidFill>
          <a:ln/>
        </p:spPr>
      </p:sp>
      <p:sp>
        <p:nvSpPr>
          <p:cNvPr id="8" name="Text 6"/>
          <p:cNvSpPr txBox="1"/>
          <p:nvPr/>
        </p:nvSpPr>
        <p:spPr>
          <a:xfrm>
            <a:off x="950976" y="1453896"/>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Hatırlatma:</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Açılar yine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normalle</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ölçülür. Soruda “yüzeyle 30° açı yapıyor” deniyorsa gelme açısı 60°'dir.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8</a:t>
            </a:r>
            <a:endParaRPr lang="en-US" sz="950" dirty="0"/>
          </a:p>
        </p:txBody>
      </p:sp>
      <p:sp>
        <p:nvSpPr>
          <p:cNvPr id="6" name="Shape 4"/>
          <p:cNvSpPr/>
          <p:nvPr/>
        </p:nvSpPr>
        <p:spPr>
          <a:xfrm>
            <a:off x="1600682" y="1234440"/>
            <a:ext cx="89903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4.png">    </p:cNvPr>
          <p:cNvPicPr>
            <a:picLocks noChangeAspect="1"/>
          </p:cNvPicPr>
          <p:nvPr/>
        </p:nvPicPr>
        <p:blipFill>
          <a:blip r:embed="rId1"/>
          <a:stretch>
            <a:fillRect/>
          </a:stretch>
        </p:blipFill>
        <p:spPr>
          <a:xfrm>
            <a:off x="1829282" y="1325880"/>
            <a:ext cx="85331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Snell yasası her iki yönde de aynıdır: n₁·sin i = n₂·sin r. Hangi tarafın indisi büyükse, o taraftaki açı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küçüktür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yani ışın yoğun ortamda normale daha yakın gider. Bunu ezberlemek yerine şöyle düşün: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yavaşlayan taraf normale yanaşır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8 / 8</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Bağıntıyı uç durumlarla sına.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ortamın indisi eşitse sin i = sin r çıkar ve ışın hiç sapmaz: cam bir çubuk, indisi camınkine eşit bir yağa daldırılınca neredeyse görünmez olur. i = 0 için de sin r = 0 çıkar; dik gelen ışın düz geçer.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Snell yasası ve nereden geldiği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Snell yasası n₁·sin i = n₂·sin r, dalga cephesinin iki ucunun farklı hızlarından çıkar. İndisi büyük taraftaki açı küçüktür; indisler eşitse ışın hiç sapmaz.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ışın ne kadar kırılır?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bölümündeki Snell laboratuvarında havadan suya 45° ile gönderilen ışın suda 32,1° ile ilerler.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ışın cama ya da elmasa girseydi ne olurdu?</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Snell yasasıyla hesaplanmış değerler (ışın havadan geliyor; su için n = 1,33, cam için 1,50, elmas için 2,42):</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ışın ne kadar kırılır?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6387240"/>
                <a:gridCol w="1330675"/>
                <a:gridCol w="1330675"/>
                <a:gridCol w="186294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Gelme açısı (havada)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Suda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Camda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Elmasta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32,1°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17,0°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35,3°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90°'ye yakın (yalayarak)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48,8°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ışın ne kadar kırılır?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dört düzen okunur:</a:t>
            </a:r>
            <a:endParaRPr lang="en-US" sz="2200" dirty="0"/>
          </a:p>
        </p:txBody>
      </p:sp>
      <p:sp>
        <p:nvSpPr>
          <p:cNvPr id="7" name="Text 5"/>
          <p:cNvSpPr txBox="1"/>
          <p:nvPr/>
        </p:nvSpPr>
        <p:spPr>
          <a:xfrm>
            <a:off x="640080" y="200406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İndis büyüdükçe sapma artar: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45°'lik ışın suda 13°, elmasta 28° kadar normale yaklaşıyor.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Açılar orantılı değil: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gelme açısı 30°'den 60°'ye çıkınca sudaki açı 22,1°'den 40,6°'ye çıkıyor; orantılı olan sinüslerdir.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 tavan var: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 suya yüzeyi yalayarak girse bile sudaki açı 48,8°'yi geçemiyor.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Küçük açılarda kısa yol: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açı küçükken r ≈ i / n yazılabilir; 10° ile suya giren ışın yaklaşık 7,5° ile ilerler.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ışın ne kadar kırılır?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Üçüncü madde tam yansımanın habercisidir: 48,8° sayısını üçüncü basamakta yeniden göreceğiz.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madde ise bir sonraki konunun, görünür derinliğin temelidir: dike yakın bakışta açılar küçüktür ve hesap basit bir bölmeye iner.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ışın ne kadar kırılır?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Suya giren yeşil lazer ışını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yüzeye çarptığı noktada bükülüyor ve suyun içinde daha dik bir yol izliyor; su ışığı yavaşlattığı için ışın normale yaklaşır. Giriş noktasından yukarı dönen soluk ışın, kırılmada ışığın bir kısmının her zaman yansıdığını gösterir. Ne kadar büküleceğini Snell yasası belirler: tablodaki gibi havadan 60° ile gelen ışın suda 40,6° ile ilerler, yani normale yalnızca 20° kadar yaklaşır.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ışın ne kadar kırılır?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İndis büyüdükçe aynı ışın normale daha çok yaklaşır. Açılar değil sinüsleri orantılıdır; havadan suya giren ışın hiçbir zaman 48,8°'den büyük açıyla ilerleyemez.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Havadan suya 30° ile giren ışın suda 22,1° ile gidiyor. Sudan havaya 22,1° ile çıkan ışın havada kaç derece yapar?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Sayılarla hisset: ışın ne kadar kırılır?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Havadan suya 30° ile giren ışın suda 22,1° ile gidiyor. Sudan havaya 22,1° ile çıkan ışın havada kaç derece yapar?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Tam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30°</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Işık yolunun tersinirliği gereği, ters yönde gönderilen ışın aynı yolu geri izler. Snell yasası da bunu söyler: 1,33·sin 22,1° = 1·sin r bağıntısı, ilk hesabın tersten okunuşudur. Tablodaki her satır iki yönde de geçerlidir.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dalga boyu ve frekans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bir dalgadır ve her dalganın üç temel büyüklüğü vardır: saniyede kaç titreşim yaptığını söyleyen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frekans</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(f), ardışık iki tepe arasındaki uzaklık olan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dalga boyu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(λ) ve ilerleme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hızı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Üçü v = λ·f bağıntısıyla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Kırılmada değişenler ve değişmeyenler: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dalga boyu ve frekans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117581"/>
                <a:gridCol w="779395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Büyüklük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Kırılmada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Frekans (f)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 — kaynağa bağlıdır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 (v)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değişir: v = c/n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Dalga boyu (λ)</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değişir: λ = λ₀/n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Renk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 (frekans değişmediği için)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Shape 4"/>
          <p:cNvSpPr/>
          <p:nvPr/>
        </p:nvSpPr>
        <p:spPr>
          <a:xfrm>
            <a:off x="640080" y="3637026"/>
            <a:ext cx="1799539" cy="585216"/>
          </a:xfrm>
          <a:prstGeom prst="roundRect">
            <a:avLst>
              <a:gd name="adj" fmla="val 18750"/>
            </a:avLst>
          </a:prstGeom>
          <a:solidFill>
            <a:srgbClr val="EEF2FC"/>
          </a:solidFill>
          <a:ln w="9525">
            <a:solidFill>
              <a:srgbClr val="CBD7F4"/>
            </a:solidFill>
            <a:prstDash val="solid"/>
          </a:ln>
        </p:spPr>
      </p:sp>
      <p:sp>
        <p:nvSpPr>
          <p:cNvPr id="8" name="Text 5"/>
          <p:cNvSpPr txBox="1"/>
          <p:nvPr/>
        </p:nvSpPr>
        <p:spPr>
          <a:xfrm>
            <a:off x="640080" y="3637026"/>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λ · f</a:t>
            </a:r>
            <a:endParaRPr lang="en-US" sz="1800" dirty="0"/>
          </a:p>
        </p:txBody>
      </p:sp>
      <p:sp>
        <p:nvSpPr>
          <p:cNvPr id="9" name="Shape 6"/>
          <p:cNvSpPr/>
          <p:nvPr/>
        </p:nvSpPr>
        <p:spPr>
          <a:xfrm>
            <a:off x="2585923" y="3637026"/>
            <a:ext cx="3467405" cy="585216"/>
          </a:xfrm>
          <a:prstGeom prst="roundRect">
            <a:avLst>
              <a:gd name="adj" fmla="val 18750"/>
            </a:avLst>
          </a:prstGeom>
          <a:solidFill>
            <a:srgbClr val="EEF2FC"/>
          </a:solidFill>
          <a:ln w="9525">
            <a:solidFill>
              <a:srgbClr val="CBD7F4"/>
            </a:solidFill>
            <a:prstDash val="solid"/>
          </a:ln>
        </p:spPr>
      </p:sp>
      <p:sp>
        <p:nvSpPr>
          <p:cNvPr id="10" name="Text 7"/>
          <p:cNvSpPr txBox="1"/>
          <p:nvPr/>
        </p:nvSpPr>
        <p:spPr>
          <a:xfrm>
            <a:off x="2585923" y="3637026"/>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n₁/n₂ = v₂/v₁ = λ₂/λ₁</a:t>
            </a:r>
            <a:endParaRPr lang="en-US" sz="1800" dirty="0"/>
          </a:p>
        </p:txBody>
      </p:sp>
      <p:sp>
        <p:nvSpPr>
          <p:cNvPr id="12" name="Shape 8"/>
          <p:cNvSpPr/>
          <p:nvPr/>
        </p:nvSpPr>
        <p:spPr>
          <a:xfrm>
            <a:off x="640080" y="6382512"/>
            <a:ext cx="128016" cy="128016"/>
          </a:xfrm>
          <a:prstGeom prst="roundRect">
            <a:avLst>
              <a:gd name="adj" fmla="val 28571"/>
            </a:avLst>
          </a:prstGeom>
          <a:solidFill>
            <a:srgbClr val="A9E648"/>
          </a:solidFill>
          <a:ln/>
        </p:spPr>
      </p:sp>
      <p:sp>
        <p:nvSpPr>
          <p:cNvPr id="13"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4"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dalga boyu ve frekans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Frekans neden değişmez?</a:t>
            </a:r>
            <a:endParaRPr lang="en-US" sz="2200" dirty="0"/>
          </a:p>
        </p:txBody>
      </p:sp>
      <p:sp>
        <p:nvSpPr>
          <p:cNvPr id="8" name="Text 6"/>
          <p:cNvSpPr txBox="1"/>
          <p:nvPr/>
        </p:nvSpPr>
        <p:spPr>
          <a:xfrm>
            <a:off x="640080" y="1892808"/>
            <a:ext cx="10911535" cy="248259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Sınırda kopukluk olmaz: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sınırın iki yanındaki dalga, sınır üzerinde aynı anda aynı biçimde titreşmek zorundadır.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Giren cephe = çıkan cephe: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sınırdan saniyede kaç cephe giriyorsa öteki yandan o kadar çıkar; frekans kaynağın frekansıdır.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Hız düşerse dalga boyu kısalır: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 sabitken v = λ·f bağıntısında v küçülürse λ da aynı oranda küçülür: λ = λ₀/n.</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dalga boyu ve frekans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Cephe modeli kırılmayı sezgisel yapar: dalga cephesinin bir ucu yavaşlarken öteki ucu hızlı gittiği için cephe döner ve ışın yön değiştirir.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bunu canlı izleyebilirsin: havada 600 nm olan dalga boyu camda 400 nm'ye iner, frekans 5,0·10¹⁴ Hz'de kalır.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dalga boyu ve frekans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795478" y="1234440"/>
            <a:ext cx="860073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5.png">    </p:cNvPr>
          <p:cNvPicPr>
            <a:picLocks noChangeAspect="1"/>
          </p:cNvPicPr>
          <p:nvPr/>
        </p:nvPicPr>
        <p:blipFill>
          <a:blip r:embed="rId1"/>
          <a:stretch>
            <a:fillRect/>
          </a:stretch>
        </p:blipFill>
        <p:spPr>
          <a:xfrm>
            <a:off x="2024078" y="1325880"/>
            <a:ext cx="814353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Dalga cepheleri yoğun ortama girince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sıklaşır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hız düştüğü için aynı sürede daha kısa yol alınır, yani dalga boyu küçülür.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frekans değişmez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saniyede kaç cephenin sınırdan geçtiği, kaynağın saniyede kaç dalga ürettiğine bağlıdır ve ortam bunu değiştiremez. Rengin değişmemesinin sebebi de budur: renk frekansla belirlenir.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dalga boyu ve frekans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Kırılmada frekans ve renk değişmez; hız v = c/n, dalga boyu λ = λ₀/n olur. Hız ve dalga boyu aynı oranda küçüldüğü için v = λ·f bağıntısı her ortamda sağlanır.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Sığ ve berrak bir havuzun dibindeki kırmızı top, suyun altından bakan dalgıca neden yine kırmızı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Hız, dalga boyu ve frekans</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Sığ ve berrak bir havuzun dibindeki kırmızı top, suyun altından bakan dalgıca neden yine kırmızı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Rengi belirleyen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frekanstır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ve kırılmada frekans değişmez. Işık suda yavaşlar ve dalga boyu kısalır, ama göz ışığın frekansına göre renk algılar. Derin suda kırmızının soluklaşması başka bir olaydır: su, kırmızı ışığı yol boyunca soğurur.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Snell yasası çözümsüz kalınca, ışık levhadan ve katman katman havadan geçince, kırılma gerçek hayata çıkınca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Tam yansıma ve sınır açı</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Paralel kenarlı levhada yandan kayma</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Katman katman kırılma: serap ve atmosfer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Kırılma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10/sek/kirilma-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Elmasın parıltısı</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bir kırılma hesabıdır. Sınır açısı yalnızca 24,4° olduğu için içeri giren ışık alt yüzlere çoğunlukla bu açıdan büyük açılarla çarpar, tam yansır ve üst yüzlerden geri çıkar. Elmas renkleri de camdan belirgin biçimde daha çok ayırır; kadifeye düşen renkli ışık lekeleri bundandır.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dersler.perinet.org/kirilma.html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ve sınır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çok yoğun ortamdan az yoğun ortama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geçerken kırılma açısı gelme açısından büyüktür.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Gelme açısı artırıldıkça kırılan ışın yüzeye yaklaşır; belli bir açıda kırılma açısı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90°</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açıya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sınır açı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Snell yasasına r = 90° koyarsan bağıntısı hemen çıkar: sin 90° = 1 olduğundan n₁·sin θ = n₂.</a:t>
            </a:r>
            <a:endParaRPr lang="en-US" sz="2200" dirty="0"/>
          </a:p>
        </p:txBody>
      </p:sp>
      <p:sp>
        <p:nvSpPr>
          <p:cNvPr id="7" name="Shape 5"/>
          <p:cNvSpPr/>
          <p:nvPr/>
        </p:nvSpPr>
        <p:spPr>
          <a:xfrm>
            <a:off x="640080" y="4591812"/>
            <a:ext cx="36063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591812"/>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sin θ(sınır) = n₂ / n₁</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ve sınır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Gelme açısı sınır açıdan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büyükse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ışık ortamı terk edemez; tamamı yansır. Buna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tam yansıma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denir.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Tam yansıma yalnızca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çok yoğundan az yoğuna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geçişte olur.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Su–hava için sınır açı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48,8°</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cam–hava için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41,8°</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elmas–hava için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24,4°</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ve sınır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Önceki basamaktaki tablonun “tavanı” burada anlam kazanıyor.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Havadan suya yalayarak giren ışın suda 48,8° ile ilerliyordu; yol tersinir olduğu için sudan 48,8° ile gelen ışın da havada yüzeyi yalar.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Daha büyük bir açı için Snell yasası sin r &gt; 1 ister; hiçbir açının sinüsü 1'i aşamayacağı için kırılan ışın yoktur ve ışığın tamamı geri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açıyı adım adım büyüt: sınır açıya yaklaştıkça kırılan ışığın payı azalır.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ve sınır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Elmasın parlaklığı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bu küçük sınır açıdan gelir: içeri giren ışık defalarca tam yansımaya uğrar ve ancak belirli yüzlerden dışarı çıkabilir. Fiber optik kablo da aynı ilkeyle çalışır.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ve sınır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873689" y="1234440"/>
            <a:ext cx="844431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6.png">    </p:cNvPr>
          <p:cNvPicPr>
            <a:picLocks noChangeAspect="1"/>
          </p:cNvPicPr>
          <p:nvPr/>
        </p:nvPicPr>
        <p:blipFill>
          <a:blip r:embed="rId1"/>
          <a:stretch>
            <a:fillRect/>
          </a:stretch>
        </p:blipFill>
        <p:spPr>
          <a:xfrm>
            <a:off x="2102289" y="1325880"/>
            <a:ext cx="798711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Yoğun ortamdan çıkarken ışın normalden uzaklaşır; geliş açısını büyüttükçe kırılan ışın yüzeye iyice yatar.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Sınır açıda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kırılma açısı 90° olur ve ışın tam yüzey boyunca gider. Bu açıyı bir derece bile aşarsan ışık dışarı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hiç çıkamaz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tamamen geri yansır. Fiber optik kabloların, elmasın parıltısının ve serapların ortak sırrı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Tam yansıma ve sınır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Çok yoğundan az yoğuna geçişte gelme açısı sınır açıyı (sin θ = n₂/n₁) aşarsa kırılan ışın kalmaz, ışığın tamamı yansır. Sınır açı su–hava için 48,8°, elmas–hava için 24,4°'dir.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Havadan suya giren ışında tam yansıma neden hiçbir açıda olmaz?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Tam yansıma ve sınır açı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Havadan suya giren ışında tam yansıma neden hiçbir açıda olmaz?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Havadan suya geçen ışın yavaşlar ve normale yaklaşır; kırılma açısı her zaman gelme açısından küçüktür. Snell yasasından sin r = sin i / 1,33 çıkar ve bu değer hiçbir zaman 1'i geçemez. Kırılan ışın her açıda vardır; tam yansıma için ışığın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yoğun ortamın içinden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gelmesi gerekir.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paralel yüzlü bir cam levhaya girerken normale yaklaşır, çıkarken aynı açıyla uzaklaşır.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Sonuçta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çıkan ışın gelen ışına paraleldir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ama yanal olarak kaymıştır:</a:t>
            </a:r>
            <a:endParaRPr lang="en-US" sz="2200" dirty="0"/>
          </a:p>
        </p:txBody>
      </p:sp>
      <p:sp>
        <p:nvSpPr>
          <p:cNvPr id="7" name="Shape 5"/>
          <p:cNvSpPr/>
          <p:nvPr/>
        </p:nvSpPr>
        <p:spPr>
          <a:xfrm>
            <a:off x="640080" y="2866644"/>
            <a:ext cx="416234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d = t · sin(i − r) / cos 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99032"/>
            <a:ext cx="64008" cy="310896"/>
          </a:xfrm>
          <a:prstGeom prst="rect">
            <a:avLst/>
          </a:prstGeom>
          <a:solidFill>
            <a:srgbClr val="5F4BD8"/>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 nereden geliyor?</a:t>
            </a:r>
            <a:endParaRPr lang="en-US" sz="2200" dirty="0"/>
          </a:p>
        </p:txBody>
      </p:sp>
      <p:sp>
        <p:nvSpPr>
          <p:cNvPr id="8" name="Text 6"/>
          <p:cNvSpPr txBox="1"/>
          <p:nvPr/>
        </p:nvSpPr>
        <p:spPr>
          <a:xfrm>
            <a:off x="640080" y="1892808"/>
            <a:ext cx="10911535" cy="294208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Girişte: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 levhaya i ile gelir, içeride sin r = sin i / n ile bulunan r açısıyla ilerler.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Çıkışta: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alt yüz üst yüze paralel olduğu için ışın alt yüze yine r ile gelir ve havaya i ile çıkar.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Levhadaki yol: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 kalınlığındaki levhada ışının aldığı yol L = t / cos r'dir.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Kayma: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yol gelen ışının uzantısıyla (i − r) açısı yapar; aradaki dik uzaklık d = L·sin(i − r) olur.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Kalınlık ve gelme açısı arttıkça kayma büyür.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Dik gelişte (i = 0) kayma sıfırdır.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bölümündeki başlangıç değerleriyle, yani 6 cm kalınlığında ve indisi 1,5 olan bir levha için hesap şunu veriyor: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334080"/>
                <a:gridCol w="3940277"/>
                <a:gridCol w="363717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Gelme açısı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Levhadaki açı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Yandan kayma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2,3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70°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38,8°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80°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Kayma açıyla hızla büyüyor ve yüzeyi yalayan ışında levhanın kalınlığına, yani 6 cm'ye yaklaşıyor: i = 90° için sin(90° − r) = cos r olur ve formül d = t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İnce levhalarda ise kayma küçüktür: 4 mm'lik pencere camında 45°'lik ışın yalnızca 1,3 mm kadar kayar.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713843" y="1234440"/>
            <a:ext cx="876400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07.png">    </p:cNvPr>
          <p:cNvPicPr>
            <a:picLocks noChangeAspect="1"/>
          </p:cNvPicPr>
          <p:nvPr/>
        </p:nvPicPr>
        <p:blipFill>
          <a:blip r:embed="rId1"/>
          <a:stretch>
            <a:fillRect/>
          </a:stretch>
        </p:blipFill>
        <p:spPr>
          <a:xfrm>
            <a:off x="1942443" y="1325880"/>
            <a:ext cx="830680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Levhaya giren ışın normale yaklaşır, çıkarken tam o kadar normalden uzaklaşır: iki kırılma birbirini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götürür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çıkan ışın gelenle paraleldir. Değişen tek şey ışının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yana kaymasıdır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Kayma miktarı levha kalınlaştıkça ve geliş açısı büyüdükçe artar: d = t·sin(i − r)/cos r. Kalın bir cam arkasından bakınca cisimlerin hafifçe kaymış görünmesinin sebebi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Paralel kenarlı levhada yandan kayma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Paralel kenarlı levhadan çıkan ışın gelene paraleldir, yalnızca d = t·sin(i − r)/cos r kadar yana kayar. Kayma kalınlık, açı ve indisle artar; dik gelişte sıfırdır.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Levhanın indisi büyütülürse aynı açıyla gelen ışının kayması artar mı, azalır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Paralel kenarlı levhada yandan kayma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Levhanın indisi büyütülürse aynı açıyla gelen ışının kayması artar mı, azalır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Artar.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İndis büyüdükçe ışın levhanın içinde normale daha çok yaklaşır, r küçülür ve (i − r) farkı büyür. 6 cm'lik levhaya 50° ile gelen ışının kayması n = 1,5'te 2,3 cm iken n = 2'de yaklaşık 3,0 cm olur.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Katman katman kırılma: serap ve atmosfer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tek bir sınırdan değil, üst üste birçok paralel katmandan geçerse ne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Snell yasası her sınırda yeniden uygulanır ve bir sınırın sağ tarafı bir sonrakinin sol tarafı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 sade ve güçlüdür:</a:t>
            </a:r>
            <a:endParaRPr lang="en-US" sz="2200" dirty="0"/>
          </a:p>
        </p:txBody>
      </p:sp>
      <p:sp>
        <p:nvSpPr>
          <p:cNvPr id="7" name="Shape 5"/>
          <p:cNvSpPr/>
          <p:nvPr/>
        </p:nvSpPr>
        <p:spPr>
          <a:xfrm>
            <a:off x="640080" y="3729228"/>
            <a:ext cx="346740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729228"/>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n₁·sin θ₁ = n₂·sin θ₂</a:t>
            </a:r>
            <a:endParaRPr lang="en-US" sz="1800" dirty="0"/>
          </a:p>
        </p:txBody>
      </p:sp>
      <p:sp>
        <p:nvSpPr>
          <p:cNvPr id="9" name="Shape 7"/>
          <p:cNvSpPr/>
          <p:nvPr/>
        </p:nvSpPr>
        <p:spPr>
          <a:xfrm>
            <a:off x="4253789" y="3729228"/>
            <a:ext cx="3467405"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253789" y="3729228"/>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n₂·sin θ₂ = n₃·sin θ₃</a:t>
            </a:r>
            <a:endParaRPr lang="en-US" sz="1800" dirty="0"/>
          </a:p>
        </p:txBody>
      </p:sp>
      <p:sp>
        <p:nvSpPr>
          <p:cNvPr id="11" name="Shape 9"/>
          <p:cNvSpPr/>
          <p:nvPr/>
        </p:nvSpPr>
        <p:spPr>
          <a:xfrm>
            <a:off x="7867498" y="3729228"/>
            <a:ext cx="2911450"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7867498" y="3729228"/>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sin θ = sabit</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Katman katman kırılma: serap ve atmosfer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Yani paralel katmanlarda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n·sin θ çarpımı korunur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Işının son ortamdaki açısı yalnızca ilk ve son ortamın indisine bağlıdır; aradaki katmanlar ışını kaydırır ama son doğrultuyu değiştirmez.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 da böyle bir katmanlar yığını gibi davranabilir: sıcak hava daha seyrektir ve indisi biraz daha küçüktür.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 yavaş yavaş değişince ışın kırık bir çizgi yerine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eğri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yol izler ve hep indisin büyük olduğu tarafa doğru bükülür.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Katman katman kırılma: serap ve atmosfer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Serap: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asfaltın üstündeki sıcak havaya yatık inen ışın, indisi azalan katmanlarda normalden uzaklaşır ve yere değmeden yukarı döner.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Batan Güneş: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atmosfer ufka yakın ışınları yaklaşık yarım derece büker; bu, Güneş'in görünen çapı kadardır.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Titreyen yıldızlar: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karışan sıcak ve soğuk hava hücreleri, yıldızdan gelen ince ışın demetini sürekli farklı yönlere saptırır.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Havaya kalkan gemiler: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soğuk denizin üstünde durum tersine döner; ışın aşağı bükülür, uzaktaki cisimler yükselmiş görünebilir.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Katman katman kırılma: serap ve atmosfer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Serapta göz, yukarı dönüp kendisine gelen ışını yoldan gelmiş sanır ve yolda gökyüzünün parlak görüntüsünü, yani “su”yu görür.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Birinci basamaktaki görselde arabanın altında beliren ters görüntü, olayın bir yansıma gibi davrandığını gösterir.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Katman katman kırılma: serap ve atmosfer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622681" y="1271016"/>
            <a:ext cx="4946333" cy="3334131"/>
          </a:xfrm>
          <a:prstGeom prst="roundRect">
            <a:avLst>
              <a:gd name="adj" fmla="val 384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kirilma-ek2-genis.jpg">    </p:cNvPr>
          <p:cNvPicPr>
            <a:picLocks noChangeAspect="1"/>
          </p:cNvPicPr>
          <p:nvPr/>
        </p:nvPicPr>
        <p:blipFill>
          <a:blip r:embed="rId1"/>
          <a:stretch>
            <a:fillRect/>
          </a:stretch>
        </p:blipFill>
        <p:spPr>
          <a:xfrm>
            <a:off x="3677545" y="1325880"/>
            <a:ext cx="4836605" cy="3224403"/>
          </a:xfrm>
          <a:prstGeom prst="rect">
            <a:avLst/>
          </a:prstGeom>
        </p:spPr>
      </p:pic>
      <p:sp>
        <p:nvSpPr>
          <p:cNvPr id="8" name="Text 5"/>
          <p:cNvSpPr txBox="1"/>
          <p:nvPr/>
        </p:nvSpPr>
        <p:spPr>
          <a:xfrm>
            <a:off x="1249528" y="4788027"/>
            <a:ext cx="9692640" cy="1356741"/>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Batan Güneş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ufka yaklaştığında genişliği aynı kalırken dikey yönde kısalır ve basık bir disk gibi görünür. Ufka yakın ışınlar atmosferin katmanlarından geçerken indisin büyük olduğu tarafa, aşağıya doğru bükülür; diskin alt kenarından gelen ışık daha yoğun katmanlardan geçtiği için daha çok bükülür ve alt kenar üst kenardan daha çok yükselmiş görünür. Buradaki basıklık abartılıdır: gerçek bir gün batımında disk dikey yönde yalnızca altıda bir kadar kısalır.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Katman katman kırılma: serap ve atmosfer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Paralel katmanlarda n·sin θ çarpımı korunur; indis yavaş değişince ışın indisi büyük tarafa bükülen bir eğri çizer. Serap, batan Güneş'in yükselmesi ve yıldızların titremesi bundandır.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Güneş batarken ufka değdiğini gördüğün anda Güneş gerçekte nerededir?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Katman katman kırılma: serap ve atmosfer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Güneş batarken ufka değdiğini gördüğün anda Güneş gerçekte nerededir?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Neredeyse tamamen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ufkun altındadır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Atmosfer ufka yakın ışınları yere doğru yaklaşık yarım derece büker; bu, Güneş'in görünen çapı kadardır. Göz son doğrultuyu geriye uzattığı için Güneş'i olduğundan yukarıda görürsün; bu yüzden gündüz, atmosfer olmasaydı olacağından birkaç dakika uzun sürer.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Kırılma yalnızca göz yanılgısı üretmez; insanlar onu yüzyıllardır bilerek kullanır.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 toplayan, yönlendiren ya da hapseden her optik aracın arkasında iki seçim vardır: indisi uygun bir malzeme ve Snell yasasıyla hesaplanmış bir yüzey şekli.</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Gözün kendisi: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gözün odaklama gücünün yaklaşık üçte ikisini, havayla sınırdaki saydam kornea tabakası sağlar.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Su altında bulanık görme: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kornea (n ≈ 1,38) ile su (1,33) arasındaki fark küçüktür; kornea ışığı neredeyse kırmaz.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Gözlük ve mercekler: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kırılmayı eğri yüzeylerle kontrollü kullanır; yüksek indisli cam aynı gücü daha ince mercekle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Fiber optik: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çekirdekte (n ≈ 1,47) tam yansımayla hapsolan ışık, 1000 km'lik hattı yaklaşık 5 milisaniyede geçer.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Gökkuşağı: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güneş ışığı damlaya girerken kırılır, arka yüzde yansır, çıkarken yeniden kırılır; indis renge bağlı olduğu için renkler ayrılır.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Elmas ve cam taş: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elmasın sınır açısı 24,4°, camınki 41,8°; aynı kesimdeki cam taştan ışık alttan kaçar.</a:t>
            </a:r>
            <a:endParaRPr lang="en-US" sz="2100" dirty="0"/>
          </a:p>
        </p:txBody>
      </p:sp>
      <p:sp>
        <p:nvSpPr>
          <p:cNvPr id="7" name="Text 5"/>
          <p:cNvSpPr txBox="1"/>
          <p:nvPr/>
        </p:nvSpPr>
        <p:spPr>
          <a:xfrm>
            <a:off x="640080" y="3182112"/>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Gökkuşağındaki yansıma çoğu zaman “tam yansıma” diye anlatılır, ama öyle değildir: damlanın arka yüzüne gelen ışının açısı yaklaşık 40°'dir ve suyun 48,8°'lik sınır açısından küçüktür.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Işığın bir kısmı damladan arkaya kaçar, bir kısmı yansıyıp geri döner.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Kırılma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Göz, gözlük, fiber optik, gökkuşağı ve elmas kırılmanın iki yüzünü kullanır: ışığı saptırmak için indis farkını, ışığı hapsetmek için sınır açıyı.</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pırlanta kesimi camdan yapılırsa neden elmas kadar parlamaz?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Kırılma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pırlanta kesimi camdan yapılırsa neden elmas kadar parlamaz?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Camın sınır açısı 41,8°, elmasınki 24,4°'dir. Cam taşın alt yüzlerine gelen ışınların önemli bir kısmı 41,8°'den küçük açıyla çarpar ve tam yansımak yerine alttan dışarı kaçar. Üstten gözüne dönen ışık azalır; cam renkleri elmas kadar ayırmadığı için renkli ışıltı da zayıftır.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kırılma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Snell yasası</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Hız ve dalga boyu</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Sınır açı</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Sudan havaya: kırılır mı, yansır mı?</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Yandan kayma</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Cam levhadan suya geçen ışın</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Havuz lambasının ışık dairesi</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dersler.perinet.org/kirilma.html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Snell yasası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Havadan (n = 1) suya (n = 4/3) 53° ile giren ışının kırılma açısını bulunuz. (sin53° = 0,8)</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n₁ = 1 (hava)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n₂ = 4/3 (su)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53°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sin53° = 0,8</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sin37° = 0,6</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kırılma açısı 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Snell yasası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n₁·sin i = n₂·sin r → 1 · 0,8 = (4/3) · sin 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sin r = 0,8 · 3/4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0,6</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Snell yasası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37°</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Işın normale yaklaştı: beklenen sonuç, çünkü su daha yoğun.</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ve dalga boyu</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Dalga boyu havada 600 nm olan ışık, kırılma indisi 1,5 olan cama giriyor. Camdaki hızı ve dalga boyu nedir?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λ₀ = 600 nm (havadaki dalga boyu)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1,5 (cam)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 3·10⁸ m/s</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camdaki hız v</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camdaki dalga boyu λ</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ve dalga boyu</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 = c/n = 3·10⁸ / 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2·10⁸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λ = λ₀/n = 600/1,5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400 nm</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ve dalga boyu</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 = v/λ = 2·10⁸ / 400·10⁻⁹ = 5·10¹⁴ Hz</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Havadaki frekans da 3·10⁸/600·10⁻⁹ = 5·10¹⁴ Hz ✓ frekans değişmedi.</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Sınır açı</a:t>
            </a:r>
            <a:endParaRPr lang="en-US" sz="1450" dirty="0"/>
          </a:p>
        </p:txBody>
      </p:sp>
      <p:sp>
        <p:nvSpPr>
          <p:cNvPr id="8" name="Shape 6"/>
          <p:cNvSpPr/>
          <p:nvPr/>
        </p:nvSpPr>
        <p:spPr>
          <a:xfrm>
            <a:off x="640080" y="1645920"/>
            <a:ext cx="10911535" cy="1143000"/>
          </a:xfrm>
          <a:prstGeom prst="roundRect">
            <a:avLst>
              <a:gd name="adj" fmla="val 1280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59436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Kırılma indisi 2 olan bir ortamdan havaya geçişte sınır açı kaç derecedir?</a:t>
            </a:r>
            <a:endParaRPr lang="en-US" sz="2000" dirty="0"/>
          </a:p>
        </p:txBody>
      </p:sp>
      <p:sp>
        <p:nvSpPr>
          <p:cNvPr id="11" name="Shape 9"/>
          <p:cNvSpPr/>
          <p:nvPr/>
        </p:nvSpPr>
        <p:spPr>
          <a:xfrm>
            <a:off x="640080" y="2990088"/>
            <a:ext cx="5318608" cy="3154680"/>
          </a:xfrm>
          <a:prstGeom prst="roundRect">
            <a:avLst>
              <a:gd name="adj" fmla="val 46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154680"/>
            <a:ext cx="54864" cy="2825496"/>
          </a:xfrm>
          <a:prstGeom prst="rect">
            <a:avLst/>
          </a:prstGeom>
          <a:solidFill>
            <a:srgbClr val="2957D4"/>
          </a:solidFill>
          <a:ln/>
        </p:spPr>
      </p:sp>
      <p:sp>
        <p:nvSpPr>
          <p:cNvPr id="13" name="Text 11"/>
          <p:cNvSpPr txBox="1"/>
          <p:nvPr/>
        </p:nvSpPr>
        <p:spPr>
          <a:xfrm>
            <a:off x="914400" y="313639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465576"/>
            <a:ext cx="4769968" cy="255117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n₁ = 2 (ışığın çıktığı ortam)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n₂ = 1 (hava)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sin30° = 0,5</a:t>
            </a:r>
            <a:endParaRPr lang="en-US" sz="1800" dirty="0"/>
          </a:p>
        </p:txBody>
      </p:sp>
      <p:sp>
        <p:nvSpPr>
          <p:cNvPr id="15" name="Shape 13"/>
          <p:cNvSpPr/>
          <p:nvPr/>
        </p:nvSpPr>
        <p:spPr>
          <a:xfrm>
            <a:off x="6233008" y="2990088"/>
            <a:ext cx="5318608" cy="3154680"/>
          </a:xfrm>
          <a:prstGeom prst="roundRect">
            <a:avLst>
              <a:gd name="adj" fmla="val 46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154680"/>
            <a:ext cx="54864" cy="2825496"/>
          </a:xfrm>
          <a:prstGeom prst="rect">
            <a:avLst/>
          </a:prstGeom>
          <a:solidFill>
            <a:srgbClr val="5F4BD8"/>
          </a:solidFill>
          <a:ln/>
        </p:spPr>
      </p:sp>
      <p:sp>
        <p:nvSpPr>
          <p:cNvPr id="17" name="Text 15"/>
          <p:cNvSpPr txBox="1"/>
          <p:nvPr/>
        </p:nvSpPr>
        <p:spPr>
          <a:xfrm>
            <a:off x="6507328" y="313639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465576"/>
            <a:ext cx="4769968" cy="255117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sınır açı θ</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Sınır açı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sin θ = n₂/n₁ = 1/2 = 0,5</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θ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30°</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30°'den büyük açılarla gelen ışınlar ortamı terk edemez, tamamen yansır.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Sudan havaya: kırılır mı, yansır mı?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Suyun (n = 4/3) içindeki bir kaynaktan çıkan iki ışın su yüzeyine 37° ve 60° ile geliyor. Her birine ne olur? (sin37° = 0,6; sin60° ≈ 0,87)</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n₁ = 4/3 (su)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n₂ = 1 (hava)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gelme açıları 37° ve 60°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sin37° = 0,6</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sin53° = 0,8</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sin60° ≈ 0,87</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ışın için: havaya kırılarak mı çıkar, tam mı yansır? Kırılıyorsa kırılma açısı 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Sudan havaya: kırılır mı, yansır mı?</a:t>
            </a:r>
            <a:endParaRPr lang="en-US" sz="1450" dirty="0"/>
          </a:p>
        </p:txBody>
      </p:sp>
      <p:sp>
        <p:nvSpPr>
          <p:cNvPr id="8" name="Shape 6"/>
          <p:cNvSpPr/>
          <p:nvPr/>
        </p:nvSpPr>
        <p:spPr>
          <a:xfrm>
            <a:off x="640080" y="164592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130552"/>
            <a:ext cx="420624" cy="420624"/>
          </a:xfrm>
          <a:prstGeom prst="roundRect">
            <a:avLst>
              <a:gd name="adj" fmla="val 26000"/>
            </a:avLst>
          </a:prstGeom>
          <a:solidFill>
            <a:srgbClr val="A56209"/>
          </a:solidFill>
          <a:ln/>
        </p:spPr>
      </p:sp>
      <p:sp>
        <p:nvSpPr>
          <p:cNvPr id="10" name="Text 8"/>
          <p:cNvSpPr txBox="1"/>
          <p:nvPr/>
        </p:nvSpPr>
        <p:spPr>
          <a:xfrm>
            <a:off x="914400" y="21305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Işık yoğun ortamdan çıkıyor; önce sınır açıyı bul: sin θ = 1 / (4/3) = 0,75 → θ ≈ 48,6°.</a:t>
            </a:r>
            <a:endParaRPr lang="en-US" sz="2000" dirty="0"/>
          </a:p>
        </p:txBody>
      </p:sp>
      <p:sp>
        <p:nvSpPr>
          <p:cNvPr id="12" name="Shape 10"/>
          <p:cNvSpPr/>
          <p:nvPr/>
        </p:nvSpPr>
        <p:spPr>
          <a:xfrm>
            <a:off x="640080" y="320040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25526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37° &lt; 48,6° olduğu için ilk ışın kırılır: (4/3) · 0,6 = 1 · sin r → sin 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0,8</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53°</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75488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239512"/>
            <a:ext cx="420624" cy="420624"/>
          </a:xfrm>
          <a:prstGeom prst="roundRect">
            <a:avLst>
              <a:gd name="adj" fmla="val 26000"/>
            </a:avLst>
          </a:prstGeom>
          <a:solidFill>
            <a:srgbClr val="A56209"/>
          </a:solidFill>
          <a:ln/>
        </p:spPr>
      </p:sp>
      <p:sp>
        <p:nvSpPr>
          <p:cNvPr id="18" name="Text 16"/>
          <p:cNvSpPr txBox="1"/>
          <p:nvPr/>
        </p:nvSpPr>
        <p:spPr>
          <a:xfrm>
            <a:off x="914400" y="5239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80974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53° &gt; 37°, ışın normalden uzaklaştı ✓ (Örnek 1'in tersten okunuşu).</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Sudan havaya: kırılır mı, yansır mı?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60° &gt; 48,6°: Snell yasası sin r = (4/3) · 0,87 ≈ 1,16 ister; sinüs 1'i aşamaz.</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İkinci ışın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tam yansır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60°'lik yansıma açısıyla suyun içine döner.</a:t>
            </a:r>
            <a:endParaRPr lang="en-US" sz="2000" dirty="0"/>
          </a:p>
        </p:txBody>
      </p:sp>
      <p:sp>
        <p:nvSpPr>
          <p:cNvPr id="16" name="Shape 14"/>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Not: n = 4/3 ile sınır açı 48,6°, n = 1,33 ile 48,8° çıkar; fark yalnızca yuvarlamadan gelir.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Yandan kayma</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Kalınlığı 6 cm olan cam levhaya (n = 1,5) 50° ile gelen ışının yandan kayması ne kadardır?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 = 6 cm (levhanın kalınlığı)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1,5 (cam)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n(hava)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50°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sin50° ≈ 0,766</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yandan kayma d</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Yandan kayma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sin r = sin50° / 1,5 = 0,766/1,5 = 0,511 → r ≈ 30,7°</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 t·sin(i − r)/cos r = 6 · sin(19,3°) / cos(30,7°)</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Yandan kayma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 6 · 0,331 / 0,860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2,3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Çıkan ışın, gelen ışına paraleldir; yalnızca 2,3 cm kaymıştır.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levhadan suya geçen ışın</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Havadan 53° ile gelen ışın, yatay bir cam levhadan (n = 1,5) geçip hemen altındaki suya (n = 4/3) giriyor. Işının camdaki ve sudaki kırılma açılarını bulunuz. (sin53° = 0,8; sin37° = 0,6)</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i = 53° (havada)</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n(hava) = 1</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n(cam) = 1,5</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n(su) = 4/3</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sin53° = 0,8</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sin37° = 0,6</a:t>
            </a:r>
            <a:endParaRPr lang="en-US" sz="15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camdaki kırılma açısı r₁</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sudaki kırılma açısı r₂</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levhadan suya geçen ışın</a:t>
            </a:r>
            <a:endParaRPr lang="en-US" sz="1450" dirty="0"/>
          </a:p>
        </p:txBody>
      </p:sp>
      <p:sp>
        <p:nvSpPr>
          <p:cNvPr id="8" name="Shape 6"/>
          <p:cNvSpPr/>
          <p:nvPr/>
        </p:nvSpPr>
        <p:spPr>
          <a:xfrm>
            <a:off x="640080" y="1645920"/>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54458"/>
            <a:ext cx="420624" cy="420624"/>
          </a:xfrm>
          <a:prstGeom prst="roundRect">
            <a:avLst>
              <a:gd name="adj" fmla="val 26000"/>
            </a:avLst>
          </a:prstGeom>
          <a:solidFill>
            <a:srgbClr val="A56209"/>
          </a:solidFill>
          <a:ln/>
        </p:spPr>
      </p:sp>
      <p:sp>
        <p:nvSpPr>
          <p:cNvPr id="10" name="Text 8"/>
          <p:cNvSpPr txBox="1"/>
          <p:nvPr/>
        </p:nvSpPr>
        <p:spPr>
          <a:xfrm>
            <a:off x="914400" y="195445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Hava → cam: 1 · 0,8 = 1,5 · sin r₁ → sin r₁ ≈ 0,53 → r₁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48211"/>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20890"/>
            <a:ext cx="420624" cy="420624"/>
          </a:xfrm>
          <a:prstGeom prst="roundRect">
            <a:avLst>
              <a:gd name="adj" fmla="val 26000"/>
            </a:avLst>
          </a:prstGeom>
          <a:solidFill>
            <a:srgbClr val="A56209"/>
          </a:solidFill>
          <a:ln/>
        </p:spPr>
      </p:sp>
      <p:sp>
        <p:nvSpPr>
          <p:cNvPr id="14" name="Text 12"/>
          <p:cNvSpPr txBox="1"/>
          <p:nvPr/>
        </p:nvSpPr>
        <p:spPr>
          <a:xfrm>
            <a:off x="914400" y="342089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03075"/>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Cam–su sınırı üst yüze paralel olduğu için ışın bu sınıra da r₁ açısıyla gelir.</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Cam → su: 1,5 · sin r₁ = (4/3) · sin r₂. Sol taraf ilk adımdan zaten 0,8'dir.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levhadan suya geçen ışın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(4/3) · sin r₂ = 0,8 → sin r₂ = 0,6 → r₂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37°</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Cam hiç olmasaydı da sudaki açı 37° olurdu (Örnek 1): n·sin θ çarpımı her katmanda korunur.</a:t>
            </a:r>
            <a:endParaRPr lang="en-US" sz="2000" dirty="0"/>
          </a:p>
        </p:txBody>
      </p:sp>
      <p:sp>
        <p:nvSpPr>
          <p:cNvPr id="16" name="Shape 14"/>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Kısa yol: paralel katmanlarda ara katmanları atla, doğrudan 1 · sin 53° = (4/3) · sin r₂ yaz.</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Havuz lambasının ışık dairesi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havuzun 2 m derinliğindeki küçük lamba her yöne ışık yayıyor. Su yüzeyinde ışığın dışarı çıkabildiği dairenin yarıçapı kaç metredir? (n = 4/3; sin θ = 0,75 için tan θ ≈ 1,13)</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2 m (lambanın derinliği)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n(su) = 4/3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n(hava)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sin θ = 0,75 için tan θ ≈ 1,13</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ışığın su yüzeyinden çıktığı dairenin yarıçapı R</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Havuz lambasının ışık dairesi</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Yüzeye sınır açıdan küçük açıyla gelen ışınlar dışarı çıkar, büyük açıyla gelenler tam yansır.</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sin θ = 1 / (4/3) = 0,75 → θ ≈ 48,6°.</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Sınır açıyla çıkan ışın, lambanın tam üstündeki noktadan R kadar ötede yüzeye varır: tan θ = R / h.</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Havuz lambasının ışık dairesi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R = h · tan θ = 2 · 1,13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2,3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Işığın çıktığı dairenin alanı π · R² ≈ 16 m²; dışarıdaki yüzeyden lambanın ışığı çıkmaz.</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Aynı geometri ters çalışır: su altındaki bir dalgıç gökyüzünün tamamını yaklaşık 97°'lik bir koninin içinde, parlak bir pencere gibi görür (</a:t>
            </a:r>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Snell penceresi</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bir plastiğin içinde 2,5·10⁸ m/s hızla ilerliyor. Bu plastiğin kırılma indisi kaçtır?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3·10⁸ m/s; havanın indisi 1; sin30° = 0,5; sin37° = 0,6; sin53°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bir plastiğin içinde 2,5·10⁸ m/s hızla ilerliyor. Bu plastiğin kırılma indisi kaçtır?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 = c / v = 3·10⁸ / 2,5·10⁸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1,2</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İki hız birbirine bölündüğü için indisin birimi yoktur.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Havadan kırılma indisi 1,6 olan bir cama 53° ile giren ışın camda kaç derecelik kırılma açısıyla ilerler?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3·10⁸ m/s; havanın indisi 1; sin30° = 0,5; sin37° = 0,6; sin53°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Havadan kırılma indisi 1,6 olan bir cama 53° ile giren ışın camda kaç derecelik kırılma açısıyla ilerler?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n₁·sin i = n₂·sin r → 1 · 0,8 = 1,6 · sin r → sin r = 0,5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r = 30°</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Işın normale yaklaştı (30° &lt; 53°)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kırılma indisi 1,2 olan bir sıvıdan indisi 1,6 olan bir cama 53° ile geçiyor. Kırılma açısı kaç derecedir?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3·10⁸ m/s; havanın indisi 1; sin30° = 0,5; sin37° = 0,6; sin53°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kırılma indisi 1,2 olan bir sıvıdan indisi 1,6 olan bir cama 53° ile geçiyor. Kırılma açısı kaç derecedir?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n₁·sin i = n₂·sin r → 1,2 · 0,8 = 1,6 · sin r → 0,96 = 1,6 · sin r → sin r = 0,6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r = 37°</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Işık indisi büyük ortama geçtiği için normale yaklaştı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Kırılma indisi 5/3 olan bir camın içinden cam–hava yüzeyine 45° ile gelen ışın havaya çıkar mı, yoksa tam mı yansır?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3·10⁸ m/s; havanın indisi 1; sin30° = 0,5; sin37° = 0,6; sin53°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Kırılma indisi 5/3 olan bir camın içinden cam–hava yüzeyine 45° ile gelen ışın havaya çıkar mı, yoksa tam mı yansır?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Önce sınır açıyı bul: sin θ = n₂ / n₁ = 1 / (5/3) = 3/5 = 0,6 → θ = 37°. Gelme açısı 45°, sınır açıdan büyük; ışın havaya çıkamaz ve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tam yansır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Işığın hızı A ortamında 2·10⁸ m/s, B ortamında 1,5·10⁸ m/s. A'dan B'ye 53° ile geçen ışının kırılma açısı kaç derecedir?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(c = 3·10⁸ m/s; havanın indisi 1; sin30° = 0,5; sin37° = 0,6; sin53°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Işığın hızı A ortamında 2·10⁸ m/s, B ortamında 1,5·10⁸ m/s. A'dan B'ye 53° ile geçen ışının kırılma açısı kaç derecedir?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Önce indisler: n</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c / v</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3·10⁸ / 2·10⁸ = 1,5 ve n</a:t>
            </a:r>
            <a:pPr indent="0" marL="0">
              <a:lnSpc>
                <a:spcPct val="125000"/>
              </a:lnSpc>
              <a:buNone/>
            </a:pPr>
            <a:r>
              <a:rPr lang="en-US" sz="2400" baseline="-40000" dirty="0">
                <a:solidFill>
                  <a:srgbClr val="0E1426"/>
                </a:solidFill>
                <a:latin typeface="Calibri" pitchFamily="34" charset="0"/>
                <a:ea typeface="Calibri" pitchFamily="34" charset="-122"/>
                <a:cs typeface="Calibri" pitchFamily="34" charset="-120"/>
              </a:rPr>
              <a:t>B</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 3·10⁸ / 1,5·10⁸ = 2. Snell: 1,5 · 0,8 = 2 · sin r → 1,2 = 2 · sin r → sin r = 0,6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r = 37°</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Işık yavaşladığı ortama geçtiği için normale yaklaştı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Frekansın değiştiğini sanmak.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Kırılmada frekans değişmez; değişen hız ve dalga boyudur.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Dik gelen ışının kırıldığını düşünmek.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i = 0 ise ışın doğrultusunu korur (hızı yine de değişir).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Tam yansımayı her geçişte aramak.</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Yalnızca çok yoğundan az yoğuna geçişte olur.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Açıları yüzeyle ölçmek.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Kırılmada da açılar normalle ölçülür.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“Yoğun ortam” ile kütle yoğunluğunu karıştırmak.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Burada kastedilen optik yoğunluk, yani kırılma indisidir.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Levhadan çıkan ışının doğrultusunun değiştiğini sanmak.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Paralel kenarlı levhada çıkan ışın gelen ışına paraleldir.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sin r &gt; 1 çıkınca hesap hatası yaptığını sanmak.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Bu sonuç, kırılan ışının olmadığını, yani ışığın tam yansımaya uğradığını söyler.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Sınır açıyı sin θ = n₁/n₂ ile hesaplamak.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Sinüs 1'i aşamaz; oran her zaman küçük indisin büyük indise bölümüdür.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dersler.perinet.org/kirilma.html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İndis </a:t>
            </a:r>
            <a:pPr indent="0" marL="0">
              <a:buNone/>
            </a:pPr>
            <a:r>
              <a:rPr lang="en-US" sz="1500" b="1" dirty="0">
                <a:solidFill>
                  <a:srgbClr val="FFFFFF"/>
                </a:solidFill>
                <a:latin typeface="Calibri" pitchFamily="34" charset="0"/>
                <a:ea typeface="Calibri" pitchFamily="34" charset="-122"/>
                <a:cs typeface="Calibri" pitchFamily="34" charset="-120"/>
              </a:rPr>
              <a:t>n = c / v</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Snell </a:t>
            </a:r>
            <a:pPr indent="0" marL="0">
              <a:buNone/>
            </a:pPr>
            <a:r>
              <a:rPr lang="en-US" sz="1500" b="1" dirty="0">
                <a:solidFill>
                  <a:srgbClr val="FFFFFF"/>
                </a:solidFill>
                <a:latin typeface="Calibri" pitchFamily="34" charset="0"/>
                <a:ea typeface="Calibri" pitchFamily="34" charset="-122"/>
                <a:cs typeface="Calibri" pitchFamily="34" charset="-120"/>
              </a:rPr>
              <a:t>n₁sin i = n₂sin r</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Frekans </a:t>
            </a:r>
            <a:pPr indent="0" marL="0">
              <a:buNone/>
            </a:pPr>
            <a:r>
              <a:rPr lang="en-US" sz="1500" b="1" dirty="0">
                <a:solidFill>
                  <a:srgbClr val="FFFFFF"/>
                </a:solidFill>
                <a:latin typeface="Calibri" pitchFamily="34" charset="0"/>
                <a:ea typeface="Calibri" pitchFamily="34" charset="-122"/>
                <a:cs typeface="Calibri" pitchFamily="34" charset="-120"/>
              </a:rPr>
              <a:t>değişmez</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Sınır açı </a:t>
            </a:r>
            <a:pPr indent="0" marL="0">
              <a:buNone/>
            </a:pPr>
            <a:r>
              <a:rPr lang="en-US" sz="1500" b="1" dirty="0">
                <a:solidFill>
                  <a:srgbClr val="FFFFFF"/>
                </a:solidFill>
                <a:latin typeface="Calibri" pitchFamily="34" charset="0"/>
                <a:ea typeface="Calibri" pitchFamily="34" charset="-122"/>
                <a:cs typeface="Calibri" pitchFamily="34" charset="-120"/>
              </a:rPr>
              <a:t>sin θ = n₂/n₁</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n = c / v</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kırılma indisi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27228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n₁·sin i = n₂·sin r</a:t>
            </a:r>
            <a:endParaRPr lang="en-US" sz="1350" dirty="0"/>
          </a:p>
        </p:txBody>
      </p:sp>
      <p:sp>
        <p:nvSpPr>
          <p:cNvPr id="19" name="Text 17"/>
          <p:cNvSpPr txBox="1"/>
          <p:nvPr/>
        </p:nvSpPr>
        <p:spPr>
          <a:xfrm>
            <a:off x="8993124" y="3218688"/>
            <a:ext cx="237561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Snell yasası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λ = λ₀ / n</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ortamdaki dalga boyu</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58775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sin θ(sınır) = n₂ / n₁</a:t>
            </a:r>
            <a:endParaRPr lang="en-US" sz="1350" dirty="0"/>
          </a:p>
        </p:txBody>
      </p:sp>
      <p:sp>
        <p:nvSpPr>
          <p:cNvPr id="25" name="Text 23"/>
          <p:cNvSpPr txBox="1"/>
          <p:nvPr/>
        </p:nvSpPr>
        <p:spPr>
          <a:xfrm>
            <a:off x="9308592" y="4864608"/>
            <a:ext cx="206014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tam yansıma</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dersler.perinet.org/kirilma.html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05 · Görünür derinlik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125</Slides>
  <Notes>125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125</vt:i4>
      </vt:variant>
    </vt:vector>
  </HeadingPairs>
  <TitlesOfParts>
    <vt:vector size="1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Kırılma — Dersler</dc:title>
  <dc:subject>Fizik · Optik</dc:subject>
  <dc:creator>Dersler</dc:creator>
  <cp:lastModifiedBy>Dersler</cp:lastModifiedBy>
  <cp:revision>1</cp:revision>
  <dcterms:created xsi:type="dcterms:W3CDTF">2026-09-30T08:42:47Z</dcterms:created>
  <dcterms:modified xsi:type="dcterms:W3CDTF">2026-09-30T08:42:47Z</dcterms:modified>
</cp:coreProperties>
</file>