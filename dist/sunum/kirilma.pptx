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Lst>
  <p:notesMasterIdLst>
    <p:notesMasterId r:id="rId1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notesMaster" Target="notesMasters/notesMaster1.xml"/><Relationship Id="rId140" Type="http://schemas.openxmlformats.org/officeDocument/2006/relationships/presProps" Target="presProps.xml"/><Relationship Id="rId141" Type="http://schemas.openxmlformats.org/officeDocument/2006/relationships/viewProps" Target="viewProps.xml"/><Relationship Id="rId142" Type="http://schemas.openxmlformats.org/officeDocument/2006/relationships/theme" Target="theme/theme1.xml"/><Relationship Id="rId1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 Anlatım dört basamakta ilerliyor: önce gündelik sahnelerde kırılmayı gözleyip adını koyacağız, sonra bu bağıntıyı dalga cephelerinden adım adım çıkarıp sayılarla deneyeceğiz, ardından tam yansımaya, levhadan geçen ışına ve katman katman kıvrılan havaya geçeceğiz. En sonda kolaydan zora sıralanmış örneklerle hepsini birlikte kullanacağız.
Kapak görseli: Bardaktaki kaşık. Suya eğik daldırılmış bir kaşığa yandan bakınca, su yüzeyinin hizasında kopmuş ya da bükülmüş gibi görünür; oysa kaşık dümdüzdür. Değişen kaşık değil, sudan gözüne gelen ışının yoludur. Yandan bakarken bardağın yuvarlak duvarı da suyla birlikte bir mercek gibi davranır ve bu kaymayı büyütür. Bardağın yanında masaya düşen parlak ışık desenleri de aynı olayın izidir: su ve cam, güneş ışınlarını kırarak bazı noktalarda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 Anlatım dört basamakta ilerliyor: önce gündelik sahnelerde kırılmayı gözleyip adını koyacağız, sonra bu bağıntıyı dalga cephelerinden adım adım çıkarıp sayılarla deneyeceğiz, ardından tam yansımaya, levhadan geçen ışına ve katman katman kıvrılan havaya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yol değiştirdiği sahnelere bak, kırılmanın ne olduğunu ve ışının hangi yöne saptığını formülsüz kavra.
   01 Önce gözlemle: ışık ne zaman yolundan sapar?
   02 Kırılma nedir?
   03 Kırılma indisi: ışık ne kadar yavaşlar?
   04 Neden yön değişir? Yavaşlayan taraf normale yanaşır
2. Orta — Bağıntılar: kırılmanın yönünü sayıya dök, Snell yasasını dalga cephelerinden çıkar, hız ve dalga boyuna ne olduğunu gör.
   05 Snell yasası ve nereden geldiği
   06 Sayılarla hisset: ışın ne kadar kırılır?
   07 Hız, dalga boyu ve frekans
3. İleri — Derinleşme: Snell yasası çözümsüz kalınca, ışık levhadan ve katman katman havadan geçince, kırılma gerçek hayata çıkınca ne olur?
   08 Tam yansıma ve sınır açı
   09 Paralel kenarlı levhada yandan kayma
   10 Katman katman kırılma: serap ve atmosfer
   11 Kırılma gerçek dünyada
4. Pekiştir — Kolaydan zora çözümlü örnekler ve kırılma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Hız: bir şeyin bir saniyede aldığı yol. Metre/saniye (m/s) ile ölçülür; ışık boşlukta her saniye yaklaşık 300 000 km yol alır.
• Normal: ışının yüzeye çarptığı noktada yüzeye dik (90°) çizilen yardımcı çizgi. Aynalar konusunda açıları hep bu çizgiden ölçmüştün.
• Yansıma: ışığın bir yüzeye çarpıp geri dönmesi. Gelme açısı yansıma açısına eşittir; aynada kendini bu sayede görürsün.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Sinüs: dik üçgende bir açının karşısındaki kenarın en uzun kenara bölümü. sin30° = 0,5 ve sin90° = 1'dir; hiçbir açının sinüsü 1'den büyük olmaz.
• Oran: “kaç katı?” sorusunun cevabı. 6 ÷ 2 = 3 ise 6, 2'nin 3 katıdır. m/s'yi m/s'ye bölünce birim sadeleşir, geriye yalın bir sayı kalır.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yol değiştirdiği sahnelere bak, kırılmanın ne olduğunu ve ışının hangi yöne saptığını formülsüz kavra.
01 Önce gözlemle: ışık ne zaman yolundan sapar?
02 Kırılma nedir?
03 Kırılma indisi: ışık ne kadar yavaşlar?
04 Neden yön değişir? Yavaşlayan taraf normale yanaşır
Görsel: Sıcak yolda ileride parlayan “su”,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serap denir; üçüncü basamakta nedenini ayrıntılı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ne zaman yolundan sapar? — adım 1/4
• Işık, aynı saydam ortamda kaldığı sürece doğru boyunca ilerler: odaya vuran güneş huzmesinin tozlarda görünen kenarları dümdüzdür.
• Gözün bu kurala güvenir; bir cismi, ondan gelen ışının geldiği doğrultunun tam karşısında sanırsın.
• Ama ışık bir ortamdan ötekine geçerken bu güven sarsılır.
• Aşağıdaki gözlemlerin hepsinde ışık, iki farklı saydam ortamın ya da farklı sıcaklıktaki hava katmanlarının sınırından geçiyor: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ne zaman yolundan sapar? — adım 2/4
• Kaşık kırık görünür: sudaki kısmı, su yüzeyinin hizasında yukarıdaki sapla aynı doğrultuda durmaz.
• Havuz sığ görünür: dipteki fayanslar, ayağını basınca şaşıracağın kadar yakın durur.
• Yolda “su birikintisi”: yazın sıcak asfaltta ilerideki yol ıslak ve parlak görünür; yaklaşınca kaybolur.
• Yıldızlar titrer: yıldız ışığı, sürekli çalkalanan hava katmanlarından geçerken sağa sola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ne zaman yolundan sapar? — adım 3/4
• Kalın camın arkası kayar: kalın bir camın arkasındaki çizgiler, camın kenarında yana kaymış görünür.
• Bu sahnelerin ortak noktası şu: ışık, yolunun bir yerinde kendisini farklı hızda taşıyan bir ortama giriyor.
• Göz ise ışının kıvrıldığından habersizdir; son doğrultuyu geriye uzatır ve cismi orada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ne zaman yolundan sapar? — şekil
Işık tek bir ortamda dümdüz gider. İki ortamın sınırında bir dirsek yapar: noktalı çizgi, sapmasaydı gideceği yolu gösterir. Sıcaklığı katman katman değişen havada ise dirsek yerine yavaş yavaş kıvrılır. İki durumda da ışık, kendisini farklı hızda taşıyan bir ortama girmiştir.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tek bir saydam ortamda doğru boyunca gider; başka bir ortama geçerken yolundan sapabilir. Göz son doğrultuyu geriye uzattığı için kaşık kırık, havuz sığ, sıcak yol ıslak görünür.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Sıcak yoldaki “su birikintisi” sen yaklaştıkça neden hep ileri kaçar ya da kaybolur?
Sınıfa sorun, birkaç tahmin alın; sonra cevap slaytına geçin.
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 adım 1/5
• Işık, saydam bir ortamdan başka bir saydam ortama geçerken hızı değişir.
• Sınıra eğik geldiyse bu hız değişimi doğrultusunu da değiştirir; bu olaya kırılma denir.
• Sözcük, ışının sınırda bir dirsek yapmasını anlatır: ışın her iki ortamda da doğru boyunca gider, yalnızca sınırda yön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 adım 2/5
• Kırılmayı anlatmak için sınırda bir yardımcı çizgi kullanırız.
• Işının yüzeye çarptığı noktadan yüzeye dik çizilen doğruya normal denir.
• Gelen ışının normalle yaptığı açı gelme açısı (i), kırılan ışının normalle yaptığı açı kırılma açısı (r) adını alır.
• Açıların yüzeyden değil normalden ölçülmesi keyfî değildir: dik gelen ışın için ikisi de sıfır olur ve kurallar en sade hâlini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 adım 3/5
• Sınıra dik gelen ışın (i = 0) kırılmaz, doğrultusunu korur; yalnızca hızı değişir.
• Kırılan ışın, gelen ışın ve normal aynı düzlemdedir.
• Kırılma sırasında ışığın bir kısmı her zaman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 şekil
Açılar her zaman normalden ölçülür, yüzeyden değil. Işık daha yoğun bir ortama geçerken yavaşlar ve normale yaklaşır (r &lt; i); daha az yoğun bir ortama geçerken hızlanır ve normalden uzaklaşır. Yüzeye dik gelen ışın (i = 0) hiç kırılmaz, doğrultusunu korur. Işığın bir kısmı her zaman yansır da — bu yüzden camda kendi yansımanı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 adım 5/5
• Son madde gündelik bir gözlemi açıklar: akşam, ışığı yanan bir odadan pencereye bakınca camda kendi yansımanı görürsün.
• Dik gelişte camın her yüzeyi ışığın yaklaşık yüzde dördünü yansıtır; dışarısı karanlık olunca bu küçük pay bile belirgin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Kırılma, ışığın bir saydam ortamdan ötekine eğik geçerken hız değişimi yüzünden doğrultu değiştirmesidir. Açılar yüzeyden değil normalden ölçülür; dik gelen ışın kırılmaz.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ışık ne kadar yavaşlar? — adım 1/5
• Boşlukta ışık saniyede yaklaşık 300 000 km yol alır; bu hızla bir saniyede Dünya'nın çevresini 7,5 kez dolanabilirdi.
• Madde içinde ise daha yavaştır: ışık ortamın atomlarındaki elektronları titreştirir ve bu etkileşim ilerleyişini geciktirir.
• Bir ortamın kırılma indisi, ışığın boşluktaki hızının o ortamdaki hızına oranıdır:
n = c / v   c = 3·10⁸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ışık ne kadar yavaşlar? — adım 2/5
Ortam | n | Işığın hızı
Boşluk / hava | 1,00 | 3,00·10⁸ m/s
Su | 1,33 | 2,26·10⁸ m/s
Cam | 1,50 | 2,00·10⁸ m/s
Elmas | 2,42 | 1,24·10⁸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ışık ne kadar yavaşlar? — adım 3/5
• Tabloyu şöyle oku: su için n = 1,33, yani ışık suda boşluktakinden 1,33 kat yavaş gider.
• İndisin birimi yoktur, çünkü iki hızın oranıdır.
• Gündelik saydam ortamlarda indis 1'den küçük olmaz; havanınki 1,0003 civarındadır ve problemlerde 1 alınır.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ışık ne kadar yavaşlar? — adım 4/5
• İndisi büyük olan ortama çok yoğun, küçük olana az yoğun ortam denir.
• Bu “yoğunluk” kütle yoğunluğu değil, optik yoğunluktur.
• Zeytinyağı sudan hafiftir ve suyun üstünde yüzer, ama indisi (yaklaşık 1,47) sudan büyüktür: optik olarak sudan daha yoğundur.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ışık ne kadar yavaşlar? — şekil
Kırılma indisi, ışığın o ortamda ne kadar yavaşladığını söyler: n = c/v. İki çubuk birbirinin aynadaki görüntüsü gibidir — indis büyüdükçe hız küçülür. Elmasta ışık boşluktakinin yalnızca %41'i kadar hızlı ilerler; elmasın o çarpıcı parlaklığı ve ışığı içinde hapsetmesi bu yüksek indisin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Kırılma indisi n = c/v, ışığın bir ortamda boşluğa göre kaç kat yavaşladığını söyler. İndisi büyük ortam optik olarak çok yoğundur; bu, kütle yoğunluğuyla aynı şey değildir.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elmasa girince yavaşlıyorsa, elmastan havaya çıkınca yeniden hızlanır mı?
Sınıfa sorun, birkaç tahmin alın; sonra cevap slaytına geçin.
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 adım 1/6
• Işığın yavaşlaması neden yönünü de değiştirsin?
• Asfalttan çimenliğe eğik giren bir oyuncak arabayı düşün.
• Ön tekerlerden biri çimene önce değer ve yavaşlar; öteki hâlâ asfaltta hızla dönmektedir.
• Hızlı taraf yavaş tarafın etrafında döner ve araba normale doğru yön değiştirir.
• Çimenlikten asfalta çıkarken tersi olur: araba normalden uzaklaşır.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 adım 2/6
• Işık demetinin genişliği boyunca uzanan dalga cephesi, bu arabanın aks çizgisi gibidir: cephenin sınıra önce varan ucu yavaşlar, öteki ucu bir süre daha hızlı ilerler ve cephe döner.
• Bu basit resimden dört kural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 adım 3/6
• Yavaşlarsa yaklaşır: az yoğundan çok yoğuna geçen ışın normale yaklaşır; kırılma açısı gelme açısından küçüktür.
• Hızlanırsa uzaklaşır: çok yoğundan az yoğuna geçen ışın normalden uzaklaşır; kırılma açısı büyür.
• Dik gelirse sapmaz: cephenin iki ucu sınıra aynı anda varır ve birlikte yavaşlar; dönme olmaz.
• Yol tersinirdir: ters yönde gönderilen ışın, geldiği yolu aynen geri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 şekil
İkisi de aynı olayın sonucu. Sudan çıkan ışınlar yüzeyde kırılıp normalden uzaklaşınca, göz onları düz bir çizgi boyunca geri izler ve cismi olduğundan yukarıda görür. Soldaki kesikli çizgi kaşığın gerçek yerini, mor çizgi senin gördüğün yerini gösteriyor: sudaki kısım yükseldiği için kaşık kırık, havuzun tabanı yükseldiği için havuz sığ görünür. Bu yüzden suya balıklama atlamadan önce derinliği gözle değil ölçerek bilmek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 adım 5/6
• Artık kaşığın sırrı çözülüyor.
• Kaşığın sudaki kısmından çıkan ışınlar sudan havaya geçer, hızlanır ve normalden uzaklaşır.
• Göz ışınları düz bir çizgi boyunca geriye uzatır ve kaşığın sudaki kısmını olduğundan yukarıda görür.
• Suyun dışındaki kısım yerinde göründüğü için iki parça yüzeyde düzgünce birleşmez ve kaşık kırık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 adım 6/6
• Havuzun sığ görünmesi de aynı olaydır; ayrıntısı bir sonraki konu olan görünür derinlikte.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yavaşladığı ortama geçerken normale yaklaşır, hızlandığı ortama geçerken normalden uzaklaşır. Sudan çıkan ışınlar normalden uzaklaştığı için kaşığın sudaki kısmı olduğundan yukarıda görünür.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kırılmanın yönünü sayıya dök, Snell yasasını dalga cephelerinden çıkar, hız ve dalga boyuna ne olduğunu gör.
05 Snell yasası ve nereden geldiği
06 Sayılarla hisset: ışın ne kadar kırılır?
07 Hız, dalga boyu ve frekans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adım 1/8
• Kırılmanın yönünü biliyoruz; şimdi “ne kadar” sorusunu yanıtlayalım.
• Gelme ve kırılma açıları, iki ortamın indisleriyle tek bir bağıntı üzerinden bağlıdır.
• Bu bağıntı, 1621'de onu deneylerle bulan Willebrord Snellius'un adını taşır; aynı ilişki 10. yüzyılda İbn Sehl'in mercekler üzerine yazdığı incelemede de geçer.
n₁ · sin i = n₂ · sin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adım 2/8
Formüldeki harfler ne anlama geliyor?
Sembol | Anlamı | Birimi
n₁ | ışığın geldiği ortamın kırılma indisi (hava için 1) | —
n₂ | ışığın geçtiği ortamın kırılma indisi (su için 4/3 ≈ 1,33) | —
i | gelme açısı: gelen ışının normalle yaptığı açı | derece (°)
r | kırılma açısı: kırılan ışının normalle yaptığı açı | derece (°)
sin i, sin r | bu açıların sinüsü; soruda verilir (ör. sin53° = 0,8)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adım 3/8
• Az yoğundan çok yoğuna (n₁ &lt; n₂): ışın normale yaklaşır, r &lt; i.
• Çok yoğundan az yoğuna (n₁ &gt; n₂): ışın normalden uzaklaşır, r &gt; i.
• i = 0 ise r = 0: dik gelen ışın kırılmaz.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adım 4/8
Bağıntı nereden geliyor?
• Snell yasasını bir önceki bölümdeki dönen cephe resminden birkaç adımda çıkarabilirsin.
• Bir dalga cephesinin A ucu sınıra değmiş, B ucu ise sınıra hâlâ BD kadar uzakta olsun.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adım 5/8
• Aynı süre: B ucu D'ye varana kadar t süresi geçer: BD = v₁·t. Bu sürede A ucu ikinci ortamda AC = v₂·t kadar ilerler.
• İki dik üçgen: AD, sınır üzerindeki ortak kenardır. Cephe sınırla i açısı yaptığı için sin i = BD/AD; aynı biçimde sin r = AC/AD.
• Oranı al: sin i / sin r = BD/AC = v₁/v₂. Ortak kenar AD sadeleşir.
• İndise çevir: v = c/n olduğundan v₁/v₂ = n₂/n₁. Buradan n₁·sin i = n₂·sin r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adım 6/8
Hatırlatma: Açılar yine normalle ölçülür. Soruda “yüzeyle 30° açı yapıyor” deniyorsa gelme açısı 60°'dir.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şekil
Snell yasası her iki yönde de aynıdır: n₁·sin i = n₂·sin r. Hangi tarafın indisi büyükse, o taraftaki açı küçüktür — yani ışın yoğun ortamda normale daha yakın gider. Bunu ezberlemek yerine şöyle düşün: yavaşlayan taraf normale yanaşır.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 adım 8/8
• Bağıntıyı uç durumlarla sına.
• İki ortamın indisi eşitse sin i = sin r çıkar ve ışın hiç sapmaz: cam bir çubuk, indisi camınkine eşit bir yağa daldırılınca neredeyse görünmez olur. i = 0 için de sin r = 0 çıkar; dik gelen ışın düz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Snell yasası n₁·sin i = n₂·sin r, dalga cephesinin iki ucunun farklı hızlarından çıkar. İndisi büyük taraftaki açı küçüktür; indisler eşitse ışın hiç sapmaz.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 adım 1/6
• Sayfanın 01 numaralı bölümündeki Snell laboratuvarında havadan suya 45° ile gönderilen ışın suda 32,1° ile ilerler.
• Aynı ışın cama ya da elmasa girseydi ne olurdu?
• Snell yasasıyla hesaplanmış değerler (ışın havadan geliyor; su için n = 1,33, cam için 1,50, elmas için 2,42):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 adım 2/6
Gelme açısı (havada) | Suda | Camda | Elmasta
0° | 0° | 0° | 0°
30° | 22,1° | 19,5° | 11,9°
45° | 32,1° | 28,1° | 17,0°
60° | 40,6° | 35,3° | 21,0°
90°'ye yakın (yalayarak) | 48,8° | 41,8° | 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 adım 3/6
• Tablodan dört düzen okunur:
• İndis büyüdükçe sapma artar: aynı 45°'lik ışın suda 13°, elmasta 28° kadar normale yaklaşıyor.
• Açılar orantılı değil: gelme açısı 30°'den 60°'ye çıkınca sudaki açı 22,1°'den 40,6°'ye çıkıyor; orantılı olan sinüslerdir.
• Bir tavan var: ışın suya yüzeyi yalayarak girse bile sudaki açı 48,8°'yi geçemiyor.
• Küçük açılarda kısa yol: açı küçükken r ≈ i / n yazılabilir; 10° ile suya giren ışın yaklaşık 7,5° ile ilerler.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 şekil
Aynı ışın havadan 45° ile üç farklı ortama giriyor. İndis büyüdükçe kırılan ışın normale daha çok yaklaşır. Yeşil dilim, ışının noktalı çizgiyle gösterilen düz yolundan ne kadar saptığını gösterir: sapma suda 13°, elmasta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 adım 5/6
• Üçüncü madde tam yansımanın habercisidir: 48,8° sayısını üçüncü basamakta yeniden göreceğiz.
• Son madde ise bir sonraki konunun, görünür derinliğin temelidir: dike yakın bakışta açılar küçüktür ve hesap basit bir bölmeye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 şekil
Suya giren yeşil lazer ışını yüzeye çarptığı noktada bükülüyor ve suyun içinde daha dik bir yol izliyor; su ışığı yavaşlattığı için ışın normale yaklaşır. Giriş noktasından yukarı dönen soluk ışın, kırılmada ışığın bir kısmının her zaman yansıdığını gösterir. Ne kadar büküleceğini Snell yasası belirler: tablodaki gibi havadan 60° ile gelen ışın suda 40,6° ile ilerler, yani normale yalnızca 20° kadar yaklaşır.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İndis büyüdükçe aynı ışın normale daha çok yaklaşır. Açılar değil sinüsleri orantılıdır; havadan suya giren ışın hiçbir zaman 48,8°'den büyük açıyla ilerleyemez.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Havadan suya 30° ile giren ışın suda 22,1° ile gidiyor. Sudan havaya 22,1° ile çıkan ışın havada kaç derece yapar?
Sınıfa sorun, birkaç tahmin alın; sonra cevap slaytına geçin.
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 adım 1/5
• Işık bir dalgadır ve her dalganın üç temel büyüklüğü vardır: saniyede kaç titreşim yaptığını söyleyen frekans (f), ardışık iki tepe arasındaki uzaklık olan dalga boyu (λ) ve ilerleme hızı (v).
• Üçü v = λ·f bağıntısıyla bağlıdır.
• Kırılmada değişenler ve değişmeyenler: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 adım 2/5
Büyüklük | Kırılmada
Frekans (f) | değişmez — kaynağa bağlıdır
Hız (v) | değişir: v = c/n
Dalga boyu (λ) | değişir: λ = λ₀/n
Renk | değişmez (frekans değişmediği için)
v = λ · f   n₁/n₂ = v₂/v₁ = λ₂/λ₁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 adım 3/5
Frekans neden değişmez?
• Sınırda kopukluk olmaz: sınırın iki yanındaki dalga, sınır üzerinde aynı anda aynı biçimde titreşmek zorundadır.
• Giren cephe = çıkan cephe: sınırdan saniyede kaç cephe giriyorsa öteki yandan o kadar çıkar; frekans kaynağın frekansıdır.
• Hız düşerse dalga boyu kısalır: f sabitken v = λ·f bağıntısında v küçülürse λ da aynı oranda küçülür: λ = λ₀/n.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 adım 4/5
• Cephe modeli kırılmayı sezgisel yapar: dalga cephesinin bir ucu yavaşlarken öteki ucu hızlı gittiği için cephe döner ve ışın yön değiştirir.
• Sayfanın 03 numaralı bölümünde bunu canlı izleyebilirsin: havada 600 nm olan dalga boyu camda 400 nm'ye iner, frekans 5,0·10¹⁴ Hz'de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 şekil
Dalga cepheleri yoğun ortama girince sıklaşır: hız düştüğü için aynı sürede daha kısa yol alınır, yani dalga boyu küçülür. Ama frekans değişmez — saniyede kaç cephenin sınırdan geçtiği, kaynağın saniyede kaç dalga ürettiğine bağlıdır ve ortam bunu değiştiremez. Rengin değişmemesinin sebebi de budur: renk frekansla belirlenir.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Kırılmada frekans ve renk değişmez; hız v = c/n, dalga boyu λ = λ₀/n olur. Hız ve dalga boyu aynı oranda küçüldüğü için v = λ·f bağıntısı her ortamda sağlanır.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Sığ ve berrak bir havuzun dibindeki kırmızı top, suyun altından bakan dalgıca neden yine kırmızı görünür?
Sınıfa sorun, birkaç tahmin alın; sonra cevap slaytına geçin.
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Snell yasası çözümsüz kalınca, ışık levhadan ve katman katman havadan geçince, kırılma gerçek hayata çıkınca ne olur?
08 Tam yansıma ve sınır açı
09 Paralel kenarlı levhada yandan kayma
10 Katman katman kırılma: serap ve atmosfer
11 Kırılma gerçek dünyada
Görsel: Elmasın parıltısı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 adım 1/5
• Işık çok yoğun ortamdan az yoğun ortama geçerken kırılma açısı gelme açısından büyüktür.
• Gelme açısı artırıldıkça kırılan ışın yüzeye yaklaşır; belli bir açıda kırılma açısı 90° olur.
• Bu açıya sınır açı denir.
• Snell yasasına r = 90° koyarsan bağıntısı hemen çıkar: sin 90° = 1 olduğundan n₁·sin θ = n₂.
sin θ(sınır) = n₂ / n₁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 adım 2/5
• Gelme açısı sınır açıdan büyükse ışık ortamı terk edemez; tamamı yansır. Buna tam yansıma denir.
• Tam yansıma yalnızca çok yoğundan az yoğuna geçişte olur.
• Su–hava için sınır açı ≈ 48,8°; cam–hava için ≈ 41,8°; elmas–hava için ≈ 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 adım 3/5
• Önceki basamaktaki tablonun “tavanı” burada anlam kazanıyor.
• Havadan suya yalayarak giren ışın suda 48,8° ile ilerliyordu; yol tersinir olduğu için sudan 48,8° ile gelen ışın da havada yüzeyi yalar.
• Daha büyük bir açı için Snell yasası sin r &gt; 1 ister; hiçbir açının sinüsü 1'i aşamayacağı için kırılan ışın yoktur ve ışığın tamamı geri döner.
• Sayfanın 02 numaralı bölümünde açıyı adım adım büyüt: sınır açıya yaklaştıkça kırılan ışığın payı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 adım 4/5
Elmasın parlaklığı bu küçük sınır açıdan gelir: içeri giren ışık defalarca tam yansımaya uğrar ve ancak belirli yüzlerden dışarı çıkabilir. Fiber optik kablo da aynı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 şekil
Yoğun ortamdan çıkarken ışın normalden uzaklaşır; geliş açısını büyüttükçe kırılan ışın yüzeye iyice yatar. Sınır açıda kırılma açısı 90° olur ve ışın tam yüzey boyunca gider. Bu açıyı bir derece bile aşarsan ışık dışarı hiç çıkamaz, tamamen geri yansır. Fiber optik kabloların, elmasın parıltısının ve serapların ortak sırrı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Çok yoğundan az yoğuna geçişte gelme açısı sınır açıyı (sin θ = n₂/n₁) aşarsa kırılan ışın kalmaz, ışığın tamamı yansır. Sınır açı su–hava için 48,8°, elmas–hava için 24,4°'dir.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Havadan suya giren ışında tam yansıma neden hiçbir açıda olmaz?
Sınıfa sorun, birkaç tahmin alın; sonra cevap slaytına geçin.
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 adım 1/6
• Işık paralel yüzlü bir cam levhaya girerken normale yaklaşır, çıkarken aynı açıyla uzaklaşır.
• Sonuçta çıkan ışın gelen ışına paraleldir, ama yanal olarak kaymıştır:
d = t · sin(i − r) / cos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 adım 2/6
Bağıntı nereden geliyor?
• Girişte: ışın levhaya i ile gelir, içeride sin r = sin i / n ile bulunan r açısıyla ilerler.
• Çıkışta: alt yüz üst yüze paralel olduğu için ışın alt yüze yine r ile gelir ve havaya i ile çıkar.
• Levhadaki yol: t kalınlığındaki levhada ışının aldığı yol L = t / cos r'dir.
• Kayma: bu yol gelen ışının uzantısıyla (i − r) açısı yapar; aradaki dik uzaklık d = L·sin(i − r)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 adım 3/6
• Kalınlık ve gelme açısı arttıkça kayma büyür.
• Dik gelişte (i = 0) kayma sıfırdır.
• Sayfanın 04 numaralı bölümündeki başlangıç değerleriyle, yani 6 cm kalınlığında ve indisi 1,5 olan bir levha için hesap şunu veriyor: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 adım 4/6
Gelme açısı | Levhadaki açı | Yandan kayma
0° | 0° | 0 cm
30° | 19,5° | 1,2 cm
50° | 30,7° | 2,3 cm
70° | 38,8° | 4,0 cm
80° | 41,0° | 5,0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 adım 5/6
• Kayma açıyla hızla büyüyor ve yüzeyi yalayan ışında levhanın kalınlığına, yani 6 cm'ye yaklaşıyor: i = 90° için sin(90° − r) = cos r olur ve formül d = t verir.
• İnce levhalarda ise kayma küçüktür: 4 mm'lik pencere camında 45°'lik ışın yalnızca 1,3 mm kadar kayar.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 şekil
Levhaya giren ışın normale yaklaşır, çıkarken tam o kadar normalden uzaklaşır: iki kırılma birbirini götürür ve çıkan ışın gelenle paraleldir. Değişen tek şey ışının yana kaymasıdır. Kayma miktarı levha kalınlaştıkça ve geliş açısı büyüdükçe artar: d = t·sin(i − r)/cos r. Kalın bir cam arkasından bakınca cisimlerin hafifçe kaymış görünmesinin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kenarlı levhadan çıkan ışın gelene paraleldir, yalnızca d = t·sin(i − r)/cos r kadar yana kayar. Kayma kalınlık, açı ve indisle artar; dik gelişte sıfırdır.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Levhanın indisi büyütülürse aynı açıyla gelen ışının kayması artar mı, azalır mı?
Sınıfa sorun, birkaç tahmin alın; sonra cevap slaytına geçin.
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 adım 1/6
• Işık tek bir sınırdan değil, üst üste birçok paralel katmandan geçerse ne olur?
• Snell yasası her sınırda yeniden uygulanır ve bir sınırın sağ tarafı bir sonrakinin sol tarafı olur.
• Sonuç sade ve güçlüdür:
n₁·sin θ₁ = n₂·sin θ₂   n₂·sin θ₂ = n₃·sin θ₃   n · sin θ = sabit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 adım 2/6
• Yani paralel katmanlarda n·sin θ çarpımı korunur.
• Işının son ortamdaki açısı yalnızca ilk ve son ortamın indisine bağlıdır; aradaki katmanlar ışını kaydırır ama son doğrultuyu değiştirmez.
• Hava da böyle bir katmanlar yığını gibi davranabilir: sıcak hava daha seyrektir ve indisi biraz daha küçüktür.
• İndis yavaş yavaş değişince ışın kırık bir çizgi yerine eğri bir yol izler ve hep indisin büyük olduğu tarafa doğru bükülür.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 adım 3/6
• Serap: asfaltın üstündeki sıcak havaya yatık inen ışın, indisi azalan katmanlarda normalden uzaklaşır ve yere değmeden yukarı döner.
• Batan Güneş: atmosfer ufka yakın ışınları yaklaşık yarım derece büker; bu, Güneş'in görünen çapı kadardır.
• Titreyen yıldızlar: karışan sıcak ve soğuk hava hücreleri, yıldızdan gelen ince ışın demetini sürekli farklı yönlere saptırır.
• Havaya kalkan gemiler: soğuk denizin üstünde durum tersine döner; ışın aşağı bükülür, uzaktaki cisimler yükselmiş görünebilir.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 adım 4/6
• Serapta göz, yukarı dönüp kendisine gelen ışını yoldan gelmiş sanır ve yolda gökyüzünün parlak görüntüsünü, yani “su”yu görür.
• Birinci basamaktaki görselde arabanın altında beliren ters görüntü, olayın bir yansıma gibi davrandığını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 şekil
Işık serin havadan sıcak havaya indikçe her sınırda normalden biraz daha uzaklaşır: n·sin θ çarpımı korunduğu için n küçüldükçe θ büyür. En sıcak katmana giremeden yukarı döner ve gözüne aşağıdan gelir. Göz bu ışını düz bir çizgi boyunca geri uzatır (mor kesikli çizgi) ve gökyüzünün görüntüsünü yolda parlak bir “su” gibi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 şekil
Batan Güneş ufka yaklaştığında genişliği aynı kalırken dikey yönde kısalır ve basık bir disk gibi görünür. Ufka yakın ışınlar atmosferin katmanlarından geçerken indisin büyük olduğu tarafa, aşağıya doğru bükülür; diskin alt kenarından gelen ışık daha yoğun katmanlardan geçtiği için daha çok bükülür ve alt kenar üst kenardan daha çok yükselmiş görünür. Buradaki basıklık abartılıdır: gerçek bir gün batımında disk dikey yönde yalnızca altıda bir kadar kısalır.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katmanlarda n·sin θ çarpımı korunur; indis yavaş değişince ışın indisi büyük tarafa bükülen bir eğri çizer. Serap, batan Güneş'in yükselmesi ve yıldızların titremesi bundandır.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Güneş batarken ufka değdiğini gördüğün anda Güneş gerçekte nerededir?
Sınıfa sorun, birkaç tahmin alın; sonra cevap slaytına geçin.
Cevap: Neredeyse tamamen ufkun altındadır. Atmosfer ufka yakın ışınları yere doğru yaklaşık yarım derece büker; bu, Güneş'in görünen çapı kadardır. Göz son doğrultuyu geriye uzattığı için Güneş'i olduğundan yukarıda görürsün; bu yüzden gündüz, atmosfer olmasaydı olacağından birkaç dakika uzun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Neredeyse tamamen ufkun altındadır. Atmosfer ufka yakın ışınları yere doğru yaklaşık yarım derece büker; bu, Güneş'in görünen çapı kadardır. Göz son doğrultuyu geriye uzattığı için Güneş'i olduğundan yukarıda görürsün; bu yüzden gündüz, atmosfer olmasaydı olacağından birkaç dakika uzun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gerçek dünyada — adım 1/5
• Kırılma yalnızca göz yanılgısı üretmez; insanlar onu yüzyıllardır bilerek kullanır.
• Işığı toplayan, yönlendiren ya da hapseden her optik aracın arkasında iki seçim vardır: indisi uygun bir malzeme ve Snell yasasıyla hesaplanmış bir yüzey şekli.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gerçek dünyada — adım 2/5
• Gözün kendisi: gözün odaklama gücünün yaklaşık üçte ikisini, havayla sınırdaki saydam kornea tabakası sağlar.
• Su altında bulanık görme: kornea (n ≈ 1,38) ile su (1,33) arasındaki fark küçüktür; kornea ışığı neredeyse kırmaz.
• Gözlük ve mercekler: kırılmayı eğri yüzeylerle kontrollü kullanır; yüksek indisli cam aynı gücü daha ince mercekle verir.
• Fiber optik: çekirdekte (n ≈ 1,47) tam yansımayla hapsolan ışık, 1000 km'lik hattı yaklaşık 5 milisaniyede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gerçek dünyada — adım 3/5
• Gökkuşağı: güneş ışığı damlaya girerken kırılır, arka yüzde yansır, çıkarken yeniden kırılır; indis renge bağlı olduğu için renkler ayrılır.
• Elmas ve cam taş: elmasın sınır açısı 24,4°, camınki 41,8°; aynı kesimdeki cam taştan ışık alttan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gerçek dünyada — şekil
Aynı kesimde, aynı ışın alt yüze 40° ile çarpıyor. Elmasın sınır açısı 24,4° olduğu için ışın tam yansır, karşı yüzden bir kez daha yansır ve üstten çıkar. Camın sınır açısı 41,8°; 40° bundan küçük olduğu için ışın alttan kaçar ve cam taş daha sönük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gerçek dünyada — adım 5/5
• Gökkuşağındaki yansıma çoğu zaman “tam yansıma” diye anlatılır, ama öyle değildir: damlanın arka yüzüne gelen ışının açısı yaklaşık 40°'dir ve suyun 48,8°'lik sınır açısından küçüktür.
• Işığın bir kısmı damladan arkaya kaçar, bir kısmı yansıyıp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Göz, gözlük, fiber optik, gökkuşağı ve elmas kırılmanın iki yüzünü kullanır: ışığı saptırmak için indis farkını, ışığı hapsetmek için sınır açıyı.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pırlanta kesimi camdan yapılırsa neden elmas kadar parlamaz?
Sınıfa sorun, birkaç tahmin alın; sonra cevap slaytına geçin.
Cevap: Camın sınır açısı 41,8°, elmasınki 24,4°'dir. Cam taşın alt yüzlerine gelen ışınların önemli bir kısmı 41,8°'den küçük açıyla çarpar ve tam yansımak yerine alttan dışarı kaçar. Üstten gözüne dönen ışık azalır; cam renkleri elmas kadar ayırmadığı için renkli ışıltı da zayıftır.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Camın sınır açısı 41,8°, elmasınki 24,4°'dir. Cam taşın alt yüzlerine gelen ışınların önemli bir kısmı 41,8°'den küçük açıyla çarpar ve tam yansımak yerine alttan dışarı kaçar. Üstten gözüne dönen ışık azalır; cam renkleri elmas kadar ayırmadığı için renkli ışıltı da zayıftır.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kırılma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Snell yasası
Havadan (n = 1) suya (n = 4/3) 53° ile giren ışının kırılma açısını bulunuz. (sin53° = 0,8)
Durum çizimi: Durum: ışın havadan (n₁ = 1) suya (n₂ = 4/3) geçiyor ve yüzeye normalle 53° açı yaparak geliyor. Soruda sudaki kırılma açısı r isteniyor; iki açı da normalden ölçülür.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Snell yasası
Havadan (n = 1) suya (n = 4/3) 53° ile giren ışının kırılma açısını bulunuz. (sin53° = 0,8)
Verilenler: n₁ = 1 (hava) · n₂ = 4/3 (su) · i = 53° · sin53° = 0,8 · sin37° = 0,6
İstenen: kırılma açısı 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Snell yasası — çözüm
1. n₁·sin i = n₂·sin r → 1 · 0,8 = (4/3) · sin r
2. sin r = 0,8 · 3/4 =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Snell yasası — çözüm
3. r = 37°
4. Işın normale yaklaştı: beklenen sonuç, çünkü su daha yoğun.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 ve dalga boyu
Dalga boyu havada 600 nm olan ışık, kırılma indisi 1,5 olan cama giriyor. Camdaki hızı ve dalga boyu nedir?
Durum çizimi: Durum: havada dalga boyu 600 nm olan ışık, kırılma indisi 1,5 olan cama giriyor. Soruda ışığın camdaki hızı v ve camdaki dalga boyu λ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 ve dalga boyu
Dalga boyu havada 600 nm olan ışık, kırılma indisi 1,5 olan cama giriyor. Camdaki hızı ve dalga boyu nedir?
Verilenler: λ₀ = 600 nm (havadaki dalga boyu) · n = 1,5 (cam) · c = 3·10⁸ m/s
İstenen: camdaki hız v · camdaki dalga boyu λ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 ve dalga boyu — çözüm
1. v = c/n = 3·10⁸ / 1,5 = 2·10⁸ m/s
2. λ = λ₀/n = 600/1,5 = 400 nm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 ve dalga boyu — çözüm
3. f = v/λ = 2·10⁸ / 400·10⁻⁹ = 5·10¹⁴ Hz
4. Havadaki frekans da 3·10⁸/600·10⁻⁹ = 5·10¹⁴ Hz ✓ frekans değişmedi.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Sınır açı
Kırılma indisi 2 olan bir ortamdan havaya geçişte sınır açı kaç derecedir?
Durum çizimi: Durum: ışık indisi 2 olan ortamdan havaya geçiyor. Sınır açıda kırılan ışın yüzeyi yalar, yani kırılma açısı 90° olur; bu durumu sağlayan gelme açısı θ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Sınır açı
Kırılma indisi 2 olan bir ortamdan havaya geçişte sınır açı kaç derecedir?
Verilenler: n₁ = 2 (ışığın çıktığı ortam) · n₂ = 1 (hava) · sin30° = 0,5
İstenen: sınır açı θ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Sınır açı — çözüm
1. sin θ = n₂/n₁ = 1/2 = 0,5
2. θ = 30°
3. 30°'den büyük açılarla gelen ışınlar ortamı terk edemez, tamamen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Sudan havaya: kırılır mı, yansır mı?
Suyun (n = 4/3) içindeki bir kaynaktan çıkan iki ışın su yüzeyine 37° ve 60° ile geliyor. Her birine ne olur? (sin37° = 0,6; sin60° ≈ 0,87)
Durum çizimi: Durum: su içindeki kaynaktan çıkan iki ışın yüzeye normalle 37° ve 60° açı yaparak geliyor. Her birinin havaya kırılarak mı çıkacağı yoksa tam mı yansıyacağı soruluyor; kırılan ışın için kırılma açısı da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Sudan havaya: kırılır mı, yansır mı?
Suyun (n = 4/3) içindeki bir kaynaktan çıkan iki ışın su yüzeyine 37° ve 60° ile geliyor. Her birine ne olur? (sin37° = 0,6; sin60° ≈ 0,87)
Verilenler: n₁ = 4/3 (su) · n₂ = 1 (hava) · gelme açıları 37° ve 60° · sin37° = 0,6 · sin53° = 0,8 · sin60° ≈ 0,87
İstenen: her ışın için: havaya kırılarak mı çıkar, tam mı yansır? Kırılıyorsa kırılma açısı 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Sudan havaya: kırılır mı, yansır mı? — çözüm
1. Işık yoğun ortamdan çıkıyor; önce sınır açıyı bul: sin θ = 1 / (4/3) = 0,75 → θ ≈ 48,6°.
2. 37° &lt; 48,6° olduğu için ilk ışın kırılır: (4/3) · 0,6 = 1 · sin r → sin r = 0,8 → r = 53°.
3. Kontrol: 53° &gt; 37°, ışın normalden uzaklaştı ✓ (Örnek 1'in tersten okunuşu).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Sudan havaya: kırılır mı, yansır mı? — çözüm
4. 60° &gt; 48,6°: Snell yasası sin r = (4/3) · 0,87 ≈ 1,16 ister; sinüs 1'i aşamaz.
5. İkinci ışın tam yansır, 60°'lik yansıma açısıyla suyun içine döner.
Not: n = 4/3 ile sınır açı 48,6°, n = 1,33 ile 48,8° çıkar; fark yalnızca yuvarlamadan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Yandan kayma
Kalınlığı 6 cm olan cam levhaya (n = 1,5) 50° ile gelen ışının yandan kayması ne kadardır?
Durum çizimi: Durum: ışın 6 cm kalınlığındaki cam levhaya (n = 1,5) normalle 50° açı yaparak geliyor ve levhadan gelene paralel çıkıyor. Noktalı çizgi, ışının levha olmasaydı gideceği yol; iki paralel doğru arasındaki uzaklık, yani yandan kayma d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Yandan kayma
Kalınlığı 6 cm olan cam levhaya (n = 1,5) 50° ile gelen ışının yandan kayması ne kadardır?
Verilenler: t = 6 cm (levhanın kalınlığı) · n = 1,5 (cam) · n(hava) = 1 · i = 50° · sin50° ≈ 0,766
İstenen: yandan kayma d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Yandan kayma — çözüm
1. sin r = sin50° / 1,5 = 0,766/1,5 = 0,511 → r ≈ 30,7°
2. d = t·sin(i − r)/cos r = 6 · sin(19,3°) / cos(30,7°)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Yandan kayma — çözüm
3. d = 6 · 0,331 / 0,860 ≈ 2,3 cm
4. Çıkan ışın, gelen ışına paraleldir; yalnızca 2,3 cm kaymıştır.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Cam levhadan suya geçen ışın
Havadan 53° ile gelen ışın, yatay bir cam levhadan (n = 1,5) geçip hemen altındaki suya (n = 4/3) giriyor. Işının camdaki ve sudaki kırılma açılarını bulunuz. (sin53° = 0,8; sin37° = 0,6)
Durum çizimi: Durum: ışın havadan 53° ile cam levhaya (n = 1,5) giriyor, levhanın altındaki suya (n = 4/3) geçiyor. Cam–su sınırı üst yüze paraleldir; camdaki açı r₁ ve sudaki açı r₂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Cam levhadan suya geçen ışın
Havadan 53° ile gelen ışın, yatay bir cam levhadan (n = 1,5) geçip hemen altındaki suya (n = 4/3) giriyor. Işının camdaki ve sudaki kırılma açılarını bulunuz. (sin53° = 0,8; sin37° = 0,6)
Verilenler: i = 53° (havada) · n(hava) = 1 · n(cam) = 1,5 · n(su) = 4/3 · sin53° = 0,8 · sin37° = 0,6
İstenen: camdaki kırılma açısı r₁ · sudaki kırılma açısı r₂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Cam levhadan suya geçen ışın — çözüm
1. Hava → cam: 1 · 0,8 = 1,5 · sin r₁ → sin r₁ ≈ 0,53 → r₁ ≈ 32°.
2. Cam–su sınırı üst yüze paralel olduğu için ışın bu sınıra da r₁ açısıyla gelir.
3. Cam → su: 1,5 · sin r₁ = (4/3) · sin r₂. Sol taraf ilk adımdan zaten 0,8'dir.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Cam levhadan suya geçen ışın — çözüm
4. (4/3) · sin r₂ = 0,8 → sin r₂ = 0,6 → r₂ = 37°.
5. Cam hiç olmasaydı da sudaki açı 37° olurdu (Örnek 1): n·sin θ çarpımı her katmanda korunur.
Kısa yol: paralel katmanlarda ara katmanları atla, doğrudan 1 · sin 53° = (4/3) · sin r₂ yaz.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Havuz lambasının ışık dairesi
Bir havuzun 2 m derinliğindeki küçük lamba her yöne ışık yayıyor. Su yüzeyinde ışığın dışarı çıkabildiği dairenin yarıçapı kaç metredir? (n = 4/3; sin θ = 0,75 için tan θ ≈ 1,13)
Durum çizimi: Durum: lamba su yüzeyinin 2 m altında ve her yöne ışık yayıyor. Işık su yüzeyinde yalnızca sarı işaretli daireden dışarı çıkabiliyor; bu dairenin lambanın tam üstünden ölçülen yarıçapı R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Havuz lambasının ışık dairesi
Bir havuzun 2 m derinliğindeki küçük lamba her yöne ışık yayıyor. Su yüzeyinde ışığın dışarı çıkabildiği dairenin yarıçapı kaç metredir? (n = 4/3; sin θ = 0,75 için tan θ ≈ 1,13)
Verilenler: h = 2 m (lambanın derinliği) · n(su) = 4/3 · n(hava) = 1 · sin θ = 0,75 için tan θ ≈ 1,13
İstenen: ışığın su yüzeyinden çıktığı dairenin yarıçapı 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Havuz lambasının ışık dairesi — çözüm
1. Yüzeye sınır açıdan küçük açıyla gelen ışınlar dışarı çıkar, büyük açıyla gelenler tam yansır.
2. sin θ = 1 / (4/3) = 0,75 → θ ≈ 48,6°.
3. Sınır açıyla çıkan ışın, lambanın tam üstündeki noktadan R kadar ötede yüzeye varır: tan θ = R /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Havuz lambasının ışık dairesi — çözüm
4. R = h · tan θ = 2 · 1,13 ≈ 2,3 m.
5. Işığın çıktığı dairenin alanı π · R² ≈ 16 m²; dışarıdaki yüzeyden lambanın ışığı çıkmaz.
Aynı geometri ters çalışır: su altındaki bir dalgıç gökyüzünün tamamını yaklaşık 97°'lik bir koninin içinde, parlak bir pencere gibi görür (Snell penceresi).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Işık bir plastiğin içinde 2,5·10⁸ m/s hızla ilerliyor. Bu plastiğin kırılma indisi kaçtır?
Öğrencilere 2–3 dakika verin; sonra cevap slaytını açın.
Cevap: Cevap: n = c / v = 3·10⁸ / 2,5·10⁸ = 1,2. İki hız birbirine bölündüğü için indisin birimi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c / v = 3·10⁸ / 2,5·10⁸ = 1,2. İki hız birbirine bölündüğü için indisin birimi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Havadan kırılma indisi 1,6 olan bir cama 53° ile giren ışın camda kaç derecelik kırılma açısıyla ilerler?
Öğrencilere 2–3 dakika verin; sonra cevap slaytını açın.
Cevap: Cevap: n₁·sin i = n₂·sin r → 1 · 0,8 = 1,6 · sin r → sin r = 0,5 → r = 30°. Işın normale yaklaştı (30° &lt; 53°)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n₁·sin i = n₂·sin r → 1 · 0,8 = 1,6 · sin r → sin r = 0,5 → r = 30°. Işın normale yaklaştı (30° &lt; 53°)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Işık, kırılma indisi 1,2 olan bir sıvıdan indisi 1,6 olan bir cama 53° ile geçiyor. Kırılma açısı kaç derecedir?
Öğrencilere 2–3 dakika verin; sonra cevap slaytını açın.
Cevap: Cevap: n₁·sin i = n₂·sin r → 1,2 · 0,8 = 1,6 · sin r → 0,96 = 1,6 · sin r → sin r = 0,6 → r = 37°. Işık indisi büyük ortama geçtiği için normale yaklaştı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n₁·sin i = n₂·sin r → 1,2 · 0,8 = 1,6 · sin r → 0,96 = 1,6 · sin r → sin r = 0,6 → r = 37°. Işık indisi büyük ortama geçtiği için normale yaklaştı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Kırılma indisi 5/3 olan bir camın içinden cam–hava yüzeyine 45° ile gelen ışın havaya çıkar mı, yoksa tam mı yansır?
Öğrencilere 2–3 dakika verin; sonra cevap slaytını açın.
Cevap: Cevap: Önce sınır açıyı bul: sin θ = n₂ / n₁ = 1 / (5/3) = 3/5 = 0,6 → θ = 37°. Gelme açısı 45°, sınır açıdan büyük; ışın havaya çıkamaz ve tam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Önce sınır açıyı bul: sin θ = n₂ / n₁ = 1 / (5/3) = 3/5 = 0,6 → θ = 37°. Gelme açısı 45°, sınır açıdan büyük; ışın havaya çıkamaz ve tam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Işığın hızı A ortamında 2·10⁸ m/s, B ortamında 1,5·10⁸ m/s. A'dan B'ye 53° ile geçen ışının kırılma açısı kaç derecedir?
Öğrencilere 2–3 dakika verin; sonra cevap slaytını açın.
Cevap: Cevap: Önce indisler: nA = c / vA = 3·10⁸ / 2·10⁸ = 1,5 ve nB = 3·10⁸ / 1,5·10⁸ = 2. Snell: 1,5 · 0,8 = 2 · sin r → 1,2 = 2 · sin r → sin r = 0,6 → r = 37°. Işık yavaşladığı ortama geçtiği için normale yaklaştı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Önce indisler: nA = c / vA = 3·10⁸ / 2·10⁸ = 1,5 ve nB = 3·10⁸ / 1,5·10⁸ = 2. Snell: 1,5 · 0,8 = 2 · sin r → 1,2 = 2 · sin r → sin r = 0,6 → r = 37°. Işık yavaşladığı ortama geçtiği için normale yaklaştı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Frekansın değiştiğini sanmak. Kırılmada frekans değişmez; değişen hız ve dalga boyudur.
• Dik gelen ışının kırıldığını düşünmek. i = 0 ise ışın doğrultusunu korur (hızı yine de değişir).
• Tam yansımayı her geçişte aramak. Yalnızca çok yoğundan az yoğuna geçişte olur.
• Açıları yüzeyle ölçmek. Kırılmada da açılar normalle ölçülür.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“Yoğun ortam” ile kütle yoğunluğunu karıştırmak. Burada kastedilen optik yoğunluk, yani kırılma indisidir.
• Levhadan çıkan ışının doğrultusunun değiştiğini sanmak. Paralel kenarlı levhada çıkan ışın gelen ışına paraleldir.
• sin r &gt; 1 çıkınca hesap hatası yaptığını sanmak. Bu sonuç, kırılan ışının olmadığını, yani ışığın tam yansımaya uğradığını söyler.
• Sınır açıyı sin θ = n₁/n₂ ile hesaplamak. Sinüs 1'i aşamaz; oran her zaman küçük indisin büyük indise bölümüdür.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İndis n = c / v · Snell n₁sin i = n₂sin r · Frekans değişmez · Sınır açı sin θ = n₂/n₁
n = c / v — kırılma indisi
n₁·sin i = n₂·sin r — Snell yasası
λ = λ₀ / n — ortamdaki dalga boyu
sin θ(sınır) = n₂ / n₁ — tam yansıma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kirilma-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Kırılma</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Işık bir ortamdan diğerine geçerken hız değiştirir; hız değişince de yön değiştirir. Suya sokulan kaşığın kırık görünmesinden fiber optik kabloya kadar her şey tek bir bağıntıya dayanır: n₁·sin i = n₂·sin 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Bardaktaki kaşık neden kırık görünür?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Havuzun dibi neden göründüğünden derindir?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Işık bir ortamdan diğerine geçerken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hız değiştirir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bu yüzden yol değiştirir — tıpkı asfalttan kuma giren bir arabanın, bir tekeri önce yavaşlayınca dönmesi gibi.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Gözlükten gökkuşağına, fiber optikten seraba kadar bu konudaki her şey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tek bir bağıntıdan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çıkar: n₁·sin i = n₂·sin 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Önce sezgi: ışığın yol değiştirdiği sahnelere bak, kırılmanın ne olduğunu ve ışının hangi yöne saptığını formülsüz kavra.</a:t>
            </a:r>
            <a:endParaRPr lang="en-US" sz="10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ışık ne zaman yolundan sapar?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indisi: ışık ne kadar yavaşlar?</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Neden yön değişir? Yavaşlayan taraf normale yanaşır</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Bağıntılar: kırılmanın yönünü sayıya dök, Snell yasasını dalga cephelerinden çıkar, hız ve dalga boyuna ne olduğunu gör.</a:t>
            </a:r>
            <a:endParaRPr lang="en-US" sz="10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Snell yasası ve nereden geldiği</a:t>
            </a:r>
            <a:endParaRPr lang="en-US" sz="1250" dirty="0"/>
          </a:p>
        </p:txBody>
      </p:sp>
      <p:sp>
        <p:nvSpPr>
          <p:cNvPr id="30" name="Text 28"/>
          <p:cNvSpPr txBox="1"/>
          <p:nvPr/>
        </p:nvSpPr>
        <p:spPr>
          <a:xfrm>
            <a:off x="3637712" y="4224528"/>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ışın ne kadar kırılır?</a:t>
            </a:r>
            <a:endParaRPr lang="en-US" sz="1200" dirty="0"/>
          </a:p>
        </p:txBody>
      </p:sp>
      <p:sp>
        <p:nvSpPr>
          <p:cNvPr id="32" name="Text 30"/>
          <p:cNvSpPr txBox="1"/>
          <p:nvPr/>
        </p:nvSpPr>
        <p:spPr>
          <a:xfrm>
            <a:off x="3637712" y="4882896"/>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Hız, dalga boyu ve frekans</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Snell yasası çözümsüz kalınca, ışık levhadan ve katman katman havadan geçince, kırılma gerçek hayata çıkınca ne olur?</a:t>
            </a:r>
            <a:endParaRPr lang="en-US" sz="100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 ve sınır açı</a:t>
            </a:r>
            <a:endParaRPr lang="en-US" sz="1250" dirty="0"/>
          </a:p>
        </p:txBody>
      </p:sp>
      <p:sp>
        <p:nvSpPr>
          <p:cNvPr id="43" name="Text 41"/>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Paralel kenarlı levhada yandan kayma</a:t>
            </a:r>
            <a:endParaRPr lang="en-US" sz="1250" dirty="0"/>
          </a:p>
        </p:txBody>
      </p:sp>
      <p:sp>
        <p:nvSpPr>
          <p:cNvPr id="45" name="Text 43"/>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Katman katman kırılma: serap ve atmosfer</a:t>
            </a:r>
            <a:endParaRPr lang="en-US" sz="1200" dirty="0"/>
          </a:p>
        </p:txBody>
      </p:sp>
      <p:sp>
        <p:nvSpPr>
          <p:cNvPr id="47" name="Text 45"/>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kırılma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şeyin bir saniyede aldığı yol. Metre/saniye (m/s) ile ölçülür; ışık boşlukta her saniye yaklaşık 300 000 km yol alır.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ışının yüzeye çarptığı noktada yüzeye dik (90°) çizilen yardımcı çizgi. Aynalar konusunda açıları hep bu çizgiden ölçmüştün.</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Yansıma: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ışığın bir yüzeye çarpıp geri dönmesi. Gelme açısı yansıma açısına eşittir; aynada kendini bu sayede görürsün.</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dik üçgende bir açının karşısındaki kenarın en uzun kenara bölümü. sin30° = 0,5 ve sin90° = 1'dir; hiçbir açının sinüsü 1'den büyük olmaz.</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Oran: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“kaç katı?” sorusunun cevabı. 6 ÷ 2 = 3 ise 6, 2'nin 3 katıdır. m/s'yi m/s'ye bölünce birim sadeleşir, geriye yalın bir sayı kalır.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ışığın yol değiştirdiği sahnelere bak, kırılmanın ne olduğunu ve ışının hangi yöne saptığını formülsüz kavra.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ışık ne zaman yolundan sapar?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Kırılma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Kırılma indisi: ışık ne kadar yavaşlar?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Neden yön değişir? Yavaşlayan taraf normale yanaşır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kirilma-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Sıcak yolda ileride parlayan “su”</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serap</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denir; üçüncü basamakta nedenini ayrıntılı göreceğiz.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ışık ne zaman yolundan sapar?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aynı saydam ortamda kaldığı sürece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 boyunca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ilerler: odaya vuran güneş huzmesinin tozlarda görünen kenarları dümdüzdür.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Gözün bu kurala güvenir; bir cismi, ondan gelen ışının geldiği doğrultunun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 karşısında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sanırsın.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ışık bir ortamdan ötekine geçerken bu güven sarsılır.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gözlemlerin hepsinde ışık, iki farklı saydam ortamın ya da farklı sıcaklıktaki hava katmanlarının sınırından geçiyor: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ışık ne zaman yolundan sapar?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Kaşık kırık görünür: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sudaki kısmı, su yüzeyinin hizasında yukarıdaki sapla aynı doğrultuda durmaz.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dipteki fayanslar, ayağını basınca şaşıracağın kadar yakın durur.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Yolda “su birikintisi”: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yazın sıcak asfaltta ilerideki yol ıslak ve parlak görünür; yaklaşınca kaybolur.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Yıldızlar titrer: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yıldız ışığı, sürekli çalkalanan hava katmanlarından geçerken sağa sola sapar.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ışık ne zaman yolundan sapar?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Kalın camın arkası kayar: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kalın bir camın arkasındaki çizgiler, camın kenarında yana kaymış görünür.</a:t>
            </a:r>
            <a:endParaRPr lang="en-US" sz="2100" dirty="0"/>
          </a:p>
        </p:txBody>
      </p:sp>
      <p:sp>
        <p:nvSpPr>
          <p:cNvPr id="7" name="Text 5"/>
          <p:cNvSpPr txBox="1"/>
          <p:nvPr/>
        </p:nvSpPr>
        <p:spPr>
          <a:xfrm>
            <a:off x="640080" y="23545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sahnelerin ortak noktası şu: ışık, yolunun bir yerinde kendisini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farklı hızda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taşıyan bir ortama giriyor.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ise ışının kıvrıldığından habersizdir; son doğrultuyu geriye uzatır ve cismi orada görür.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ışık ne zaman yolundan sapar?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169643" y="1234440"/>
            <a:ext cx="785241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1.png">    </p:cNvPr>
          <p:cNvPicPr>
            <a:picLocks noChangeAspect="1"/>
          </p:cNvPicPr>
          <p:nvPr/>
        </p:nvPicPr>
        <p:blipFill>
          <a:blip r:embed="rId1"/>
          <a:stretch>
            <a:fillRect/>
          </a:stretch>
        </p:blipFill>
        <p:spPr>
          <a:xfrm>
            <a:off x="2398243" y="1325880"/>
            <a:ext cx="739521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Işık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tek bir ortamda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dümdüz gider. İki ortamın sınırında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dirsek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yapar: noktalı çizgi, sapmasaydı gideceği yolu gösterir. Sıcaklığı katman katman değişen havada ise dirsek yerine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yavaş yavaş kıvrılır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 durumda da ışık, kendisini farklı hızda taşıyan bir ortama girmiştir.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ışık ne zaman yolundan sapar?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tek bir saydam ortamda doğru boyunca gider; başka bir ortama geçerken yolundan sapabilir. Göz son doğrultuyu geriye uzattığı için kaşık kırık, havuz sığ, sıcak yol ıslak görünür.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Sıcak yoldaki “su birikintisi” sen yaklaştıkça neden hep ileri kaçar ya da kaybolur?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ışık ne zaman yolundan sapar?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Sıcak yoldaki “su birikintisi” sen yaklaştıkça neden hep ileri kaçar ya da kaybolur?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Serap yalnızca yola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çok yatık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saydam bir ortamdan başka bir saydam ortama geçerken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hızı değişir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Sınıra eğik geldiyse bu hız değişimi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doğrultusunu da değiştirir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bu olaya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Sözcük, ışının sınırda bir dirsek yapmasını anlatır: ışın her iki ortamda da doğru boyunca gider, yalnızca sınırda yön değiştirir.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Kırılmayı anlatmak için sınırda bir yardımcı çizgi kullanırız.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Işının yüzeye çarptığı noktadan yüzeye dik çizilen doğruya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Gelen ışının normalle yaptığı açı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gelme açısı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 kırılan ışının normalle yaptığı açı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kırılma açısı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(r) adını 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Açıların yüzeyden değil normalden ölçülmesi keyfî değildir: dik gelen ışın için ikisi de sıfır olur ve kurallar en sade hâlini 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Sınıra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(i = 0) kırılmaz, doğrultusunu korur; yalnızca hızı değişir.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Kırılan ışın, gelen ışın ve normal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aynı düzlemdedir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Kırılma sırasında ışığın bir kısmı her zaman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795478" y="1234440"/>
            <a:ext cx="860073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2.png">    </p:cNvPr>
          <p:cNvPicPr>
            <a:picLocks noChangeAspect="1"/>
          </p:cNvPicPr>
          <p:nvPr/>
        </p:nvPicPr>
        <p:blipFill>
          <a:blip r:embed="rId1"/>
          <a:stretch>
            <a:fillRect/>
          </a:stretch>
        </p:blipFill>
        <p:spPr>
          <a:xfrm>
            <a:off x="2024078" y="1325880"/>
            <a:ext cx="814353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Açılar her zaman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normalden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ölçülür, yüzeyden değil. Işık daha yoğun bir ortama geçerken yavaşlar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normale yaklaşır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(r &lt; i); daha az yoğun bir ortama geçerken hızlanır ve normalden uzaklaşır. Yüzeye dik gelen ışın (i = 0) hiç kırılmaz, doğrultusunu korur. Işığın bir kısmı her zaman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yansır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da — bu yüzden camda kendi yansımanı görebilirsin.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gündelik bir gözlemi açıklar: akşam, ışığı yanan bir odadan pencereye bakınca camda kendi yansımanı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Dik gelişte camın her yüzeyi ışığın yaklaşık yüzde dördünü yansıtır; dışarısı karanlık olunca bu küçük pay bile belirgin 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Kırılma, ışığın bir saydam ortamdan ötekine eğik geçerken hız değişimi yüzünden doğrultu değiştirmesidir. Açılar yüzeyden değil normalden ölçülür; dik gelen ışın kırılmaz.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Boşlukta ışık saniyede yaklaşık 300 000 km yol alır; bu hızla bir saniyede Dünya'nın çevresini 7,5 kez dolanabilirdi.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Madde içinde ise daha yavaştır: ışık ortamın atomlarındaki elektronları titreştirir ve bu etkileşim ilerleyişini geciktirir.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ortamın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kırılma indisi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ışığın boşluktaki hızının o ortamdaki hızına oranıdır:</a:t>
            </a:r>
            <a:endParaRPr lang="en-US" sz="2200" dirty="0"/>
          </a:p>
        </p:txBody>
      </p:sp>
      <p:sp>
        <p:nvSpPr>
          <p:cNvPr id="7" name="Shape 5"/>
          <p:cNvSpPr/>
          <p:nvPr/>
        </p:nvSpPr>
        <p:spPr>
          <a:xfrm>
            <a:off x="640080" y="4114800"/>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14800"/>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c / v</a:t>
            </a:r>
            <a:endParaRPr lang="en-US" sz="1800" dirty="0"/>
          </a:p>
        </p:txBody>
      </p:sp>
      <p:sp>
        <p:nvSpPr>
          <p:cNvPr id="9" name="Shape 7"/>
          <p:cNvSpPr/>
          <p:nvPr/>
        </p:nvSpPr>
        <p:spPr>
          <a:xfrm>
            <a:off x="2585923" y="4114800"/>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411480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c = 3·10⁸ m/s</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891378"/>
                <a:gridCol w="1505039"/>
                <a:gridCol w="451511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Ortam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Işığın hızı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Boşluk / hava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3,00·10⁸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1,33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2,26·10⁸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Cam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2,00·10⁸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Elmas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2,42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1,24·10⁸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Tabloyu şöyle oku: su için n = 1,33, yani ışık suda boşluktakinden 1,33 kat yavaş gider.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İndisin birimi yoktur, çünkü iki hızın oranıdır.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Gündelik saydam ortamlarda indis 1'den küçük olmaz; havanınki 1,0003 civarındadır ve problemlerde 1 alınır.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İndisi büyük olan ortama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çok yoğun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küçük olana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az yoğun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ortam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“yoğunluk” kütle yoğunluğu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optik yoğunluktur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Zeytinyağı sudan hafiftir ve suyun üstünde yüzer, ama indisi (yaklaşık 1,47) sudan büyüktür: optik olarak sudan daha yoğundur.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3.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Kırılma indisi, ışığın o ortamda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 kadar yavaşladığını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söyler: n = c/v. İki çubuk birbirinin aynadaki görüntüsü gibidir — indis büyüdükçe hız küçülür. Elmasta ışık boşluktakinin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%41'i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kadar hızlı ilerler; elmasın o çarpıcı parlaklığı ve ışığı içinde hapsetmesi bu yüksek indisin sonucudur.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Kırılma indisi n = c/v, ışığın bir ortamda boşluğa göre kaç kat yavaşladığını söyler. İndisi büyük ortam optik olarak çok yoğundur; bu, kütle yoğunluğuyla aynı şey değildir.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elmasa girince yavaşlıyorsa, elmastan havaya çıkınca yeniden hızlanır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Kırılma indisi: ışık ne kadar yavaşlar?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elmasa girince yavaşlıyorsa, elmastan havaya çıkınca yeniden hızlanır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Evet. Işığın hızı ne kadar yol aldığına ya da nereden geldiğine değil,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içinde bulunduğu ortama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bağlıdır. Elmasın içinde 1,24·10⁸ m/s ile giden ışık, havaya çıktığı anda yeniden yaklaşık 3·10⁸ m/s ile ilerler. Yavaşlama bir yorgunluk değil, ortamın bir özelliğidir.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yavaşlaması neden yönünü de değiştirsin?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Asfalttan çimenliğe eğik giren bir oyuncak arabayı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 tekerlerden biri çimene önce değer ve yavaşlar; öteki hâlâ asfaltta hızla dönmektedir.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Hızlı taraf yavaş tarafın etrafında döner ve araba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normale 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 değiştirir.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Çimenlikten asfalta çıkarken tersi olur: araba normalden uzaklaşır.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demetinin genişliği boyunca uzanan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dalga cephesi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bu arabanın aks çizgisi gibidir: cephenin sınıra önce varan ucu yavaşlar, öteki ucu bir süre daha hızlı ilerler ve cephe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basit resimden dört kural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Yavaşlarsa yaklaşır: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az yoğundan çok yoğuna geçen ışın normale yaklaşır; kırılma açısı gelme açısından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Hızlanırsa uzaklaşır: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çok yoğundan az yoğuna geçen ışın normalden uzaklaşır; kırılma açısı büyür.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Dik gelirse sapmaz: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cephenin iki ucu sınıra aynı anda varır ve birlikte yavaşlar; dönme olmaz.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Yol tersinirdir: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ters yönde gönderilen ışın, geldiği yolu aynen geri izler.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216814" y="1234440"/>
            <a:ext cx="7758066" cy="3407283"/>
          </a:xfrm>
          <a:prstGeom prst="roundRect">
            <a:avLst>
              <a:gd name="adj" fmla="val 429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4.png">    </p:cNvPr>
          <p:cNvPicPr>
            <a:picLocks noChangeAspect="1"/>
          </p:cNvPicPr>
          <p:nvPr/>
        </p:nvPicPr>
        <p:blipFill>
          <a:blip r:embed="rId1"/>
          <a:stretch>
            <a:fillRect/>
          </a:stretch>
        </p:blipFill>
        <p:spPr>
          <a:xfrm>
            <a:off x="2445414" y="1325880"/>
            <a:ext cx="7300866" cy="3224403"/>
          </a:xfrm>
          <a:prstGeom prst="rect">
            <a:avLst/>
          </a:prstGeom>
        </p:spPr>
      </p:pic>
      <p:sp>
        <p:nvSpPr>
          <p:cNvPr id="8" name="Text 5"/>
          <p:cNvSpPr txBox="1"/>
          <p:nvPr/>
        </p:nvSpPr>
        <p:spPr>
          <a:xfrm>
            <a:off x="1249528" y="4824603"/>
            <a:ext cx="9692640" cy="1320165"/>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İkisi de aynı olayın sonucu. Sudan çıkan ışınlar yüzeyde kırılıp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normalden uzaklaşınca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göz onları düz bir çizgi boyunca geri izler ve cismi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olduğundan yukarıda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görür. Soldaki kesikli çizgi kaşığın gerçek yerini, mor çizgi senin gördüğün yerini gösteriyor: sudaki kısım yükseldiği için kaşık kırık, havuzun tabanı yükseldiği için havuz sığ görünür. Bu yüzden suya balıklama atlamadan önce derinliği gözle değil ölçerek bilmek gerekir.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Artık kaşığın sırrı çözülüyor.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Kaşığın sudaki kısmından çıkan ışınlar sudan havaya geçer, hızlanır ve normalden uzaklaşır.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ışınları düz bir çizgi boyunca geriye uzatır ve kaşığın sudaki kısmını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olduğundan yukarıda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Suyun dışındaki kısım yerinde göründüğü için iki parça yüzeyde düzgünce birleşmez ve kaşık kırık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Havuzun sığ görünmesi de aynı olaydır; ayrıntısı bir sonraki konu olan görünür derinlikte.</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yavaşladığı ortama geçerken normale yaklaşır, hızlandığı ortama geçerken normalden uzaklaşır. Sudan çıkan ışınlar normalden uzaklaştığı için kaşığın sudaki kısmı olduğundan yukarıda görünür.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kırılmanın yönünü sayıya dök, Snell yasasını dalga cephelerinden çıkar, hız ve dalga boyuna ne olduğunu gör.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Snell yasası ve nereden geldiği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ışın ne kadar kırılır?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Hız, dalga boyu ve frekans</a:t>
            </a:r>
            <a:endParaRPr lang="en-US" sz="1300" dirty="0"/>
          </a:p>
        </p:txBody>
      </p:sp>
      <p:sp>
        <p:nvSpPr>
          <p:cNvPr id="9" name="Text 7"/>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0" name="Shape 8"/>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1" name="Text 9"/>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 = c / v</a:t>
            </a:r>
            <a:endParaRPr lang="en-US" sz="1500" dirty="0"/>
          </a:p>
        </p:txBody>
      </p:sp>
      <p:sp>
        <p:nvSpPr>
          <p:cNvPr id="12" name="Text 10"/>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kırılma indisi</a:t>
            </a:r>
            <a:endParaRPr lang="en-US" sz="1200" dirty="0"/>
          </a:p>
        </p:txBody>
      </p:sp>
      <p:sp>
        <p:nvSpPr>
          <p:cNvPr id="13" name="Shape 11"/>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2350008"/>
            <a:ext cx="253288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n₁·sin i = n₂·sin r</a:t>
            </a:r>
            <a:endParaRPr lang="en-US" sz="1500" dirty="0"/>
          </a:p>
        </p:txBody>
      </p:sp>
      <p:sp>
        <p:nvSpPr>
          <p:cNvPr id="15" name="Text 13"/>
          <p:cNvSpPr txBox="1"/>
          <p:nvPr/>
        </p:nvSpPr>
        <p:spPr>
          <a:xfrm>
            <a:off x="9025128" y="2350008"/>
            <a:ext cx="234360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Snell yasası</a:t>
            </a:r>
            <a:endParaRPr lang="en-US" sz="1200" dirty="0"/>
          </a:p>
        </p:txBody>
      </p:sp>
      <p:sp>
        <p:nvSpPr>
          <p:cNvPr id="16" name="Shape 14"/>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λ = λ₀ / n</a:t>
            </a:r>
            <a:endParaRPr lang="en-US" sz="1500" dirty="0"/>
          </a:p>
        </p:txBody>
      </p:sp>
      <p:sp>
        <p:nvSpPr>
          <p:cNvPr id="18" name="Text 16"/>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ortamdaki dalga boyu</a:t>
            </a:r>
            <a:endParaRPr lang="en-US" sz="1200" dirty="0"/>
          </a:p>
        </p:txBody>
      </p:sp>
      <p:sp>
        <p:nvSpPr>
          <p:cNvPr id="19" name="Shape 17"/>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4087368"/>
            <a:ext cx="288950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n₂ / n₁</a:t>
            </a:r>
            <a:endParaRPr lang="en-US" sz="1500" dirty="0"/>
          </a:p>
        </p:txBody>
      </p:sp>
      <p:sp>
        <p:nvSpPr>
          <p:cNvPr id="21" name="Text 19"/>
          <p:cNvSpPr txBox="1"/>
          <p:nvPr/>
        </p:nvSpPr>
        <p:spPr>
          <a:xfrm>
            <a:off x="9381744" y="4087368"/>
            <a:ext cx="198699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a:t>
            </a:r>
            <a:endParaRPr lang="en-US" sz="1200" dirty="0"/>
          </a:p>
        </p:txBody>
      </p:sp>
      <p:sp>
        <p:nvSpPr>
          <p:cNvPr id="22" name="Shape 20"/>
          <p:cNvSpPr/>
          <p:nvPr/>
        </p:nvSpPr>
        <p:spPr>
          <a:xfrm>
            <a:off x="640080" y="6382512"/>
            <a:ext cx="128016" cy="128016"/>
          </a:xfrm>
          <a:prstGeom prst="roundRect">
            <a:avLst>
              <a:gd name="adj" fmla="val 28571"/>
            </a:avLst>
          </a:prstGeom>
          <a:solidFill>
            <a:srgbClr val="C6F36B"/>
          </a:solidFill>
          <a:ln/>
        </p:spPr>
      </p:sp>
      <p:sp>
        <p:nvSpPr>
          <p:cNvPr id="23"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24"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Kırılmanın yönünü biliyoruz; şimdi “ne kadar” sorusunu yanıtlayalım.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Gelme ve kırılma açıları, iki ortamın indisleriyle tek bir bağıntı üzerinden bağlıdır.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bağıntı, 1621'de onu deneylerle bulan Willebrord Snellius'un adını taşır; aynı ilişki 10. yüzyılda İbn Sehl'in mercekler üzerine yazdığı incelemede de geçer.</a:t>
            </a:r>
            <a:endParaRPr lang="en-US" sz="2200" dirty="0"/>
          </a:p>
        </p:txBody>
      </p:sp>
      <p:sp>
        <p:nvSpPr>
          <p:cNvPr id="7" name="Shape 5"/>
          <p:cNvSpPr/>
          <p:nvPr/>
        </p:nvSpPr>
        <p:spPr>
          <a:xfrm>
            <a:off x="640080" y="4114800"/>
            <a:ext cx="374538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14800"/>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n₁ · sin i = n₂ · sin 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2111910"/>
                <a:gridCol w="7039700"/>
                <a:gridCol w="175992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ışığın geldiği ortamın kırılma indisi (hava için 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ışığın geçtiği ortamın kırılma indisi (su için 4/3 ≈ 1,33)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gelme açısı: gelen ışının normalle yaptığı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kırılma açısı: kırılan ışının normalle yaptığı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sin i, sin 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bu açıların sinüsü; soruda verilir (ör. sin53° = 0,8)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Az yoğundan çok yoğuna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(n₁ &lt; n₂): ışın normale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yaklaşır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 &lt; 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(n₁ &gt; n₂): ışın normalden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uzaklaşır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 &gt; i.</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i = 0 ise r = 0: dik gelen ışın kırılmaz.</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 nereden geliyor?</a:t>
            </a:r>
            <a:endParaRPr lang="en-US" sz="2200" dirty="0"/>
          </a:p>
        </p:txBody>
      </p:sp>
      <p:sp>
        <p:nvSpPr>
          <p:cNvPr id="8" name="Text 6"/>
          <p:cNvSpPr txBox="1"/>
          <p:nvPr/>
        </p:nvSpPr>
        <p:spPr>
          <a:xfrm>
            <a:off x="640080" y="1892808"/>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Snell yasasını bir önceki bölümdeki dönen cephe resminden birkaç adımda çıkarabilirsin.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dalga cephesinin A ucu sınıra değmiş, B ucu ise sınıra hâlâ BD kadar uzakta olsun.</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Aynı süre: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 ucu D'ye varana kadar t süresi geçer: BD = v₁·t. Bu sürede A ucu ikinci ortamda AC = v₂·t kadar ilerler.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 dik üçgen: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AD, sınır üzerindeki ortak kenardır. Cephe sınırla i açısı yaptığı için sin i = BD/AD; aynı biçimde sin r = AC/AD.</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Oranı 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 i / sin r = BD/AC = v₁/v₂. Ortak kenar AD sadeleşir.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İndise çevir: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 = c/n olduğundan v₁/v₂ = n₂/n₁. Buradan n₁·sin i = n₂·sin r çıkar.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Hatırlatma: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Açılar yine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normalle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ölçülür. Soruda “yüzeyle 30° açı yapıyor” deniyorsa gelme açısı 60°'dir.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5.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Snell yasası her iki yönde de aynıdır: n₁·sin i = n₂·sin r. Hangi tarafın indisi büyükse, o taraftaki açı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küçüktür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yani ışın yoğun ortamda normale daha yakın gider. Bunu ezberlemek yerine şöyle düşün: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yavaşlayan taraf normale yanaşır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Bağıntıyı uç durumlarla sına.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ortamın indisi eşitse sin i = sin r çıkar ve ışın hiç sapmaz: cam bir çubuk, indisi camınkine eşit bir yağa daldırılınca neredeyse görünmez olur. i = 0 için de sin r = 0 çıkar; dik gelen ışın düz geçer.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Snell yasası n₁·sin i = n₂·sin r, dalga cephesinin iki ucunun farklı hızlarından çıkar. İndisi büyük taraftaki açı küçüktür; indisler eşitse ışın hiç sapmaz.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bölümündeki Snell laboratuvarında havadan suya 45° ile gönderilen ışın suda 32,1° ile ilerler.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ışın cama ya da elmasa girseydi ne olurdu?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Snell yasasıyla hesaplanmış değerler (ışın havadan geliyor; su için n = 1,33, cam için 1,50, elmas için 2,42):</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6387240"/>
                <a:gridCol w="1330675"/>
                <a:gridCol w="1330675"/>
                <a:gridCol w="186294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Gelme açısı (havada)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Suda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Camda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Elmasta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22,1°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19,5°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32,1°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28,1°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17,0°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35,3°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21,0°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90°'ye yakın (yalayarak)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48,8°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41,8°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24,4°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dört düzen okunur:</a:t>
            </a:r>
            <a:endParaRPr lang="en-US" sz="2200" dirty="0"/>
          </a:p>
        </p:txBody>
      </p:sp>
      <p:sp>
        <p:nvSpPr>
          <p:cNvPr id="7" name="Text 5"/>
          <p:cNvSpPr txBox="1"/>
          <p:nvPr/>
        </p:nvSpPr>
        <p:spPr>
          <a:xfrm>
            <a:off x="640080" y="200406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İndis büyüdükçe sapma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45°'lik ışın suda 13°, elmasta 28° kadar normale yaklaşıyor.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Açılar orantılı değil: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gelme açısı 30°'den 60°'ye çıkınca sudaki açı 22,1°'den 40,6°'ye çıkıyor; orantılı olan sinüslerdir.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Bir tavan var: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ışın suya yüzeyi yalayarak girse bile sudaki açı 48,8°'yi geçemiyor.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Küçük açılarda kısa yol: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açı küçükken r ≈ i / n yazılabilir; 10° ile suya giren ışın yaklaşık 7,5° ile ilerler.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580488" y="1234440"/>
            <a:ext cx="703072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6.png">    </p:cNvPr>
          <p:cNvPicPr>
            <a:picLocks noChangeAspect="1"/>
          </p:cNvPicPr>
          <p:nvPr/>
        </p:nvPicPr>
        <p:blipFill>
          <a:blip r:embed="rId1"/>
          <a:stretch>
            <a:fillRect/>
          </a:stretch>
        </p:blipFill>
        <p:spPr>
          <a:xfrm>
            <a:off x="2809088" y="1325880"/>
            <a:ext cx="657352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ışın havadan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45°</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ile üç farklı ortama giriyor. İndis büyüdükçe kırılan ışın normale daha çok yaklaşır. Yeşil dilim, ışının noktalı çizgiyle gösterilen düz yolundan ne kadar saptığını gösterir: sapma suda 13°, elmasta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28°</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Üçüncü madde tam yansımanın habercisidir: 48,8° sayısını üçüncü basamakta yeniden göreceğiz.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ise bir sonraki konunun, görünür derinliğin temelidir: dike yakın bakışta açılar küçüktür ve hesap basit bir bölmeye iner.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Suya giren yeşil lazer ışını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yüzeye çarptığı noktada bükülüyor ve suyun içinde daha dik bir yol izliyor; su ışığı yavaşlattığı için ışın normale yaklaşır. Giriş noktasından yukarı dönen soluk ışın, kırılmada ışığın bir kısmının her zaman yansıdığını gösterir. Ne kadar büküleceğini Snell yasası belirler: tablodaki gibi havadan 60° ile gelen ışın suda 40,6° ile ilerler, yani normale yalnızca 20° kadar yaklaşır.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İndis büyüdükçe aynı ışın normale daha çok yaklaşır. Açılar değil sinüsleri orantılıdır; havadan suya giren ışın hiçbir zaman 48,8°'den büyük açıyla ilerleyemez.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Havadan suya 30° ile giren ışın suda 22,1° ile gidiyor. Sudan havaya 22,1° ile çıkan ışın havada kaç derece yapar?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ışın ne kadar kırılır?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Havadan suya 30° ile giren ışın suda 22,1° ile gidiyor. Sudan havaya 22,1° ile çıkan ışın havada kaç derece yapar?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Tam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30°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Işık yolunun tersinirliği gereği, ters yönde gönderilen ışın aynı yolu geri izler. Snell yasası da bunu söyler: 1,33·sin 22,1° = 1·sin r bağıntısı, ilk hesabın tersten okunuşudur. Tablodaki her satır iki yönde de geçerlidir.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bir dalgadır ve her dalganın üç temel büyüklüğü vardır: saniyede kaç titreşim yaptığını söyleyen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frekans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 ardışık iki tepe arasındaki uzaklık olan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dalga boyu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(λ) ve ilerleme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Üçü v = λ·f bağıntısıyla bağlıdır.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Kırılmada değişenler ve değişmeyenler: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117581"/>
                <a:gridCol w="779395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Büyüklük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Kırılmada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Frekans (f)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değişmez — kaynağa bağlıdır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Hız (v)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değişir: v = c/n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Dalga boyu (λ)</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değişir: λ = λ₀/n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Renk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değişmez (frekans değişmediği için)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637026"/>
            <a:ext cx="1799539" cy="585216"/>
          </a:xfrm>
          <a:prstGeom prst="roundRect">
            <a:avLst>
              <a:gd name="adj" fmla="val 18750"/>
            </a:avLst>
          </a:prstGeom>
          <a:solidFill>
            <a:srgbClr val="EEF2FC"/>
          </a:solidFill>
          <a:ln w="9525">
            <a:solidFill>
              <a:srgbClr val="CBD7F4"/>
            </a:solidFill>
            <a:prstDash val="solid"/>
          </a:ln>
        </p:spPr>
      </p:sp>
      <p:sp>
        <p:nvSpPr>
          <p:cNvPr id="8" name="Text 5"/>
          <p:cNvSpPr txBox="1"/>
          <p:nvPr/>
        </p:nvSpPr>
        <p:spPr>
          <a:xfrm>
            <a:off x="640080" y="363702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λ · f</a:t>
            </a:r>
            <a:endParaRPr lang="en-US" sz="1800" dirty="0"/>
          </a:p>
        </p:txBody>
      </p:sp>
      <p:sp>
        <p:nvSpPr>
          <p:cNvPr id="9" name="Shape 6"/>
          <p:cNvSpPr/>
          <p:nvPr/>
        </p:nvSpPr>
        <p:spPr>
          <a:xfrm>
            <a:off x="2585923" y="3637026"/>
            <a:ext cx="3467405" cy="585216"/>
          </a:xfrm>
          <a:prstGeom prst="roundRect">
            <a:avLst>
              <a:gd name="adj" fmla="val 18750"/>
            </a:avLst>
          </a:prstGeom>
          <a:solidFill>
            <a:srgbClr val="EEF2FC"/>
          </a:solidFill>
          <a:ln w="9525">
            <a:solidFill>
              <a:srgbClr val="CBD7F4"/>
            </a:solidFill>
            <a:prstDash val="solid"/>
          </a:ln>
        </p:spPr>
      </p:sp>
      <p:sp>
        <p:nvSpPr>
          <p:cNvPr id="10" name="Text 7"/>
          <p:cNvSpPr txBox="1"/>
          <p:nvPr/>
        </p:nvSpPr>
        <p:spPr>
          <a:xfrm>
            <a:off x="2585923" y="3637026"/>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n₁/n₂ = v₂/v₁ = λ₂/λ₁</a:t>
            </a:r>
            <a:endParaRPr lang="en-US" sz="1800" dirty="0"/>
          </a:p>
        </p:txBody>
      </p:sp>
      <p:sp>
        <p:nvSpPr>
          <p:cNvPr id="12" name="Shape 8"/>
          <p:cNvSpPr/>
          <p:nvPr/>
        </p:nvSpPr>
        <p:spPr>
          <a:xfrm>
            <a:off x="640080" y="6382512"/>
            <a:ext cx="128016" cy="128016"/>
          </a:xfrm>
          <a:prstGeom prst="roundRect">
            <a:avLst>
              <a:gd name="adj" fmla="val 28571"/>
            </a:avLst>
          </a:prstGeom>
          <a:solidFill>
            <a:srgbClr val="A9E648"/>
          </a:solidFill>
          <a:ln/>
        </p:spPr>
      </p:sp>
      <p:sp>
        <p:nvSpPr>
          <p:cNvPr id="13"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4"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Frekans neden değişmez?</a:t>
            </a:r>
            <a:endParaRPr lang="en-US" sz="2200" dirty="0"/>
          </a:p>
        </p:txBody>
      </p:sp>
      <p:sp>
        <p:nvSpPr>
          <p:cNvPr id="8" name="Text 6"/>
          <p:cNvSpPr txBox="1"/>
          <p:nvPr/>
        </p:nvSpPr>
        <p:spPr>
          <a:xfrm>
            <a:off x="640080" y="1892808"/>
            <a:ext cx="10911535" cy="248259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Sınırda kopukluk olmaz: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sınırın iki yanındaki dalga, sınır üzerinde aynı anda aynı biçimde titreşmek zorundadır.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Giren cephe = çıkan cephe: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sınırdan saniyede kaç cephe giriyorsa öteki yandan o kadar çıkar; frekans kaynağın frekansıdır.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Hız düşerse dalga boyu kısalır: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sabitken v = λ·f bağıntısında v küçülürse λ da aynı oranda küçülür: λ = λ₀/n.</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Cephe modeli kırılmayı sezgisel yapar: dalga cephesinin bir ucu yavaşlarken öteki ucu hızlı gittiği için cephe döner ve ışın yön değiştirir.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bunu canlı izleyebilirsin: havada 600 nm olan dalga boyu camda 400 nm'ye iner, frekans 5,0·10¹⁴ Hz'de kalır.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795478" y="1234440"/>
            <a:ext cx="860073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7.png">    </p:cNvPr>
          <p:cNvPicPr>
            <a:picLocks noChangeAspect="1"/>
          </p:cNvPicPr>
          <p:nvPr/>
        </p:nvPicPr>
        <p:blipFill>
          <a:blip r:embed="rId1"/>
          <a:stretch>
            <a:fillRect/>
          </a:stretch>
        </p:blipFill>
        <p:spPr>
          <a:xfrm>
            <a:off x="2024078" y="1325880"/>
            <a:ext cx="814353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Dalga cepheleri yoğun ortama girince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sıklaşır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hız düştüğü için aynı sürede daha kısa yol alınır, yani dalga boyu küçülür.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frekans değişmez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saniyede kaç cephenin sınırdan geçtiği, kaynağın saniyede kaç dalga ürettiğine bağlıdır ve ortam bunu değiştiremez. Rengin değişmemesinin sebebi de budur: renk frekansla belirlenir.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Kırılmada frekans ve renk değişmez; hız v = c/n, dalga boyu λ = λ₀/n olur. Hız ve dalga boyu aynı oranda küçüldüğü için v = λ·f bağıntısı her ortamda sağlanır.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Sığ ve berrak bir havuzun dibindeki kırmızı top, suyun altından bakan dalgıca neden yine kırmızı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Hız, dalga boyu ve frekans</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Sığ ve berrak bir havuzun dibindeki kırmızı top, suyun altından bakan dalgıca neden yine kırmızı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Rengi belirleyen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frekanstır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ve kırılmada frekans değişmez. Işık suda yavaşlar ve dalga boyu kısalır, ama göz ışığın frekansına göre renk algılar. Derin suda kırmızının soluklaşması başka bir olaydır: su, kırmızı ışığı yol boyunca soğurur.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Snell yasası çözümsüz kalınca, ışık levhadan ve katman katman havadan geçince, kırılma gerçek hayata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Tam yansıma ve sınır açı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Paralel kenarlı levhada yandan kayma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Katman katman kırılma: serap ve atmosfer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Kırılma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kirilma-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Elmasın parıltısı</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çok yoğun ortamdan az yoğun ortama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geçerken kırılma açısı gelme açısından büyüktür.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Gelme açısı artırıldıkça kırılan ışın yüzeye yaklaşır; belli bir açıda kırılma açısı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90°</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açıya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sınır açı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Snell yasasına r = 90° koyarsan bağıntısı hemen çıkar: sin 90° = 1 olduğundan n₁·sin θ = n₂.</a:t>
            </a:r>
            <a:endParaRPr lang="en-US" sz="2200" dirty="0"/>
          </a:p>
        </p:txBody>
      </p:sp>
      <p:sp>
        <p:nvSpPr>
          <p:cNvPr id="7" name="Shape 5"/>
          <p:cNvSpPr/>
          <p:nvPr/>
        </p:nvSpPr>
        <p:spPr>
          <a:xfrm>
            <a:off x="640080" y="4591812"/>
            <a:ext cx="36063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591812"/>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θ(sınır) = n₂ / n₁</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Gelme açısı sınır açıdan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büyükse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ışık ortamı terk edemez; tamamı yansır. Buna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tam yansıma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denir.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Tam yansıma yalnızca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geçişte olur.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Su–hava için sınır açı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48,8°</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cam–hava için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41,8°</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elmas–hava için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24,4°</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Önceki basamaktaki tablonun “tavanı” burada anlam kazanıyor.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Havadan suya yalayarak giren ışın suda 48,8° ile ilerliyordu; yol tersinir olduğu için sudan 48,8° ile gelen ışın da havada yüzeyi yalar.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Daha büyük bir açı için Snell yasası sin r &gt; 1 ister; hiçbir açının sinüsü 1'i aşamayacağı için kırılan ışın yoktur ve ışığın tamamı geri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açıyı adım adım büyüt: sınır açıya yaklaştıkça kırılan ışığın payı azalır.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Elmasın parlaklığı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bu küçük sınır açıdan gelir: içeri giren ışık defalarca tam yansımaya uğrar ve ancak belirli yüzlerden dışarı çıkabilir. Fiber optik kablo da aynı ilkeyle çalışır.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873689" y="1234440"/>
            <a:ext cx="844431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8.png">    </p:cNvPr>
          <p:cNvPicPr>
            <a:picLocks noChangeAspect="1"/>
          </p:cNvPicPr>
          <p:nvPr/>
        </p:nvPicPr>
        <p:blipFill>
          <a:blip r:embed="rId1"/>
          <a:stretch>
            <a:fillRect/>
          </a:stretch>
        </p:blipFill>
        <p:spPr>
          <a:xfrm>
            <a:off x="2102289" y="1325880"/>
            <a:ext cx="798711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Yoğun ortamdan çıkarken ışın normalden uzaklaşır; geliş açısını büyüttükçe kırılan ışın yüzeye iyice yatar.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Sınır açıda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kırılma açısı 90° olur ve ışın tam yüzey boyunca gider. Bu açıyı bir derece bile aşarsan ışık dışarı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çıkamaz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tamamen geri yansır. Fiber optik kabloların, elmasın parıltısının ve serapların ortak sırrı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Çok yoğundan az yoğuna geçişte gelme açısı sınır açıyı (sin θ = n₂/n₁) aşarsa kırılan ışın kalmaz, ışığın tamamı yansır. Sınır açı su–hava için 48,8°, elmas–hava için 24,4°'dir.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Havadan suya giren ışında tam yansıma neden hiçbir açıda olmaz?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Tam yansıma ve sınır açı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Havadan suya giren ışında tam yansıma neden hiçbir açıda olmaz?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Havadan suya geçen ışın yavaşlar ve normale yaklaşır; kırılma açısı her zaman gelme açısından küçüktür. Snell yasasından sin r = sin i / 1,33 çıkar ve bu değer hiçbir zaman 1'i geçemez. Kırılan ışın her açıda vardır; tam yansıma için ışığın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yoğun ortamın içinden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gelmesi gerekir.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paralel yüzlü bir cam levhaya girerken normale yaklaşır, çıkarken aynı açıyla uzaklaşır.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Sonuçta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çıkan ışın gelen ışına paraleldir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ama yanal olarak kaymıştır:</a:t>
            </a:r>
            <a:endParaRPr lang="en-US" sz="2200" dirty="0"/>
          </a:p>
        </p:txBody>
      </p:sp>
      <p:sp>
        <p:nvSpPr>
          <p:cNvPr id="7" name="Shape 5"/>
          <p:cNvSpPr/>
          <p:nvPr/>
        </p:nvSpPr>
        <p:spPr>
          <a:xfrm>
            <a:off x="640080" y="2866644"/>
            <a:ext cx="416234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 = t · sin(i − r) / cos 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 nereden geliyor?</a:t>
            </a:r>
            <a:endParaRPr lang="en-US" sz="2200" dirty="0"/>
          </a:p>
        </p:txBody>
      </p:sp>
      <p:sp>
        <p:nvSpPr>
          <p:cNvPr id="8" name="Text 6"/>
          <p:cNvSpPr txBox="1"/>
          <p:nvPr/>
        </p:nvSpPr>
        <p:spPr>
          <a:xfrm>
            <a:off x="640080" y="1892808"/>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Girişte: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ışın levhaya i ile gelir, içeride sin r = sin i / n ile bulunan r açısıyla ilerler.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Çıkışta: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alt yüz üst yüze paralel olduğu için ışın alt yüze yine r ile gelir ve havaya i ile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Levhadaki yol: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 kalınlığındaki levhada ışının aldığı yol L = t / cos r'dir.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Kayma: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yol gelen ışının uzantısıyla (i − r) açısı yapar; aradaki dik uzaklık d = L·sin(i − r) olur.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Kalınlık ve gelme açısı arttıkça kayma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Dik gelişte (i = 0) kayma sıfırdır.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bölümündeki başlangıç değerleriyle, yani 6 cm kalınlığında ve indisi 1,5 olan bir levha için hesap şunu veriyor: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334080"/>
                <a:gridCol w="3940277"/>
                <a:gridCol w="363717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Gelme açısı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Levhadaki 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Yandan kayma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19,5°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2,3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70°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38,8°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80°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41,0°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Kayma açıyla hızla büyüyor ve yüzeyi yalayan ışında levhanın kalınlığına, yani 6 cm'ye yaklaşıyor: i = 90° için sin(90° − r) = cos r olur ve formül d = t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İnce levhalarda ise kayma küçüktür: 4 mm'lik pencere camında 45°'lik ışın yalnızca 1,3 mm kadar kayar.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056800" y="1234440"/>
            <a:ext cx="8078095"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09.png">    </p:cNvPr>
          <p:cNvPicPr>
            <a:picLocks noChangeAspect="1"/>
          </p:cNvPicPr>
          <p:nvPr/>
        </p:nvPicPr>
        <p:blipFill>
          <a:blip r:embed="rId1"/>
          <a:stretch>
            <a:fillRect/>
          </a:stretch>
        </p:blipFill>
        <p:spPr>
          <a:xfrm>
            <a:off x="2285400" y="1325880"/>
            <a:ext cx="7620895"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Levhaya giren ışın normale yaklaşır, çıkarken tam o kadar normalden uzaklaşır: iki kırılma birbirini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götürür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çıkan ışın gelenle paraleldir. Değişen tek şey ışının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yana kaymasıdır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Kayma miktarı levha kalınlaştıkça ve geliş açısı büyüdükçe artar: d = t·sin(i − r)/cos r. Kalın bir cam arkasından bakınca cisimlerin hafifçe kaymış görünmesinin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Paralel kenarlı levhadan çıkan ışın gelene paraleldir, yalnızca d = t·sin(i − r)/cos r kadar yana kayar. Kayma kalınlık, açı ve indisle artar; dik gelişte sıfırdır.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Levhanın indisi büyütülürse aynı açıyla gelen ışının kayması artar mı, azalır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Paralel kenarlı levhada yandan kayma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Levhanın indisi büyütülürse aynı açıyla gelen ışının kayması artar mı, azalır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Artar.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İndis büyüdükçe ışın levhanın içinde normale daha çok yaklaşır, r küçülür ve (i − r) farkı büyür. 6 cm'lik levhaya 50° ile gelen ışının kayması n = 1,5'te 2,3 cm iken n = 2'de yaklaşık 3,0 cm olur.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tek bir sınırdan değil, üst üste birçok paralel katmandan geçerse ne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Snell yasası her sınırda yeniden uygulanır ve bir sınırın sağ tarafı bir sonrakinin sol tarafı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 sade ve güçlüdür:</a:t>
            </a:r>
            <a:endParaRPr lang="en-US" sz="2200" dirty="0"/>
          </a:p>
        </p:txBody>
      </p:sp>
      <p:sp>
        <p:nvSpPr>
          <p:cNvPr id="7" name="Shape 5"/>
          <p:cNvSpPr/>
          <p:nvPr/>
        </p:nvSpPr>
        <p:spPr>
          <a:xfrm>
            <a:off x="640080" y="3729228"/>
            <a:ext cx="3467405"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n₁·sin θ₁ = n₂·sin θ₂</a:t>
            </a:r>
            <a:endParaRPr lang="en-US" sz="1800" dirty="0"/>
          </a:p>
        </p:txBody>
      </p:sp>
      <p:sp>
        <p:nvSpPr>
          <p:cNvPr id="9" name="Shape 7"/>
          <p:cNvSpPr/>
          <p:nvPr/>
        </p:nvSpPr>
        <p:spPr>
          <a:xfrm>
            <a:off x="4253789" y="3729228"/>
            <a:ext cx="3467405"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253789" y="3729228"/>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n₂·sin θ₂ = n₃·sin θ₃</a:t>
            </a:r>
            <a:endParaRPr lang="en-US" sz="1800" dirty="0"/>
          </a:p>
        </p:txBody>
      </p:sp>
      <p:sp>
        <p:nvSpPr>
          <p:cNvPr id="11" name="Shape 9"/>
          <p:cNvSpPr/>
          <p:nvPr/>
        </p:nvSpPr>
        <p:spPr>
          <a:xfrm>
            <a:off x="7867498" y="3729228"/>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867498" y="3729228"/>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sin θ = sabit</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Yani paralel katmanlarda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n·sin θ çarpımı korunur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Işının son ortamdaki açısı yalnızca ilk ve son ortamın indisine bağlıdır; aradaki katmanlar ışını kaydırır ama son doğrultuyu değiştirmez.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da böyle bir katmanlar yığını gibi davranabilir: sıcak hava daha seyrektir ve indisi biraz daha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İndis yavaş yavaş değişince ışın kırık bir çizgi yerine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eğri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yol izler ve hep indisin büyük olduğu tarafa doğru bükülür.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Serap: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asfaltın üstündeki sıcak havaya yatık inen ışın, indisi azalan katmanlarda normalden uzaklaşır ve yere değmeden yukarı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Batan Güneş: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atmosfer ufka yakın ışınları yaklaşık yarım derece büker; bu, Güneş'in görünen çapı kadardır.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Titreyen yıldızlar: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karışan sıcak ve soğuk hava hücreleri, yıldızdan gelen ince ışın demetini sürekli farklı yönlere saptırır.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Havaya kalkan gemiler: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soğuk denizin üstünde durum tersine döner; ışın aşağı bükülür, uzaktaki cisimler yükselmiş görünebilir.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Serapta göz, yukarı dönüp kendisine gelen ışını yoldan gelmiş sanır ve yolda gökyüzünün parlak görüntüsünü, yani “su”yu görür.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 basamaktaki görselde arabanın altında beliren ters görüntü, olayın bir yansıma gibi davrandığını gösterir.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2813313" y="1234440"/>
            <a:ext cx="6565070"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10.png">    </p:cNvPr>
          <p:cNvPicPr>
            <a:picLocks noChangeAspect="1"/>
          </p:cNvPicPr>
          <p:nvPr/>
        </p:nvPicPr>
        <p:blipFill>
          <a:blip r:embed="rId1"/>
          <a:stretch>
            <a:fillRect/>
          </a:stretch>
        </p:blipFill>
        <p:spPr>
          <a:xfrm>
            <a:off x="3041913" y="1325880"/>
            <a:ext cx="6107870"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Işık serin havadan sıcak havaya indikçe her sınırda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normalden biraz daha uzaklaşır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n·sin θ çarpımı korunduğu için n küçüldükçe θ büyür. En sıcak katmana giremeden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yukarı döner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gözüne aşağıdan gelir. Göz bu ışını düz bir çizgi boyunca geri uzatır (mor kesikli çizgi) ve gökyüzünün görüntüsünü yolda parlak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gibi görür.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ek2-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Batan Güneş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ufka yaklaştığında genişliği aynı kalırken dikey yönde kısalır ve basık bir disk gibi görünür. Ufka yakın ışınlar atmosferin katmanlarından geçerken indisin büyük olduğu tarafa, aşağıya doğru bükülür; diskin alt kenarından gelen ışık daha yoğun katmanlardan geçtiği için daha çok bükülür ve alt kenar üst kenardan daha çok yükselmiş görünür. Buradaki basıklık abartılıdır: gerçek bir gün batımında disk dikey yönde yalnızca altıda bir kadar kısalır.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Paralel katmanlarda n·sin θ çarpımı korunur; indis yavaş değişince ışın indisi büyük tarafa bükülen bir eğri çizer. Serap, batan Güneş'in yükselmesi ve yıldızların titremesi bundandır.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Güneş batarken ufka değdiğini gördüğün anda Güneş gerçekte nerededir?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Katman katman kırılma: serap ve atmosfer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Güneş batarken ufka değdiğini gördüğün anda Güneş gerçekte nerededir?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Neredeyse tamamen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ufkun altındadır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Atmosfer ufka yakın ışınları yere doğru yaklaşık yarım derece büker; bu, Güneş'in görünen çapı kadardır. Göz son doğrultuyu geriye uzattığı için Güneş'i olduğundan yukarıda görürsün; bu yüzden gündüz, atmosfer olmasaydı olacağından birkaç dakika uzun sürer.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Kırılma yalnızca göz yanılgısı üretmez; insanlar onu yüzyıllardır bilerek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 toplayan, yönlendiren ya da hapseden her optik aracın arkasında iki seçim vardır: indisi uygun bir malzeme ve Snell yasasıyla hesaplanmış bir yüzey şekli.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Gözün kendisi: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gözün odaklama gücünün yaklaşık üçte ikisini, havayla sınırdaki saydam kornea tabakası sağlar.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Su altında bulanık görme: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kornea (n ≈ 1,38) ile su (1,33) arasındaki fark küçüktür; kornea ışığı neredeyse kırmaz.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Gözlük ve mercekler: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kırılmayı eğri yüzeylerle kontrollü kullanır; yüksek indisli cam aynı gücü daha ince mercekle verir.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Fiber optik: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çekirdekte (n ≈ 1,47) tam yansımayla hapsolan ışık, 1000 km'lik hattı yaklaşık 5 milisaniyede geçer.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Gökkuşağı: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güneş ışığı damlaya girerken kırılır, arka yüzde yansır, çıkarken yeniden kırılır; indis renge bağlı olduğu için renkler ayrılır.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Elmas ve cam taş: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elmasın sınır açısı 24,4°, camınki 41,8°; aynı kesimdeki cam taştan ışık alttan kaçar.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427615" y="1234440"/>
            <a:ext cx="733646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kirilma-11.png">    </p:cNvPr>
          <p:cNvPicPr>
            <a:picLocks noChangeAspect="1"/>
          </p:cNvPicPr>
          <p:nvPr/>
        </p:nvPicPr>
        <p:blipFill>
          <a:blip r:embed="rId1"/>
          <a:stretch>
            <a:fillRect/>
          </a:stretch>
        </p:blipFill>
        <p:spPr>
          <a:xfrm>
            <a:off x="2656215" y="1325880"/>
            <a:ext cx="687926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kesimde, aynı ışın alt yüze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40°</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ile çarpıyor. Elmasın sınır açısı 24,4° olduğu için ışın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tam yansır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karşı yüzden bir kez daha yansır ve üstten çıkar. Camın sınır açısı 41,8°; 40° bundan küçük olduğu için ışın alttan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kaçar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cam taş daha sönük görünür.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Gökkuşağındaki yansıma çoğu zaman “tam yansıma” diye anlatılır, ama öyle değildir: damlanın arka yüzüne gelen ışının açısı yaklaşık 40°'dir ve suyun 48,8°'lik sınır açısından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bir kısmı damladan arkaya kaçar, bir kısmı yansıyıp geri döner.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Göz, gözlük, fiber optik, gökkuşağı ve elmas kırılmanın iki yüzünü kullanır: ışığı saptırmak için indis farkını, ışığı hapsetmek için sınır açıyı.</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pırlanta kesimi camdan yapılırsa neden elmas kadar parlamaz?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Kırılma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pırlanta kesimi camdan yapılırsa neden elmas kadar parlamaz?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Camın sınır açısı 41,8°, elmasınki 24,4°'dir. Cam taşın alt yüzlerine gelen ışınların önemli bir kısmı 41,8°'den küçük açıyla çarpar ve tam yansımak yerine alttan dışarı kaçar. Üstten gözüne dönen ışık azalır; cam renkleri elmas kadar ayırmadığı için renkli ışıltı da zayıftır.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kırılma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Snell yasası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Hız ve dalga boyu</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Sınır açı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Sudan havaya: kırılır mı, yansır 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Yandan kayma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Cam levhadan suya geçen ışın</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Havuz lambasının ışık dairesi</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Snell yasası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Havadan (n = 1) suya (n = 4/3) 53° ile giren ışının kırılma açısını bulunuz. (sin53° = 0,8)</a:t>
            </a:r>
            <a:endParaRPr lang="en-US" sz="2000" dirty="0"/>
          </a:p>
        </p:txBody>
      </p:sp>
      <p:sp>
        <p:nvSpPr>
          <p:cNvPr id="11" name="Shape 9"/>
          <p:cNvSpPr/>
          <p:nvPr/>
        </p:nvSpPr>
        <p:spPr>
          <a:xfrm>
            <a:off x="2537090" y="3121152"/>
            <a:ext cx="7117515"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kirilma-12.png">    </p:cNvPr>
          <p:cNvPicPr>
            <a:picLocks noChangeAspect="1"/>
          </p:cNvPicPr>
          <p:nvPr/>
        </p:nvPicPr>
        <p:blipFill>
          <a:blip r:embed="rId1"/>
          <a:stretch>
            <a:fillRect/>
          </a:stretch>
        </p:blipFill>
        <p:spPr>
          <a:xfrm>
            <a:off x="2765690" y="3230880"/>
            <a:ext cx="6660315"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Snell yasası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Havadan (n = 1) suya (n = 4/3) 53° ile giren ışının kırılma açısını bulunuz. (sin53° = 0,8)</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 (hava)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4/3 (su)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53°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sin53° = 0,8</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sin37° = 0,6</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kırılma açısı r</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Snell yasası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n₁·sin i = n₂·sin r → 1 · 0,8 = (4/3) · sin 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r = 0,8 · 3/4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0,6</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Snell yasası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37°</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Işın normale yaklaştı: beklenen sonuç, çünkü su daha yoğun.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 ve dalga boyu</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Dalga boyu havada 600 nm olan ışık, kırılma indisi 1,5 olan cama giriyor. Camdaki hızı ve dalga boyu nedir?</a:t>
            </a:r>
            <a:endParaRPr lang="en-US" sz="2000" dirty="0"/>
          </a:p>
        </p:txBody>
      </p:sp>
      <p:sp>
        <p:nvSpPr>
          <p:cNvPr id="11" name="Shape 9"/>
          <p:cNvSpPr/>
          <p:nvPr/>
        </p:nvSpPr>
        <p:spPr>
          <a:xfrm>
            <a:off x="2472268" y="3121152"/>
            <a:ext cx="7247159"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kirilma-13.png">    </p:cNvPr>
          <p:cNvPicPr>
            <a:picLocks noChangeAspect="1"/>
          </p:cNvPicPr>
          <p:nvPr/>
        </p:nvPicPr>
        <p:blipFill>
          <a:blip r:embed="rId1"/>
          <a:stretch>
            <a:fillRect/>
          </a:stretch>
        </p:blipFill>
        <p:spPr>
          <a:xfrm>
            <a:off x="2700868" y="3230880"/>
            <a:ext cx="6789959"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 ve dalga boyu</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Dalga boyu havada 600 nm olan ışık, kırılma indisi 1,5 olan cama giriyor. Camdaki hızı ve dalga boyu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λ₀ = 600 nm (havadaki dalga boyu)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 (cam)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 3·10⁸ m/s</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camdaki hız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camdaki dalga boyu λ</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 ve dalga boyu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c/n = 3·10⁸ / 1,5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2·10⁸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λ = λ₀/n = 600/1,5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400 nm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 ve dalga boyu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v/λ = 2·10⁸ / 400·10⁻⁹ = 5·10¹⁴ Hz</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Havadaki frekans da 3·10⁸/600·10⁻⁹ = 5·10¹⁴ Hz ✓ frekans değişmedi.</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920496"/>
          </a:xfrm>
          <a:prstGeom prst="roundRect">
            <a:avLst>
              <a:gd name="adj" fmla="val 158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463296"/>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Kırılma indisi 2 olan bir ortamdan havaya geçişte sınır açı kaç derecedir?</a:t>
            </a:r>
            <a:endParaRPr lang="en-US" sz="2000" dirty="0"/>
          </a:p>
        </p:txBody>
      </p:sp>
      <p:sp>
        <p:nvSpPr>
          <p:cNvPr id="11" name="Shape 9"/>
          <p:cNvSpPr/>
          <p:nvPr/>
        </p:nvSpPr>
        <p:spPr>
          <a:xfrm>
            <a:off x="2133012" y="2767584"/>
            <a:ext cx="7925671" cy="3486912"/>
          </a:xfrm>
          <a:prstGeom prst="roundRect">
            <a:avLst>
              <a:gd name="adj" fmla="val 419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kirilma-14.png">    </p:cNvPr>
          <p:cNvPicPr>
            <a:picLocks noChangeAspect="1"/>
          </p:cNvPicPr>
          <p:nvPr/>
        </p:nvPicPr>
        <p:blipFill>
          <a:blip r:embed="rId1"/>
          <a:stretch>
            <a:fillRect/>
          </a:stretch>
        </p:blipFill>
        <p:spPr>
          <a:xfrm>
            <a:off x="2361612" y="2877312"/>
            <a:ext cx="7468471" cy="3267456"/>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1143000"/>
          </a:xfrm>
          <a:prstGeom prst="roundRect">
            <a:avLst>
              <a:gd name="adj" fmla="val 1280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594360"/>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Kırılma indisi 2 olan bir ortamdan havaya geçişte sınır açı kaç derecedir?</a:t>
            </a:r>
            <a:endParaRPr lang="en-US" sz="2000" dirty="0"/>
          </a:p>
        </p:txBody>
      </p:sp>
      <p:sp>
        <p:nvSpPr>
          <p:cNvPr id="11" name="Shape 9"/>
          <p:cNvSpPr/>
          <p:nvPr/>
        </p:nvSpPr>
        <p:spPr>
          <a:xfrm>
            <a:off x="640080"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154680"/>
            <a:ext cx="54864" cy="2825496"/>
          </a:xfrm>
          <a:prstGeom prst="rect">
            <a:avLst/>
          </a:prstGeom>
          <a:solidFill>
            <a:srgbClr val="2957D4"/>
          </a:solidFill>
          <a:ln/>
        </p:spPr>
      </p:sp>
      <p:sp>
        <p:nvSpPr>
          <p:cNvPr id="13" name="Text 11"/>
          <p:cNvSpPr txBox="1"/>
          <p:nvPr/>
        </p:nvSpPr>
        <p:spPr>
          <a:xfrm>
            <a:off x="914400" y="3136392"/>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2 (ışığın çıktığı ortam)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 (hava)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sin30° = 0,5</a:t>
            </a:r>
            <a:endParaRPr lang="en-US" sz="1800" dirty="0"/>
          </a:p>
        </p:txBody>
      </p:sp>
      <p:sp>
        <p:nvSpPr>
          <p:cNvPr id="15" name="Shape 13"/>
          <p:cNvSpPr/>
          <p:nvPr/>
        </p:nvSpPr>
        <p:spPr>
          <a:xfrm>
            <a:off x="6233008"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154680"/>
            <a:ext cx="54864" cy="2825496"/>
          </a:xfrm>
          <a:prstGeom prst="rect">
            <a:avLst/>
          </a:prstGeom>
          <a:solidFill>
            <a:srgbClr val="5F4BD8"/>
          </a:solidFill>
          <a:ln/>
        </p:spPr>
      </p:sp>
      <p:sp>
        <p:nvSpPr>
          <p:cNvPr id="17" name="Text 15"/>
          <p:cNvSpPr txBox="1"/>
          <p:nvPr/>
        </p:nvSpPr>
        <p:spPr>
          <a:xfrm>
            <a:off x="6507328" y="3136392"/>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sınır açı θ</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θ = n₂/n₁ = 1/2 = 0,5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θ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30°</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30°'den büyük açılarla gelen ışınlar ortamı terk edemez, tamamen yansır.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kırılır mı, yansır mı?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Suyun (n = 4/3) içindeki bir kaynaktan çıkan iki ışın su yüzeyine 37° ve 60° ile geliyor. Her birine ne olur? (sin37° = 0,6; sin60° ≈ 0,87)</a:t>
            </a:r>
            <a:endParaRPr lang="en-US" sz="2000" dirty="0"/>
          </a:p>
        </p:txBody>
      </p:sp>
      <p:sp>
        <p:nvSpPr>
          <p:cNvPr id="11" name="Shape 9"/>
          <p:cNvSpPr/>
          <p:nvPr/>
        </p:nvSpPr>
        <p:spPr>
          <a:xfrm>
            <a:off x="2599262" y="3121152"/>
            <a:ext cx="6993170"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kirilma-15.png">    </p:cNvPr>
          <p:cNvPicPr>
            <a:picLocks noChangeAspect="1"/>
          </p:cNvPicPr>
          <p:nvPr/>
        </p:nvPicPr>
        <p:blipFill>
          <a:blip r:embed="rId1"/>
          <a:stretch>
            <a:fillRect/>
          </a:stretch>
        </p:blipFill>
        <p:spPr>
          <a:xfrm>
            <a:off x="2827862" y="3230880"/>
            <a:ext cx="6535970"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kırılır mı, yansır mı?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Suyun (n = 4/3) içindeki bir kaynaktan çıkan iki ışın su yüzeyine 37° ve 60° ile geliyor. Her birine ne olur? (sin37° = 0,6; sin60° ≈ 0,87)</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4/3 (su)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 (hava)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gelme açıları 37° ve 60°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sin37° = 0,6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sin53° = 0,8</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sin60° ≈ 0,87</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her ışın için: havaya kırılarak mı çıkar, tam mı yansır? Kırılıyorsa kırılma açısı r</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kırılır mı, yansır mı?</a:t>
            </a:r>
            <a:endParaRPr lang="en-US" sz="1450" dirty="0"/>
          </a:p>
        </p:txBody>
      </p:sp>
      <p:sp>
        <p:nvSpPr>
          <p:cNvPr id="8" name="Shape 6"/>
          <p:cNvSpPr/>
          <p:nvPr/>
        </p:nvSpPr>
        <p:spPr>
          <a:xfrm>
            <a:off x="640080" y="1645920"/>
            <a:ext cx="10911535" cy="1389888"/>
          </a:xfrm>
          <a:prstGeom prst="roundRect">
            <a:avLst>
              <a:gd name="adj" fmla="val 105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130552"/>
            <a:ext cx="420624" cy="420624"/>
          </a:xfrm>
          <a:prstGeom prst="roundRect">
            <a:avLst>
              <a:gd name="adj" fmla="val 26000"/>
            </a:avLst>
          </a:prstGeom>
          <a:solidFill>
            <a:srgbClr val="A56209"/>
          </a:solidFill>
          <a:ln/>
        </p:spPr>
      </p:sp>
      <p:sp>
        <p:nvSpPr>
          <p:cNvPr id="10" name="Text 8"/>
          <p:cNvSpPr txBox="1"/>
          <p:nvPr/>
        </p:nvSpPr>
        <p:spPr>
          <a:xfrm>
            <a:off x="914400" y="213055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28016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Işık yoğun ortamdan çıkıyor; önce sınır açıyı bul: sin θ = 1 / (4/3) = 0,75 → θ ≈ 48,6°.</a:t>
            </a:r>
            <a:endParaRPr lang="en-US" sz="2000" dirty="0"/>
          </a:p>
        </p:txBody>
      </p:sp>
      <p:sp>
        <p:nvSpPr>
          <p:cNvPr id="12" name="Shape 10"/>
          <p:cNvSpPr/>
          <p:nvPr/>
        </p:nvSpPr>
        <p:spPr>
          <a:xfrm>
            <a:off x="640080" y="3200400"/>
            <a:ext cx="10911535" cy="1389888"/>
          </a:xfrm>
          <a:prstGeom prst="roundRect">
            <a:avLst>
              <a:gd name="adj" fmla="val 105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685032"/>
            <a:ext cx="420624" cy="420624"/>
          </a:xfrm>
          <a:prstGeom prst="roundRect">
            <a:avLst>
              <a:gd name="adj" fmla="val 26000"/>
            </a:avLst>
          </a:prstGeom>
          <a:solidFill>
            <a:srgbClr val="A56209"/>
          </a:solidFill>
          <a:ln/>
        </p:spPr>
      </p:sp>
      <p:sp>
        <p:nvSpPr>
          <p:cNvPr id="14" name="Text 12"/>
          <p:cNvSpPr txBox="1"/>
          <p:nvPr/>
        </p:nvSpPr>
        <p:spPr>
          <a:xfrm>
            <a:off x="914400" y="3685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255264"/>
            <a:ext cx="9859975" cy="128016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37° &lt; 48,6° olduğu için ilk ışın kırılır: (4/3) · 0,6 = 1 · sin r → sin r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0,8</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r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53°</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4754880"/>
            <a:ext cx="10911535" cy="1389888"/>
          </a:xfrm>
          <a:prstGeom prst="roundRect">
            <a:avLst>
              <a:gd name="adj" fmla="val 105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239512"/>
            <a:ext cx="420624" cy="420624"/>
          </a:xfrm>
          <a:prstGeom prst="roundRect">
            <a:avLst>
              <a:gd name="adj" fmla="val 26000"/>
            </a:avLst>
          </a:prstGeom>
          <a:solidFill>
            <a:srgbClr val="A56209"/>
          </a:solidFill>
          <a:ln/>
        </p:spPr>
      </p:sp>
      <p:sp>
        <p:nvSpPr>
          <p:cNvPr id="18" name="Text 16"/>
          <p:cNvSpPr txBox="1"/>
          <p:nvPr/>
        </p:nvSpPr>
        <p:spPr>
          <a:xfrm>
            <a:off x="914400" y="523951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809744"/>
            <a:ext cx="9859975" cy="128016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53° &gt; 37°, ışın normalden uzaklaştı ✓ (Örnek 1'in tersten okunuşu).</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kırılır mı, yansır mı?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60° &gt; 48,6°: Snell yasası sin r = (4/3) · 0,87 ≈ 1,16 ister; sinüs 1'i aşamaz.</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İkinci ışın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tam yansır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60°'lik yansıma açısıyla suyun içine döner.</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Not: n = 4/3 ile sınır açı 48,6°, n = 1,33 ile 48,8° çıkar; fark yalnızca yuvarlamadan gelir.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Yandan kayma</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Kalınlığı 6 cm olan cam levhaya (n = 1,5) 50° ile gelen ışının yandan kayması ne kadardır?</a:t>
            </a:r>
            <a:endParaRPr lang="en-US" sz="2000" dirty="0"/>
          </a:p>
        </p:txBody>
      </p:sp>
      <p:sp>
        <p:nvSpPr>
          <p:cNvPr id="11" name="Shape 9"/>
          <p:cNvSpPr/>
          <p:nvPr/>
        </p:nvSpPr>
        <p:spPr>
          <a:xfrm>
            <a:off x="2599262" y="3121152"/>
            <a:ext cx="6993170"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kirilma-16.png">    </p:cNvPr>
          <p:cNvPicPr>
            <a:picLocks noChangeAspect="1"/>
          </p:cNvPicPr>
          <p:nvPr/>
        </p:nvPicPr>
        <p:blipFill>
          <a:blip r:embed="rId1"/>
          <a:stretch>
            <a:fillRect/>
          </a:stretch>
        </p:blipFill>
        <p:spPr>
          <a:xfrm>
            <a:off x="2827862" y="3230880"/>
            <a:ext cx="6535970"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Yandan kayma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Kalınlığı 6 cm olan cam levhaya (n = 1,5) 50° ile gelen ışının yandan kayması ne kadardır?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 = 6 cm (levhanın kalınlığı)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 (cam)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n(hava) = 1</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50°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sin50° ≈ 0,766</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yandan kayma d</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Yandan kayma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r = sin50° / 1,5 = 0,766/1,5 = 0,511 → r ≈ 30,7°</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 = t·sin(i − r)/cos r = 6 · sin(19,3°) / cos(30,7°)</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Yandan kayma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 = 6 · 0,331 / 0,860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2,3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Çıkan ışın, gelen ışına paraleldir; yalnızca 2,3 cm kaymıştır.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levhadan suya geçen ışın</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Havadan 53° ile gelen ışın, yatay bir cam levhadan (n = 1,5) geçip hemen altındaki suya (n = 4/3) giriyor. Işının camdaki ve sudaki kırılma açılarını bulunuz. (sin53° = 0,8; sin37° = 0,6)</a:t>
            </a:r>
            <a:endParaRPr lang="en-US" sz="2000" dirty="0"/>
          </a:p>
        </p:txBody>
      </p:sp>
      <p:sp>
        <p:nvSpPr>
          <p:cNvPr id="11" name="Shape 9"/>
          <p:cNvSpPr/>
          <p:nvPr/>
        </p:nvSpPr>
        <p:spPr>
          <a:xfrm>
            <a:off x="3327986" y="3474720"/>
            <a:ext cx="5535722"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kirilma-17.png">    </p:cNvPr>
          <p:cNvPicPr>
            <a:picLocks noChangeAspect="1"/>
          </p:cNvPicPr>
          <p:nvPr/>
        </p:nvPicPr>
        <p:blipFill>
          <a:blip r:embed="rId1"/>
          <a:stretch>
            <a:fillRect/>
          </a:stretch>
        </p:blipFill>
        <p:spPr>
          <a:xfrm>
            <a:off x="3556586" y="3584448"/>
            <a:ext cx="5078522"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levhadan suya geçen ışın</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Havadan 53° ile gelen ışın, yatay bir cam levhadan (n = 1,5) geçip hemen altındaki suya (n = 4/3) giriyor. Işının camdaki ve sudaki kırılma açılarını bulunuz. (sin53° = 0,8; sin37° = 0,6)</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i = 53° (havada)</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n(hava) = 1</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n(cam) = 1,5</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n(su) = 4/3</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sin53° = 0,8</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sin37° = 0,6</a:t>
            </a:r>
            <a:endParaRPr lang="en-US" sz="15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camdaki kırılma açısı r₁</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sudaki kırılma açısı r₂</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levhadan suya geçen ışın</a:t>
            </a:r>
            <a:endParaRPr lang="en-US" sz="1450" dirty="0"/>
          </a:p>
        </p:txBody>
      </p:sp>
      <p:sp>
        <p:nvSpPr>
          <p:cNvPr id="8" name="Shape 6"/>
          <p:cNvSpPr/>
          <p:nvPr/>
        </p:nvSpPr>
        <p:spPr>
          <a:xfrm>
            <a:off x="640080" y="1645920"/>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54458"/>
            <a:ext cx="420624" cy="420624"/>
          </a:xfrm>
          <a:prstGeom prst="roundRect">
            <a:avLst>
              <a:gd name="adj" fmla="val 26000"/>
            </a:avLst>
          </a:prstGeom>
          <a:solidFill>
            <a:srgbClr val="A56209"/>
          </a:solidFill>
          <a:ln/>
        </p:spPr>
      </p:sp>
      <p:sp>
        <p:nvSpPr>
          <p:cNvPr id="10" name="Text 8"/>
          <p:cNvSpPr txBox="1"/>
          <p:nvPr/>
        </p:nvSpPr>
        <p:spPr>
          <a:xfrm>
            <a:off x="914400" y="195445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Hava → cam: 1 · 0,8 = 1,5 · sin r₁ → sin r₁ ≈ 0,53 → r₁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32°</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48211"/>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20890"/>
            <a:ext cx="420624" cy="420624"/>
          </a:xfrm>
          <a:prstGeom prst="roundRect">
            <a:avLst>
              <a:gd name="adj" fmla="val 26000"/>
            </a:avLst>
          </a:prstGeom>
          <a:solidFill>
            <a:srgbClr val="A56209"/>
          </a:solidFill>
          <a:ln/>
        </p:spPr>
      </p:sp>
      <p:sp>
        <p:nvSpPr>
          <p:cNvPr id="14" name="Text 12"/>
          <p:cNvSpPr txBox="1"/>
          <p:nvPr/>
        </p:nvSpPr>
        <p:spPr>
          <a:xfrm>
            <a:off x="914400" y="342089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03075"/>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Cam–su sınırı üst yüze paralel olduğu için ışın bu sınıra da r₁ açısıyla gelir.</a:t>
            </a:r>
            <a:endParaRPr lang="en-US" sz="2000" dirty="0"/>
          </a:p>
        </p:txBody>
      </p:sp>
      <p:sp>
        <p:nvSpPr>
          <p:cNvPr id="16" name="Shape 14"/>
          <p:cNvSpPr/>
          <p:nvPr/>
        </p:nvSpPr>
        <p:spPr>
          <a:xfrm>
            <a:off x="640080" y="4578786"/>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151465"/>
            <a:ext cx="420624" cy="420624"/>
          </a:xfrm>
          <a:prstGeom prst="roundRect">
            <a:avLst>
              <a:gd name="adj" fmla="val 26000"/>
            </a:avLst>
          </a:prstGeom>
          <a:solidFill>
            <a:srgbClr val="A56209"/>
          </a:solidFill>
          <a:ln/>
        </p:spPr>
      </p:sp>
      <p:sp>
        <p:nvSpPr>
          <p:cNvPr id="18" name="Text 16"/>
          <p:cNvSpPr txBox="1"/>
          <p:nvPr/>
        </p:nvSpPr>
        <p:spPr>
          <a:xfrm>
            <a:off x="914400" y="515146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633650"/>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Cam → su: 1,5 · sin r₁ = (4/3) · sin r₂. Sol taraf ilk adımdan zaten 0,8'dir.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levhadan suya geçen ışın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(4/3) · sin r₂ = 0,8 → sin r₂ = 0,6 → r₂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37°</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Cam hiç olmasaydı da sudaki açı 37° olurdu (Örnek 1): n·sin θ çarpımı her katmanda korunur.</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Kısa yol: paralel katmanlarda ara katmanları atla, doğrudan 1 · sin 53° = (4/3) · sin r₂ yaz.</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 lambasının ışık dairesi</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Bir havuzun 2 m derinliğindeki küçük lamba her yöne ışık yayıyor. Su yüzeyinde ışığın dışarı çıkabildiği dairenin yarıçapı kaç metredir? (n = 4/3; sin θ = 0,75 için tan θ ≈ 1,13)</a:t>
            </a:r>
            <a:endParaRPr lang="en-US" sz="2000" dirty="0"/>
          </a:p>
        </p:txBody>
      </p:sp>
      <p:sp>
        <p:nvSpPr>
          <p:cNvPr id="11" name="Shape 9"/>
          <p:cNvSpPr/>
          <p:nvPr/>
        </p:nvSpPr>
        <p:spPr>
          <a:xfrm>
            <a:off x="2763829" y="3474720"/>
            <a:ext cx="6664036"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kirilma-18.png">    </p:cNvPr>
          <p:cNvPicPr>
            <a:picLocks noChangeAspect="1"/>
          </p:cNvPicPr>
          <p:nvPr/>
        </p:nvPicPr>
        <p:blipFill>
          <a:blip r:embed="rId1"/>
          <a:stretch>
            <a:fillRect/>
          </a:stretch>
        </p:blipFill>
        <p:spPr>
          <a:xfrm>
            <a:off x="2992429" y="3584448"/>
            <a:ext cx="6206836"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 lambasının ışık dairesi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havuzun 2 m derinliğindeki küçük lamba her yöne ışık yayıyor. Su yüzeyinde ışığın dışarı çıkabildiği dairenin yarıçapı kaç metredir? (n = 4/3; sin θ = 0,75 için tan θ ≈ 1,13)</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2 m (lambanın derinliği)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n(su) = 4/3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n(hava) = 1</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 θ = 0,75 için tan θ ≈ 1,13</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ışığın su yüzeyinden çıktığı dairenin yarıçapı R</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 lambasının ışık dairesi</a:t>
            </a:r>
            <a:endParaRPr lang="en-US" sz="1450" dirty="0"/>
          </a:p>
        </p:txBody>
      </p:sp>
      <p:sp>
        <p:nvSpPr>
          <p:cNvPr id="8" name="Shape 6"/>
          <p:cNvSpPr/>
          <p:nvPr/>
        </p:nvSpPr>
        <p:spPr>
          <a:xfrm>
            <a:off x="640080" y="1645920"/>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18599"/>
            <a:ext cx="420624" cy="420624"/>
          </a:xfrm>
          <a:prstGeom prst="roundRect">
            <a:avLst>
              <a:gd name="adj" fmla="val 26000"/>
            </a:avLst>
          </a:prstGeom>
          <a:solidFill>
            <a:srgbClr val="A56209"/>
          </a:solidFill>
          <a:ln/>
        </p:spPr>
      </p:sp>
      <p:sp>
        <p:nvSpPr>
          <p:cNvPr id="10" name="Text 8"/>
          <p:cNvSpPr txBox="1"/>
          <p:nvPr/>
        </p:nvSpPr>
        <p:spPr>
          <a:xfrm>
            <a:off x="914400" y="2218599"/>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Yüzeye sınır açıdan küçük açıyla gelen ışınlar dışarı çıkar, büyük açıyla gelenler tam yansır.</a:t>
            </a:r>
            <a:endParaRPr lang="en-US" sz="2000" dirty="0"/>
          </a:p>
        </p:txBody>
      </p:sp>
      <p:sp>
        <p:nvSpPr>
          <p:cNvPr id="12" name="Shape 10"/>
          <p:cNvSpPr/>
          <p:nvPr/>
        </p:nvSpPr>
        <p:spPr>
          <a:xfrm>
            <a:off x="640080" y="3376494"/>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685032"/>
            <a:ext cx="420624" cy="420624"/>
          </a:xfrm>
          <a:prstGeom prst="roundRect">
            <a:avLst>
              <a:gd name="adj" fmla="val 26000"/>
            </a:avLst>
          </a:prstGeom>
          <a:solidFill>
            <a:srgbClr val="A56209"/>
          </a:solidFill>
          <a:ln/>
        </p:spPr>
      </p:sp>
      <p:sp>
        <p:nvSpPr>
          <p:cNvPr id="14" name="Text 12"/>
          <p:cNvSpPr txBox="1"/>
          <p:nvPr/>
        </p:nvSpPr>
        <p:spPr>
          <a:xfrm>
            <a:off x="914400" y="3685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31358"/>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θ = 1 / (4/3) = 0,75 → θ ≈ 48,6°.</a:t>
            </a:r>
            <a:endParaRPr lang="en-US" sz="2000" dirty="0"/>
          </a:p>
        </p:txBody>
      </p:sp>
      <p:sp>
        <p:nvSpPr>
          <p:cNvPr id="16" name="Shape 14"/>
          <p:cNvSpPr/>
          <p:nvPr/>
        </p:nvSpPr>
        <p:spPr>
          <a:xfrm>
            <a:off x="640080" y="4578786"/>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151465"/>
            <a:ext cx="420624" cy="420624"/>
          </a:xfrm>
          <a:prstGeom prst="roundRect">
            <a:avLst>
              <a:gd name="adj" fmla="val 26000"/>
            </a:avLst>
          </a:prstGeom>
          <a:solidFill>
            <a:srgbClr val="A56209"/>
          </a:solidFill>
          <a:ln/>
        </p:spPr>
      </p:sp>
      <p:sp>
        <p:nvSpPr>
          <p:cNvPr id="18" name="Text 16"/>
          <p:cNvSpPr txBox="1"/>
          <p:nvPr/>
        </p:nvSpPr>
        <p:spPr>
          <a:xfrm>
            <a:off x="914400" y="515146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633650"/>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Sınır açıyla çıkan ışın, lambanın tam üstündeki noktadan R kadar ötede yüzeye varır: tan θ = R / h.</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 lambasının ışık dairesi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 h · tan θ = 2 · 1,13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2,3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Işığın çıktığı dairenin alanı π · R² ≈ 16 m²; dışarıdaki yüzeyden lambanın ışığı çıkmaz.</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Aynı geometri ters çalışır: su altındaki bir dalgıç gökyüzünün tamamını yaklaşık 97°'lik bir koninin içinde, parlak bir pencere gibi görür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Snell penceresi</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bir plastiğin içinde 2,5·10⁸ m/s hızla ilerliyor. Bu plastiğin kırılma indisi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havanın indisi 1; sin30° = 0,5; sin37° = 0,6;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bir plastiğin içinde 2,5·10⁸ m/s hızla ilerliyor. Bu plastiğin kırılma indisi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c / v = 3·10⁸ / 2,5·10⁸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İki hız birbirine bölündüğü için indisin birimi yoktur.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Havadan kırılma indisi 1,6 olan bir cama 53° ile giren ışın camda kaç derecelik kırılma açısıyla ilerler?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havanın indisi 1; sin30° = 0,5; sin37° = 0,6;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Havadan kırılma indisi 1,6 olan bir cama 53° ile giren ışın camda kaç derecelik kırılma açısıyla ilerler?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n₁·sin i = n₂·sin r → 1 · 0,8 = 1,6 · sin r → sin r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r = 30°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Işın normale yaklaştı (30° &lt; 53°)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kırılma indisi 1,2 olan bir sıvıdan indisi 1,6 olan bir cama 53° ile geçiyor. Kırılma açısı kaç derecedir?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havanın indisi 1; sin30° = 0,5; sin37° = 0,6;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kırılma indisi 1,2 olan bir sıvıdan indisi 1,6 olan bir cama 53° ile geçiyor. Kırılma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n₁·sin i = n₂·sin r → 1,2 · 0,8 = 1,6 · sin r → 0,96 = 1,6 · sin r → sin r = 0,6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r = 37°</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Işık indisi büyük ortama geçtiği için normale yaklaştı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Kırılma indisi 5/3 olan bir camın içinden cam–hava yüzeyine 45° ile gelen ışın havaya çıkar mı, yoksa tam mı yansır?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havanın indisi 1; sin30° = 0,5; sin37° = 0,6;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Kırılma indisi 5/3 olan bir camın içinden cam–hava yüzeyine 45° ile gelen ışın havaya çıkar mı, yoksa tam mı yansır?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Önce sınır açıyı bul: sin θ = n₂ / n₁ = 1 / (5/3) = 3/5 = 0,6 → θ = 37°. Gelme açısı 45°, sınır açıdan büyük; ışın havaya çıkamaz ve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tam yansır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Işığın hızı A ortamında 2·10⁸ m/s, B ortamında 1,5·10⁸ m/s. A'dan B'ye 53° ile geçen ışının kırılma açısı kaç derecedir?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havanın indisi 1; sin30° = 0,5; sin37° = 0,6;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Işığın hızı A ortamında 2·10⁸ m/s, B ortamında 1,5·10⁸ m/s. A'dan B'ye 53° ile geçen ışının kırılma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Önce indisler: n</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c /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3·10⁸ / 2·10⁸ = 1,5 ve n</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B</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3·10⁸ / 1,5·10⁸ = 2. Snell: 1,5 · 0,8 = 2 · sin r → 1,2 = 2 · sin r → sin r = 0,6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r = 37°</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Işık yavaşladığı ortama geçtiği için normale yaklaştı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Frekansın değiştiğini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Kırılmada frekans değişmez; değişen hız ve dalga boyudur.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Dik gelen ışının kırıldığını düşünmek.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 = 0 ise ışın doğrultusunu korur (hızı yine de değişir).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Tam yansımayı her geçişte aramak.</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Yalnızca çok yoğundan az yoğuna geçişte olur.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Açıları yüzeyle ölçmek.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Kırılmada da açılar normalle ölçülür.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“Yoğun ortam” ile kütle yoğunluğunu karıştırmak.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Burada kastedilen optik yoğunluk, yani kırılma indisidir.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Levhadan çıkan ışının doğrultusunun değiştiğini sanmak.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Paralel kenarlı levhada çıkan ışın gelen ışına paraleldir.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sin r &gt; 1 çıkınca hesap hatası yaptığını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Bu sonuç, kırılan ışının olmadığını, yani ışığın tam yansımaya uğradığını söyler.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Sınır açıyı sin θ = n₁/n₂ ile hesaplamak.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Sinüs 1'i aşamaz; oran her zaman küçük indisin büyük indise bölümüdür.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İndis </a:t>
            </a:r>
            <a:pPr indent="0" marL="0">
              <a:buNone/>
            </a:pPr>
            <a:r>
              <a:rPr lang="en-US" sz="1500" b="1" dirty="0">
                <a:solidFill>
                  <a:srgbClr val="FFFFFF"/>
                </a:solidFill>
                <a:latin typeface="Calibri" pitchFamily="34" charset="0"/>
                <a:ea typeface="Calibri" pitchFamily="34" charset="-122"/>
                <a:cs typeface="Calibri" pitchFamily="34" charset="-120"/>
              </a:rPr>
              <a:t>n = c / v</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Snell </a:t>
            </a:r>
            <a:pPr indent="0" marL="0">
              <a:buNone/>
            </a:pPr>
            <a:r>
              <a:rPr lang="en-US" sz="1500" b="1" dirty="0">
                <a:solidFill>
                  <a:srgbClr val="FFFFFF"/>
                </a:solidFill>
                <a:latin typeface="Calibri" pitchFamily="34" charset="0"/>
                <a:ea typeface="Calibri" pitchFamily="34" charset="-122"/>
                <a:cs typeface="Calibri" pitchFamily="34" charset="-120"/>
              </a:rPr>
              <a:t>n₁sin i = n₂sin 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Frekans </a:t>
            </a:r>
            <a:pPr indent="0" marL="0">
              <a:buNone/>
            </a:pPr>
            <a:r>
              <a:rPr lang="en-US" sz="1500" b="1" dirty="0">
                <a:solidFill>
                  <a:srgbClr val="FFFFFF"/>
                </a:solidFill>
                <a:latin typeface="Calibri" pitchFamily="34" charset="0"/>
                <a:ea typeface="Calibri" pitchFamily="34" charset="-122"/>
                <a:cs typeface="Calibri" pitchFamily="34" charset="-120"/>
              </a:rPr>
              <a:t>değişmez</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c / v</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kırılma indisi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n₁·sin i = n₂·sin r</a:t>
            </a:r>
            <a:endParaRPr lang="en-US" sz="1350" dirty="0"/>
          </a:p>
        </p:txBody>
      </p:sp>
      <p:sp>
        <p:nvSpPr>
          <p:cNvPr id="19" name="Text 17"/>
          <p:cNvSpPr txBox="1"/>
          <p:nvPr/>
        </p:nvSpPr>
        <p:spPr>
          <a:xfrm>
            <a:off x="8993124" y="321868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Snell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λ = λ₀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ortamdaki dalga boyu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25" name="Text 23"/>
          <p:cNvSpPr txBox="1"/>
          <p:nvPr/>
        </p:nvSpPr>
        <p:spPr>
          <a:xfrm>
            <a:off x="9308592" y="486460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dersler.perinet.org/kirilma.html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Görünür derinlik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137</Slides>
  <Notes>137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137</vt:i4>
      </vt:variant>
    </vt:vector>
  </HeadingPairs>
  <TitlesOfParts>
    <vt:vector size="1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Kırılma — Dersler</dc:title>
  <dc:subject>Fizik · Optik</dc:subject>
  <dc:creator>Dersler</dc:creator>
  <cp:lastModifiedBy>Dersler</cp:lastModifiedBy>
  <cp:revision>1</cp:revision>
  <dcterms:created xsi:type="dcterms:W3CDTF">2026-09-30T12:20:44Z</dcterms:created>
  <dcterms:modified xsi:type="dcterms:W3CDTF">2026-09-30T12:20:44Z</dcterms:modified>
</cp:coreProperties>
</file>