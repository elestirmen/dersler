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Kırılma açısı – gelme açısı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havadan suya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Sheet1!$A$2:$A$91</c:f>
              <c:numCache>
                <c:formatCode>General</c:formatCode>
                <c:ptCount val="9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</c:numCache>
            </c:numRef>
          </c:xVal>
          <c:yVal>
            <c:numRef>
              <c:f>Sheet1!$B$2:$B$91</c:f>
              <c:numCache>
                <c:formatCode>General</c:formatCode>
                <c:ptCount val="90"/>
                <c:pt idx="0">
                  <c:v>0</c:v>
                </c:pt>
                <c:pt idx="1">
                  <c:v>0.8</c:v>
                </c:pt>
                <c:pt idx="2">
                  <c:v>1.5</c:v>
                </c:pt>
                <c:pt idx="3">
                  <c:v>2.3</c:v>
                </c:pt>
                <c:pt idx="4">
                  <c:v>3</c:v>
                </c:pt>
                <c:pt idx="5">
                  <c:v>3.8</c:v>
                </c:pt>
                <c:pt idx="6">
                  <c:v>4.5</c:v>
                </c:pt>
                <c:pt idx="7">
                  <c:v>5.3</c:v>
                </c:pt>
                <c:pt idx="8">
                  <c:v>6</c:v>
                </c:pt>
                <c:pt idx="9">
                  <c:v>6.8</c:v>
                </c:pt>
                <c:pt idx="10">
                  <c:v>7.5</c:v>
                </c:pt>
                <c:pt idx="11">
                  <c:v>8.2</c:v>
                </c:pt>
                <c:pt idx="12">
                  <c:v>9</c:v>
                </c:pt>
                <c:pt idx="13">
                  <c:v>9.7</c:v>
                </c:pt>
                <c:pt idx="14">
                  <c:v>10.5</c:v>
                </c:pt>
                <c:pt idx="15">
                  <c:v>11.2</c:v>
                </c:pt>
                <c:pt idx="16">
                  <c:v>12</c:v>
                </c:pt>
                <c:pt idx="17">
                  <c:v>12.7</c:v>
                </c:pt>
                <c:pt idx="18">
                  <c:v>13.4</c:v>
                </c:pt>
                <c:pt idx="19">
                  <c:v>14.2</c:v>
                </c:pt>
                <c:pt idx="20">
                  <c:v>14.9</c:v>
                </c:pt>
                <c:pt idx="21">
                  <c:v>15.6</c:v>
                </c:pt>
                <c:pt idx="22">
                  <c:v>16.4</c:v>
                </c:pt>
                <c:pt idx="23">
                  <c:v>17.1</c:v>
                </c:pt>
                <c:pt idx="24">
                  <c:v>17.8</c:v>
                </c:pt>
                <c:pt idx="25">
                  <c:v>18.5</c:v>
                </c:pt>
                <c:pt idx="26">
                  <c:v>19.2</c:v>
                </c:pt>
                <c:pt idx="27">
                  <c:v>20</c:v>
                </c:pt>
                <c:pt idx="28">
                  <c:v>20.7</c:v>
                </c:pt>
                <c:pt idx="29">
                  <c:v>21.4</c:v>
                </c:pt>
                <c:pt idx="30">
                  <c:v>22.1</c:v>
                </c:pt>
                <c:pt idx="31">
                  <c:v>22.8</c:v>
                </c:pt>
                <c:pt idx="32">
                  <c:v>23.5</c:v>
                </c:pt>
                <c:pt idx="33">
                  <c:v>24.2</c:v>
                </c:pt>
                <c:pt idx="34">
                  <c:v>24.9</c:v>
                </c:pt>
                <c:pt idx="35">
                  <c:v>25.5</c:v>
                </c:pt>
                <c:pt idx="36">
                  <c:v>26.2</c:v>
                </c:pt>
                <c:pt idx="37">
                  <c:v>26.9</c:v>
                </c:pt>
                <c:pt idx="38">
                  <c:v>27.6</c:v>
                </c:pt>
                <c:pt idx="39">
                  <c:v>28.2</c:v>
                </c:pt>
                <c:pt idx="40">
                  <c:v>28.9</c:v>
                </c:pt>
                <c:pt idx="41">
                  <c:v>29.6</c:v>
                </c:pt>
                <c:pt idx="42">
                  <c:v>30.2</c:v>
                </c:pt>
                <c:pt idx="43">
                  <c:v>30.8</c:v>
                </c:pt>
                <c:pt idx="44">
                  <c:v>31.5</c:v>
                </c:pt>
                <c:pt idx="45">
                  <c:v>32.1</c:v>
                </c:pt>
                <c:pt idx="46">
                  <c:v>32.7</c:v>
                </c:pt>
                <c:pt idx="47">
                  <c:v>33.4</c:v>
                </c:pt>
                <c:pt idx="48">
                  <c:v>34</c:v>
                </c:pt>
                <c:pt idx="49">
                  <c:v>34.6</c:v>
                </c:pt>
                <c:pt idx="50">
                  <c:v>35.2</c:v>
                </c:pt>
                <c:pt idx="51">
                  <c:v>35.8</c:v>
                </c:pt>
                <c:pt idx="52">
                  <c:v>36.3</c:v>
                </c:pt>
                <c:pt idx="53">
                  <c:v>36.9</c:v>
                </c:pt>
                <c:pt idx="54">
                  <c:v>37.5</c:v>
                </c:pt>
                <c:pt idx="55">
                  <c:v>38</c:v>
                </c:pt>
                <c:pt idx="56">
                  <c:v>38.6</c:v>
                </c:pt>
                <c:pt idx="57">
                  <c:v>39.1</c:v>
                </c:pt>
                <c:pt idx="58">
                  <c:v>39.6</c:v>
                </c:pt>
                <c:pt idx="59">
                  <c:v>40.1</c:v>
                </c:pt>
                <c:pt idx="60">
                  <c:v>40.6</c:v>
                </c:pt>
                <c:pt idx="61">
                  <c:v>41.1</c:v>
                </c:pt>
                <c:pt idx="62">
                  <c:v>41.6</c:v>
                </c:pt>
                <c:pt idx="63">
                  <c:v>42.1</c:v>
                </c:pt>
                <c:pt idx="64">
                  <c:v>42.5</c:v>
                </c:pt>
                <c:pt idx="65">
                  <c:v>43</c:v>
                </c:pt>
                <c:pt idx="66">
                  <c:v>43.4</c:v>
                </c:pt>
                <c:pt idx="67">
                  <c:v>43.8</c:v>
                </c:pt>
                <c:pt idx="68">
                  <c:v>44.2</c:v>
                </c:pt>
                <c:pt idx="69">
                  <c:v>44.6</c:v>
                </c:pt>
                <c:pt idx="70">
                  <c:v>45</c:v>
                </c:pt>
                <c:pt idx="71">
                  <c:v>45.3</c:v>
                </c:pt>
                <c:pt idx="72">
                  <c:v>45.6</c:v>
                </c:pt>
                <c:pt idx="73">
                  <c:v>46</c:v>
                </c:pt>
                <c:pt idx="74">
                  <c:v>46.3</c:v>
                </c:pt>
                <c:pt idx="75">
                  <c:v>46.6</c:v>
                </c:pt>
                <c:pt idx="76">
                  <c:v>46.8</c:v>
                </c:pt>
                <c:pt idx="77">
                  <c:v>47.1</c:v>
                </c:pt>
                <c:pt idx="78">
                  <c:v>47.3</c:v>
                </c:pt>
                <c:pt idx="79">
                  <c:v>47.6</c:v>
                </c:pt>
                <c:pt idx="80">
                  <c:v>47.8</c:v>
                </c:pt>
                <c:pt idx="81">
                  <c:v>48</c:v>
                </c:pt>
                <c:pt idx="82">
                  <c:v>48.1</c:v>
                </c:pt>
                <c:pt idx="83">
                  <c:v>48.3</c:v>
                </c:pt>
                <c:pt idx="84">
                  <c:v>48.4</c:v>
                </c:pt>
                <c:pt idx="85">
                  <c:v>48.5</c:v>
                </c:pt>
                <c:pt idx="86">
                  <c:v>48.6</c:v>
                </c:pt>
                <c:pt idx="87">
                  <c:v>48.7</c:v>
                </c:pt>
                <c:pt idx="88">
                  <c:v>48.7</c:v>
                </c:pt>
                <c:pt idx="89">
                  <c:v>48.7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sudan havaya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Sheet1!$A$2:$A$91</c:f>
              <c:numCache>
                <c:formatCode>General</c:formatCode>
                <c:ptCount val="9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</c:numCache>
            </c:numRef>
          </c:xVal>
          <c:yVal>
            <c:numRef>
              <c:f>Sheet1!$C$2:$C$91</c:f>
              <c:numCache>
                <c:formatCode>General</c:formatCode>
                <c:ptCount val="90"/>
                <c:pt idx="0">
                  <c:v>0</c:v>
                </c:pt>
                <c:pt idx="1">
                  <c:v>1.3</c:v>
                </c:pt>
                <c:pt idx="2">
                  <c:v>2.7</c:v>
                </c:pt>
                <c:pt idx="3">
                  <c:v>4</c:v>
                </c:pt>
                <c:pt idx="4">
                  <c:v>5.3</c:v>
                </c:pt>
                <c:pt idx="5">
                  <c:v>6.7</c:v>
                </c:pt>
                <c:pt idx="6">
                  <c:v>8</c:v>
                </c:pt>
                <c:pt idx="7">
                  <c:v>9.3</c:v>
                </c:pt>
                <c:pt idx="8">
                  <c:v>10.7</c:v>
                </c:pt>
                <c:pt idx="9">
                  <c:v>12</c:v>
                </c:pt>
                <c:pt idx="10">
                  <c:v>13.4</c:v>
                </c:pt>
                <c:pt idx="11">
                  <c:v>14.7</c:v>
                </c:pt>
                <c:pt idx="12">
                  <c:v>16.1</c:v>
                </c:pt>
                <c:pt idx="13">
                  <c:v>17.4</c:v>
                </c:pt>
                <c:pt idx="14">
                  <c:v>18.8</c:v>
                </c:pt>
                <c:pt idx="15">
                  <c:v>20.1</c:v>
                </c:pt>
                <c:pt idx="16">
                  <c:v>21.5</c:v>
                </c:pt>
                <c:pt idx="17">
                  <c:v>22.9</c:v>
                </c:pt>
                <c:pt idx="18">
                  <c:v>24.3</c:v>
                </c:pt>
                <c:pt idx="19">
                  <c:v>25.7</c:v>
                </c:pt>
                <c:pt idx="20">
                  <c:v>27.1</c:v>
                </c:pt>
                <c:pt idx="21">
                  <c:v>28.5</c:v>
                </c:pt>
                <c:pt idx="22">
                  <c:v>29.9</c:v>
                </c:pt>
                <c:pt idx="23">
                  <c:v>31.3</c:v>
                </c:pt>
                <c:pt idx="24">
                  <c:v>32.7</c:v>
                </c:pt>
                <c:pt idx="25">
                  <c:v>34.2</c:v>
                </c:pt>
                <c:pt idx="26">
                  <c:v>35.7</c:v>
                </c:pt>
                <c:pt idx="27">
                  <c:v>37.1</c:v>
                </c:pt>
                <c:pt idx="28">
                  <c:v>38.6</c:v>
                </c:pt>
                <c:pt idx="29">
                  <c:v>40.2</c:v>
                </c:pt>
                <c:pt idx="30">
                  <c:v>41.7</c:v>
                </c:pt>
                <c:pt idx="31">
                  <c:v>43.2</c:v>
                </c:pt>
                <c:pt idx="32">
                  <c:v>44.8</c:v>
                </c:pt>
                <c:pt idx="33">
                  <c:v>46.4</c:v>
                </c:pt>
                <c:pt idx="34">
                  <c:v>48</c:v>
                </c:pt>
                <c:pt idx="35">
                  <c:v>49.7</c:v>
                </c:pt>
                <c:pt idx="36">
                  <c:v>51.4</c:v>
                </c:pt>
                <c:pt idx="37">
                  <c:v>53.2</c:v>
                </c:pt>
                <c:pt idx="38">
                  <c:v>55</c:v>
                </c:pt>
                <c:pt idx="39">
                  <c:v>56.8</c:v>
                </c:pt>
                <c:pt idx="40">
                  <c:v>58.7</c:v>
                </c:pt>
                <c:pt idx="41">
                  <c:v>60.8</c:v>
                </c:pt>
                <c:pt idx="42">
                  <c:v>62.9</c:v>
                </c:pt>
                <c:pt idx="43">
                  <c:v>65.1</c:v>
                </c:pt>
                <c:pt idx="44">
                  <c:v>67.5</c:v>
                </c:pt>
                <c:pt idx="45">
                  <c:v>70.1</c:v>
                </c:pt>
                <c:pt idx="46">
                  <c:v>73.1</c:v>
                </c:pt>
                <c:pt idx="47">
                  <c:v>76.6</c:v>
                </c:pt>
                <c:pt idx="48">
                  <c:v>81.3</c:v>
                </c:pt>
                <c:pt idx="49">
                  <c:v>90</c:v>
                </c:pt>
                <c:pt idx="50">
                  <c:v>90</c:v>
                </c:pt>
                <c:pt idx="51">
                  <c:v>90</c:v>
                </c:pt>
                <c:pt idx="52">
                  <c:v>90</c:v>
                </c:pt>
                <c:pt idx="53">
                  <c:v>90</c:v>
                </c:pt>
                <c:pt idx="54">
                  <c:v>90</c:v>
                </c:pt>
                <c:pt idx="55">
                  <c:v>90</c:v>
                </c:pt>
                <c:pt idx="56">
                  <c:v>90</c:v>
                </c:pt>
                <c:pt idx="57">
                  <c:v>90</c:v>
                </c:pt>
                <c:pt idx="58">
                  <c:v>90</c:v>
                </c:pt>
                <c:pt idx="59">
                  <c:v>90</c:v>
                </c:pt>
                <c:pt idx="60">
                  <c:v>90</c:v>
                </c:pt>
                <c:pt idx="61">
                  <c:v>90</c:v>
                </c:pt>
                <c:pt idx="62">
                  <c:v>90</c:v>
                </c:pt>
                <c:pt idx="63">
                  <c:v>90</c:v>
                </c:pt>
                <c:pt idx="64">
                  <c:v>90</c:v>
                </c:pt>
                <c:pt idx="65">
                  <c:v>90</c:v>
                </c:pt>
                <c:pt idx="66">
                  <c:v>90</c:v>
                </c:pt>
                <c:pt idx="67">
                  <c:v>90</c:v>
                </c:pt>
                <c:pt idx="68">
                  <c:v>90</c:v>
                </c:pt>
                <c:pt idx="69">
                  <c:v>90</c:v>
                </c:pt>
                <c:pt idx="70">
                  <c:v>90</c:v>
                </c:pt>
                <c:pt idx="71">
                  <c:v>90</c:v>
                </c:pt>
                <c:pt idx="72">
                  <c:v>90</c:v>
                </c:pt>
                <c:pt idx="73">
                  <c:v>90</c:v>
                </c:pt>
                <c:pt idx="74">
                  <c:v>90</c:v>
                </c:pt>
                <c:pt idx="75">
                  <c:v>90</c:v>
                </c:pt>
                <c:pt idx="76">
                  <c:v>90</c:v>
                </c:pt>
                <c:pt idx="77">
                  <c:v>90</c:v>
                </c:pt>
                <c:pt idx="78">
                  <c:v>90</c:v>
                </c:pt>
                <c:pt idx="79">
                  <c:v>90</c:v>
                </c:pt>
                <c:pt idx="80">
                  <c:v>90</c:v>
                </c:pt>
                <c:pt idx="81">
                  <c:v>90</c:v>
                </c:pt>
                <c:pt idx="82">
                  <c:v>90</c:v>
                </c:pt>
                <c:pt idx="83">
                  <c:v>90</c:v>
                </c:pt>
                <c:pt idx="84">
                  <c:v>90</c:v>
                </c:pt>
                <c:pt idx="85">
                  <c:v>90</c:v>
                </c:pt>
                <c:pt idx="86">
                  <c:v>90</c:v>
                </c:pt>
                <c:pt idx="87">
                  <c:v>90</c:v>
                </c:pt>
                <c:pt idx="88">
                  <c:v>90</c:v>
                </c:pt>
                <c:pt idx="89">
                  <c:v>90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gelme açısı i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kırılma açısı r (°)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bardağa sokulan kalemi göster: kırılmış gibi görünmesi tam da bu konunun sorusu.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 optiğin geri kalanının temeli; mercekler ve prizmalar buradan türüyor.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Cephe modeli, yürüyen sıra benzetmesiyle anlatılabilir: bir kanat çamura girince sıra döner.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eğrinin birbirinin aynası olması güzel bir tartışma: ışık yolu tersinirdir.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Frekansın sabit kalması kaynağa bağlı olmasından gelir; ortam frekansı değiştiremez.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Havuz dibinden yukarı bakınca yüzeyin ayna gibi görünmesi tam yansımanın günlük kanıtı.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Serap açıklaması sınıfın ilgisini çekiyor; asfalttaki 'su birikintisi' örneğini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53–37 üçgeni Türkiye müfredatında standart; sinüs değerlerini ezberletmek işe yarıyor.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adımdaki kontrol, 'frekans değişmez' kuralını sayıyla kanıtlıyor.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Yandan kayma formülü ezberlenmek yerine geometriden çıkarılmalı; tahtada üçgeni çiz.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madde en yaygın; 'ortam frekansı değiştiremez' cümlesini tekrarlat.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tam yansıma bölümünde açıyı yavaşça büyüt; kırılan ışının sönüşünü izletmek etkili.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Işığın kırılması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bir ortamdan diğerine geçerken hız değiştirir; hız değişince de yön değiştirir. Suya sokulan kaşıktan fiber optik kabloya kadar her şey buna dayanır.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c / v          n₁·sin i = n₂·sin r          sin θ(sınır) = n₂ / n₁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dersler.perinet.org/kirilma.html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503920" y="3429000"/>
            <a:ext cx="3291840" cy="1554480"/>
          </a:xfrm>
          <a:prstGeom prst="rect">
            <a:avLst/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52560" y="2286000"/>
            <a:ext cx="1097280" cy="1143000"/>
          </a:xfrm>
          <a:prstGeom prst="line">
            <a:avLst/>
          </a:prstGeom>
          <a:noFill/>
          <a:ln w="38100">
            <a:solidFill>
              <a:srgbClr val="FFE08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10149840" y="3429000"/>
            <a:ext cx="548640" cy="1280160"/>
          </a:xfrm>
          <a:prstGeom prst="line">
            <a:avLst/>
          </a:prstGeom>
          <a:noFill/>
          <a:ln w="38100">
            <a:solidFill>
              <a:srgbClr val="B9EE6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149840" y="2651760"/>
            <a:ext cx="0" cy="2560320"/>
          </a:xfrm>
          <a:prstGeom prst="line">
            <a:avLst/>
          </a:prstGeom>
          <a:noFill/>
          <a:ln w="12700">
            <a:solidFill>
              <a:srgbClr val="6A779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503920" y="31272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4023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kırılma indisinden tam yansımaya.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indisi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c/v; ışık yoğun ortamda yavaştır.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Snell yasası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n₁·sin i = n₂·sin 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ve dalga boyu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değişir, frekans değişmez.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açıdan sonra ışık ortamı terk edemez.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Yandan kayma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kenarlı levhada doğrultu korunur.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örnekler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Serap, gökkuşağı, mercekler, fiber.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Kırılma indisi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Işığın ortamdaki hızı, boşluktakinin kaç katı yavaşladı?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c / v          c = 3·10⁸ m/s          n ≥ 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9748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Ortam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69748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69748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Işığın hızı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55848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35584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Boşluk / hava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355848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355848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3,00·10⁸ m/s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14216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14216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4014216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2,26·10⁸ m/s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672584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672584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672584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1,50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206240" y="4672584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2,00·10⁸ m/s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330952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330952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330952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2,42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533095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1,24·10⁸ m/s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1783080"/>
            <a:ext cx="4693615" cy="1920240"/>
          </a:xfrm>
          <a:prstGeom prst="roundRect">
            <a:avLst>
              <a:gd name="adj" fmla="val 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yoğunluk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2377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İndisi büyük olan ortama çok yoğun, küçük olana az yoğun ortam denir. Buradaki yoğunluk kütle yoğunluğu değil, optik yoğunluktur.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4693615" cy="2011680"/>
          </a:xfrm>
          <a:prstGeom prst="roundRect">
            <a:avLst>
              <a:gd name="adj" fmla="val 636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178040" y="4023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yön değişir?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44348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Dalga cephesinin bir ucu sınıra önce varıp yavaşlar, öteki ucu hâlâ hızlıdır. Bu hız farkı cepheyi döndürür — ışının sapmasının sebebi budur.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Snell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açısı, gelme açısına doğrusal değil sinüsle bağlıdır.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640080"/>
          </a:xfrm>
          <a:prstGeom prst="roundRect">
            <a:avLst>
              <a:gd name="adj" fmla="val 14286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78308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n₁ · sin i = n₂ · sin 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651760"/>
            <a:ext cx="45564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yoğundan çok yoğuna: ışın normale yaklaşır (r &lt; i).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yoğundan az yoğuna: normalden uzaklaşır (r &gt; i).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gelişte (i = 0) kırılma olmaz; yalnızca hız değişir.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havaya eğrisi 48,8°'de 90°'ye ulaşır: sınır açı.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Açılar her zaman normalle ölçülür.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değişir, ne değişmez?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Kırılmanın en çok karıştırılan kısmı.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2880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Büyüklük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82880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Kırılmada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778240" y="1828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23744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2374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(f)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523744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DEĞİŞMEZ — kaynağa bağlıdır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5237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 = f₂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8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(v)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21868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değişir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3218688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c / 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913632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91363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Dalga boyu (λ)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136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değişir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39136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λ₀ / 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6085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608576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değişmez (frekans sabit)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0" y="460857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303520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303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Doğrultu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749040" y="53035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gelişte değişir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530352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Snell yasası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911535" cy="685800"/>
          </a:xfrm>
          <a:prstGeom prst="roundRect">
            <a:avLst>
              <a:gd name="adj" fmla="val 13333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53492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λ · f        n₁/n₂ = v₂/v₁ = λ₂/λ₁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yansıma ve sınır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yoğundan az yoğuna geçerken açı büyütülürse ışık hapsolur.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θ(sınır) = n₂ / n₁        yalnızca n₁ &gt; n₂ 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9748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Geçiş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69748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74136"/>
            <a:ext cx="5943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3741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→ hava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337413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48,8°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37413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havuz yüzeyi aynalaşır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50792"/>
            <a:ext cx="5943600" cy="603504"/>
          </a:xfrm>
          <a:prstGeom prst="roundRect">
            <a:avLst>
              <a:gd name="adj" fmla="val 1212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507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→ hava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0507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41,8°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0507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prizma ve fiberde kullanılır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59436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72744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 → hava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47274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24,4°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274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elmasın parıltısı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182880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açısı büyüdükçe kırılan ışın yüzeye yaklaşır.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açıda kırılma açısı tam 90° olur.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açıdan büyük açılarda ışık ortamı terk edemez.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yansımada enerji kaybı yoktur; ışığın tamamı yansır.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optik, elmas parıltısı ve serap bu olayla açıklanır.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03720" y="4937760"/>
            <a:ext cx="4647895" cy="914400"/>
          </a:xfrm>
          <a:prstGeom prst="roundRect">
            <a:avLst>
              <a:gd name="adj" fmla="val 14000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178040" y="49377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 neden parlar?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24,4°'lik küçük sınır açı yüzünden içeri giren ışık defalarca tam yansır ve ancak belirli yüzlerden çıkar.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hayatta kırılma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yasa, çok farklı görüntüler.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Kırık görünen kaşık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gelen ışınlar yüzeyde kırılır; kaşık kırılmış görünür.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görünür derinlik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Sığ görünen havuz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Dip, gerçek derinliğin dörtte üçünde görünür.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h′ = h/n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Serap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 hava katmanlarının indisi farklıdır; ışık kıvrılır.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kademeli kırılma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Gökkuşağı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damlasında kırılma + tam yansıma + kırılma.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42°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 ve mercekler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Kırılmayı kontrollü kullanır.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1/f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optik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yansımayla ışığı kilometrelerce taşır.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n₁ &gt; n₂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Snell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sin53° = 0,8 ve sin37° = 0,6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Havadan (n = 1) suya (n = 4/3) 53° ile giren ışının kırılma açısını bulunuz.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n₁·sin i = n₂·sin r → 1 · 0,8 = (4/3) · sin 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 = 0,8 · 3/4 = 0,6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37°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 normale yaklaştı: su daha yoğun olduğu için beklenen sonuç.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hız ve dalga boyu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Frekansın değişmediğine dikkat.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Dalga boyu havada 600 nm olan ışık, kırılma indisi 1,5 olan cama giriyor.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Camdaki hızı, dalga boyu ve frekansı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2·10⁸ m/s · 400 nm · 5·10¹⁴ Hz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c/n = 3·10⁸ / 1,5 = 2·10⁸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λ₀/n = 600/1,5 = 400 nm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v/λ = 2·10⁸ / 400·10⁻⁹ = 5·10¹⁴ Hz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Havadaki frekans da 3·10⁸/600·10⁻⁹ = 5·10¹⁴ Hz ✓ frekans değişmedi.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sınır açı ve yandan kayma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klasik hesap.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Kırılma indisi 2 olan ortamdan havaya geçişte sınır açı kaçtır?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6 cm kalınlığındaki cam levhaya (n = 1,5) 50° ile gelen ışının yandan kayması ne kadardır?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30° · (b) ≈ 2,3 cm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 = n₂/n₁ = 1/2 = 0,5 → θ = 30°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 = sin50°/1,5 = 0,511 → r ≈ 30,7°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t·sin(i − r)/cos r = 6 · sin19,3° / cos30,7°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6 · 0,331 / 0,860 ≈ 2,3 cm; çıkan ışın gelene paraleldir.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Frekansın değiştiğini sanmak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değişmez; hız ve dalga boyu değişir.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gelen ışın kırılır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0 ise doğrultu korunur, yalnızca hız değişir.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yansımayı her geçişte aramak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çok yoğundan az yoğuna geçişte olur.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Açıları yüzeyle ölçmek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Kırılmada da açılar normalle ölçülür.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yoğunluğu kütle yoğunluğu sanmak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Kastedilen kırılma indisidir.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Levhadan çıkan ışının saptığını sanmak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kenarlı levhada çıkan ışın gelene paraleldir.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04 · Kırılma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İndis hız oranıdır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c/v; büyük indis, yavaş ışık.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Snell yasası yönü verir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n₁·sin i = n₂·sin r; yoğuna girerken normale yaklaşır.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sabit kalır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Değişen hız ve dalga boyudur; renk değişmez.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açıdan sonra hapis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yoğundan az yoğuna geçişte tam yansıma olur.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Snell laboratuvarı, tam yansıma ve yandan kayma: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dersler.perinet.org/kirilma.html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Kırılma</dc:title>
  <dc:subject>Fizik · Optik</dc:subject>
  <dc:creator>Dersler</dc:creator>
  <cp:lastModifiedBy>Dersler</cp:lastModifiedBy>
  <cp:revision>1</cp:revision>
  <dcterms:created xsi:type="dcterms:W3CDTF">2026-09-18T21:55:06Z</dcterms:created>
  <dcterms:modified xsi:type="dcterms:W3CDTF">2026-09-18T21:55:06Z</dcterms:modified>
</cp:coreProperties>
</file>