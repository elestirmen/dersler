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notesMasterIdLst>
    <p:notesMasterId r:id="rId1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notesMaster" Target="notesMasters/notesMaster1.xml"/><Relationship Id="rId127" Type="http://schemas.openxmlformats.org/officeDocument/2006/relationships/presProps" Target="presProps.xml"/><Relationship Id="rId128" Type="http://schemas.openxmlformats.org/officeDocument/2006/relationships/viewProps" Target="viewProps.xml"/><Relationship Id="rId129" Type="http://schemas.openxmlformats.org/officeDocument/2006/relationships/theme" Target="theme/theme1.xml"/><Relationship Id="rId1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Havuzun dibindeki fayansları görüyorsun ama gerçekte olduğundan daha yukarıda: bir metre derinlikteki bir havuzda tam 25 cm. Aynı yanılgı, bardağın dibindeki bozuk parayı, sudaki balığı ve cam altındaki yazıyı da yerinden oynatır. Sebebi tek: sudan çıkan ışınlar yüzeyde kırılır, gözün ise onları hep düz geldi sanır. Bu konuda o kaymanın ne kadar olduğunu hesaplamayı öğreneceğiz. Anlatım dört basamakta ilerliyor: önce havuza, balığa ve bardaktaki paraya bakıp yanılgının nedenini sezeceğiz; sonra h′ = h/n bağıntısını kırılma yasasından adım adım çıkarıp sudan havaya bakışa ve cam levhaya genişleteceğiz; ardından üst üste katmanlara ve eğik bakışın sınırlarına geçeceğiz. En sonda kolaydan zora sıralanmış örneklerle hepsini birlikte kullanacağız.
Kapak görseli: Havuzun kenarından bakış. Ördek yüzeyde yüzüyor, gölgesi ise dipteki karolara düşüyor; ikisinin arasında suyun bütün derinliği var. Yine de karolar da gölge de uzanıp dokunabileceğin kadar yakın görünür: havuz göründüğünden yaklaşık üçte bir daha derindir. Tabandaki parlak ağ desenleri de kırılmanın eseridir: dalgalı yüzey güneş ışınlarını kırarak bazı çizgilerde toplar.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Havuzun dibindeki fayansları görüyorsun ama gerçekte olduğundan daha yukarıda: bir metre derinlikteki bir havuzda tam 25 cm. Aynı yanılgı, bardağın dibindeki bozuk parayı, sudaki balığı ve cam altındaki yazıyı da yerinden oynatır. Sebebi tek: sudan çıkan ışınlar yüzeyde kırılır, gözün ise onları hep düz geldi sanır. Bu konuda o kaymanın ne kadar olduğunu hesaplamayı öğreneceğiz. Anlatım dört basamakta ilerliyor: önce havuza, balığa ve bardaktaki paraya bakıp yanılgının nedenini sezeceğiz; sonra h′ = h/n bağıntısını kırılma yasasından adım adım çıkarıp sudan havaya bakışa ve cam levhaya genişleteceğiz; ardından üst üste katmanlara ve eğik bakışın sınırlarına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suyun altındaki cisimlerin neden olduğundan yukarıda göründüğünü formülsüz kavra ve yanılgının büyüklüğünü basit bir kuralla hisset.
   01 Önce gözlemle: su neden sığ görünür?
   02 Gözün yanılgısı: görüntü neden yukarıda?
   03 Dörtte bir kuralı: su ne kadar kandırır?
2. Orta — Bağıntılar: dörtte bir kuralını Snell yasasından çıkar, yükselmeyi hesapla, sonra bakış yönünü ters çevir ve cam levhaya uygula.
   04 Bağıntı nereden geliyor?
   05 Yükselme miktarı
   06 Sayılarla hisset: tanıdık derinlikler
   07 Sudan havaya bakış
   08 Cam levhanın altındaki yazı
3. İleri — Derinleşme: ışık birden çok katmandan geçince, bakış yatıklaşınca ve yanılgı gerçek hayatta bir ölçüm aracına dönüşünce ne olur?
   09 Üst üste katmanlar
   10 Bağıntının geçerlilik sınırı: eğik bakış
   11 Görünür derinlik gerçek dünyada
4. Pekiştir — Kolaydan zora çözümlü örnekler ve görünür derinlik sorularında puan kaybettiren klasik hatalar.
   12 Çözümlü örnekler
   13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Kırılma: ışığın bir saydam ortamdan ötekine geçerken yön değiştirmesi. Sudan havaya çıkan ışın normalden uzaklaşır.
• Kırılma indisi (n): ışığın bir ortamda kaç kat yavaşladığını söyleyen sayı. Hava için 1, su için 4/3 ≈ 1,33, cam için 1,5.
• Normal: yüzeye dik çizilen yardımcı çizgi. Su yüzeyi yatay olduğu için normali dikeydir; “dik bakmak”, suya tam yukarıdan bakmaktır.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Düzlem aynadaki görüntü: aynanın arkasındaymış gibi görünür ama oraya uzanıp onu tutamazsın. Göz, gelen ışınların hep düz geldiğini sanır.
• Kesre bölmek: bir sayıyı kesre bölmek, kesri ters çevirip çarpmaktır: 2 ÷ (4/3) = 2 · 3/4 = 1,5. Ayrıca 3/4 = 0,75, yani %75.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suyun altındaki cisimlerin neden olduğundan yukarıda göründüğünü formülsüz kavra ve yanılgının büyüklüğünü basit bir kuralla hisset.
01 Önce gözlemle: su neden sığ görünür?
02 Gözün yanılgısı: görüntü neden yukarıda?
03 Dörtte bir kuralı: su ne kadar kandırır?
Görsel: Balıkçının gördüğü balık, gerçek yerinden biraz yukarıdadır. Balıktan çıkan ışınlar yüzeyde kırılıp normalden uzaklaştığı için göz onları olduğundan sığ bir noktadan gelmiş sanır. Zıpkın gördüğü noktaya fırlatılırsa balığın üstünden geçer; deneyimli balıkçılar bu yüzden biraz aşağıya nişan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su neden sığ görünür? — adım 1/5
• Bir havuzun kenarına eğilip dibe bak.
• Fayanslar, elini uzatsan dokunabileceğin kadar yakın durur; içine girince su beklediğinden derin çıkar.
• Bu yanılgı yalnızca havuza özgü değildir; suyla ya da camla örtülmüş her şeyde aynı şeyi görürsün: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su neden sığ görünür? — adım 2/5
• Havuz sığ görünür: dipteki fayanslar, ayağını basınca şaşıracağın kadar yakın durur.
• Bacaklar kısa görünür: havuzda ayakta duran birinin suyun içindeki bacakları kısalmış gibi durur.
• Kaşık kırık görünür: kaşığın su altındaki kısmı yükselmiş görünür, bu da kırılmış izlenimi verir.
• Balık yukarıda görünür: sudaki balığa zıpkın atan avcı, gördüğü yere nişan alırsa ıskalar.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su neden sığ görünür? — adım 3/5
• Bozuk para ortaya çıkar: bardağın kenarının arkasında kalan para, bardağa su dökülünce görünür hâle gelir.
• Cam altındaki yazı yükselir: kalın bir camın altındaki harfler camın içinde yüzüyormuş gibi 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su neden sığ görünür? — adım 4/5
• Bütün bu gözlemlerde cisim yerinden kıpırdamıyor; değişen, ondan gözüne gelen ışının yolu.
• Işık sudan havaya çıkarken yüzeyde kırılır.
• Göz ise ışının sınırda yön değiştirdiğini bilmez ve cismi, ışının son doğrultusunun gerisinde bir yerde 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su neden sığ görünür? — şekil
Suya eğik daldırdığın düz bir çubuğa yukarıdan bak. Suyun altındaki her nokta olduğundan yukarıda görünür, ama derindeki noktalar daha çok yükselir: yeşil oklar uca doğru uzuyor, yüzeydeki nokta hiç kaymıyor. Bu yüzden gördüğün çubuk (mor) yüzeyde kırılmış gibi durur. Çubuk yerinden kıpırdamadı; değişen, ondan gözüne gelen ışının yolu.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Suyun ya da camın altındaki cisimler yerinden kıpırdamadan olduğundan yukarıda görünür. Değişen cisim değil, ondan gözüne gelen ışının yoludur.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Havuzda ayakta duran arkadaşının suyun içindeki bacakları neden kısa görünür?
Sınıfa sorun, birkaç tahmin alın; sonra cevap slaytına geçin.
Cevap: Bacaklarının her noktası olduğundan yukarıda görünür, ama derindeki noktalar daha çok yükselir. Ayak tabanı en çok, yüzeye yakın kısımlar en az yükselir. Suyun içindeki kısım bir akordeon gibi sıkışır ve bacaklar kısa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Bacaklarının her noktası olduğundan yukarıda görünür, ama derindeki noktalar daha çok yükselir. Ayak tabanı en çok, yüzeye yakın kısımlar en az yükselir. Suyun içindeki kısım bir akordeon gibi sıkışır ve bacaklar kısa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Gözün yanılgısı: görüntü neden yukarıda? — adım 1/5
• Suyun dibindeki bir cisimden çıkan ışınlar su–hava sınırında kırılır ve normalden uzaklaşır.
• Göz, kendisine ulaşan ışınların geldiği doğrultuyu uzattığı için cismi, bu uzantıların kesiştiği noktada — yani gerçek yerinden daha yukarıda — görür.
• Olayı adım adım izle: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Gözün yanılgısı: görüntü neden yukarıda? — adım 2/5
• Işık çıkar: dipteki cisimden her yöne ışınlar yayılır; bunların ince bir demeti yüzeye doğru ilerler.
• Yüzeyde kırılır: sudan havaya geçen ışınlar hızlanır, normalden uzaklaşır; demet biraz daha açılarak göze gelir.
• Göz geriye uzatır: beyin ışınların düz geldiğini varsayar ve onları geriye doğru uzatır.
• Uzantılar kesişir: uzantılar gerçek yerin üstündeki bir noktada buluşur; göz cismi orada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Gözün yanılgısı: görüntü neden yukarıda? — adım 3/5
Görüntü sanaldır. Suyun içinde gerçekten bir görüntü oluşmaz; ışınların uzantıları orada kesişir. Bu yüzden görünen derinliğe perde koyamazsın.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Gözün yanılgısı: görüntü neden yukarıda? — şekil
Tabandaki noktadan çıkan ışınlar su yüzeyinde kırılıp normalden uzaklaşır. Göz bu ışınları düz çizgi boyunca geriye uzatır ve hepsinin kesiştiği noktayı cismin yeri sanır. O nokta her zaman gerçek yerin üstündedir; aradaki fark ne kadar bakarsan bak kapanmaz. Görünen derinlik, gerçek derinliğin kırılma indisine bölümüdür.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Gözün yanılgısı: görüntü neden yukarıda? — adım 5/5
• Işınların kendisi değil de uzantıları kesiştiği için böyle bir görüntüye sanal görüntü denir.
• Düzlem aynadaki görüntün de sanaldır: aynanın arkasına geçip onu elinle tutamazsın.
• Havuzdaki “yükselmiş taban” da böyledir; oraya uzanırsan elin boşluğa değer.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Sudan çıkan ışınlar normalden uzaklaşır; göz onları geriye uzatır ve uzantıların kesiştiği, gerçek yerin üstündeki noktayı cismin yeri sanır. Oluşan görüntü sanaldır.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Dörtte bir kuralı: su ne kadar kandırır? — adım 1/3
• Yanılgının büyüklüğü rastgele değildir.
• Yukarıdan dike yakın bakıldığında suyun içindeki her cisim, gerçek derinliğinin dörtte üçünde görünür; başka bir deyişle derinliğin dörtte biri “kaybolur”.
• 2 metrelik havuzun dibi 1,5 metrede, 40 cm'lik akvaryumun tabanı 30 cm'de görünür.
• Bu oranın kaynağı suyun kırılma indisidir (4/3 ≈ 1,33); nereden geldiğini ikinci basamakta göreceğiz.
• İndisi daha büyük sıvılarda yanılgı da büyür: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Dörtte bir kuralı: su ne kadar kandırır? — şekil
Görünen derinlik yalnızca sıvının indisine bağlıdır — derinliğin kendisine değil. Suda her derinlik dörtte bir kadar kısalır: 1 metre 75 cm, 4 metre 3 metre görünür. İndis büyüdükçe kayma artar; karbon sülfürde derinliğin neredeyse %40'ı kaybolur. Açık gri çubuk gerçek derinliği, renkli kısım görünen derinliği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Dörtte bir kuralı: su ne kadar kandırır? — adım 3/3
• Oran sabittir: suda 1 m de 4 m de aynı oranda, dörtte bir kısalır.
• Fark derinlikle büyür: bardakta birkaç santimetre, derin havuzda bir metreden fazla.
• İndis büyüdükçe yanılgı artar: karbon sülfürde derinliğin neredeyse %40'ı kaybolur.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Dike yakın bakışta suyun altındaki her cisim gerçek derinliğinin dörtte üçünde görünür. Oran derinlikten bağımsızdır; fark ise derinlikle ve sıvının indisiyle büyür.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Bardağın kenarının arkasında kalan bozuk para, bardağa su dökülünce neden görünür hâle gelir?
Sınıfa sorun, birkaç tahmin alın; sonra cevap slaytına geçin.
Cevap: Su yokken paradan gözüne giden düz yol bardağın kenarına takılır. Su dökülünce paradan çıkan ışınlar yüzeyde kırılıp normalden uzaklaşır ve kenarın üstünden aşarak gözüne ulaşır. Göz parayı olduğundan yukarıda, kenarın üstünden görülebilen bir yerde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Su yokken paradan gözüne giden düz yol bardağın kenarına takılır. Su dökülünce paradan çıkan ışınlar yüzeyde kırılıp normalden uzaklaşır ve kenarın üstünden aşarak gözüne ulaşır. Göz parayı olduğundan yukarıda, kenarın üstünden görülebilen bir yerde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dörtte bir kuralını Snell yasasından çıkar, yükselmeyi hesapla, sonra bakış yönünü ters çevir ve cam levhaya uygula.
04 Bağıntı nereden geliyor?
05 Yükselme miktarı
06 Sayılarla hisset: tanıdık derinlikler
07 Sudan havaya bakış
08 Cam levhanın altındaki yazı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adım 1/8
• Havadan, suya dik doğrultuda bakan bir gözlemci için:
h′ = h / n   n = h /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adım 2/8
Formüldeki harfler ne anlama geliyor?
Sembol | Anlamı | Birimi
h | cismin gerçek derinliği: yüzeyden cisme olan uzaklık | m ya da cm
h′ | görünen derinlik: gözün cismi gördüğü derinlik | h ile aynı
n | sıvının kırılma indisi (su için 4/3) | —
Δh | yükselme miktarı: h − h′ (bir sonraki bölümde) | h ile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adım 3/8
• h: cismin gerçek derinliği.
• h′: görünen derinlik (her zaman daha küçük).
• n: sıvının kırılma indisi.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adım 4/8
Adım adım türetme
• Bağıntı, kırılma konusundaki Snell yasasından ve biraz üçgen bilgisinden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adım 5/8
• Havanın indisini 1 al ve cisimden çıkıp göze ulaşan tek bir ışını izle:
• Yüzeye varış: ışın, cismin tam üstündeki noktadan x kadar ötede yüzeye i açısıyla varır: x = h·tan i.
• Kırılma: ışın havaya r açısıyla çıkar: n·sin i = sin r.
• Gözün uzantısı: uzantı, cismin üstündeki düşey çizgiyi h′ derinliğinde keser: x = h′·tan r.
• Eşitle: h·tan i = h′·tan r → h′ = h·tan i / tan r.
• Dik bakış: küçük açılarda tan ≈ sin olduğundan h′ ≈ h·sin i / sin r = h/n.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şekil
Tek bir ışını izle: cisimden çıkar, yüzeye normalle i açısı yaparak varır ve havaya daha büyük bir r açısıyla çıkar. Yüzeydeki x uzaklığı iki dik üçgende ortaktır: gerçek derinlikle x = h · tan i, gözün gördüğü derinlikle x = h′ · tan r. İkisini eşitleyince h′ = h · tan i / tan r çıkar. Açılar okunabilsin diye büyük çizildi; dik bakışta açılar küçüldükçe h′ değeri h/n'ye yaklaşır.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adım 7/8
• Su için n = 4/3 olduğundan h′ = 3h/4: her cisim gerçek derinliğinin dörtte üçünde görünür.
• 2 metrelik havuzun dibi 1,5 metredeymiş gibi görünür.
• Dördüncü adımdaki tam ifadeyi bir kenara yaz; üçüncü basamakta eğik bakışı incelerken ona döneceğiz.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 nereden geliyor? — adım 8/8
Akıl kontrolü: n birimsiz olduğu için h′ ile h aynı birimdedir. Su yoksa (n = 1) h′ = h çıkmalı; çıkıyor. İndis büyüdükçe h′ küçülmeli; küçülüyor. Bir bağıntı bu sınamalardan geçmiyorsa yanlış hatırlanmıştır.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Snell yasası ve dik bakışta tan ≈ sin yaklaşımı h′ = h/n bağıntısını verir. Su için h′ = 3h/4: her cisim gerçek derinliğinin dörtte üçünde görünür.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Yükselme miktarı — adım 1/4
• Cismin ne kadar “yükseldiğini”, yani gerçek derinlikle görünen derinlik arasındaki farkı doğrudan veren bir bağıntı da yazılabilir:
Δh = h − h′ = h (1 − 1/n)
• Su için Δh = h·(1 − 3/4) = h/4: cisim derinliğinin dörtte biri kadar yükselmiş görünür.
• İndis büyüdükçe yükselme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Yükselme miktarı — adım 2/4
Sıvı | n | h′ / h | Yükselme
Su | 1,33 | 0,75 | %25
Alkol | 1,36 | 0,74 | %26
Gliserin | 1,47 | 0,68 | %32
Karbon sülfür | 1,63 | 0,61 |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Yükselme miktarı — şekil
Cismin "yükselmiş" görünme miktarı, gerçek derinlikle görünen derinlik arasındaki farktır. Suda bu fark derinliğin dörtte biridir: 2 metrelik havuzun tabanı 50 cm yukarıda görünür. Fark derinlikle doğru orantılı büyür — bu yüzden derin havuzlarda yanılgı çok daha tehlikelidir.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Yükselme miktarı — adım 4/4
• Tablodaki son sütun sıvının türüne bağlıdır ama derinliğe bağlı değildir: yükselme oranı her derinlikte aynıdır.
• Yükselme miktarı ise derinlikle doğru orantılıdır.
• Soruda hangisinin istendiğine dikkat et: “yüzde kaç sığ görünür” oranı, “kaç cm yukarıda görünür” miktarı sorar.
• Tabloyu tersinden de kullanabilirsin: görünen derinliği ölçersen sıvının indisini n = h/h′ ile bulursun.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Yükselme miktarı Δh = h(1 − 1/n)'dir; suda derinliğin dörtte biri. Yükselme oranı yalnızca sıvıya, yükselme miktarı ise derinliğe de bağlıdır.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tanıdık derinlikler — adım 1/5
• Suyun (n = 4/3) tanıdık derinliklerde ne kadar yanılttığına bakalım.
• Sayfanın 01 numaralı bölümündeki havuz laboratuvarında aynı hesabı istediğin derinlik ve sıvı için yapabilirsin; varsayılan 200 cm'lik havuz 150 cm'de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tanıdık derinlikler — adım 2/5
Nerede | Gerçek derinlik | Görünen derinlik | Yükselme
Su bardağının dibi | 12 cm | 9 cm | 3 cm
Akvaryum | 40 cm | 30 cm | 10 cm
Çocuk havuzu | 1 m | 75 cm | 25 cm
Yetişkin havuzu | 2 m | 1,5 m | 50 cm
Atlama havuzu | 5 m | 3,75 m | 1,25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tanıdık derinlikler — adım 3/5
• Tablodan okunan düzen: görünen derinlik her satırda gerçek derinliğin tam 0,75 katı, yükselme 0,25 katı.
• Ama aynı oran çok farklı hissedilir.
• Bardaktaki 3 cm'lik yanılgıyı fark etmezsin bile; atlama havuzundaki 1,25 metrelik yanılgı ise tehlikelidir.
• Dördüncü satıra dikkat: 1,5 metre derinliğinde görünen havuz aslında 2 metredir; boyu 1,6 m olan biri orada ayağı yere değerken başını sudan çıkaramaz.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tanıdık derinlikler — şekil
Beş kap aynı ölçekle çizildi. Görünen taban (mor çizgi) her kapta derinliğin 3/4'ünde, yeşil şerit yani yükselme hep 1/4: oran hiç değişmiyor. Değişen, farkın büyüklüğü. Bardaktaki 3 cm'lik şeridi zor seçersin; atlama havuzundaki 1,25 metrelik şerit ise çocuk havuzunun tamamından derin.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tanıdık derinlikler — şekil
Suyun içinde kısalan bacaklar gövdeye göre kısa duruyor, çünkü bacağın her noktası olduğundan yukarıda görünür ve derindeki noktalar daha çok yükselir. Yükselme Δh = h(1 − 1/n) derinlikle orantılı olduğu için ayaklar dizlerden, dizler de belden daha çok yukarı kayar; suyun altındaki kısım böylece sıkışmış görünür. Aynı yanılgı havuzun dibini de yakın gösterir: 2 metrelik bir havuz 1,5 metre derinmiş gibi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Suda görünen derinlik her zaman gerçeğin 0,75 katıdır: 1 m 75 cm, 2 m 1,5 m, 5 m 3,75 m görünür. Oran aynı kalır, fark derinlikle büyür.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Havuza su doldurulurken dipteki fayansın görünen derinliği nasıl değişir?
Sınıfa sorun, birkaç tahmin alın; sonra cevap slaytına geçin.
Cevap: Su yükseldikçe görünen derinlik de düzgün olarak artar, ama her an su yüksekliğinin dörtte üçü kadardır: su 40 cm iken fayans 30 cm'de, 1 m iken 75 cm'de görünür. Görünen derinliğin su yüksekliğine göre grafiği, orijinden geçen ve eğimi 3/4 olan bir doğrudur.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Su yükseldikçe görünen derinlik de düzgün olarak artar, ama her an su yüksekliğinin dörtte üçü kadardır: su 40 cm iken fayans 30 cm'de, 1 m iken 75 cm'de görünür. Görünen derinliğin su yüksekliğine göre grafiği, orijinden geçen ve eğimi 3/4 olan bir doğrudur.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Sudan havaya bakış — adım 1/5
• Gözlemci suyun içindeyse durum tersine döner: havadaki cisimden gelen ışınlar suya girerken normale yaklaşır ve uzantıları cismi daha yüksekte gösterir.
h′ = n ·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Sudan havaya bakış — adım 2/5
• Su altındaki bir dalgıç için, yüzeyden 1,5 m yukarıdaki bir kuş yaklaşık 2 m yükseklikte görünür.
• Genel kural: gözlemcinin bulunduğu ortamın indisi büyükse cisim uzaklaşmış görünür.
• Sayfanın 03 numaralı bölümünde aynı sonucu izleyebilirsin: 150 cm yukarıdaki cisim su altından 200 cm'de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Sudan havaya bakış — adım 3/5
• İki durum tek bir bağıntıda birleşir: cisim ile yüzey arasındaki uzaklık, gözlemcinin ortamının indisiyle çarpılır ve cismin ortamının indisine bölünür.
h′ = h · ngözlemci / ncisim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Sudan havaya bakış — adım 4/5
• Havadan suya bakış: ngözlemci = 1, ncisim = n → h′ = h/n; cisim yaklaşmış görünür.
• Sudan havaya bakış: ngözlemci = n, ncisim = 1 → h′ = n·h; cisim uzaklaşmış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Sudan havaya bakış — şekil
Bakış yönü tersine dönünce sonuç da tersine döner. Su altındaki bir gözlemci için havadaki cisim olduğundan daha yükseğe kaçar: h′ = n·h. Bu yüzden suyun altından bakan bir dalgıç, kıyıdaki insanları gerçekte olduklarından çok daha havada görür — ve balıklar, kendilerine yukarıdan bakan avcıyı olduğundan yüksekte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Gözlemci suyun içindeyse havadaki cisim h′ = n·h yüksekliğinde, yani olduğundan uzakta görünür. Genel kural: h′ = h·n(gözlemci)/n(cisim).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 levhanın altındaki yazı — adım 1/4
• Kalınlığı t, indisi n olan bir cam levha, altındaki yazıyı yukarı taşımış gibi gösterir:
Δ = t (1 − 1/n)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 levhanın altındaki yazı — adım 2/4
Bağıntı nereden geliyor?
• Levha yokken: yazı, levhanın üst yüzü hizasından t + a derinde görünür (a: levha ile yazı arasındaki hava aralığı).
• Levha varken: cam katman kendi kalınlığını t/n gibi gösterir, hava aralığı olduğu gibi kalır: görünen derinlik t/n + a.
• Fark: (t + a) − (t/n + a) = t − t/n = t(1 − 1/n). Hava aralığı a sadeleşir.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 levhanın altındaki yazı — adım 3/4
• Cam için (n = 1,5) Δ = t/3'tür: 6 cm'lik cam levha yazıyı 2 cm yükseltir.
• Yazının levhaya olan uzaklığı sonucu değiştirmez; önemli olan ışığın cam içinde kat ettiği kalınlıktır.
• Sayfanın 04 numaralı bölümünde varsayılan 6 cm'lik levhanın içinden bakınca camın kendisi 4 cm kalınlığındaymış gibi görünür; aradaki 2 cm, yazının yükselme miktarıdır.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 levhanın altındaki yazı — şekil
Cam levhanın altındaki yazı da yukarı kaçar; tek fark, kaymanın levhanın kalınlığına bağlı olmasıdır — yazının levhadan ne kadar uzakta olduğu fark etmez. Camda n ≈ 1,5 olduğu için kayma kalınlığın üçte biri kadardır: 3 cm'lik bir cam bloğun altındaki yazı 1 cm yükselmiş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Cam levha, altındaki yazıyı Δ = t(1 − 1/n) kadar yükseltir; camda bu, kalınlığın üçte biridir. Yazı ile levha arasındaki hava aralığı sonucu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ışık birden çok katmandan geçince, bakış yatıklaşınca ve yanılgı gerçek hayatta bir ölçüm aracına dönüşünce ne olur?
09 Üst üste katmanlar
10 Bağıntının geçerlilik sınırı: eğik bakış
11 Görünür derinlik gerçek dünyada
Görsel: Kalın bir cam blok, altındaki kareli örtüyü kalınlığının yaklaşık üçte biri kadar yukarı taşınmış gösterir: 3 cm'lik bir blokta kareler 1 cm yükselmiş görünür. Bloğun kenarlarına bak: cam içinden görülen kare çizgileri, bloğun dışındakilerle tam aynı hizada devam etmez. Eğik bakışta yükselmeye yandan kayma da eklenir.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üste katmanlar — adım 1/5
• Bir bardakta suyun üstünde bir yağ tabakası, bir akvaryumda suyun altında kalın bir cam taban olabilir.
• Işığın yolunda birden fazla saydam katman varsa her katman kendi kalınlığını kendi indisine göre kısaltır ve görünen kalınlıklar toplanır:
h′ = h₁/n₁ + h₂/n₂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üste katmanlar — adım 2/5
• Cam levhadaki bağıntı bunun özel bir durumudur: cam katmanı t/n, hava aralığı ise olduğu gibi a görünür.
• Örneğin bir bardakta 8 cm su (n = 4/3) üstünde 3 cm yağ (n = 1,5) varsa dipteki para 3/1,5 + 8·3/4 = 2 + 6 = 8 cm derinde görünür; gerçek derinlik 11 cm'dir.
• Toplam 11 cm'yi tek bir indise bölseydin ikisinden birini yanlış kullanmış olurdun.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üste katmanlar — şekil
Aynı bardağı iki kez çizdik: solda gerçek katmanlar, sağda yukarıdan dik bakınca görünenler. Her katman kendi indisine bölünerek kısalır: 3 cm yağ 2 cm, 8 cm su 6 cm görünür. Dipteki para bu kısalmış kalınlıkların toplamında, 8 cm derinde görünür; 11 cm'yi tek bir indise bölseydin iki katmandan birine yanlış indis vermiş olurdun.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üste katmanlar — adım 4/5
• Her katman ayrı hesaplanır: toplam derinlik tek bir indise bölünmez.
• Sıra önemli değildir: dik bakışta toplam, katmanların hangi sırayla dizildiğinden bağımsızdır.
• Hava katmanı olduğu gibi kalır: indisi 1 olduğu için kısalmaz.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üste katmanlar — şekil
Su ve yağ bardakta üst üste iki katman oluşturuyor: dipteki paradan gelen ışık önce sudan yağa, sonra yağdan havaya geçer ve her sınırda yeniden kırılır. Her katman kendi kalınlığını kendi indisine bölerek kısaltır; paranın görünen derinliği h′ = h₁/n₁ + h₂/n₂, yani bu kısalmış kalınlıkların toplamıdır. Toplam derinliği tek bir indise bölmek bu yüzden yanlış sonuç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Üst üste katmanlarda her katman kendi indisine bölünür ve görünen kalınlıklar toplanır: h′ = h₁/n₁ + h₂/n₂. Katmanların sırası sonucu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Suyun içine yatay bir cam levha konuyor. Levhanın dibe ya da yüzeye yakın durması, dipteki paranın görünen derinliğini değiştirir mi?
Sınıfa sorun, birkaç tahmin alın; sonra cevap slaytına geçin.
Cevap: Değiştirmez. Dik bakışta görünen derinlik, suyun toplam kalınlığının 4/3'e bölümü ile levha kalınlığının 1,5'e bölümünün toplamıdır. Bu toplamda levhanın nerede durduğu geçmez; levha yalnızca suyun bir kısmının yerini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Değiştirmez. Dik bakışta görünen derinlik, suyun toplam kalınlığının 4/3'e bölümü ile levha kalınlığının 1,5'e bölümünün toplamıdır. Bu toplamda levhanın nerede durduğu geçmez; levha yalnızca suyun bir kısmının yerini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Bağıntının geçerlilik sınırı: eğik bakış — adım 1/5
h′ = h/n yalnızca dik (dike yakın) bakış içindir. Yüzeye çok eğik bakıldığında görünen derinlik daha da azalır; kırılma açısı büyüdükçe uzantıların kesiştiği nokta yükselir. Bu yüzden havuza yandan bakıldığında dip daha da yakın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Bağıntının geçerlilik sınırı: eğik bakış — adım 2/5
• Neden?
• Türetmenin dördüncü adımında h′ = h·tan i / tan r bulmuştuk; tan ≈ sin yaklaşımı yalnızca küçük açılarda doğrudur.
• Açılar büyüyünce tam ifadeyi kullanmak gerekir.
• Göze gelen ışının uzantısı, cismin tam üstündeki düşey çizgiyi hangi derinlikte keser?
• Su (n = 4/3)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Bağıntının geçerlilik sınırı: eğik bakış — adım 3/5
Bakış açısı (havada) | Sudaki açı | h′ / h | 2 m havuzda
0° (dik) | 0° | 0,75 | 1,50 m
30° | 22,0° | 0,70 | 1,40 m
45° | 32,0° | 0,63 | 1,25 m
60° | 40,5° | 0,49 | 0,99 m
75° | 46,4° | 0,28 | 0,56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Bağıntının geçerlilik sınırı: eğik bakış — adım 4/5
• Tablo iki şey söylüyor.
• Birincisi, 30°'ye kadar h′/h oranı 0,75'ten pek sapmaz; “dike yakın” bakışın sınırı sanıldığından geniştir.
• İkincisi, 60°'nin ötesinde görünen derinlik hızla küçülür: yatık bakışta 2 metrelik havuz yarım metre derinliğindeymiş gibi görünebilir.
• Bu sayılar tek bir ışının uzantısı içindir; eğik bakışta komşu ışınlar artık aynı noktada kesişmez ve görüntü bulanıklaşır.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Bağıntının geçerlilik sınırı: eğik bakış — şekil
h′ = h/n bağıntısı yalnızca dike yakın bakışlarda geçerlidir. Küçük açılarda uzantılar tek bir noktada kesişir ve keskin bir görüntü oluşur. Bakış açısı büyüdükçe her ışın farklı bir noktaya işaret eder, görüntü dağılır ve bozulur — havuzun dibine yandan bakınca fayansların eğrilmiş görünmesinin sebebi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 = h/n yalnızca dike yakın bakışta geçerlidir. Bakış yatıklaştıkça görünen derinlik daha da azalır ve görüntü bozulur; suda 60°'lik bakışta derinlik yaklaşık yarısı kadar görünür.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Havuzun kenarında dururken uzaktaki dip neden ayağının dibindeki dipten de sığ görünür?
Sınıfa sorun, birkaç tahmin alın; sonra cevap slaytına geçin.
Cevap: Uzaktaki dibe daha yatık bir açıyla bakarsın. Tablodaki gibi bakış açısı büyüdükçe h′/h oranı 0,75'in altına düşer: 60°'de yaklaşık 0,5'e, 75°'de 0,3'e yaklaşır. Aynı derinlikteki taban, uzaklaştıkça yükseliyormuş gibi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Uzaktaki dibe daha yatık bir açıyla bakarsın. Tablodaki gibi bakış açısı büyüdükçe h′/h oranı 0,75'in altına düşer: 60°'de yaklaşık 0,5'e, 75°'de 0,3'e yaklaşır. Aynı derinlikteki taban, uzaklaştıkça yükseliyormuş gibi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Görünür derinlik gerçek dünyada — adım 1/5
• Görünür derinlik bir göz yanılgısı olarak başlar, ama doğru hesaplandığında güvenliği sağlayan ve ölçüm yapmaya yarayan bir araca dönüşür.
• Aşağıdaki örneklerin hepsi bu konunun bağıntılarını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Görünür derinlik gerçek dünyada — adım 2/5
• Havuz güvenliği: 1,4 m derinliğindeki havuz yukarıdan yaklaşık 1,05 m görünür; derinlik yazıları bu yüzden kenara yazılır.
• Zıpkınla balık avı: 90 cm derindeki balık yaklaşık 68 cm'de görünür; avcı gördüğünün altına nişan alır.
• Okçu balığı: sudan dallardaki böceklere su tükürerek avlanır; kırılmanın yarattığı sapmayı hesaba katarak nişan alır.
• Dalış maskesi: maske gözün önünde hava tutar; sudaki cisimler yaklaşık 3/4 uzaklıkta ve 4/3 kat büyük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Görünür derinlik gerçek dünyada — adım 3/5
• İndis ölçümü: mikroskop bir işarete, sonra üstüne konan levhanın içinden aynı işarete odaklanır; odak kayması n'yi verir.
• Cam bloklar: 3 cm'lik cam blok, altındaki yazıyı 1 cm yükselmiş gösterir; kalın vitrin camlarında da aynısı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Görünür derinlik gerçek dünyada — şekil
Balık gördüğün yerde değil, daha derindedir. Zıpkını gördüğün noktaya doğrultursan üstünden geçersin; deneyimli avcılar bu yüzden hep biraz aşağıya nişan alır. Aynı düzeltmeyi suya uzanıp bir şey almaya çalışırken elin de otomatik olarak yapar — beyin bu sapmayı öğrenmiştir.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Görünür derinlik gerçek dünyada — adım 5/5
• Sayfanın 02 numaralı bölümünde balığa nişan almayı kendin deneyebilirsin: varsayılan balık 90 cm derinde durur ama 68 cm'de görünür.
• Gözün de bu düzeltmeyi zamanla öğrenir; suya uzanıp bir şey almaya çalışırken elin kendiliğinden biraz daha derine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Havuz güvenliği, zıpkınla avcılık, dalış maskesi ve indis ölçümü görünür derinliğin sonuçlarıdır. Doğru hesaplanan yanılgı bir ölçüm aracına dönüşür.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Dalış maskesiyle su altına bakınca balıklar neden olduğundan büyük görünür?
Sınıfa sorun, birkaç tahmin alın; sonra cevap slaytına geçin.
Cevap: Maskenin camı düzdür ve gözün önünde hava vardır; yani sen havadan suya bakan bir gözlemcisin. Sudaki cisimler gerçek uzaklığın yaklaşık dörtte üçünde görünür. Aynı boydaki bir cisim daha yakında göründüğü için gözde daha büyük bir açı kaplar: yaklaşık 4/3 kat büyük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Maskenin camı düzdür ve gözün önünde hava vardır; yani sen havadan suya bakan bir gözlemcisin. Sudaki cisimler gerçek uzaklığın yaklaşık dörtte üçünde görünür. Aynı boydaki bir cisim daha yakında göründüğü için gözde daha büyük bir açı kaplar: yaklaşık 4/3 kat büyük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görünür derinlik sorularında puan kaybettiren klasik hatalar.
12 Çözümlü örnekler
13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Havuzun derinliği
Derinliği 2 m olan bir havuzun dibi, yukarıdan bakan biri için kaç metre derinlikte görünür? (n(su) = 4/3)
Durum çizimi: Durum: 2 m derinliğindeki havuzun tabanına yukarıdan dik bakılıyor. Mor halka gözün tabanı gördüğü yer; soruda istenen onun yüzeyden derinliği h′.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Havuzun derinliği
Derinliği 2 m olan bir havuzun dibi, yukarıdan bakan biri için kaç metre derinlikte görünür? (n(su) = 4/3)
Verilenler: h = 2 m (havuzun gerçek derinliği) · n(su) = 4/3 · n(hava) = 1 · bakış dik
İstenen: havuz dibinin görünen derinliği h′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Havuzun derinliği — çözüm
1. h′ = h/n = 2 / (4/3) = 2 · 3/4
2. h′ = 1,5 m
3. Yükselme: Δh = 2 − 1,5 = 0,5 m, yani derinliğin dörtte biri.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İndisi bulmak
Bir kaptaki sıvının 60 cm derinliğindeki cisim, 40 cm derinlikte görünüyor. Sıvının kırılma indisi nedir?
Durum çizimi: Durum: sıvının 60 cm derinindeki cisim yukarıdan 40 cm derinde görünüyor. Sıvının indisi n ve ışığın sıvıdaki hızı v soruluyor; havadaki hızı c verilmiş.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İndisi bulmak
Bir kaptaki sıvının 60 cm derinliğindeki cisim, 40 cm derinlikte görünüyor. Sıvının kırılma indisi nedir?
Verilenler: h = 60 cm (gerçek derinlik) · h′ = 40 cm (görünen derinlik) · c = 3·10⁸ m/s
İstenen: sıvının kırılma indisi n · (ek olarak) ışığın bu sıvıdaki hızı v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İndisi bulmak — çözüm
1. n = h / h′ = 60 / 40
2. n = 1,5
3. Işığın bu sıvıdaki hızı: v = c/n = 3·10⁸/1,5 = 2·10⁸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Sudan havaya bakış
Su altındaki bir dalgıç, yüzeyden 120 cm yukarıdaki bir lambaya bakıyor. Lamba kaç cm yükseklikte görünür? (n = 4/3)
Durum çizimi: Durum: dalgıç suyun içinden, yüzeyin 120 cm yukarısındaki lambaya dik bakıyor. Bu kez gözlemci suda, cisim havada; mor halka lambayı gördüğü yer, istenen onun yüksekliği h′.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Sudan havaya bakış
Su altındaki bir dalgıç, yüzeyden 120 cm yukarıdaki bir lambaya bakıyor. Lamba kaç cm yükseklikte görünür? (n = 4/3)
Verilenler: h = 120 cm (lambanın yüzeyden yüksekliği) · n(su) = 4/3 · n(hava) = 1 · gözlemci suyun içinde
İstenen: lambanın dalgıca görünen yüksekliği h′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Sudan havaya bakış — çözüm
1. Gözlemci yoğun ortamda: h′ = n·h
2. h′ = (4/3) · 120 = 160 cm
3. Lamba 40 cm daha yüksekteymiş gibi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Cam levha
Kalınlığı 9 cm, indisi 1,5 olan cam levha bir yazının üzerine konuyor. Yazı ne kadar yükselmiş görünür?
Durum çizimi: Durum: 9 cm kalınlığındaki cam levha doğrudan yazının üstüne konmuş ve yukarıdan bakılıyor. Mor şerit yazının göründüğü yer; soruda istenen aradaki fark, yani yükselme Δ.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Cam levha
Kalınlığı 9 cm, indisi 1,5 olan cam levha bir yazının üzerine konuyor. Yazı ne kadar yükselmiş görünür?
Verilenler: t = 9 cm (levhanın kalınlığı) · n = 1,5 (cam)
İstenen: yazının yükselme miktarı Δ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Cam levha — çözüm
1. Δ = t (1 − 1/n) = 9 · (1 − 1/1,5)
2. Δ = 9 · (1 − 0,667) = 9 · 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Cam levha — çözüm
3. Δ = 3 cm
4. Yazı ile levha arasındaki hava boşluğu bu sonucu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Yükselmeden gerçek derinliğe
Suyla dolu bir kabın dibindeki taş, yukarıdan bakınca gerçek yerinden 30 cm yukarıda görünüyor. Kabın derinliği ve taşın görünen derinliği nedir? (n = 4/3)
Durum çizimi: Durum: kabın dibindeki taş, gerçek yerinden 30 cm yukarıda görünüyor (yeşil ok). Bu yükselmeden kabın gerçek derinliği h ve taşın görünen derinliği h′ bulunacak.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Yükselmeden gerçek derinliğe
Suyla dolu bir kabın dibindeki taş, yukarıdan bakınca gerçek yerinden 30 cm yukarıda görünüyor. Kabın derinliği ve taşın görünen derinliği nedir? (n = 4/3)
Verilenler: Δh = 30 cm (taşın yükselme miktarı) · n(su) = 4/3
İstenen: kabın gerçek derinliği h · taşın görünen derinliği h′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Yükselmeden gerçek derinliğe — çözüm
1. Yükselme: Δh = h (1 − 1/n) = h (1 − 3/4) = h/4.
2. h/4 = 30 cm → h = 120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Yükselmeden gerçek derinliğe — çözüm
3. Görünen derinlik: h′ = h/n = 120 · 3/4 = 90 cm.
4. Kontrol: 120 − 90 = 30 cm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Üst üste iki sıvı
Bir kapta 20 cm su (n = 4/3) ve suyun üstünde 15 cm yağ (n = 1,5) var. Kabın dibindeki para, yukarıdan bakan birine kaç cm derinde görünür? Para kaç cm yükselmiş görünür?
Durum çizimi: Durum: kapta 20 cm suyun üstünde 15 cm yağ var; dipteki paraya yukarıdan dik bakılıyor. Işık iki katmandan geçiyor; paranın görünen derinliği h′ ve yükselme miktarı Δh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Üst üste iki sıvı
Bir kapta 20 cm su (n = 4/3) ve suyun üstünde 15 cm yağ (n = 1,5) var. Kabın dibindeki para, yukarıdan bakan birine kaç cm derinde görünür? Para kaç cm yükselmiş görünür?
Verilenler: h₁ = 20 cm (su) · n₁ = 4/3 (su) · h₂ = 15 cm (yağ) · n₂ = 1,5 (yağ) · bakış dik
İstenen: paranın görünen derinliği h′ · paranın yükselme miktarı Δh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Üst üste iki sıvı — çözüm
1. Her katman kendi indisine bölünür: h′ = h₁/n₁ + h₂/n₂.
2. Yağ katmanı: 15 / 1,5 = 10 cm.
3. Su katmanı: 20 / (4/3) = 20 · 3/4 = 15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Üst üste iki sıvı — çözüm
4. Görünen derinlik: 10 + 15 = 25 cm; gerçek derinlik 35 cm.
5. Yükselme: 35 − 25 = 10 cm.
Tuzak: 35 cm'yi tek bir indise bölmek. 35/(4/3) = 26,25 cm, 35/1,5 ≈ 23,3 cm verir; ikisi de yanlıştır.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Dalgıç ve martı
Bir dalgıcın gözü su yüzeyinin 1,2 m altında, bir martı da tam onun üstünde, yüzeyin 0,9 m yukarısında duruyor. (a) Dalgıç martıyı kaç metre uzakta görür? (b) Martı dalgıcı kaç metre uzakta görür? (n = 4/3)
Durum çizimi: Durum: martı yüzeyin 0,9 m yukarısında, dalgıcın gözü tam altında ve yüzeyin 1,2 m altında. İkisi birbirine dik doğrultuda bakıyor; (a) dalgıcın martıyı, (b) martının dalgıcı kaç metre uzakta gördüğü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Dalgıç ve martı
Bir dalgıcın gözü su yüzeyinin 1,2 m altında, bir martı da tam onun üstünde, yüzeyin 0,9 m yukarısında duruyor. (a) Dalgıç martıyı kaç metre uzakta görür? (b) Martı dalgıcı kaç metre uzakta görür? (n = 4/3)
Verilenler: dalgıcın gözü yüzeyin 1,2 m altında · martı tam üstünde, yüzeyin 0,9 m yukarısında · n(su) = 4/3 · n(hava) = 1
İstenen: (a) dalgıcın martıyı gördüğü uzaklık · (b) martının dalgıcı gördüğü uzaklık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Dalgıç ve martı — çözüm
1. Gerçek uzaklık: 1,2 + 0,9 = 2,1 m.
2. (a) Dalgıç suda: martının yüksekliği n kat görünür: 0,9 · 4/3 = 1,2 m.
3. Dalgıcın gördüğü uzaklık: 1,2 + 1,2 = 2,4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Dalgıç ve martı — çözüm
4. (b) Martı havada: dalgıcın derinliği n'ye bölünür: 1,2 · 3/4 = 0,9 m.
5. Martının gördüğü uzaklık: 0,9 + 0,9 = 1,8 m.
İkisi birbirini farklı uzaklıkta görür: dalgıç için martı uzaklaşmış, martı için dalgıç yaklaşmıştır. Oran 2,4 / 1,8 = 4/3, yani tam suyun indisidir.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Derinliği 80 cm olan, suyla dolu bir akvaryumun tabanı yukarıdan bakınca kaç cm derinde görünür?
Öğrencilere 2–3 dakika verin; sonra cevap slaytını açın.
Cevap: Cevap: h′ = h / n = 80 / (4/3) = 80 · 3/4 = 60 cm. Taban 80 − 60 = 20 cm yükselmiş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 = h / n = 80 / (4/3) = 80 · 3/4 = 60 cm. Taban 80 − 60 = 20 cm yükselmiş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sıvının 50 cm derinliğindeki boncuk, yukarıdan bakınca 40 cm derinde görünüyor. Sıvının kırılma indisi kaçtır?
Öğrencilere 2–3 dakika verin; sonra cevap slaytını açın.
Cevap: Cevap: n = h / h′ = 50 / 40 =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 = h / h′ = 50 / 40 =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Havuzdaki bir dalgıç, su yüzeyinin 1,8 m yukarısındaki tramplenin ucuna bakıyor. Tramplen ona kaç m yüksekte görünür?
Öğrencilere 2–3 dakika verin; sonra cevap slaytını açın.
Cevap: Cevap: Gözlemci suyun içinde, cisim havada; bu yüzden çarpılır: h′ = n · h = (4/3) · 1,8 = 2,4 m. Tramplen 0,6 m daha yüksekte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Gözlemci suyun içinde, cisim havada; bu yüzden çarpılır: h′ = n · h = (4/3) · 1,8 = 2,4 m. Tramplen 0,6 m daha yüksekte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Suyla dolu bir havuzun dibindeki para, yukarıdan bakınca 1,2 m derinde görünüyor. Havuz gerçekte kaç m derin, para kaç cm yükselmiş görünür?
Öğrencilere 2–3 dakika verin; sonra cevap slaytını açın.
Cevap: Cevap: n = h / h′ → h = n · h′ = (4/3) · 1,2 = 1,6 m. Yükselme Δh = h − h′ = 1,6 − 1,2 = 0,4 m = 40 cm. Kontrol: derinliğin dörtte biri 1,6 / 4 = 0,4 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 = h / h′ → h = n · h′ = (4/3) · 1,2 = 1,6 m. Yükselme Δh = h − h′ = 1,6 − 1,2 = 0,4 m = 40 cm. Kontrol: derinliğin dörtte biri 1,6 / 4 = 0,4 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akvaryumun 3 cm kalınlığındaki cam tabanının üstünde 36 cm su var. Tabanın hemen altındaki yazı, yukarıdan bakınca kaç cm derinde görünür?
Öğrencilere 2–3 dakika verin; sonra cevap slaytını açın.
Cevap: Cevap: Her katman kendi indisine bölünür: su 36 / (4/3) = 27 cm, cam 3 / 1,5 = 2 cm. Görünen derinlik h′ = 27 + 2 = 29 cm. Gerçek derinlik 36 + 3 = 39 cm olduğu için yazı 10 cm yükselmiş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Her katman kendi indisine bölünür: su 36 / (4/3) = 27 cm, cam 3 / 1,5 = 2 cm. Görünen derinlik h′ = 27 + 2 = 29 cm. Gerçek derinlik 36 + 3 = 39 cm olduğu için yazı 10 cm yükselmiş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h′ = h·n yazmak. Havadan bakışta bölme yapılır: h′ = h/n.
• Görünen derinliği gerçek sanmak. Görüntü sanaldır; su içinde gerçek bir görüntü oluşmaz.
• Cismin gerçekten yükseldiğini düşünmek. Cisim yerinde durur, değişen yalnızca göze ulaşan ışınların doğrultusudur.
• Sudan havaya bakışta aynı bağıntıyı kullanmak. O durumda h′ = n·h olur, cisim uzaklaşmış görünür.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Cam levhada yükselmeyi t kadar sanmak. Yükselme t değil, t(1 − 1/n)'dir.
• Eğik bakışta aynı formülü kullanmak. Bağıntı dik bakış içindir.
• Katmanlı kapta toplam derinliği tek indise bölmek. Her katman kendi indisine bölünür: h′ = h₁/n₁ + h₂/n₂.
• Yükselme ile görünen derinliği karıştırmak. 2 m'lik havuzun görünen derinliği 1,5 m, yükselmesi 0,5 m'dir; soru hangisini istiyor, önce onu oku.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Havadan h′ = h / n · Sudan h′ = n · h · Suda %25 sığ · Cam levha t(1 − 1/n)
h′ = h / n — havadan suya bakış
h′ = n · h — sudan havaya bakış
Δh = h (1 − 1/n) — yükselme miktarı
Δ = t (1 − 1/n) — cam levhada kayma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dersler-sekiller/gorunur-derinlik-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05</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500" b="1" spc="-100" kern="0" dirty="0">
                <a:solidFill>
                  <a:srgbClr val="FFFFFF"/>
                </a:solidFill>
                <a:latin typeface="Cambria" pitchFamily="34" charset="0"/>
                <a:ea typeface="Cambria" pitchFamily="34" charset="-122"/>
                <a:cs typeface="Cambria" pitchFamily="34" charset="-120"/>
              </a:rPr>
              <a:t>Görünür derinlik</a:t>
            </a:r>
            <a:endParaRPr lang="en-US" sz="45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50" dirty="0">
                <a:solidFill>
                  <a:srgbClr val="C3CEE8"/>
                </a:solidFill>
                <a:latin typeface="Calibri" pitchFamily="34" charset="0"/>
                <a:ea typeface="Calibri" pitchFamily="34" charset="-122"/>
                <a:cs typeface="Calibri" pitchFamily="34" charset="-120"/>
              </a:rPr>
              <a:t>Havuzun dibi olduğundan yakın, sudaki balık olduğundan sığ görünür. Sebebi basit: sudan çıkan ışınlar yüzeyde kırılır ve göz onları düz gelmiş sanır. Sonuç tek bir oranda toplanır: h′ = h / n.</a:t>
            </a:r>
            <a:endParaRPr lang="en-US" sz="145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dersler.perinet.org/gorunur-derinlik.html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Havuzun dibindeki fayansları görüyorsun ama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gerçekte olduğundan daha yukarıda</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bir metre derinlikteki bir havuzda tam 25 cm.</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Aynı yanılgı, bardağın dibindeki bozuk parayı, sudaki balığı ve cam altındaki yazıyı da yerinden oynatır.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Sebebi tek: sudan çıkan ışınlar yüzeyde kırılır, gözün ise onları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hep düz geldi</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sanır.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Bu konuda o kaymanın ne kadar olduğunu hesaplamayı öğreneceğiz.</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suyun altındaki cisimlerin neden olduğundan yukarıda göründüğünü formülsüz kavra ve yanılgının büyüklüğünü basit bir kuralla hisset.</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Önce gözlemle: su neden sığ görünür?</a:t>
            </a:r>
            <a:endParaRPr lang="en-US" sz="125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Gözün yanılgısı: görüntü neden yukarıda?</a:t>
            </a:r>
            <a:endParaRPr lang="en-US" sz="120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Dörtte bir kuralı: su ne kadar kandırır?</a:t>
            </a:r>
            <a:endParaRPr lang="en-US" sz="120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dörtte bir kuralını Snell yasasından çıkar, yükselmeyi hesapla, sonra bakış yönünü ters çevir ve cam levhaya uygula.</a:t>
            </a:r>
            <a:endParaRPr lang="en-US" sz="100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Bağıntı nereden geliyor?</a:t>
            </a:r>
            <a:endParaRPr lang="en-US" sz="1250" dirty="0"/>
          </a:p>
        </p:txBody>
      </p:sp>
      <p:sp>
        <p:nvSpPr>
          <p:cNvPr id="28" name="Text 26"/>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Yükselme miktarı</a:t>
            </a:r>
            <a:endParaRPr lang="en-US" sz="1250" dirty="0"/>
          </a:p>
        </p:txBody>
      </p:sp>
      <p:sp>
        <p:nvSpPr>
          <p:cNvPr id="30" name="Text 28"/>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Sayılarla hisset: tanıdık derinlikler</a:t>
            </a:r>
            <a:endParaRPr lang="en-US" sz="1250" dirty="0"/>
          </a:p>
        </p:txBody>
      </p:sp>
      <p:sp>
        <p:nvSpPr>
          <p:cNvPr id="32" name="Text 30"/>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Sudan havaya bakış</a:t>
            </a:r>
            <a:endParaRPr lang="en-US" sz="1250" dirty="0"/>
          </a:p>
        </p:txBody>
      </p:sp>
      <p:sp>
        <p:nvSpPr>
          <p:cNvPr id="34" name="Text 32"/>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Cam levhanın altındaki yazı</a:t>
            </a:r>
            <a:endParaRPr lang="en-US" sz="12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Derinleşme: ışık birden çok katmandan geçince, bakış yatıklaşınca ve yanılgı gerçek hayatta bir ölçüm aracına dönüşünce ne olur?</a:t>
            </a:r>
            <a:endParaRPr lang="en-US" sz="100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Üst üste katmanlar</a:t>
            </a:r>
            <a:endParaRPr lang="en-US" sz="1250" dirty="0"/>
          </a:p>
        </p:txBody>
      </p:sp>
      <p:sp>
        <p:nvSpPr>
          <p:cNvPr id="45" name="Text 43"/>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Bağıntının geçerlilik sınırı: eğik bakış</a:t>
            </a:r>
            <a:endParaRPr lang="en-US" sz="1200" dirty="0"/>
          </a:p>
        </p:txBody>
      </p:sp>
      <p:sp>
        <p:nvSpPr>
          <p:cNvPr id="47" name="Text 45"/>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Görünür derinlik gerçek dünyada</a:t>
            </a:r>
            <a:endParaRPr lang="en-US" sz="1250" dirty="0"/>
          </a:p>
        </p:txBody>
      </p:sp>
      <p:sp>
        <p:nvSpPr>
          <p:cNvPr id="49" name="Shape 47"/>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0" name="Shape 48"/>
          <p:cNvSpPr/>
          <p:nvPr/>
        </p:nvSpPr>
        <p:spPr>
          <a:xfrm>
            <a:off x="9157487" y="1645920"/>
            <a:ext cx="2211248" cy="64008"/>
          </a:xfrm>
          <a:prstGeom prst="rect">
            <a:avLst/>
          </a:prstGeom>
          <a:solidFill>
            <a:srgbClr val="A56209"/>
          </a:solidFill>
          <a:ln/>
        </p:spPr>
      </p:sp>
      <p:sp>
        <p:nvSpPr>
          <p:cNvPr id="51" name="Shape 49"/>
          <p:cNvSpPr/>
          <p:nvPr/>
        </p:nvSpPr>
        <p:spPr>
          <a:xfrm>
            <a:off x="9194063" y="1920240"/>
            <a:ext cx="420624" cy="420624"/>
          </a:xfrm>
          <a:prstGeom prst="roundRect">
            <a:avLst>
              <a:gd name="adj" fmla="val 26000"/>
            </a:avLst>
          </a:prstGeom>
          <a:solidFill>
            <a:srgbClr val="A56209"/>
          </a:solidFill>
          <a:ln/>
        </p:spPr>
      </p:sp>
      <p:sp>
        <p:nvSpPr>
          <p:cNvPr id="52" name="Text 50"/>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3" name="Text 51"/>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4" name="Text 52"/>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görünür derinlik sorularında puan kaybettiren klasik hatalar.</a:t>
            </a:r>
            <a:endParaRPr lang="en-US" sz="1150" dirty="0"/>
          </a:p>
        </p:txBody>
      </p:sp>
      <p:sp>
        <p:nvSpPr>
          <p:cNvPr id="55" name="Shape 53"/>
          <p:cNvSpPr/>
          <p:nvPr/>
        </p:nvSpPr>
        <p:spPr>
          <a:xfrm>
            <a:off x="9194063" y="3429000"/>
            <a:ext cx="2138096" cy="0"/>
          </a:xfrm>
          <a:prstGeom prst="line">
            <a:avLst/>
          </a:prstGeom>
          <a:noFill/>
          <a:ln w="9525">
            <a:solidFill>
              <a:srgbClr val="E1E5EE"/>
            </a:solidFill>
            <a:prstDash val="dash"/>
          </a:ln>
        </p:spPr>
      </p:sp>
      <p:sp>
        <p:nvSpPr>
          <p:cNvPr id="56" name="Text 54"/>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12</a:t>
            </a:r>
            <a:endParaRPr lang="en-US" sz="1100" dirty="0"/>
          </a:p>
        </p:txBody>
      </p:sp>
      <p:sp>
        <p:nvSpPr>
          <p:cNvPr id="57" name="Text 55"/>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58" name="Text 56"/>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0" name="Shape 58"/>
          <p:cNvSpPr/>
          <p:nvPr/>
        </p:nvSpPr>
        <p:spPr>
          <a:xfrm>
            <a:off x="640080" y="6382512"/>
            <a:ext cx="128016" cy="128016"/>
          </a:xfrm>
          <a:prstGeom prst="roundRect">
            <a:avLst>
              <a:gd name="adj" fmla="val 28571"/>
            </a:avLst>
          </a:prstGeom>
          <a:solidFill>
            <a:srgbClr val="A9E648"/>
          </a:solidFill>
          <a:ln/>
        </p:spPr>
      </p:sp>
      <p:sp>
        <p:nvSpPr>
          <p:cNvPr id="61" name="Text 5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62" name="Text 6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Kırılma: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ışığın bir saydam ortamdan ötekine geçerken yön değiştirmesi. Sudan havaya çıkan ışın normalden uzaklaşır.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Kırılma indisi (n):</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ışığın bir ortamda kaç kat yavaşladığını söyleyen sayı. Hava için 1, su için 4/3 ≈ 1,33, cam için 1,5.</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Normal: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yüzeye dik çizilen yardımcı çizgi. Su yüzeyi yatay olduğu için normali dikeydir; “dik bakmak”, suya tam yukarıdan bakmaktır.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Düzlem aynadaki görüntü:</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aynanın arkasındaymış gibi görünür ama oraya uzanıp onu tutamazsın. Göz, gelen ışınların hep düz geldiğini sanır.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Kesre bölmek: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sayıyı kesre bölmek, kesri ters çevirip çarpmaktır: 2 ÷ (4/3) = 2 · 3/4 = 1,5. Ayrıca 3/4 = 0,75, yani %75.</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00" dirty="0">
                <a:solidFill>
                  <a:srgbClr val="C3CEE8"/>
                </a:solidFill>
                <a:latin typeface="Calibri" pitchFamily="34" charset="0"/>
                <a:ea typeface="Calibri" pitchFamily="34" charset="-122"/>
                <a:cs typeface="Calibri" pitchFamily="34" charset="-120"/>
              </a:rPr>
              <a:t>Önce sezgi: suyun altındaki cisimlerin neden olduğundan yukarıda göründüğünü formülsüz kavra ve yanılgının büyüklüğünü basit bir kuralla hisset.</a:t>
            </a:r>
            <a:endParaRPr lang="en-US" sz="15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su neden sığ görünür?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Gözün yanılgısı: görüntü neden yukarıda?</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Dörtte bir kuralı: su ne kadar kandırır?</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gorunur-derinlik-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Balıkçının gördüğü balık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gerçek yerinden biraz yukarıdadır. Balıktan çıkan ışınlar yüzeyde kırılıp normalden uzaklaştığı için göz onları olduğundan sığ bir noktadan gelmiş sanır. Zıpkın gördüğü noktaya fırlatılırsa balığın üstünden geçer; deneyimli balıkçılar bu yüzden biraz aşağıya nişan alır.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dersler.perinet.org/gorunur-derinlik.html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su neden sığ görünür?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havuzun kenarına eğilip dibe bak.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Fayanslar, elini uzatsan dokunabileceğin kadar yakın durur; içine girince su beklediğinden derin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yanılgı yalnızca havuza özgü değildir; suyla ya da camla örtülmüş her şeyde aynı şeyi görürsün: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su neden sığ görünür?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Havuz sığ görünür: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dipteki fayanslar, ayağını basınca şaşıracağın kadar yakın durur.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Bacaklar kısa görünür: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havuzda ayakta duran birinin suyun içindeki bacakları kısalmış gibi durur.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Kaşık kırık görünür: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kaşığın su altındaki kısmı yükselmiş görünür, bu da kırılmış izlenimi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Balık yukarıda görünür: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sudaki balığa zıpkın atan avcı, gördüğü yere nişan alırsa ıskalar.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su neden sığ görünür?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Bozuk para ortaya çıkar: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bardağın kenarının arkasında kalan para, bardağa su dökülünce görünür hâle gelir.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Cam altındaki yazı yükselir: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kalın bir camın altındaki harfler camın içinde yüzüyormuş gibi durur.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su neden sığ görünür?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Bütün bu gözlemlerde cisim yerinden kıpırdamıyor; değişen, ondan gözüne gelen ışının yolu.</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sudan havaya çıkarken yüzeyde kırılır.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 ise ışının sınırda yön değiştirdiğini bilmez ve cismi, ışının son doğrultusunun gerisinde bir yerde arar.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su neden sığ görünür?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098444" y="1234440"/>
            <a:ext cx="5994806"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1.png">    </p:cNvPr>
          <p:cNvPicPr>
            <a:picLocks noChangeAspect="1"/>
          </p:cNvPicPr>
          <p:nvPr/>
        </p:nvPicPr>
        <p:blipFill>
          <a:blip r:embed="rId1"/>
          <a:stretch>
            <a:fillRect/>
          </a:stretch>
        </p:blipFill>
        <p:spPr>
          <a:xfrm>
            <a:off x="3327044" y="1325880"/>
            <a:ext cx="5537606"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Suya eğik daldırdığın düz bir çubuğa yukarıdan bak. Suyun altındaki her nokta olduğundan yukarıda görünür, ama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derindeki noktalar daha çok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yükselir: yeşil oklar uca doğru uzuyor, yüzeydeki nokta hiç kaymıyor. Bu yüzden gördüğün çubuk (mor) yüzeyde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kırılmış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gibi durur. Çubuk yerinden kıpırdamadı; değişen, ondan gözüne gelen ışının yolu.</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su neden sığ görünür?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Suyun ya da camın altındaki cisimler yerinden kıpırdamadan olduğundan yukarıda görünür. Değişen cisim değil, ondan gözüne gelen ışının yoludur.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Havuzda ayakta duran arkadaşının suyun içindeki bacakları neden kısa görünür?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su neden sığ görünür?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Havuzda ayakta duran arkadaşının suyun içindeki bacakları neden kısa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Bacaklarının her noktası olduğundan yukarıda görünür, ama derindeki noktalar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daha çok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yükselir. Ayak tabanı en çok, yüzeye yakın kısımlar en az yükselir. Suyun içindeki kısım bir akordeon gibi sıkışır ve bacaklar kısa görünür.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Gözün yanılgısı: görüntü neden yukarıda?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Suyun dibindeki bir cisimden çıkan ışınlar su–hava sınırında kırılır ve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normalden uzaklaşır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 kendisine ulaşan ışınların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geldiği doğrultuyu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uzattığı için cismi, bu uzantıların kesiştiği noktada —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gerçek yerinden daha yukarıda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 görür.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Olayı adım adım izle: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Gözün yanılgısı: görüntü neden yukarıda?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Işık çıkar: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dipteki cisimden her yöne ışınlar yayılır; bunların ince bir demeti yüzeye doğru ilerler.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Yüzeyde kırılır: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sudan havaya geçen ışınlar hızlanır, normalden uzaklaşır; demet biraz daha açılarak göze gelir.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Göz geriye uzatır: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beyin ışınların düz geldiğini varsayar ve onları geriye doğru uzatır.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Uzantılar kesişir: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uzantılar gerçek yerin üstündeki bir noktada buluşur; göz cismi orada görür.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Gözün yanılgısı: görüntü neden yukarıda?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25880"/>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704088"/>
          </a:xfrm>
          <a:prstGeom prst="rect">
            <a:avLst/>
          </a:prstGeom>
          <a:solidFill>
            <a:srgbClr val="3C8C21"/>
          </a:solidFill>
          <a:ln/>
        </p:spPr>
      </p:sp>
      <p:sp>
        <p:nvSpPr>
          <p:cNvPr id="8" name="Text 6"/>
          <p:cNvSpPr txBox="1"/>
          <p:nvPr/>
        </p:nvSpPr>
        <p:spPr>
          <a:xfrm>
            <a:off x="950976" y="1453896"/>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Görüntü sanaldır.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Suyun içinde gerçekten bir görüntü oluşmaz; ışınların uzantıları orada kesişir. Bu yüzden görünen derinliğe perde koyamazsın.</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Gözün yanılgısı: görüntü neden yukarıda?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720308" y="1234440"/>
            <a:ext cx="875108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2.png">    </p:cNvPr>
          <p:cNvPicPr>
            <a:picLocks noChangeAspect="1"/>
          </p:cNvPicPr>
          <p:nvPr/>
        </p:nvPicPr>
        <p:blipFill>
          <a:blip r:embed="rId1"/>
          <a:stretch>
            <a:fillRect/>
          </a:stretch>
        </p:blipFill>
        <p:spPr>
          <a:xfrm>
            <a:off x="1948908" y="1325880"/>
            <a:ext cx="829388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Tabandaki noktadan çıkan ışınlar su yüzeyinde kırılıp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normalden uzaklaşır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Göz bu ışınları düz çizgi boyunca geriye uzatır ve hepsinin kesiştiği noktayı cismin yeri sanır. O nokta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her zaman gerçek yerin üstündedir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aradaki fark ne kadar bakarsan bak kapanmaz. Görünen derinlik, gerçek derinliğin kırılma indisine bölümüdür.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Gözün yanılgısı: görüntü neden yukarıda?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Işınların kendisi değil de uzantıları kesiştiği için böyle bir görüntüye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sanal görüntü</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Düzlem aynadaki görüntün de sanaldır: aynanın arkasına geçip onu elinle tutamazsın.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Havuzdaki “yükselmiş taban” da böyledir; oraya uzanırsan elin boşluğa değer.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Gözün yanılgısı: görüntü neden yukarıda?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Sudan çıkan ışınlar normalden uzaklaşır; göz onları geriye uzatır ve uzantıların kesiştiği, gerçek yerin üstündeki noktayı cismin yeri sanır. Oluşan görüntü sanaldır.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Dörtte bir kuralı: su ne kadar kandırır?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Yanılgının büyüklüğü rastgele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Yukarıdan dike yakın bakıldığında suyun içindeki her cisim, gerçek derinliğinin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dörtte üçünde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görünür; başka bir deyişle derinliğin dörtte biri “kaybolur”.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2 metrelik havuzun dibi 1,5 metrede, 40 cm'lik akvaryumun tabanı 30 cm'de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oranın kaynağı suyun kırılma indisidir (4/3 ≈ 1,33); nereden geldiğini ikinci basamakta göreceğiz.</a:t>
            </a:r>
            <a:endParaRPr lang="en-US" sz="2200" dirty="0"/>
          </a:p>
        </p:txBody>
      </p:sp>
      <p:sp>
        <p:nvSpPr>
          <p:cNvPr id="7" name="Text 5"/>
          <p:cNvSpPr txBox="1"/>
          <p:nvPr/>
        </p:nvSpPr>
        <p:spPr>
          <a:xfrm>
            <a:off x="640080" y="4977384"/>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İndisi daha büyük sıvılarda yanılgı da büyür: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Dörtte bir kuralı: su ne kadar kandırır?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Shape 4"/>
          <p:cNvSpPr/>
          <p:nvPr/>
        </p:nvSpPr>
        <p:spPr>
          <a:xfrm>
            <a:off x="1339457" y="1234440"/>
            <a:ext cx="951278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3.png">    </p:cNvPr>
          <p:cNvPicPr>
            <a:picLocks noChangeAspect="1"/>
          </p:cNvPicPr>
          <p:nvPr/>
        </p:nvPicPr>
        <p:blipFill>
          <a:blip r:embed="rId1"/>
          <a:stretch>
            <a:fillRect/>
          </a:stretch>
        </p:blipFill>
        <p:spPr>
          <a:xfrm>
            <a:off x="1568057" y="1325880"/>
            <a:ext cx="905558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Görünen derinlik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yalnızca sıvının indisine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bağlıdır — derinliğin kendisine değil. Suda her derinlik dörtte bir kadar kısalır: 1 metre 75 cm, 4 metre 3 metre görünür. İndis büyüdükçe kayma artar; karbon sülfürde derinliğin neredeyse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%40'ı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kaybolur. Açık gri çubuk gerçek derinliği, renkli kısım görünen derinliği gösteriyor.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Dörtte bir kuralı: su ne kadar kandırır?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Oran sabittir: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suda 1 m de 4 m de aynı oranda, dörtte bir kısalır.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Fark derinlikle büyür: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bardakta birkaç santimetre, derin havuzda bir metreden fazla.</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İndis büyüdükçe yanılgı artar: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karbon sülfürde derinliğin neredeyse %40'ı kaybolur.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Dörtte bir kuralı: su ne kadar kandırır?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Dike yakın bakışta suyun altındaki her cisim gerçek derinliğinin dörtte üçünde görünür. Oran derinlikten bağımsızdır; fark ise derinlikle ve sıvının indisiyle büyür.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Bardağın kenarının arkasında kalan bozuk para, bardağa su dökülünce neden görünür hâle gelir?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Dörtte bir kuralı: su ne kadar kandırır?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Bardağın kenarının arkasında kalan bozuk para, bardağa su dökülünce neden görünür hâle gelir?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Su yokken paradan gözüne giden düz yol bardağın kenarına takılır. Su dökülünce paradan çıkan ışınlar yüzeyde kırılıp normalden uzaklaşır ve kenarın üstünden aşarak gözüne ulaşır. Göz parayı olduğundan yukarıda, kenarın üstünden görülebilen bir yerde görür.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dörtte bir kuralını Snell yasasından çıkar, yükselmeyi hesapla, sonra bakış yönünü ters çevir ve cam levhaya uygula.</a:t>
            </a:r>
            <a:endParaRPr lang="en-US" sz="160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Bağıntı nereden geliyor?</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Yükselme miktarı</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Sayılarla hisset: tanıdık derinlikler</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Sudan havaya bakış</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Cam levhanın altındaki yazı</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 = h / n</a:t>
            </a:r>
            <a:endParaRPr lang="en-US" sz="1500" dirty="0"/>
          </a:p>
        </p:txBody>
      </p:sp>
      <p:sp>
        <p:nvSpPr>
          <p:cNvPr id="14" name="Text 12"/>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havadan suya bakış</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 = n · h</a:t>
            </a:r>
            <a:endParaRPr lang="en-US" sz="1500" dirty="0"/>
          </a:p>
        </p:txBody>
      </p:sp>
      <p:sp>
        <p:nvSpPr>
          <p:cNvPr id="17" name="Text 15"/>
          <p:cNvSpPr txBox="1"/>
          <p:nvPr/>
        </p:nvSpPr>
        <p:spPr>
          <a:xfrm>
            <a:off x="8138160" y="235000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sudan havaya bakış</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 = h (1 − 1/n)</a:t>
            </a:r>
            <a:endParaRPr lang="en-US" sz="1500" dirty="0"/>
          </a:p>
        </p:txBody>
      </p:sp>
      <p:sp>
        <p:nvSpPr>
          <p:cNvPr id="20" name="Text 18"/>
          <p:cNvSpPr txBox="1"/>
          <p:nvPr/>
        </p:nvSpPr>
        <p:spPr>
          <a:xfrm>
            <a:off x="8668512" y="321868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yükselme miktarı</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 = t (1 − 1/n)</a:t>
            </a:r>
            <a:endParaRPr lang="en-US" sz="1500" dirty="0"/>
          </a:p>
        </p:txBody>
      </p:sp>
      <p:sp>
        <p:nvSpPr>
          <p:cNvPr id="23" name="Text 21"/>
          <p:cNvSpPr txBox="1"/>
          <p:nvPr/>
        </p:nvSpPr>
        <p:spPr>
          <a:xfrm>
            <a:off x="8549640" y="408736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cam levhada kayma</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dersler.perinet.org/gorunur-derinlik.html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8</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Havadan, suya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dik doğrultuda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bakan bir gözlemci için:</a:t>
            </a:r>
            <a:endParaRPr lang="en-US" sz="2200" dirty="0"/>
          </a:p>
        </p:txBody>
      </p:sp>
      <p:sp>
        <p:nvSpPr>
          <p:cNvPr id="7" name="Shape 5"/>
          <p:cNvSpPr/>
          <p:nvPr/>
        </p:nvSpPr>
        <p:spPr>
          <a:xfrm>
            <a:off x="640080" y="2004060"/>
            <a:ext cx="193852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004060"/>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 = h / n</a:t>
            </a:r>
            <a:endParaRPr lang="en-US" sz="1800" dirty="0"/>
          </a:p>
        </p:txBody>
      </p:sp>
      <p:sp>
        <p:nvSpPr>
          <p:cNvPr id="9" name="Shape 7"/>
          <p:cNvSpPr/>
          <p:nvPr/>
        </p:nvSpPr>
        <p:spPr>
          <a:xfrm>
            <a:off x="2724912" y="2004060"/>
            <a:ext cx="1938528"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724912" y="2004060"/>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h / h′</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8</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169093"/>
                <a:gridCol w="7793954"/>
                <a:gridCol w="194848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cismin gerçek derinliği: yüzeyden cisme olan uzaklık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 ya da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görünen derinlik: gözün cismi gördüğü derinlik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 ile aynı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sıvının kırılma indisi (su için 4/3)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yükselme miktarı: h − h′ (bir sonraki bölümde)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 ile aynı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8</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cismin gerçek derinliği.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görünen derinlik (her zaman daha küçük).</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sıvının kırılma indisi.</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8</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Adım adım türetme</a:t>
            </a:r>
            <a:endParaRPr lang="en-US" sz="2200" dirty="0"/>
          </a:p>
        </p:txBody>
      </p:sp>
      <p:sp>
        <p:nvSpPr>
          <p:cNvPr id="8" name="Text 6"/>
          <p:cNvSpPr txBox="1"/>
          <p:nvPr/>
        </p:nvSpPr>
        <p:spPr>
          <a:xfrm>
            <a:off x="640080" y="1892808"/>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 kırılma konusundaki Snell yasasından ve biraz üçgen bilgisinden çıkar.</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8</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Havanın indisini 1 al ve cisimden çıkıp göze ulaşan tek bir ışını izle:</a:t>
            </a:r>
            <a:endParaRPr lang="en-US" sz="2200" dirty="0"/>
          </a:p>
        </p:txBody>
      </p:sp>
      <p:sp>
        <p:nvSpPr>
          <p:cNvPr id="7" name="Text 5"/>
          <p:cNvSpPr txBox="1"/>
          <p:nvPr/>
        </p:nvSpPr>
        <p:spPr>
          <a:xfrm>
            <a:off x="640080" y="2004060"/>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Yüzeye varış: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ışın, cismin tam üstündeki noktadan x kadar ötede yüzeye i açısıyla varır: x = h·tan i.</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Kırılma: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ışın havaya r açısıyla çıkar: n·sin i = sin 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Gözün uzantısı: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uzantı, cismin üstündeki düşey çizgiyi h′ derinliğinde keser: x = h′·tan 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Eşitle: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h·tan i = h′·tan r → h′ = h·tan i / tan r.</a:t>
            </a:r>
            <a:endParaRPr lang="en-US" sz="2100" dirty="0"/>
          </a:p>
        </p:txBody>
      </p:sp>
      <p:sp>
        <p:nvSpPr>
          <p:cNvPr id="8" name="Text 6"/>
          <p:cNvSpPr txBox="1"/>
          <p:nvPr/>
        </p:nvSpPr>
        <p:spPr>
          <a:xfrm>
            <a:off x="640080" y="4779264"/>
            <a:ext cx="10911535" cy="459486"/>
          </a:xfrm>
          <a:prstGeom prst="rect">
            <a:avLst/>
          </a:prstGeom>
          <a:noFill/>
          <a:ln/>
        </p:spPr>
        <p:txBody>
          <a:bodyPr wrap="square" lIns="0" tIns="0" rIns="0" bIns="0" rtlCol="0" anchor="t"/>
          <a:lstStyle/>
          <a:p>
            <a:pPr marL="279400" indent="-279400">
              <a:lnSpc>
                <a:spcPct val="115000"/>
              </a:lnSpc>
              <a:spcAft>
                <a:spcPts val="800"/>
              </a:spcAft>
              <a:buSzPct val="100000"/>
              <a:buFont typeface="+mj-lt"/>
              <a:buAutoNum type="arabicPeriod" startAt="5"/>
            </a:pPr>
            <a:r>
              <a:rPr lang="en-US" sz="2100" b="1" dirty="0">
                <a:solidFill>
                  <a:srgbClr val="0E1426"/>
                </a:solidFill>
                <a:latin typeface="Calibri" pitchFamily="34" charset="0"/>
                <a:ea typeface="Calibri" pitchFamily="34" charset="-122"/>
                <a:cs typeface="Calibri" pitchFamily="34" charset="-120"/>
              </a:rPr>
              <a:t>Dik bakış: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küçük açılarda tan ≈ sin olduğundan h′ ≈ h·sin i / sin r = h/n.</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8</a:t>
            </a:r>
            <a:endParaRPr lang="en-US" sz="950" dirty="0"/>
          </a:p>
        </p:txBody>
      </p:sp>
      <p:sp>
        <p:nvSpPr>
          <p:cNvPr id="6" name="Shape 4"/>
          <p:cNvSpPr/>
          <p:nvPr/>
        </p:nvSpPr>
        <p:spPr>
          <a:xfrm>
            <a:off x="2900622" y="1234440"/>
            <a:ext cx="6390452"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4.png">    </p:cNvPr>
          <p:cNvPicPr>
            <a:picLocks noChangeAspect="1"/>
          </p:cNvPicPr>
          <p:nvPr/>
        </p:nvPicPr>
        <p:blipFill>
          <a:blip r:embed="rId1"/>
          <a:stretch>
            <a:fillRect/>
          </a:stretch>
        </p:blipFill>
        <p:spPr>
          <a:xfrm>
            <a:off x="3129222" y="1325880"/>
            <a:ext cx="5933252"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Tek bir ışını izle: cisimden çıkar, yüzeye normalle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açısı yaparak varır ve havaya daha büyük bir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açısıyla çıkar. Yüzeydeki x uzaklığı iki dik üçgende ortaktır: gerçek derinlikle x = h · tan i, gözün gördüğü derinlikle x = h′ · tan r. İkisini eşitleyince h′ = h · tan i / tan r çıkar. Açılar okunabilsin diye büyük çizildi; dik bakışta açılar küçüldükçe h′ değeri h/n'ye yaklaşır.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8</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için n = 4/3 olduğundan h′ = 3h/4: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her cisim gerçek derinliğinin dörtte üçünde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2 metrelik havuzun dibi 1,5 metredeymiş gibi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Dördüncü adımdaki tam ifadeyi bir kenara yaz; üçüncü basamakta eğik bakışı incelerken ona döneceğiz.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8 / 8</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Akıl kontrolü:</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n birimsiz olduğu için h′ ile h aynı birimdedir. Su yoksa (n = 1) h′ = h çıkmalı; çıkıyor. İndis büyüdükçe h′ küçülmeli; küçülüyor. Bir bağıntı bu sınamalardan geçmiyorsa yanlış hatırlanmıştır.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Snell yasası ve dik bakışta tan ≈ sin yaklaşımı h′ = h/n bağıntısını verir. Su için h′ = 3h/4: her cisim gerçek derinliğinin dörtte üçünde görünür.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Yükselme miktarı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Cismin ne kadar “yükseldiğini”, yani gerçek derinlikle görünen derinlik arasındaki farkı doğrudan veren bir bağıntı da yazılabilir:</a:t>
            </a:r>
            <a:endParaRPr lang="en-US" sz="2200" dirty="0"/>
          </a:p>
        </p:txBody>
      </p:sp>
      <p:sp>
        <p:nvSpPr>
          <p:cNvPr id="7" name="Shape 5"/>
          <p:cNvSpPr/>
          <p:nvPr/>
        </p:nvSpPr>
        <p:spPr>
          <a:xfrm>
            <a:off x="640080" y="2389632"/>
            <a:ext cx="4023360"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389632"/>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h − h′ = h (1 − 1/n)</a:t>
            </a:r>
            <a:endParaRPr lang="en-US" sz="1800" dirty="0"/>
          </a:p>
        </p:txBody>
      </p:sp>
      <p:sp>
        <p:nvSpPr>
          <p:cNvPr id="9" name="Text 7"/>
          <p:cNvSpPr txBox="1"/>
          <p:nvPr/>
        </p:nvSpPr>
        <p:spPr>
          <a:xfrm>
            <a:off x="640080" y="3212592"/>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için Δh = h·(1 − 3/4) = h/4: cisim derinliğinin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dörtte biri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kadar yükselmiş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İndis büyüdükçe yükselme artar.</a:t>
            </a:r>
            <a:endParaRPr lang="en-US" sz="22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Yükselme miktarı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575805"/>
                <a:gridCol w="1407940"/>
                <a:gridCol w="2111910"/>
                <a:gridCol w="2815880"/>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Sıvı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 / h</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Yükselme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Alkol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0,74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Gliserin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Karbon sülfür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1,63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Yükselme miktarı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1339457" y="1234440"/>
            <a:ext cx="951278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5.png">    </p:cNvPr>
          <p:cNvPicPr>
            <a:picLocks noChangeAspect="1"/>
          </p:cNvPicPr>
          <p:nvPr/>
        </p:nvPicPr>
        <p:blipFill>
          <a:blip r:embed="rId1"/>
          <a:stretch>
            <a:fillRect/>
          </a:stretch>
        </p:blipFill>
        <p:spPr>
          <a:xfrm>
            <a:off x="1568057" y="1325880"/>
            <a:ext cx="905558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Cismin "yükselmiş" görünme miktarı, gerçek derinlikle görünen derinlik arasındaki farktır. Suda bu fark derinliğin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dörtte biridir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2 metrelik havuzun tabanı 50 cm yukarıda görünür. Fark derinlikle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doğru orantılı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büyür — bu yüzden derin havuzlarda yanılgı çok daha tehlikelidir.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Yükselme miktarı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Tablodaki son sütun sıvının türüne bağlıdır ama derinliğe bağlı değildir: yükselme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oranı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her derinlikte aynıdır.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Yükselme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miktarı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ise derinlikle doğru orantılıdır.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Soruda hangisinin istendiğine dikkat et: “yüzde kaç sığ görünür” oranı, “kaç cm yukarıda görünür” miktarı sorar.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Tabloyu tersinden de kullanabilirsin: görünen derinliği ölçersen sıvının indisini n = h/h′ ile bulursun.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Yükselme miktarı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Yükselme miktarı Δh = h(1 − 1/n)'dir; suda derinliğin dörtte biri. Yükselme oranı yalnızca sıvıya, yükselme miktarı ise derinliğe de bağlıdır.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tanıdık derinlikler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Suyun (n = 4/3) tanıdık derinliklerde ne kadar yanılttığına bakalım.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bölümündeki havuz laboratuvarında aynı hesabı istediğin derinlik ve sıvı için yapabilirsin; varsayılan 200 cm'lik havuz 150 cm'de görünür.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tanıdık derinlikler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445748"/>
                <a:gridCol w="2871457"/>
                <a:gridCol w="3062887"/>
                <a:gridCol w="153144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Nerede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Gerçek derinlik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Görünen derinlik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Yükselme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Su bardağının dibi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Akvaryum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Çocuk havuzu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Yetişkin havuzu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 cm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Atlama havuzu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3,75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tanıdık derinlikler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okunan düzen: görünen derinlik her satırda gerçek derinliğin tam 0,75 katı, yükselme 0,25 katı.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aynı oran çok farklı hissedilir.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Bardaktaki 3 cm'lik yanılgıyı fark etmezsin bile; atlama havuzundaki 1,25 metrelik yanılgı ise tehlikelidir.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Dördüncü satıra dikkat: 1,5 metre derinliğinde görünen havuz aslında 2 metredir; boyu 1,6 m olan biri orada ayağı yere değerken başını sudan çıkaramaz.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tanıdık derinlikler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3128281" y="1234440"/>
            <a:ext cx="593513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6.png">    </p:cNvPr>
          <p:cNvPicPr>
            <a:picLocks noChangeAspect="1"/>
          </p:cNvPicPr>
          <p:nvPr/>
        </p:nvPicPr>
        <p:blipFill>
          <a:blip r:embed="rId1"/>
          <a:stretch>
            <a:fillRect/>
          </a:stretch>
        </p:blipFill>
        <p:spPr>
          <a:xfrm>
            <a:off x="3356881" y="1325880"/>
            <a:ext cx="547793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Beş kap aynı ölçekle çizildi. Görünen taban (mor çizgi) her kapta derinliğin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3/4'ünde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yeşil şerit yani yükselme hep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1/4</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oran hiç değişmiyor. Değişen, farkın büyüklüğü. Bardaktaki 3 cm'lik şeridi zor seçersin; atlama havuzundaki 1,25 metrelik şerit ise çocuk havuzunun tamamından derin.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tanıdık derinlikler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ek1-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Suyun içinde kısalan bacaklar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gövdeye göre kısa duruyor, çünkü bacağın her noktası olduğundan yukarıda görünür ve derindeki noktalar daha çok yükselir. Yükselme Δh = h(1 − 1/n) derinlikle orantılı olduğu için ayaklar dizlerden, dizler de belden daha çok yukarı kayar; suyun altındaki kısım böylece sıkışmış görünür. Aynı yanılgı havuzun dibini de yakın gösterir: 2 metrelik bir havuz 1,5 metre derinmiş gibi görünür.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tanıdık derinlikler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Suda görünen derinlik her zaman gerçeğin 0,75 katıdır: 1 m 75 cm, 2 m 1,5 m, 5 m 3,75 m görünür. Oran aynı kalır, fark derinlikle büyür.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Havuza su doldurulurken dipteki fayansın görünen derinliği nasıl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Sayılarla hisset: tanıdık derinlikler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Havuza su doldurulurken dipteki fayansın görünen derinliği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Su yükseldikçe görünen derinlik de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düzgün olarak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artar, ama her an su yüksekliğinin dörtte üçü kadardır: su 40 cm iken fayans 30 cm'de, 1 m iken 75 cm'de görünür. Görünen derinliğin su yüksekliğine göre grafiği, orijinden geçen ve eğimi 3/4 olan bir doğrudur.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Sudan havaya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Gözlemci suyun içindeyse durum tersine döner: havadaki cisimden gelen ışınlar suya girerken normale yaklaşır ve uzantıları cismi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daha yüksekte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gösterir.</a:t>
            </a:r>
            <a:endParaRPr lang="en-US" sz="2200" dirty="0"/>
          </a:p>
        </p:txBody>
      </p:sp>
      <p:sp>
        <p:nvSpPr>
          <p:cNvPr id="7" name="Shape 5"/>
          <p:cNvSpPr/>
          <p:nvPr/>
        </p:nvSpPr>
        <p:spPr>
          <a:xfrm>
            <a:off x="640080" y="2775204"/>
            <a:ext cx="193852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775204"/>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 = n · h</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Sudan havaya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altındaki bir dalgıç için, yüzeyden 1,5 m yukarıdaki bir kuş yaklaşık 2 m yükseklikte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Genel kural: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gözlemcinin bulunduğu ortamın indisi büyükse cisim uzaklaşmış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aynı sonucu izleyebilirsin: 150 cm yukarıdaki cisim su altından 200 cm'de görünür.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Sudan havaya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durum tek bir bağıntıda birleşir: cisim ile yüzey arasındaki uzaklık, gözlemcinin ortamının indisiyle çarpılır ve cismin ortamının indisine bölünür.</a:t>
            </a:r>
            <a:endParaRPr lang="en-US" sz="2200" dirty="0"/>
          </a:p>
        </p:txBody>
      </p:sp>
      <p:sp>
        <p:nvSpPr>
          <p:cNvPr id="7" name="Shape 5"/>
          <p:cNvSpPr/>
          <p:nvPr/>
        </p:nvSpPr>
        <p:spPr>
          <a:xfrm>
            <a:off x="640080" y="2775204"/>
            <a:ext cx="430133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775204"/>
            <a:ext cx="43013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 = h · ngözlemci / ncisim</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Sudan havaya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Havadan suya bakış: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gözlemci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1, n</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cisim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n → h′ = h/n; cisim yaklaşmış görünür.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Sudan havaya bakış: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gözlemci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n, n</a:t>
            </a:r>
            <a:pPr indent="0" marL="0">
              <a:lnSpc>
                <a:spcPct val="115000"/>
              </a:lnSpc>
              <a:buNone/>
            </a:pPr>
            <a:r>
              <a:rPr lang="en-US" sz="2100" baseline="-40000" dirty="0">
                <a:solidFill>
                  <a:srgbClr val="0E1426"/>
                </a:solidFill>
                <a:latin typeface="Calibri" pitchFamily="34" charset="0"/>
                <a:ea typeface="Calibri" pitchFamily="34" charset="-122"/>
                <a:cs typeface="Calibri" pitchFamily="34" charset="-120"/>
              </a:rPr>
              <a:t>cisim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 1 → h′ = n·h; cisim uzaklaşmış görünür.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Sudan havaya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517124" y="1234440"/>
            <a:ext cx="915744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7.png">    </p:cNvPr>
          <p:cNvPicPr>
            <a:picLocks noChangeAspect="1"/>
          </p:cNvPicPr>
          <p:nvPr/>
        </p:nvPicPr>
        <p:blipFill>
          <a:blip r:embed="rId1"/>
          <a:stretch>
            <a:fillRect/>
          </a:stretch>
        </p:blipFill>
        <p:spPr>
          <a:xfrm>
            <a:off x="1745724" y="1325880"/>
            <a:ext cx="870024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Bakış yönü tersine dönünce sonuç da tersine döner. Su altındaki bir gözlemci için havadaki cisim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olduğundan daha yükseğe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kaçar: h′ = n·h. Bu yüzden suyun altından bakan bir dalgıç, kıyıdaki insanları gerçekte olduklarından çok daha havada görür — ve balıklar, kendilerine yukarıdan bakan avcıyı olduğundan yüksekte görür.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Sudan havaya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Gözlemci suyun içindeyse havadaki cisim h′ = n·h yüksekliğinde, yani olduğundan uzakta görünür. Genel kural: h′ = h·n(gözlemci)/n(cisim).</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Cam levhanın altındaki yazı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Kalınlığı t, indisi n olan bir cam levha, altındaki yazıyı yukarı taşımış gibi gösterir:</a:t>
            </a:r>
            <a:endParaRPr lang="en-US" sz="2200" dirty="0"/>
          </a:p>
        </p:txBody>
      </p:sp>
      <p:sp>
        <p:nvSpPr>
          <p:cNvPr id="7" name="Shape 5"/>
          <p:cNvSpPr/>
          <p:nvPr/>
        </p:nvSpPr>
        <p:spPr>
          <a:xfrm>
            <a:off x="640080" y="2389632"/>
            <a:ext cx="263347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389632"/>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 = t (1 − 1/n)</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Cam levhanın altındaki yazı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Bağıntı nereden geliyor?</a:t>
            </a:r>
            <a:endParaRPr lang="en-US" sz="2200" dirty="0"/>
          </a:p>
        </p:txBody>
      </p:sp>
      <p:sp>
        <p:nvSpPr>
          <p:cNvPr id="8" name="Text 6"/>
          <p:cNvSpPr txBox="1"/>
          <p:nvPr/>
        </p:nvSpPr>
        <p:spPr>
          <a:xfrm>
            <a:off x="640080" y="1892808"/>
            <a:ext cx="10911535" cy="211455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Levha yokken: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yazı, levhanın üst yüzü hizasından t + a derinde görünür (a: levha ile yazı arasındaki hava aralığı).</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Levha varken: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cam katman kendi kalınlığını t/n gibi gösterir, hava aralığı olduğu gibi kalır: görünen derinlik t/n + a.</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Fark: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 + a) − (t/n + a) = t − t/n = t(1 − 1/n). Hava aralığı a sadeleşir.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Cam levhanın altındaki yazı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Cam için (n = 1,5) Δ = t/3'tür: 6 cm'lik cam levha yazıyı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2 cm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yükseltir.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Yazının levhaya olan uzaklığı sonucu değiştirmez; önemli olan ışığın cam içinde kat ettiği kalınlıktır.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 varsayılan 6 cm'lik levhanın içinden bakınca camın kendisi 4 cm kalınlığındaymış gibi görünür; aradaki 2 cm, yazının yükselme miktarıdır.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Cam levhanın altındaki yazı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096144" y="1234440"/>
            <a:ext cx="999940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8.png">    </p:cNvPr>
          <p:cNvPicPr>
            <a:picLocks noChangeAspect="1"/>
          </p:cNvPicPr>
          <p:nvPr/>
        </p:nvPicPr>
        <p:blipFill>
          <a:blip r:embed="rId1"/>
          <a:stretch>
            <a:fillRect/>
          </a:stretch>
        </p:blipFill>
        <p:spPr>
          <a:xfrm>
            <a:off x="1324744" y="1325880"/>
            <a:ext cx="954220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Cam levhanın altındaki yazı da yukarı kaçar; tek fark, kaymanın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levhanın kalınlığına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bağlı olmasıdır — yazının levhadan ne kadar uzakta olduğu fark etmez. Camda n ≈ 1,5 olduğu için kayma kalınlığın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üçte biri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kadardır: 3 cm'lik bir cam bloğun altındaki yazı 1 cm yükselmiş görünür.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Cam levhanın altındaki yazı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Cam levha, altındaki yazıyı Δ = t(1 − 1/n) kadar yükseltir; camda bu, kalınlığın üçte biridir. Yazı ile levha arasındaki hava aralığı sonucu değiştirmez.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ışık birden çok katmandan geçince, bakış yatıklaşınca ve yanılgı gerçek hayatta bir ölçüm aracına dönüşünce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Üst üste katmanlar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Bağıntının geçerlilik sınırı: eğik bakış</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Görünür derinlik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dersler-sekiller/gorunur-derinlik-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Kalın bir cam blok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altındaki kareli örtüyü kalınlığının yaklaşık üçte biri kadar yukarı taşınmış gösterir: 3 cm'lik bir blokta kareler 1 cm yükselmiş görünür. Bloğun kenarlarına bak: cam içinden görülen kare çizgileri, bloğun dışındakilerle tam aynı hizada devam etmez. Eğik bakışta yükselmeye yandan kayma da eklenir.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dersler.perinet.org/gorunur-derinlik.html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Üst üste katmanlar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bardakta suyun üstünde bir yağ tabakası, bir akvaryumda suyun altında kalın bir cam taban olabilir.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Işığın yolunda birden fazla saydam katman varsa her katman kendi kalınlığını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kendi indisine göre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kısaltır ve görünen kalınlıklar toplanır:</a:t>
            </a:r>
            <a:endParaRPr lang="en-US" sz="2200" dirty="0"/>
          </a:p>
        </p:txBody>
      </p:sp>
      <p:sp>
        <p:nvSpPr>
          <p:cNvPr id="7" name="Shape 5"/>
          <p:cNvSpPr/>
          <p:nvPr/>
        </p:nvSpPr>
        <p:spPr>
          <a:xfrm>
            <a:off x="640080" y="3252216"/>
            <a:ext cx="360639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252216"/>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 = h₁/n₁ + h₂/n₂ + …</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Üst üste katmanlar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Cam levhadaki bağıntı bunun özel bir durumudur: cam katmanı t/n, hava aralığı ise olduğu gibi a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Örneğin bir bardakta 8 cm su (n = 4/3) üstünde 3 cm yağ (n = 1,5) varsa dipteki para 3/1,5 + 8·3/4 = 2 + 6 =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8 cm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derinde görünür; gerçek derinlik 11 cm'dir.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Toplam 11 cm'yi tek bir indise bölseydin ikisinden birini yanlış kullanmış olurdun.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Üst üste katmanlar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813313" y="1234440"/>
            <a:ext cx="6565070"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09.png">    </p:cNvPr>
          <p:cNvPicPr>
            <a:picLocks noChangeAspect="1"/>
          </p:cNvPicPr>
          <p:nvPr/>
        </p:nvPicPr>
        <p:blipFill>
          <a:blip r:embed="rId1"/>
          <a:stretch>
            <a:fillRect/>
          </a:stretch>
        </p:blipFill>
        <p:spPr>
          <a:xfrm>
            <a:off x="3041913" y="1325880"/>
            <a:ext cx="6107870"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bardağı iki kez çizdik: solda gerçek katmanlar, sağda yukarıdan dik bakınca görünenler. Her katman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kendi indisine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bölünerek kısalır: 3 cm yağ 2 cm, 8 cm su 6 cm görünür. Dipteki para bu kısalmış kalınlıkların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toplamında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8 cm derinde görünür; 11 cm'yi tek bir indise bölseydin iki katmandan birine yanlış indis vermiş olurdun.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Üst üste katmanlar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Her katman ayrı hesaplanır: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toplam derinlik tek bir indise bölünmez.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Sıra önemli değildir: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dik bakışta toplam, katmanların hangi sırayla dizildiğinden bağımsızdır.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Hava katmanı olduğu gibi kalır: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indisi 1 olduğu için kısalmaz.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Üst üste katmanlar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ek2-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Su ve yağ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bardakta üst üste iki katman oluşturuyor: dipteki paradan gelen ışık önce sudan yağa, sonra yağdan havaya geçer ve her sınırda yeniden kırılır. Her katman kendi kalınlığını kendi indisine bölerek kısaltır; paranın görünen derinliği h′ = h₁/n₁ + h₂/n₂, yani bu kısalmış kalınlıkların toplamıdır. Toplam derinliği tek bir indise bölmek bu yüzden yanlış sonuç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Üst üste katmanlar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Üst üste katmanlarda her katman kendi indisine bölünür ve görünen kalınlıklar toplanır: h′ = h₁/n₁ + h₂/n₂. Katmanların sırası sonucu değiştirmez.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Suyun içine yatay bir cam levha konuyor. Levhanın dibe ya da yüzeye yakın durması, dipteki paranın görünen derinliğini değiştirir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Üst üste katmanlar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Suyun içine yatay bir cam levha konuyor. Levhanın dibe ya da yüzeye yakın durması, dipteki paranın görünen derinliğini değiştirir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Değiştirmez.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Dik bakışta görünen derinlik, suyun toplam kalınlığının 4/3'e bölümü ile levha kalınlığının 1,5'e bölümünün toplamıdır. Bu toplamda levhanın nerede durduğu geçmez; levha yalnızca suyun bir kısmının yerini alır.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Bağıntının geçerlilik sınırı: eğik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A56209"/>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h′ = h/n yalnızca dik (dike yakın) bakış içindir.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Yüzeye çok eğik bakıldığında görünen derinlik daha da azalır; kırılma açısı büyüdükçe uzantıların kesiştiği nokta yükselir. Bu yüzden havuza yandan bakıldığında dip daha da yakın görünür.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Bağıntının geçerlilik sınırı: eğik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Türetmenin dördüncü adımında h′ = h·tan i / tan r bulmuştuk; tan ≈ sin yaklaşımı yalnızca küçük açılarda doğrudur.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Açılar büyüyünce tam ifadeyi kullanmak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Göze gelen ışının uzantısı, cismin tam üstündeki düşey çizgiyi hangi derinlikte keser?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(n = 4/3) için: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Bağıntının geçerlilik sınırı: eğik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643206"/>
                <a:gridCol w="2321603"/>
                <a:gridCol w="1392962"/>
                <a:gridCol w="255376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Bakış açısı (havada)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Sudaki açı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 / h</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2 m havuzda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 (dik)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0,70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1,40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0,49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0,99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46,4°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0,28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0,56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Bağıntının geçerlilik sınırı: eğik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 iki şey söylüyor.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Birincisi, 30°'ye kadar h′/h oranı 0,75'ten pek sapmaz; “dike yakın” bakışın sınırı sanıldığından geniştir.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İkincisi, 60°'nin ötesinde görünen derinlik hızla küçülür: yatık bakışta 2 metrelik havuz yarım metre derinliğindeymiş gibi görünebilir.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sayılar tek bir ışının uzantısı içindir; eğik bakışta komşu ışınlar artık aynı noktada kesişmez ve görüntü bulanıklaşır.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Bağıntının geçerlilik sınırı: eğik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429908" y="1234440"/>
            <a:ext cx="933187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10.png">    </p:cNvPr>
          <p:cNvPicPr>
            <a:picLocks noChangeAspect="1"/>
          </p:cNvPicPr>
          <p:nvPr/>
        </p:nvPicPr>
        <p:blipFill>
          <a:blip r:embed="rId1"/>
          <a:stretch>
            <a:fillRect/>
          </a:stretch>
        </p:blipFill>
        <p:spPr>
          <a:xfrm>
            <a:off x="1658508" y="1325880"/>
            <a:ext cx="887467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 = h/n bağıntısı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yalnızca dike yakın bakışlarda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geçerlidir. Küçük açılarda uzantılar tek bir noktada kesişir ve keskin bir görüntü oluşur. Bakış açısı büyüdükçe her ışın farklı bir noktaya işaret eder, görüntü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dağılır ve bozulur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 havuzun dibine yandan bakınca fayansların eğrilmiş görünmesinin sebebi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Bağıntının geçerlilik sınırı: eğik bakış</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 = h/n yalnızca dike yakın bakışta geçerlidir. Bakış yatıklaştıkça görünen derinlik daha da azalır ve görüntü bozulur; suda 60°'lik bakışta derinlik yaklaşık yarısı kadar görünür.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Havuzun kenarında dururken uzaktaki dip neden ayağının dibindeki dipten de sığ görünür?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Bağıntının geçerlilik sınırı: eğik bakış</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Havuzun kenarında dururken uzaktaki dip neden ayağının dibindeki dipten de sığ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Uzaktaki dibe daha yatık bir açıyla bakarsın. Tablodaki gibi bakış açısı büyüdükçe h′/h oranı 0,75'in altına düşer: 60°'de yaklaşık 0,5'e, 75°'de 0,3'e yaklaşır. Aynı derinlikteki taban, uzaklaştıkça yükseliyormuş gibi görünür.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Görünür derinlik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Görünür derinlik bir göz yanılgısı olarak başlar, ama doğru hesaplandığında güvenliği sağlayan ve ölçüm yapmaya yarayan bir araca dönüşür.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örneklerin hepsi bu konunun bağıntılarını kullanır.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Görünür derinlik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Havuz güvenliği: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1,4 m derinliğindeki havuz yukarıdan yaklaşık 1,05 m görünür; derinlik yazıları bu yüzden kenara yazılır.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Zıpkınla balık avı: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90 cm derindeki balık yaklaşık 68 cm'de görünür; avcı gördüğünün altına nişan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Okçu balığı: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sudan dallardaki böceklere su tükürerek avlanır; kırılmanın yarattığı sapmayı hesaba katarak nişan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Dalış maskesi: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maske gözün önünde hava tutar; sudaki cisimler yaklaşık 3/4 uzaklıkta ve 4/3 kat büyük görünür.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Görünür derinlik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İndis ölçümü: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mikroskop bir işarete, sonra üstüne konan levhanın içinden aynı işarete odaklanır; odak kayması n'yi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Cam bloklar: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3 cm'lik cam blok, altındaki yazıyı 1 cm yükselmiş gösterir; kalın vitrin camlarında da aynısı olur.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Görünür derinlik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429908" y="1234440"/>
            <a:ext cx="933187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dersler-sekiller/gorunur-derinlik-11.png">    </p:cNvPr>
          <p:cNvPicPr>
            <a:picLocks noChangeAspect="1"/>
          </p:cNvPicPr>
          <p:nvPr/>
        </p:nvPicPr>
        <p:blipFill>
          <a:blip r:embed="rId1"/>
          <a:stretch>
            <a:fillRect/>
          </a:stretch>
        </p:blipFill>
        <p:spPr>
          <a:xfrm>
            <a:off x="1658508" y="1325880"/>
            <a:ext cx="887467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Balık gördüğün yerde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daha derinde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dir. Zıpkını gördüğün noktaya doğrultursan üstünden geçersin; deneyimli avcılar bu yüzden hep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biraz aşağıya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nişan alır. Aynı düzeltmeyi suya uzanıp bir şey almaya çalışırken elin de otomatik olarak yapar — beyin bu sapmayı öğrenmiştir.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Görünür derinlik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balığa nişan almayı kendin deneyebilirsin: varsayılan balık 90 cm derinde durur ama 68 cm'de görünür.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Gözün de bu düzeltmeyi zamanla öğrenir; suya uzanıp bir şey almaya çalışırken elin kendiliğinden biraz daha derine gider.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Görünür derinlik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Havuz güvenliği, zıpkınla avcılık, dalış maskesi ve indis ölçümü görünür derinliğin sonuçlarıdır. Doğru hesaplanan yanılgı bir ölçüm aracına dönüşür.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Dalış maskesiyle su altına bakınca balıklar neden olduğundan büyük görünür?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Görünür derinlik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Dalış maskesiyle su altına bakınca balıklar neden olduğundan büyük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Maskenin camı düzdür ve gözün önünde hava vardır; yani sen havadan suya bakan bir gözlemcisin. Sudaki cisimler gerçek uzaklığın yaklaşık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dörtte üçünde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görünür. Aynı boydaki bir cisim daha yakında göründüğü için gözde daha büyük bir açı kaplar: yaklaşık 4/3 kat büyük görünür.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görünür derinlik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Havuzun derinliği</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İndisi bulmak</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Sudan havaya bakış</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Cam levha</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Yükselmeden gerçek derinliğe</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Üst üste iki sıvı</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Dalgıç ve martı</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dersler.perinet.org/gorunur-derinlik.html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Havuzun derinliği</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Derinliği 2 m olan bir havuzun dibi, yukarıdan bakan biri için kaç metre derinlikte görünür? (n(su) = 4/3)</a:t>
            </a:r>
            <a:endParaRPr lang="en-US" sz="2000" dirty="0"/>
          </a:p>
        </p:txBody>
      </p:sp>
      <p:sp>
        <p:nvSpPr>
          <p:cNvPr id="11" name="Shape 9"/>
          <p:cNvSpPr/>
          <p:nvPr/>
        </p:nvSpPr>
        <p:spPr>
          <a:xfrm>
            <a:off x="3069861" y="3121152"/>
            <a:ext cx="6051973"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gorunur-derinlik-12.png">    </p:cNvPr>
          <p:cNvPicPr>
            <a:picLocks noChangeAspect="1"/>
          </p:cNvPicPr>
          <p:nvPr/>
        </p:nvPicPr>
        <p:blipFill>
          <a:blip r:embed="rId1"/>
          <a:stretch>
            <a:fillRect/>
          </a:stretch>
        </p:blipFill>
        <p:spPr>
          <a:xfrm>
            <a:off x="3298461" y="3230880"/>
            <a:ext cx="5594773"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Havuzun derinliği</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Derinliği 2 m olan bir havuzun dibi, yukarıdan bakan biri için kaç metre derinlikte görünür? (n(su) = 4/3)</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2 m (havuzun gerçek derinliği)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n(su) = 4/3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n(hava) = 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bakış dik</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havuz dibinin görünen derinliği h′</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Havuzun derinliği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 = h/n = 2 / (4/3) = 2 · 3/4</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 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Yükselme: Δh = 2 − 1,5 = 0,5 m, yani derinliğin dörtte biri.</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İndisi bulmak</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kaptaki sıvının 60 cm derinliğindeki cisim, 40 cm derinlikte görünüyor. Sıvının kırılma indisi nedir?</a:t>
            </a:r>
            <a:endParaRPr lang="en-US" sz="2000" dirty="0"/>
          </a:p>
        </p:txBody>
      </p:sp>
      <p:sp>
        <p:nvSpPr>
          <p:cNvPr id="11" name="Shape 9"/>
          <p:cNvSpPr/>
          <p:nvPr/>
        </p:nvSpPr>
        <p:spPr>
          <a:xfrm>
            <a:off x="3135426" y="3121152"/>
            <a:ext cx="5920843"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gorunur-derinlik-13.png">    </p:cNvPr>
          <p:cNvPicPr>
            <a:picLocks noChangeAspect="1"/>
          </p:cNvPicPr>
          <p:nvPr/>
        </p:nvPicPr>
        <p:blipFill>
          <a:blip r:embed="rId1"/>
          <a:stretch>
            <a:fillRect/>
          </a:stretch>
        </p:blipFill>
        <p:spPr>
          <a:xfrm>
            <a:off x="3364026" y="3230880"/>
            <a:ext cx="5463643"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İndisi bulmak</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kaptaki sıvının 60 cm derinliğindeki cisim, 40 cm derinlikte görünüyor. Sıvının kırılma indisi nedir?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60 cm (gerçek derinlik)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40 cm (görünen derinlik)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 3·10⁸ m/s</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sıvının kırılma indisi 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(ek olarak) ışığın bu sıvıdaki hızı v</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İndisi bulmak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h / h′ = 60 / 40</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Işığın bu sıvıdaki hızı: v = c/n = 3·10⁸/1,5 = 2·10⁸ m/s.</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Sudan havaya bakış</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Su altındaki bir dalgıç, yüzeyden 120 cm yukarıdaki bir lambaya bakıyor. Lamba kaç cm yükseklikte görünür? (n = 4/3)</a:t>
            </a:r>
            <a:endParaRPr lang="en-US" sz="2000" dirty="0"/>
          </a:p>
        </p:txBody>
      </p:sp>
      <p:sp>
        <p:nvSpPr>
          <p:cNvPr id="11" name="Shape 9"/>
          <p:cNvSpPr/>
          <p:nvPr/>
        </p:nvSpPr>
        <p:spPr>
          <a:xfrm>
            <a:off x="3277125" y="3121152"/>
            <a:ext cx="5637445"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gorunur-derinlik-14.png">    </p:cNvPr>
          <p:cNvPicPr>
            <a:picLocks noChangeAspect="1"/>
          </p:cNvPicPr>
          <p:nvPr/>
        </p:nvPicPr>
        <p:blipFill>
          <a:blip r:embed="rId1"/>
          <a:stretch>
            <a:fillRect/>
          </a:stretch>
        </p:blipFill>
        <p:spPr>
          <a:xfrm>
            <a:off x="3505725" y="3230880"/>
            <a:ext cx="5180245"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Sudan havaya bakış</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Su altındaki bir dalgıç, yüzeyden 120 cm yukarıdaki bir lambaya bakıyor. Lamba kaç cm yükseklikte görünür? (n = 4/3)</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 = 120 cm (lambanın yüzeyden yüksekliği)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n(su) = 4/3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n(hava) = 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gözlemci suyun içinde</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lambanın dalgıca görünen yüksekliği h′</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Sudan havaya bakış</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Gözlemci yoğun ortamda: h′ = n·h</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 = (4/3) · 120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160 cm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Lamba 40 cm daha yüksekteymiş gibi görünür.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Cam levha</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Kalınlığı 9 cm, indisi 1,5 olan cam levha bir yazının üzerine konuyor. Yazı ne kadar yükselmiş görünür?</a:t>
            </a:r>
            <a:endParaRPr lang="en-US" sz="2000" dirty="0"/>
          </a:p>
        </p:txBody>
      </p:sp>
      <p:sp>
        <p:nvSpPr>
          <p:cNvPr id="11" name="Shape 9"/>
          <p:cNvSpPr/>
          <p:nvPr/>
        </p:nvSpPr>
        <p:spPr>
          <a:xfrm>
            <a:off x="2772787" y="3121152"/>
            <a:ext cx="6646120"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gorunur-derinlik-15.png">    </p:cNvPr>
          <p:cNvPicPr>
            <a:picLocks noChangeAspect="1"/>
          </p:cNvPicPr>
          <p:nvPr/>
        </p:nvPicPr>
        <p:blipFill>
          <a:blip r:embed="rId1"/>
          <a:stretch>
            <a:fillRect/>
          </a:stretch>
        </p:blipFill>
        <p:spPr>
          <a:xfrm>
            <a:off x="3001387" y="3230880"/>
            <a:ext cx="6188920"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Cam levha</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Kalınlığı 9 cm, indisi 1,5 olan cam levha bir yazının üzerine konuyor. Yazı ne kadar yükselmiş görünür?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 = 9 cm (levhanın kalınlığı)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 = 1,5 (cam)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yazının yükselme miktarı Δ</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Cam levha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 = t (1 − 1/n) = 9 · (1 − 1/1,5)</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 = 9 · (1 − 0,667) = 9 · 0,333</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Cam levha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Yazı ile levha arasındaki hava boşluğu bu sonucu değiştirmez.</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Yükselmeden gerçek derinliğe</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Suyla dolu bir kabın dibindeki taş, yukarıdan bakınca gerçek yerinden 30 cm yukarıda görünüyor. Kabın derinliği ve taşın görünen derinliği nedir? (n = 4/3)</a:t>
            </a:r>
            <a:endParaRPr lang="en-US" sz="2000" dirty="0"/>
          </a:p>
        </p:txBody>
      </p:sp>
      <p:sp>
        <p:nvSpPr>
          <p:cNvPr id="11" name="Shape 9"/>
          <p:cNvSpPr/>
          <p:nvPr/>
        </p:nvSpPr>
        <p:spPr>
          <a:xfrm>
            <a:off x="3409293" y="3474720"/>
            <a:ext cx="5373109"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gorunur-derinlik-16.png">    </p:cNvPr>
          <p:cNvPicPr>
            <a:picLocks noChangeAspect="1"/>
          </p:cNvPicPr>
          <p:nvPr/>
        </p:nvPicPr>
        <p:blipFill>
          <a:blip r:embed="rId1"/>
          <a:stretch>
            <a:fillRect/>
          </a:stretch>
        </p:blipFill>
        <p:spPr>
          <a:xfrm>
            <a:off x="3637893" y="3584448"/>
            <a:ext cx="4915909"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Yükselmeden gerçek derinliğe</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Suyla dolu bir kabın dibindeki taş, yukarıdan bakınca gerçek yerinden 30 cm yukarıda görünüyor. Kabın derinliği ve taşın görünen derinliği nedir? (n = 4/3)</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 = 30 cm (taşın yükselme miktarı)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n(su) = 4/3</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kabın gerçek derinliği 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taşın görünen derinliği h′</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Yükselmeden gerçek derinliğe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Yükselme: Δh = h (1 − 1/n) = h (1 − 3/4) = h/4.</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h/4 = 30 cm → h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120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Yükselmeden gerçek derinliğe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Görünen derinlik: h′ = h/n = 120 · 3/4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90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120 − 90 = 30 cm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Üst üste iki sıvı</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kapta 20 cm su (n = 4/3) ve suyun üstünde 15 cm yağ (n = 1,5) var. Kabın dibindeki para, yukarıdan bakan birine kaç cm derinde görünür? Para kaç cm yükselmiş görünür?</a:t>
            </a:r>
            <a:endParaRPr lang="en-US" sz="2000" dirty="0"/>
          </a:p>
        </p:txBody>
      </p:sp>
      <p:sp>
        <p:nvSpPr>
          <p:cNvPr id="11" name="Shape 9"/>
          <p:cNvSpPr/>
          <p:nvPr/>
        </p:nvSpPr>
        <p:spPr>
          <a:xfrm>
            <a:off x="3466903" y="3474720"/>
            <a:ext cx="525789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gorunur-derinlik-17.png">    </p:cNvPr>
          <p:cNvPicPr>
            <a:picLocks noChangeAspect="1"/>
          </p:cNvPicPr>
          <p:nvPr/>
        </p:nvPicPr>
        <p:blipFill>
          <a:blip r:embed="rId1"/>
          <a:stretch>
            <a:fillRect/>
          </a:stretch>
        </p:blipFill>
        <p:spPr>
          <a:xfrm>
            <a:off x="3695503" y="3584448"/>
            <a:ext cx="480069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Üst üste iki sıvı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kapta 20 cm su (n = 4/3) ve suyun üstünde 15 cm yağ (n = 1,5) var. Kabın dibindeki para, yukarıdan bakan birine kaç cm derinde görünür? Para kaç cm yükselmiş görünür?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h₁ = 20 cm (su)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n₁ = 4/3 (su)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h₂ = 15 cm (yağ)</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n₂ = 1,5 (yağ)</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bakış dik</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paranın görünen derinliği 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paranın yükselme miktarı Δh</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Üst üste iki sıvı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Her katman kendi indisine bölünür: h′ = h₁/n₁ + h₂/n₂.</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Yağ katmanı: 15 / 1,5 = 10 cm.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Su katmanı: 20 / (4/3) = 20 · 3/4 = 15 cm.</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Üst üste iki sıvı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Görünen derinlik: 10 + 15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25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gerçek derinlik 35 cm.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Yükselme: 35 − 25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 cm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Tuzak: 35 cm'yi tek bir indise bölmek. 35/(4/3) = 26,25 cm, 35/1,5 ≈ 23,3 cm verir; ikisi de yanlıştır.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Dalgıç ve martı</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dalgıcın gözü su yüzeyinin 1,2 m altında, bir martı da tam onun üstünde, yüzeyin 0,9 m yukarısında duruyor. (a) Dalgıç martıyı kaç metre uzakta görür? (b) Martı dalgıcı kaç metre uzakta görür? (n = 4/3)</a:t>
            </a:r>
            <a:endParaRPr lang="en-US" sz="2000" dirty="0"/>
          </a:p>
        </p:txBody>
      </p:sp>
      <p:sp>
        <p:nvSpPr>
          <p:cNvPr id="11" name="Shape 9"/>
          <p:cNvSpPr/>
          <p:nvPr/>
        </p:nvSpPr>
        <p:spPr>
          <a:xfrm>
            <a:off x="3306928" y="3474720"/>
            <a:ext cx="557784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dersler-sekiller/gorunur-derinlik-18.png">    </p:cNvPr>
          <p:cNvPicPr>
            <a:picLocks noChangeAspect="1"/>
          </p:cNvPicPr>
          <p:nvPr/>
        </p:nvPicPr>
        <p:blipFill>
          <a:blip r:embed="rId1"/>
          <a:stretch>
            <a:fillRect/>
          </a:stretch>
        </p:blipFill>
        <p:spPr>
          <a:xfrm>
            <a:off x="3535528" y="3584448"/>
            <a:ext cx="512064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Dalgıç ve martı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dalgıcın gözü su yüzeyinin 1,2 m altında, bir martı da tam onun üstünde, yüzeyin 0,9 m yukarısında duruyor. (a) Dalgıç martıyı kaç metre uzakta görür? (b) Martı dalgıcı kaç metre uzakta görür? (n = 4/3)</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dalgıcın gözü yüzeyin 1,2 m altında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martı tam üstünde, yüzeyin 0,9 m yukarısında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n(su) = 4/3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n(hava) = 1</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dalgıcın martıyı gördüğü uzaklık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martının dalgıcı gördüğü uzaklık</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Dalgıç ve martı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Gerçek uzaklık: 1,2 + 0,9 = 2,1 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Dalgıç suda: martının yüksekliği n kat görünür: 0,9 · 4/3 = 1,2 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Dalgıcın gördüğü uzaklık: 1,2 + 1,2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2,4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Dalgıç ve martı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Martı havada: dalgıcın derinliği n'ye bölünür: 1,2 · 3/4 = 0,9 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Martının gördüğü uzaklık: 0,9 + 0,9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1,8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İkisi birbirini farklı uzaklıkta görür: dalgıç için martı uzaklaşmış, martı için dalgıç yaklaşmıştır. Oran 2,4 / 1,8 = 4/3, yani tam suyun indisidir.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Derinliği 80 cm olan, suyla dolu bir akvaryumun tabanı yukarıdan bakınca kaç cm derinde görünür?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(dik bakış; n(hava) = 1, n(su) = 4/3, n(cam) = 1,5)</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Derinliği 80 cm olan, suyla dolu bir akvaryumun tabanı yukarıdan bakınca kaç cm derinde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 = h / n = 80 / (4/3) = 80 · 3/4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60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Taban 80 − 60 = 20 cm yükselmiş görünür.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sıvının 50 cm derinliğindeki boncuk, yukarıdan bakınca 40 cm derinde görünüyor. Sıvının kırılma indisi kaçtır?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(dik bakış; n(hava) = 1, n(su) = 4/3, n(cam) = 1,5)</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sıvının 50 cm derinliğindeki boncuk, yukarıdan bakınca 40 cm derinde görünüyor. Sıvının kırılma indisi kaçtır?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 = h / h′ = 50 / 40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1,25</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Havuzdaki bir dalgıç, su yüzeyinin 1,8 m yukarısındaki tramplenin ucuna bakıyor. Tramplen ona kaç m yüksekte görünür?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(dik bakış; n(hava) = 1, n(su) = 4/3, n(cam) = 1,5)</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Havuzdaki bir dalgıç, su yüzeyinin 1,8 m yukarısındaki tramplenin ucuna bakıyor. Tramplen ona kaç m yüksekte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Gözlemci suyun içinde, cisim havada; bu yüzden çarpılır: h′ = n · h = (4/3) · 1,8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2,4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Tramplen 0,6 m daha yüksekte görünür.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Suyla dolu bir havuzun dibindeki para, yukarıdan bakınca 1,2 m derinde görünüyor. Havuz gerçekte kaç m derin, para kaç cm yükselmiş görünür?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(dik bakış; n(hava) = 1, n(su) = 4/3, n(cam) = 1,5)</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Suyla dolu bir havuzun dibindeki para, yukarıdan bakınca 1,2 m derinde görünüyor. Havuz gerçekte kaç m derin, para kaç cm yükselmiş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 = h / h′ → h = n · h′ = (4/3) · 1,2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1,6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Yükselme Δh = h − h′ = 1,6 − 1,2 = 0,4 m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40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derinliğin dörtte biri 1,6 / 4 = 0,4 m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akvaryumun 3 cm kalınlığındaki cam tabanının üstünde 36 cm su var. Tabanın hemen altındaki yazı, yukarıdan bakınca kaç cm derinde görünür?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(dik bakış; n(hava) = 1, n(su) = 4/3, n(cam) = 1,5)</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akvaryumun 3 cm kalınlığındaki cam tabanının üstünde 36 cm su var. Tabanın hemen altındaki yazı, yukarıdan bakınca kaç cm derinde görünür?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Her katman kendi indisine bölünür: su 36 / (4/3) = 27 cm, cam 3 / 1,5 = 2 cm. Görünen derinlik h′ = 27 + 2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29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Gerçek derinlik 36 + 3 = 39 cm olduğu için yazı 10 cm yükselmiş görünür.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h′ = h·n yazmak.</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Havadan bakışta bölme yapılır: h′ = h/n.</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Görünen derinliği gerçek sanmak.</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Görüntü sanaldır; su içinde gerçek bir görüntü oluşmaz.</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Cismin gerçekten yükseldiğini düşünmek.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Cisim yerinde durur, değişen yalnızca göze ulaşan ışınların doğrultusudur.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Sudan havaya bakışta aynı bağıntıyı kullanmak.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O durumda h′ = n·h olur, cisim uzaklaşmış görünür.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Cam levhada yükselmeyi t kadar sanmak.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Yükselme t değil, t(1 − 1/n)'dir.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Eğik bakışta aynı formülü kullanmak.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Bağıntı dik bakış içindir.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Katmanlı kapta toplam derinliği tek indise bölmek.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Her katman kendi indisine bölünür: h′ = h₁/n₁ + h₂/n₂.</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Yükselme ile görünen derinliği karıştırmak.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2 m'lik havuzun görünen derinliği 1,5 m, yükselmesi 0,5 m'dir; soru hangisini istiyor, önce onu oku.</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dersler.perinet.org/gorunur-derinlik.html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Havadan </a:t>
            </a:r>
            <a:pPr indent="0" marL="0">
              <a:buNone/>
            </a:pPr>
            <a:r>
              <a:rPr lang="en-US" sz="1500" b="1" dirty="0">
                <a:solidFill>
                  <a:srgbClr val="FFFFFF"/>
                </a:solidFill>
                <a:latin typeface="Calibri" pitchFamily="34" charset="0"/>
                <a:ea typeface="Calibri" pitchFamily="34" charset="-122"/>
                <a:cs typeface="Calibri" pitchFamily="34" charset="-120"/>
              </a:rPr>
              <a:t>h′ = h / n</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Sudan </a:t>
            </a:r>
            <a:pPr indent="0" marL="0">
              <a:buNone/>
            </a:pPr>
            <a:r>
              <a:rPr lang="en-US" sz="1500" b="1" dirty="0">
                <a:solidFill>
                  <a:srgbClr val="FFFFFF"/>
                </a:solidFill>
                <a:latin typeface="Calibri" pitchFamily="34" charset="0"/>
                <a:ea typeface="Calibri" pitchFamily="34" charset="-122"/>
                <a:cs typeface="Calibri" pitchFamily="34" charset="-120"/>
              </a:rPr>
              <a:t>h′ = n · h</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Suda </a:t>
            </a:r>
            <a:pPr indent="0" marL="0">
              <a:buNone/>
            </a:pPr>
            <a:r>
              <a:rPr lang="en-US" sz="1500" b="1" dirty="0">
                <a:solidFill>
                  <a:srgbClr val="FFFFFF"/>
                </a:solidFill>
                <a:latin typeface="Calibri" pitchFamily="34" charset="0"/>
                <a:ea typeface="Calibri" pitchFamily="34" charset="-122"/>
                <a:cs typeface="Calibri" pitchFamily="34" charset="-120"/>
              </a:rPr>
              <a:t>%25 sığ</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Cam levha </a:t>
            </a:r>
            <a:pPr indent="0" marL="0">
              <a:buNone/>
            </a:pPr>
            <a:r>
              <a:rPr lang="en-US" sz="1500" b="1" dirty="0">
                <a:solidFill>
                  <a:srgbClr val="FFFFFF"/>
                </a:solidFill>
                <a:latin typeface="Calibri" pitchFamily="34" charset="0"/>
                <a:ea typeface="Calibri" pitchFamily="34" charset="-122"/>
                <a:cs typeface="Calibri" pitchFamily="34" charset="-120"/>
              </a:rPr>
              <a:t>t(1 − 1/n)</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 = h / n</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havadan suya bakış</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 = n · h</a:t>
            </a:r>
            <a:endParaRPr lang="en-US" sz="1350" dirty="0"/>
          </a:p>
        </p:txBody>
      </p:sp>
      <p:sp>
        <p:nvSpPr>
          <p:cNvPr id="19" name="Text 17"/>
          <p:cNvSpPr txBox="1"/>
          <p:nvPr/>
        </p:nvSpPr>
        <p:spPr>
          <a:xfrm>
            <a:off x="8183880" y="321868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sudan havaya bakış</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 = h (1 − 1/n)</a:t>
            </a:r>
            <a:endParaRPr lang="en-US" sz="1350" dirty="0"/>
          </a:p>
        </p:txBody>
      </p:sp>
      <p:sp>
        <p:nvSpPr>
          <p:cNvPr id="22" name="Text 20"/>
          <p:cNvSpPr txBox="1"/>
          <p:nvPr/>
        </p:nvSpPr>
        <p:spPr>
          <a:xfrm>
            <a:off x="8677656" y="404164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yükselme miktarı</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 = t (1 − 1/n)</a:t>
            </a:r>
            <a:endParaRPr lang="en-US" sz="1350" dirty="0"/>
          </a:p>
        </p:txBody>
      </p:sp>
      <p:sp>
        <p:nvSpPr>
          <p:cNvPr id="25" name="Text 23"/>
          <p:cNvSpPr txBox="1"/>
          <p:nvPr/>
        </p:nvSpPr>
        <p:spPr>
          <a:xfrm>
            <a:off x="8572500" y="486460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cam levhada kayma</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dersler.perinet.org/gorunur-derinlik.html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06 · Fiber optik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124</Slides>
  <Notes>124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124</vt:i4>
      </vt:variant>
    </vt:vector>
  </HeadingPairs>
  <TitlesOfParts>
    <vt:vector size="1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Görünür derinlik — Dersler</dc:title>
  <dc:subject>Fizik · Optik</dc:subject>
  <dc:creator>Dersler</dc:creator>
  <cp:lastModifiedBy>Dersler</cp:lastModifiedBy>
  <cp:revision>1</cp:revision>
  <dcterms:created xsi:type="dcterms:W3CDTF">2026-09-30T12:20:17Z</dcterms:created>
  <dcterms:modified xsi:type="dcterms:W3CDTF">2026-09-30T12:20:17Z</dcterms:modified>
</cp:coreProperties>
</file>