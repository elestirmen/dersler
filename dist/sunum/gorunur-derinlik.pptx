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Havuzun dibindeki fayansları görüyorsun ama gerçekte olduğundan 25 cm daha yukarıda. Aynı yanılgı, bardağın dibindeki bozuk parayı, sudaki balığı ve cam altındaki yazıyı da yerinden oynatır. Sebebi tek: sudan çıkan ışınlar yüzeyde kırılır, gözün ise onları hep düz geldi sanır. Bu konuda o kaymanın ne kadar olduğunu hesaplamayı öğreneceğiz.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Havuzun dibindeki fayansları görüyorsun ama gerçekte olduğundan 25 cm daha yukarıda. Aynı yanılgı, bardağın dibindeki bozuk parayı, sudaki balığı ve cam altındaki yazıyı da yerinden oynatır. Sebebi tek: sudan çıkan ışınlar yüzeyde kırılır, gözün ise onları hep düz geldi sanır. Bu konuda o kaymanın ne kadar olduğunu hesaplamayı öğreneceğiz.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Neden daha sığ görünür?
2. Bağıntı
3. Yükselme miktarı
4. Sudan havaya bakış
5. Cam levhanın altındaki yazı
6. Bağıntının geçerlilik sınırı
7. Günlük hayatta
8. Çözümlü örnekler
9.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daha sığ görünür?
Suyun dibindeki bir cisimden çıkan ışınlar su–hava sınırında kırılır ve normalden uzaklaşır. Göz, kendisine ulaşan ışınların geldiği doğrultuyu uzattığı için cismi, bu uzantıların kesiştiği noktada — yani gerçek yerinden daha yukarıda — görür.
Görüntü sanaldır. Suyun içinde gerçekten bir görüntü oluşmaz; ışınların uzantıları orada kesişir. Bu yüzden görünen derinliğe perde koyamazsınız.
Çizim: Tabandaki noktadan çıkan ışınlar su yüzeyinde kırılıp normalden uzaklaşır. Göz bu ışınları düz çizgi boyunca geriye uzatır ve hepsinin kesiştiği noktayı cismin yeri sanır. O nokta her zaman gerçek yerin üstündedir; aradaki fark ne kadar bakarsan bak kapanmaz. Görünen derinlik, gerçek derinliğin kırılma indisine bölümüdür.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Bağıntı
Havadan, suya dik doğrultuda bakan bir gözlemci için:
h′ = h / n   n = h / h′
• h: cismin gerçek derinliği.
• h′: görünen derinlik (her zaman daha küçük).
• n: sıvının kırılma indisi.
Su için n = 4/3 olduğundan h′ = 3h/4: her cisim gerçek derinliğinin dörtte üçünde görünür. 2 metrelik havuzun dibi 1,5 metredeymiş gibi görünür.
Çizim: Görünen derinlik yalnızca sıvının indisine bağlıdır — derinliğin kendisine değil. Suda her derinlik dörtte bir kadar kısalır: 1 metre 75 cm, 4 metre 3 metre görünür. İndis büyüdükçe kayma artar; karbon sülfürde derinliğin neredeyse %40'ı kaybolur. Açık gri çubuk gerçek derinliği, renkli kısım görünen derinliği gösteriyor.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Yükselme miktarı
Δh = h − h′ = h (1 − 1/n)
Su için Δh = h·(1 − 3/4) = h/4: cisim derinliğinin dörtte biri kadar yükselmiş görünür. İndis büyüdükçe yükselme artar.
Sıvı | n | h′ / h | Yükselme
Su | 1,33 | 0,75 | %25
Alkol | 1,36 | 0,74 | %26
Gliserin | 1,47 | 0,68 | %32
Karbon sülfür | 1,63 | 0,61 | %39
Çizim: Cismin "yükselmiş" görünme miktarı, gerçek derinlikle görünen derinlik arasındaki farktır. Suda bu fark derinliğin dörtte biridir: 2 metrelik havuzun tabanı 50 cm yukarıda görünür. Fark derinlikle doğru orantılı büyür — bu yüzden derin havuzlarda yanılgı çok daha tehlikelidir.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Sudan havaya bakış
Gözlemci suyun içindeyse durum tersine döner: havadaki cisimden gelen ışınlar suya girerken normale yaklaşır ve uzantıları cismi daha yüksekte gösterir.
h′ = n · h
Su altındaki bir dalgıç için, yüzeyden 1,5 m yukarıdaki bir kuş yaklaşık 2 m yükseklikte görünür. Genel kural: gözlemcinin bulunduğu ortamın indisi büyükse cisim uzaklaşmış görünür.
Çizim: Bakış yönü tersine dönünce sonuç da tersine döner. Su altındaki bir gözlemci için havadaki cisim olduğundan daha yükseğe kaçar: h′ = n·h. Bu yüzden suyun altından bakan bir dalgıç, kıyıdaki insanları gerçekte olduklarından çok daha havada görür — ve balıklar, kendilerine yukarıdan bakan avcıyı olduğundan yüksekte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 levhanın altındaki yazı
Kalınlığı t, indisi n olan bir cam levha, altındaki yazıyı yukarı taşımış gibi gösterir:
Δ = t (1 − 1/n)
Cam için (n = 1,5) Δ = t/3'tür: 6 cm'lik cam levha yazıyı 2 cm yükseltir. Yazının levhaya olan uzaklığı sonucu değiştirmez; önemli olan ışığın cam içinde katettiği kalınlıktır.
Çizim: Cam levhanın altındaki yazı da yukarı kaçar; tek fark, kaymanın levhanın kalınlığına bağlı olmasıdır — yazının levhadan ne kadar uzakta olduğu fark etmez. Camda n ≈ 1,5 olduğu için kayma kalınlığın üçte biri kadardır: 3 cm'lik bir cam bloğun altındaki yazı 1 cm yükselmiş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Bağıntının geçerlilik sınırı
h′ = h/n yalnızca dik (dike yakın) bakış içindir. Yüzeye çok eğik bakıldığında görünen derinlik daha da azalır; kırılma açısı büyüdükçe uzantıların kesiştiği nokta yükselir. Bu yüzden havuza yandan bakıldığında dip daha da yakın görünür.
Çizim: h′ = h/n bağıntısı yalnızca dike yakın bakışlarda geçerlidir. Küçük açılarda uzantılar tek bir noktada kesişir ve keskin bir görüntü oluşur. Bakış açısı büyüdükçe her ışın farklı bir noktaya işaret eder, görüntü dağılır ve bozulur — havuzun dibine yandan bakınca fayansların eğrilmiş görünmesinin sebebi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Günlük hayatta
• Havuz sığ görünür: derinliği olduğundan az sanıp atlamak tehlikelidir.
• Suya batan cisim kırık görünür: kaşığın su altındaki kısmı yükselmiş görünür, bu da kırılmış izlenimi verir.
• Zıpkınla balık avı: avcılar hep gördüklerinin biraz altına nişan alır.
• Bardaktaki bozuk para: su eklenince görünmeyen para görünür hâle gelir.
Çizim: Balık gördüğün yerde değil, daha derindedir. Zıpkını gördüğün noktaya doğrultursan üstünden geçersin; deneyimli avcılar bu yüzden hep biraz aşağıya nişan alır. Aynı düzeltmeyi suya uzanıp bir şey almaya çalışırken elin de otomatik olarak yapar — beyin bu sapmayı öğrenmiştir.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Havuzun derinliği
Derinliği 2 m olan bir havuzun dibi, yukarıdan bakan biri için kaç metre derinlikte görünür? (n(su) = 4/3)
1. h′ = h/n = 2 / (4/3) = 2 · 3/4
2. h′ = 1,5 m
3. Yükselme: Δh = 2 − 1,5 = 0,5 m, yani derinliğin dörtte biri.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İndisi bulmak
Bir kaptaki sıvının 60 cm derinliğindeki cisim, 40 cm derinlikte görünüyor. Sıvının kırılma indisi nedir?
1. n = h / h′ = 60 / 40
2. n = 1,5
3. Işığın bu sıvıdaki hızı: v = c/n = 3·10⁸/1,5 = 2·10⁸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Sudan havaya bakış
Su altındaki bir dalgıç, yüzeyden 120 cm yukarıdaki bir lambaya bakıyor. Lamba kaç cm yükseklikte görünür? (n = 4/3)
1. Gözlemci yoğun ortamda: h′ = n·h
2. h′ = (4/3) · 120 = 160 cm
3. Lamba 40 cm daha yüksekteymiş gibi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Cam levha
Kalınlığı 9 cm, indisi 1,5 olan cam levha bir yazının üzerine konuyor. Yazı ne kadar yükselmiş görünür?
1. Δ = t (1 − 1/n) = 9 · (1 − 1/1,5)
2. Δ = 9 · (1 − 0,667) = 9 · 0,333
3. Δ = 3 cm
4. Yazı ile levha arasındaki hava boşluğu bu sonucu değiştirmez.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h′ = h·n yazmak. Havadan bakışta bölme yapılır: h′ = h/n.
• Görünen derinliği gerçek sanmak. Görüntü sanaldır; su içinde gerçek bir görüntü oluşmaz.
• Cismin gerçekten yükseldiğini düşünmek. Cisim yerinde durur, değişen yalnızca göze ulaşan ışınların doğrultusudur.
• Sudan havaya bakışta aynı bağıntıyı kullanmak. O durumda h′ = n·h olur, cisim uzaklaşmış görünür.
• Cam levhada yükselmeyi t kadar sanmak. Yükselme t değil, t(1 − 1/n)'dir.
• Eğik bakışta aynı formülü kullanmak. Bağıntı dik bakış içindir.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Havadan h′ = h / n · Sudan h′ = n · h · Suda %25 sığ · Cam levha t(1 − 1/n)
h′ = h / n — havadan suya bakış
h′ = n · h — sudan havaya bakış
Δh = h (1 − 1/n) — yükselme miktarı
Δ = t (1 − 1/n) — cam levhada kayma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9509760" y="2651760"/>
            <a:ext cx="1828800" cy="1828800"/>
          </a:xfrm>
          <a:prstGeom prst="ellipse">
            <a:avLst/>
          </a:prstGeom>
          <a:ln w="9525">
            <a:solidFill>
              <a:srgbClr val="82AAFF">
                <a:alpha val="16000"/>
              </a:srgbClr>
            </a:solidFill>
            <a:prstDash val="solid"/>
          </a:ln>
        </p:spPr>
      </p:sp>
      <p:sp>
        <p:nvSpPr>
          <p:cNvPr id="3" name="Shape 1"/>
          <p:cNvSpPr/>
          <p:nvPr/>
        </p:nvSpPr>
        <p:spPr>
          <a:xfrm>
            <a:off x="8686800" y="1828800"/>
            <a:ext cx="3474720" cy="3474720"/>
          </a:xfrm>
          <a:prstGeom prst="ellipse">
            <a:avLst/>
          </a:prstGeom>
          <a:ln w="9525">
            <a:solidFill>
              <a:srgbClr val="A093FF">
                <a:alpha val="13000"/>
              </a:srgbClr>
            </a:solidFill>
            <a:prstDash val="solid"/>
          </a:ln>
        </p:spPr>
      </p:sp>
      <p:sp>
        <p:nvSpPr>
          <p:cNvPr id="4" name="Shape 2"/>
          <p:cNvSpPr/>
          <p:nvPr/>
        </p:nvSpPr>
        <p:spPr>
          <a:xfrm>
            <a:off x="7863840" y="1005840"/>
            <a:ext cx="5120640" cy="5120640"/>
          </a:xfrm>
          <a:prstGeom prst="ellipse">
            <a:avLst/>
          </a:prstGeom>
          <a:ln w="9525">
            <a:solidFill>
              <a:srgbClr val="82AAFF">
                <a:alpha val="10000"/>
              </a:srgbClr>
            </a:solidFill>
            <a:prstDash val="solid"/>
          </a:ln>
        </p:spPr>
      </p:sp>
      <p:sp>
        <p:nvSpPr>
          <p:cNvPr id="5" name="Shape 3"/>
          <p:cNvSpPr/>
          <p:nvPr/>
        </p:nvSpPr>
        <p:spPr>
          <a:xfrm>
            <a:off x="7461504" y="5541264"/>
            <a:ext cx="73152" cy="73152"/>
          </a:xfrm>
          <a:prstGeom prst="ellipse">
            <a:avLst/>
          </a:prstGeom>
          <a:solidFill>
            <a:srgbClr val="82AAFF">
              <a:alpha val="45000"/>
            </a:srgbClr>
          </a:solidFill>
          <a:ln/>
        </p:spPr>
      </p:sp>
      <p:sp>
        <p:nvSpPr>
          <p:cNvPr id="6" name="Shape 4"/>
          <p:cNvSpPr/>
          <p:nvPr/>
        </p:nvSpPr>
        <p:spPr>
          <a:xfrm>
            <a:off x="7885684" y="4707862"/>
            <a:ext cx="78232" cy="78232"/>
          </a:xfrm>
          <a:prstGeom prst="ellipse">
            <a:avLst/>
          </a:prstGeom>
          <a:solidFill>
            <a:srgbClr val="82AAFF">
              <a:alpha val="48889"/>
            </a:srgbClr>
          </a:solidFill>
          <a:ln/>
        </p:spPr>
      </p:sp>
      <p:sp>
        <p:nvSpPr>
          <p:cNvPr id="7" name="Shape 5"/>
          <p:cNvSpPr/>
          <p:nvPr/>
        </p:nvSpPr>
        <p:spPr>
          <a:xfrm>
            <a:off x="8309864" y="4082175"/>
            <a:ext cx="83312" cy="83312"/>
          </a:xfrm>
          <a:prstGeom prst="ellipse">
            <a:avLst/>
          </a:prstGeom>
          <a:solidFill>
            <a:srgbClr val="82AAFF">
              <a:alpha val="52778"/>
            </a:srgbClr>
          </a:solidFill>
          <a:ln/>
        </p:spPr>
      </p:sp>
      <p:sp>
        <p:nvSpPr>
          <p:cNvPr id="8" name="Shape 6"/>
          <p:cNvSpPr/>
          <p:nvPr/>
        </p:nvSpPr>
        <p:spPr>
          <a:xfrm>
            <a:off x="8734044" y="3664204"/>
            <a:ext cx="88392" cy="88392"/>
          </a:xfrm>
          <a:prstGeom prst="ellipse">
            <a:avLst/>
          </a:prstGeom>
          <a:solidFill>
            <a:srgbClr val="82AAFF">
              <a:alpha val="56667"/>
            </a:srgbClr>
          </a:solidFill>
          <a:ln/>
        </p:spPr>
      </p:sp>
      <p:sp>
        <p:nvSpPr>
          <p:cNvPr id="9" name="Shape 7"/>
          <p:cNvSpPr/>
          <p:nvPr/>
        </p:nvSpPr>
        <p:spPr>
          <a:xfrm>
            <a:off x="9158224" y="3453948"/>
            <a:ext cx="93472" cy="93472"/>
          </a:xfrm>
          <a:prstGeom prst="ellipse">
            <a:avLst/>
          </a:prstGeom>
          <a:solidFill>
            <a:srgbClr val="82AAFF">
              <a:alpha val="60556"/>
            </a:srgbClr>
          </a:solidFill>
          <a:ln/>
        </p:spPr>
      </p:sp>
      <p:sp>
        <p:nvSpPr>
          <p:cNvPr id="10" name="Shape 8"/>
          <p:cNvSpPr/>
          <p:nvPr/>
        </p:nvSpPr>
        <p:spPr>
          <a:xfrm>
            <a:off x="9582404" y="3451408"/>
            <a:ext cx="98552" cy="98552"/>
          </a:xfrm>
          <a:prstGeom prst="ellipse">
            <a:avLst/>
          </a:prstGeom>
          <a:solidFill>
            <a:srgbClr val="82AAFF">
              <a:alpha val="64444"/>
            </a:srgbClr>
          </a:solidFill>
          <a:ln/>
        </p:spPr>
      </p:sp>
      <p:sp>
        <p:nvSpPr>
          <p:cNvPr id="11" name="Shape 9"/>
          <p:cNvSpPr/>
          <p:nvPr/>
        </p:nvSpPr>
        <p:spPr>
          <a:xfrm>
            <a:off x="10006584" y="3656584"/>
            <a:ext cx="103632" cy="103632"/>
          </a:xfrm>
          <a:prstGeom prst="ellipse">
            <a:avLst/>
          </a:prstGeom>
          <a:solidFill>
            <a:srgbClr val="82AAFF">
              <a:alpha val="68333"/>
            </a:srgbClr>
          </a:solidFill>
          <a:ln/>
        </p:spPr>
      </p:sp>
      <p:sp>
        <p:nvSpPr>
          <p:cNvPr id="12" name="Shape 10"/>
          <p:cNvSpPr/>
          <p:nvPr/>
        </p:nvSpPr>
        <p:spPr>
          <a:xfrm>
            <a:off x="10430764" y="4069475"/>
            <a:ext cx="108712" cy="108712"/>
          </a:xfrm>
          <a:prstGeom prst="ellipse">
            <a:avLst/>
          </a:prstGeom>
          <a:solidFill>
            <a:srgbClr val="82AAFF">
              <a:alpha val="72222"/>
            </a:srgbClr>
          </a:solidFill>
          <a:ln/>
        </p:spPr>
      </p:sp>
      <p:sp>
        <p:nvSpPr>
          <p:cNvPr id="13" name="Shape 11"/>
          <p:cNvSpPr/>
          <p:nvPr/>
        </p:nvSpPr>
        <p:spPr>
          <a:xfrm>
            <a:off x="10854944" y="4690082"/>
            <a:ext cx="113792" cy="113792"/>
          </a:xfrm>
          <a:prstGeom prst="ellipse">
            <a:avLst/>
          </a:prstGeom>
          <a:solidFill>
            <a:srgbClr val="82AAFF">
              <a:alpha val="76111"/>
            </a:srgbClr>
          </a:solidFill>
          <a:ln/>
        </p:spPr>
      </p:sp>
      <p:sp>
        <p:nvSpPr>
          <p:cNvPr id="14" name="Shape 12"/>
          <p:cNvSpPr/>
          <p:nvPr/>
        </p:nvSpPr>
        <p:spPr>
          <a:xfrm>
            <a:off x="11279124" y="5518404"/>
            <a:ext cx="118872" cy="118872"/>
          </a:xfrm>
          <a:prstGeom prst="ellipse">
            <a:avLst/>
          </a:prstGeom>
          <a:solidFill>
            <a:srgbClr val="C6F36B"/>
          </a:solidFill>
          <a:ln/>
        </p:spPr>
      </p:sp>
      <p:sp>
        <p:nvSpPr>
          <p:cNvPr id="15" name="Shape 13"/>
          <p:cNvSpPr/>
          <p:nvPr/>
        </p:nvSpPr>
        <p:spPr>
          <a:xfrm>
            <a:off x="868680" y="822960"/>
            <a:ext cx="310896" cy="310896"/>
          </a:xfrm>
          <a:prstGeom prst="roundRect">
            <a:avLst>
              <a:gd name="adj" fmla="val 29412"/>
            </a:avLst>
          </a:prstGeom>
          <a:solidFill>
            <a:srgbClr val="A9E648"/>
          </a:solidFill>
          <a:ln/>
        </p:spPr>
      </p:sp>
      <p:sp>
        <p:nvSpPr>
          <p:cNvPr id="16" name="Text 14"/>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17" name="Shape 15"/>
          <p:cNvSpPr/>
          <p:nvPr/>
        </p:nvSpPr>
        <p:spPr>
          <a:xfrm>
            <a:off x="640080" y="1965960"/>
            <a:ext cx="54864" cy="1097280"/>
          </a:xfrm>
          <a:prstGeom prst="rect">
            <a:avLst/>
          </a:prstGeom>
          <a:solidFill>
            <a:srgbClr val="C6F36B"/>
          </a:solidFill>
          <a:ln/>
        </p:spPr>
      </p:sp>
      <p:sp>
        <p:nvSpPr>
          <p:cNvPr id="18" name="Text 16"/>
          <p:cNvSpPr txBox="1"/>
          <p:nvPr/>
        </p:nvSpPr>
        <p:spPr>
          <a:xfrm>
            <a:off x="868680" y="1554480"/>
            <a:ext cx="76809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05</a:t>
            </a:r>
            <a:endParaRPr lang="en-US" sz="1300" dirty="0"/>
          </a:p>
        </p:txBody>
      </p:sp>
      <p:sp>
        <p:nvSpPr>
          <p:cNvPr id="19" name="Text 17"/>
          <p:cNvSpPr txBox="1"/>
          <p:nvPr/>
        </p:nvSpPr>
        <p:spPr>
          <a:xfrm>
            <a:off x="822960" y="1920240"/>
            <a:ext cx="7863840" cy="1188720"/>
          </a:xfrm>
          <a:prstGeom prst="rect">
            <a:avLst/>
          </a:prstGeom>
          <a:noFill/>
          <a:ln/>
        </p:spPr>
        <p:txBody>
          <a:bodyPr wrap="square" lIns="0" tIns="0" rIns="0" bIns="0" rtlCol="0" anchor="ctr"/>
          <a:lstStyle/>
          <a:p>
            <a:pPr indent="0" marL="0">
              <a:buNone/>
            </a:pPr>
            <a:r>
              <a:rPr lang="en-US" sz="4800" b="1" spc="-100" kern="0" dirty="0">
                <a:solidFill>
                  <a:srgbClr val="FFFFFF"/>
                </a:solidFill>
                <a:latin typeface="Cambria" pitchFamily="34" charset="0"/>
                <a:ea typeface="Cambria" pitchFamily="34" charset="-122"/>
                <a:cs typeface="Cambria" pitchFamily="34" charset="-120"/>
              </a:rPr>
              <a:t>Görünür derinlik</a:t>
            </a:r>
            <a:endParaRPr lang="en-US" sz="4800" dirty="0"/>
          </a:p>
        </p:txBody>
      </p:sp>
      <p:sp>
        <p:nvSpPr>
          <p:cNvPr id="20" name="Text 18"/>
          <p:cNvSpPr txBox="1"/>
          <p:nvPr/>
        </p:nvSpPr>
        <p:spPr>
          <a:xfrm>
            <a:off x="868680" y="3291840"/>
            <a:ext cx="6766560" cy="1051560"/>
          </a:xfrm>
          <a:prstGeom prst="rect">
            <a:avLst/>
          </a:prstGeom>
          <a:noFill/>
          <a:ln/>
        </p:spPr>
        <p:txBody>
          <a:bodyPr wrap="square" lIns="0" tIns="0" rIns="0" bIns="0" rtlCol="0" anchor="ctr"/>
          <a:lstStyle/>
          <a:p>
            <a:pPr indent="0" marL="0">
              <a:lnSpc>
                <a:spcPct val="125000"/>
              </a:lnSpc>
              <a:buNone/>
            </a:pPr>
            <a:r>
              <a:rPr lang="en-US" sz="1550" dirty="0">
                <a:solidFill>
                  <a:srgbClr val="C3CEE8"/>
                </a:solidFill>
                <a:latin typeface="Calibri" pitchFamily="34" charset="0"/>
                <a:ea typeface="Calibri" pitchFamily="34" charset="-122"/>
                <a:cs typeface="Calibri" pitchFamily="34" charset="-120"/>
              </a:rPr>
              <a:t>Havuzun dibi olduğundan yakın, sudaki balık olduğundan sığ görünür. Sebebi basit: sudan çıkan ışınlar yüzeyde kırılır ve göz onları düz gelmiş sanar. Sonuç tek bir oranda toplanır: h′ = h / n.</a:t>
            </a:r>
            <a:endParaRPr lang="en-US" sz="1550" dirty="0"/>
          </a:p>
        </p:txBody>
      </p:sp>
      <p:sp>
        <p:nvSpPr>
          <p:cNvPr id="21" name="Shape 19"/>
          <p:cNvSpPr/>
          <p:nvPr/>
        </p:nvSpPr>
        <p:spPr>
          <a:xfrm>
            <a:off x="868680" y="4553712"/>
            <a:ext cx="7680960" cy="566928"/>
          </a:xfrm>
          <a:prstGeom prst="roundRect">
            <a:avLst>
              <a:gd name="adj" fmla="val 16129"/>
            </a:avLst>
          </a:prstGeom>
          <a:solidFill>
            <a:srgbClr val="1C2542"/>
          </a:solidFill>
          <a:ln w="9525">
            <a:solidFill>
              <a:srgbClr val="2C3860"/>
            </a:solidFill>
            <a:prstDash val="solid"/>
          </a:ln>
        </p:spPr>
      </p:sp>
      <p:sp>
        <p:nvSpPr>
          <p:cNvPr id="22" name="Text 20"/>
          <p:cNvSpPr txBox="1"/>
          <p:nvPr/>
        </p:nvSpPr>
        <p:spPr>
          <a:xfrm>
            <a:off x="1097280" y="4553712"/>
            <a:ext cx="7315200" cy="566928"/>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h′ = h / n   ·   h′ = n · h   ·   Δh = h (1 − 1/n)</a:t>
            </a:r>
            <a:endParaRPr lang="en-US" sz="135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dersler.perinet.org/gorunur-derinlik.html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Havuzun dibindeki fayansları görüyorsun ama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gerçekte olduğundan 25 cm daha yukarıda</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Aynı yanılgı, bardağın dibindeki bozuk parayı, sudaki balığı ve cam altındaki yazıyı da yerinden oynatır. Sebebi tek: sudan çıkan ışınlar yüzeyde kırılır, gözün ise onları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hep düz geldi</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sanır. Bu konuda o kaymanın ne kadar olduğunu hesaplamayı öğreneceğiz.</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 anlatımının dokuz başlığı, sırasıyla.</a:t>
            </a:r>
            <a:endParaRPr lang="en-US" sz="1450" dirty="0"/>
          </a:p>
        </p:txBody>
      </p:sp>
      <p:sp>
        <p:nvSpPr>
          <p:cNvPr id="6" name="Shape 4"/>
          <p:cNvSpPr/>
          <p:nvPr/>
        </p:nvSpPr>
        <p:spPr>
          <a:xfrm>
            <a:off x="640080"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77824" y="1792224"/>
            <a:ext cx="365760" cy="365760"/>
          </a:xfrm>
          <a:prstGeom prst="roundRect">
            <a:avLst>
              <a:gd name="adj" fmla="val 26000"/>
            </a:avLst>
          </a:prstGeom>
          <a:solidFill>
            <a:srgbClr val="2957D4"/>
          </a:solidFill>
          <a:ln/>
        </p:spPr>
      </p:sp>
      <p:sp>
        <p:nvSpPr>
          <p:cNvPr id="8" name="Text 6"/>
          <p:cNvSpPr txBox="1"/>
          <p:nvPr/>
        </p:nvSpPr>
        <p:spPr>
          <a:xfrm>
            <a:off x="877824"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9" name="Text 7"/>
          <p:cNvSpPr txBox="1"/>
          <p:nvPr/>
        </p:nvSpPr>
        <p:spPr>
          <a:xfrm>
            <a:off x="1371600"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Neden daha sığ görünür?</a:t>
            </a:r>
            <a:endParaRPr lang="en-US" sz="1400" dirty="0"/>
          </a:p>
        </p:txBody>
      </p:sp>
      <p:sp>
        <p:nvSpPr>
          <p:cNvPr id="10" name="Text 8"/>
          <p:cNvSpPr txBox="1"/>
          <p:nvPr/>
        </p:nvSpPr>
        <p:spPr>
          <a:xfrm>
            <a:off x="896112"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Suyun dibindeki bir cisimden çıkan ışınlar su–hava sınırında kırılır ve normalden uzaklaşır.</a:t>
            </a:r>
            <a:endParaRPr lang="en-US" sz="1050" dirty="0"/>
          </a:p>
        </p:txBody>
      </p:sp>
      <p:sp>
        <p:nvSpPr>
          <p:cNvPr id="11" name="Shape 9"/>
          <p:cNvSpPr/>
          <p:nvPr/>
        </p:nvSpPr>
        <p:spPr>
          <a:xfrm>
            <a:off x="4398264"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4636008" y="1792224"/>
            <a:ext cx="365760" cy="365760"/>
          </a:xfrm>
          <a:prstGeom prst="roundRect">
            <a:avLst>
              <a:gd name="adj" fmla="val 26000"/>
            </a:avLst>
          </a:prstGeom>
          <a:solidFill>
            <a:srgbClr val="5F4BD8"/>
          </a:solidFill>
          <a:ln/>
        </p:spPr>
      </p:sp>
      <p:sp>
        <p:nvSpPr>
          <p:cNvPr id="13" name="Text 11"/>
          <p:cNvSpPr txBox="1"/>
          <p:nvPr/>
        </p:nvSpPr>
        <p:spPr>
          <a:xfrm>
            <a:off x="4636008"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4" name="Text 12"/>
          <p:cNvSpPr txBox="1"/>
          <p:nvPr/>
        </p:nvSpPr>
        <p:spPr>
          <a:xfrm>
            <a:off x="5129784"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Bağıntı</a:t>
            </a:r>
            <a:endParaRPr lang="en-US" sz="1400" dirty="0"/>
          </a:p>
        </p:txBody>
      </p:sp>
      <p:sp>
        <p:nvSpPr>
          <p:cNvPr id="15" name="Text 13"/>
          <p:cNvSpPr txBox="1"/>
          <p:nvPr/>
        </p:nvSpPr>
        <p:spPr>
          <a:xfrm>
            <a:off x="4654296"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Havadan, suya dik doğrultuda bakan bir gözlemci için:</a:t>
            </a:r>
            <a:endParaRPr lang="en-US" sz="1050" dirty="0"/>
          </a:p>
        </p:txBody>
      </p:sp>
      <p:sp>
        <p:nvSpPr>
          <p:cNvPr id="16" name="Shape 14"/>
          <p:cNvSpPr/>
          <p:nvPr/>
        </p:nvSpPr>
        <p:spPr>
          <a:xfrm>
            <a:off x="8156448"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8394192" y="1792224"/>
            <a:ext cx="365760" cy="365760"/>
          </a:xfrm>
          <a:prstGeom prst="roundRect">
            <a:avLst>
              <a:gd name="adj" fmla="val 26000"/>
            </a:avLst>
          </a:prstGeom>
          <a:solidFill>
            <a:srgbClr val="3C8C21"/>
          </a:solidFill>
          <a:ln/>
        </p:spPr>
      </p:sp>
      <p:sp>
        <p:nvSpPr>
          <p:cNvPr id="18" name="Text 16"/>
          <p:cNvSpPr txBox="1"/>
          <p:nvPr/>
        </p:nvSpPr>
        <p:spPr>
          <a:xfrm>
            <a:off x="8394192"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7"/>
          <p:cNvSpPr txBox="1"/>
          <p:nvPr/>
        </p:nvSpPr>
        <p:spPr>
          <a:xfrm>
            <a:off x="8887968"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Yükselme miktarı</a:t>
            </a:r>
            <a:endParaRPr lang="en-US" sz="1400" dirty="0"/>
          </a:p>
        </p:txBody>
      </p:sp>
      <p:sp>
        <p:nvSpPr>
          <p:cNvPr id="20" name="Text 18"/>
          <p:cNvSpPr txBox="1"/>
          <p:nvPr/>
        </p:nvSpPr>
        <p:spPr>
          <a:xfrm>
            <a:off x="8412480"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Su için Δh = h·(1 − 3/4) = h/4: cisim derinliğinin dörtte biri kadar yükselmiş görünür.</a:t>
            </a:r>
            <a:endParaRPr lang="en-US" sz="1050" dirty="0"/>
          </a:p>
        </p:txBody>
      </p:sp>
      <p:sp>
        <p:nvSpPr>
          <p:cNvPr id="21" name="Shape 19"/>
          <p:cNvSpPr/>
          <p:nvPr/>
        </p:nvSpPr>
        <p:spPr>
          <a:xfrm>
            <a:off x="640080"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77824" y="3273552"/>
            <a:ext cx="365760" cy="365760"/>
          </a:xfrm>
          <a:prstGeom prst="roundRect">
            <a:avLst>
              <a:gd name="adj" fmla="val 26000"/>
            </a:avLst>
          </a:prstGeom>
          <a:solidFill>
            <a:srgbClr val="A56209"/>
          </a:solidFill>
          <a:ln/>
        </p:spPr>
      </p:sp>
      <p:sp>
        <p:nvSpPr>
          <p:cNvPr id="23" name="Text 21"/>
          <p:cNvSpPr txBox="1"/>
          <p:nvPr/>
        </p:nvSpPr>
        <p:spPr>
          <a:xfrm>
            <a:off x="877824"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1371600"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Sudan havaya bakış</a:t>
            </a:r>
            <a:endParaRPr lang="en-US" sz="1400" dirty="0"/>
          </a:p>
        </p:txBody>
      </p:sp>
      <p:sp>
        <p:nvSpPr>
          <p:cNvPr id="25" name="Text 23"/>
          <p:cNvSpPr txBox="1"/>
          <p:nvPr/>
        </p:nvSpPr>
        <p:spPr>
          <a:xfrm>
            <a:off x="896112"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Gözlemci suyun içindeyse durum tersine döner: havadaki cisimden gelen ışınlar suya…</a:t>
            </a:r>
            <a:endParaRPr lang="en-US" sz="1050" dirty="0"/>
          </a:p>
        </p:txBody>
      </p:sp>
      <p:sp>
        <p:nvSpPr>
          <p:cNvPr id="26" name="Shape 24"/>
          <p:cNvSpPr/>
          <p:nvPr/>
        </p:nvSpPr>
        <p:spPr>
          <a:xfrm>
            <a:off x="4398264"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7" name="Shape 25"/>
          <p:cNvSpPr/>
          <p:nvPr/>
        </p:nvSpPr>
        <p:spPr>
          <a:xfrm>
            <a:off x="4636008" y="3273552"/>
            <a:ext cx="365760" cy="365760"/>
          </a:xfrm>
          <a:prstGeom prst="roundRect">
            <a:avLst>
              <a:gd name="adj" fmla="val 26000"/>
            </a:avLst>
          </a:prstGeom>
          <a:solidFill>
            <a:srgbClr val="2957D4"/>
          </a:solidFill>
          <a:ln/>
        </p:spPr>
      </p:sp>
      <p:sp>
        <p:nvSpPr>
          <p:cNvPr id="28" name="Text 26"/>
          <p:cNvSpPr txBox="1"/>
          <p:nvPr/>
        </p:nvSpPr>
        <p:spPr>
          <a:xfrm>
            <a:off x="4636008"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9" name="Text 27"/>
          <p:cNvSpPr txBox="1"/>
          <p:nvPr/>
        </p:nvSpPr>
        <p:spPr>
          <a:xfrm>
            <a:off x="5129784"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Cam levhanın altındaki yazı</a:t>
            </a:r>
            <a:endParaRPr lang="en-US" sz="1400" dirty="0"/>
          </a:p>
        </p:txBody>
      </p:sp>
      <p:sp>
        <p:nvSpPr>
          <p:cNvPr id="30" name="Text 28"/>
          <p:cNvSpPr txBox="1"/>
          <p:nvPr/>
        </p:nvSpPr>
        <p:spPr>
          <a:xfrm>
            <a:off x="4654296"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Kalınlığı t, indisi n olan bir cam levha, altındaki yazıyı yukarı taşımış gibi gösterir:</a:t>
            </a:r>
            <a:endParaRPr lang="en-US" sz="1050" dirty="0"/>
          </a:p>
        </p:txBody>
      </p:sp>
      <p:sp>
        <p:nvSpPr>
          <p:cNvPr id="31" name="Shape 29"/>
          <p:cNvSpPr/>
          <p:nvPr/>
        </p:nvSpPr>
        <p:spPr>
          <a:xfrm>
            <a:off x="8156448"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2" name="Shape 30"/>
          <p:cNvSpPr/>
          <p:nvPr/>
        </p:nvSpPr>
        <p:spPr>
          <a:xfrm>
            <a:off x="8394192" y="3273552"/>
            <a:ext cx="365760" cy="365760"/>
          </a:xfrm>
          <a:prstGeom prst="roundRect">
            <a:avLst>
              <a:gd name="adj" fmla="val 26000"/>
            </a:avLst>
          </a:prstGeom>
          <a:solidFill>
            <a:srgbClr val="5F4BD8"/>
          </a:solidFill>
          <a:ln/>
        </p:spPr>
      </p:sp>
      <p:sp>
        <p:nvSpPr>
          <p:cNvPr id="33" name="Text 31"/>
          <p:cNvSpPr txBox="1"/>
          <p:nvPr/>
        </p:nvSpPr>
        <p:spPr>
          <a:xfrm>
            <a:off x="8394192"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34" name="Text 32"/>
          <p:cNvSpPr txBox="1"/>
          <p:nvPr/>
        </p:nvSpPr>
        <p:spPr>
          <a:xfrm>
            <a:off x="8887968"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Bağıntının geçerlilik sınırı</a:t>
            </a:r>
            <a:endParaRPr lang="en-US" sz="1400" dirty="0"/>
          </a:p>
        </p:txBody>
      </p:sp>
      <p:sp>
        <p:nvSpPr>
          <p:cNvPr id="35" name="Text 33"/>
          <p:cNvSpPr txBox="1"/>
          <p:nvPr/>
        </p:nvSpPr>
        <p:spPr>
          <a:xfrm>
            <a:off x="8412480" y="3730752"/>
            <a:ext cx="2916936" cy="566928"/>
          </a:xfrm>
          <a:prstGeom prst="rect">
            <a:avLst/>
          </a:prstGeom>
          <a:noFill/>
          <a:ln/>
        </p:spPr>
        <p:txBody>
          <a:bodyPr wrap="square" lIns="0" tIns="0" rIns="0" bIns="0" rtlCol="0" anchor="t"/>
          <a:lstStyle/>
          <a:p>
            <a:pPr indent="0" marL="0">
              <a:lnSpc>
                <a:spcPct val="110000"/>
              </a:lnSpc>
              <a:buNone/>
            </a:pPr>
            <a:endParaRPr lang="en-US" sz="1050" dirty="0"/>
          </a:p>
        </p:txBody>
      </p:sp>
      <p:sp>
        <p:nvSpPr>
          <p:cNvPr id="36" name="Shape 34"/>
          <p:cNvSpPr/>
          <p:nvPr/>
        </p:nvSpPr>
        <p:spPr>
          <a:xfrm>
            <a:off x="640080"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877824" y="4754880"/>
            <a:ext cx="365760" cy="365760"/>
          </a:xfrm>
          <a:prstGeom prst="roundRect">
            <a:avLst>
              <a:gd name="adj" fmla="val 26000"/>
            </a:avLst>
          </a:prstGeom>
          <a:solidFill>
            <a:srgbClr val="3C8C21"/>
          </a:solidFill>
          <a:ln/>
        </p:spPr>
      </p:sp>
      <p:sp>
        <p:nvSpPr>
          <p:cNvPr id="38" name="Text 36"/>
          <p:cNvSpPr txBox="1"/>
          <p:nvPr/>
        </p:nvSpPr>
        <p:spPr>
          <a:xfrm>
            <a:off x="877824"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7</a:t>
            </a:r>
            <a:endParaRPr lang="en-US" sz="1150" dirty="0"/>
          </a:p>
        </p:txBody>
      </p:sp>
      <p:sp>
        <p:nvSpPr>
          <p:cNvPr id="39" name="Text 37"/>
          <p:cNvSpPr txBox="1"/>
          <p:nvPr/>
        </p:nvSpPr>
        <p:spPr>
          <a:xfrm>
            <a:off x="1371600"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Günlük hayatta</a:t>
            </a:r>
            <a:endParaRPr lang="en-US" sz="1400" dirty="0"/>
          </a:p>
        </p:txBody>
      </p:sp>
      <p:sp>
        <p:nvSpPr>
          <p:cNvPr id="40" name="Text 38"/>
          <p:cNvSpPr txBox="1"/>
          <p:nvPr/>
        </p:nvSpPr>
        <p:spPr>
          <a:xfrm>
            <a:off x="896112"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Havuz sığ görünür: derinliği olduğundan az sanıp atlamak tehlikelidir.</a:t>
            </a:r>
            <a:endParaRPr lang="en-US" sz="1050" dirty="0"/>
          </a:p>
        </p:txBody>
      </p:sp>
      <p:sp>
        <p:nvSpPr>
          <p:cNvPr id="41" name="Shape 39"/>
          <p:cNvSpPr/>
          <p:nvPr/>
        </p:nvSpPr>
        <p:spPr>
          <a:xfrm>
            <a:off x="4398264"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4636008" y="4754880"/>
            <a:ext cx="365760" cy="365760"/>
          </a:xfrm>
          <a:prstGeom prst="roundRect">
            <a:avLst>
              <a:gd name="adj" fmla="val 26000"/>
            </a:avLst>
          </a:prstGeom>
          <a:solidFill>
            <a:srgbClr val="A56209"/>
          </a:solidFill>
          <a:ln/>
        </p:spPr>
      </p:sp>
      <p:sp>
        <p:nvSpPr>
          <p:cNvPr id="43" name="Text 41"/>
          <p:cNvSpPr txBox="1"/>
          <p:nvPr/>
        </p:nvSpPr>
        <p:spPr>
          <a:xfrm>
            <a:off x="4636008"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8</a:t>
            </a:r>
            <a:endParaRPr lang="en-US" sz="1150" dirty="0"/>
          </a:p>
        </p:txBody>
      </p:sp>
      <p:sp>
        <p:nvSpPr>
          <p:cNvPr id="44" name="Text 42"/>
          <p:cNvSpPr txBox="1"/>
          <p:nvPr/>
        </p:nvSpPr>
        <p:spPr>
          <a:xfrm>
            <a:off x="5129784"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Çözümlü örnekler</a:t>
            </a:r>
            <a:endParaRPr lang="en-US" sz="1400" dirty="0"/>
          </a:p>
        </p:txBody>
      </p:sp>
      <p:sp>
        <p:nvSpPr>
          <p:cNvPr id="45" name="Text 43"/>
          <p:cNvSpPr txBox="1"/>
          <p:nvPr/>
        </p:nvSpPr>
        <p:spPr>
          <a:xfrm>
            <a:off x="4654296"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4 çözümlü örnek, adım adım; g ve yaklaşık değerler anlatımla aynı.</a:t>
            </a:r>
            <a:endParaRPr lang="en-US" sz="1050" dirty="0"/>
          </a:p>
        </p:txBody>
      </p:sp>
      <p:sp>
        <p:nvSpPr>
          <p:cNvPr id="46" name="Shape 44"/>
          <p:cNvSpPr/>
          <p:nvPr/>
        </p:nvSpPr>
        <p:spPr>
          <a:xfrm>
            <a:off x="8156448"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7" name="Shape 45"/>
          <p:cNvSpPr/>
          <p:nvPr/>
        </p:nvSpPr>
        <p:spPr>
          <a:xfrm>
            <a:off x="8394192" y="4754880"/>
            <a:ext cx="365760" cy="365760"/>
          </a:xfrm>
          <a:prstGeom prst="roundRect">
            <a:avLst>
              <a:gd name="adj" fmla="val 26000"/>
            </a:avLst>
          </a:prstGeom>
          <a:solidFill>
            <a:srgbClr val="C53455"/>
          </a:solidFill>
          <a:ln/>
        </p:spPr>
      </p:sp>
      <p:sp>
        <p:nvSpPr>
          <p:cNvPr id="48" name="Text 46"/>
          <p:cNvSpPr txBox="1"/>
          <p:nvPr/>
        </p:nvSpPr>
        <p:spPr>
          <a:xfrm>
            <a:off x="8394192"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9</a:t>
            </a:r>
            <a:endParaRPr lang="en-US" sz="1150" dirty="0"/>
          </a:p>
        </p:txBody>
      </p:sp>
      <p:sp>
        <p:nvSpPr>
          <p:cNvPr id="49" name="Text 47"/>
          <p:cNvSpPr txBox="1"/>
          <p:nvPr/>
        </p:nvSpPr>
        <p:spPr>
          <a:xfrm>
            <a:off x="8887968"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Sık yapılan hatalar</a:t>
            </a:r>
            <a:endParaRPr lang="en-US" sz="1400" dirty="0"/>
          </a:p>
        </p:txBody>
      </p:sp>
      <p:sp>
        <p:nvSpPr>
          <p:cNvPr id="50" name="Text 48"/>
          <p:cNvSpPr txBox="1"/>
          <p:nvPr/>
        </p:nvSpPr>
        <p:spPr>
          <a:xfrm>
            <a:off x="8412480"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6 yaygın yanılgı ve her birinin doğrusu.</a:t>
            </a:r>
            <a:endParaRPr lang="en-US" sz="1050" dirty="0"/>
          </a:p>
        </p:txBody>
      </p:sp>
      <p:sp>
        <p:nvSpPr>
          <p:cNvPr id="51" name="Shape 49"/>
          <p:cNvSpPr/>
          <p:nvPr/>
        </p:nvSpPr>
        <p:spPr>
          <a:xfrm>
            <a:off x="640080" y="6382512"/>
            <a:ext cx="128016" cy="128016"/>
          </a:xfrm>
          <a:prstGeom prst="roundRect">
            <a:avLst>
              <a:gd name="adj" fmla="val 28571"/>
            </a:avLst>
          </a:prstGeom>
          <a:solidFill>
            <a:srgbClr val="A9E648"/>
          </a:solidFill>
          <a:ln/>
        </p:spPr>
      </p:sp>
      <p:sp>
        <p:nvSpPr>
          <p:cNvPr id="52" name="Text 5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53" name="Text 5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Neden daha sığ görünür?</a:t>
            </a:r>
            <a:endParaRPr lang="en-US" sz="3200" dirty="0"/>
          </a:p>
        </p:txBody>
      </p:sp>
      <p:sp>
        <p:nvSpPr>
          <p:cNvPr id="5" name="Text 3"/>
          <p:cNvSpPr txBox="1"/>
          <p:nvPr/>
        </p:nvSpPr>
        <p:spPr>
          <a:xfrm>
            <a:off x="640080" y="1481328"/>
            <a:ext cx="5486400" cy="181051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Suyun dibindeki bir cisimden çıkan ışınlar su–hava sınırında kırılır ve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normalden uzaklaşır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Göz, kendisine ulaşan ışınların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geldiği doğrultuyu</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uzattığı için cismi, bu uzantıların kesiştiği noktada — yani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gerçek yerinden daha yukarıda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 görür.</a:t>
            </a:r>
            <a:endParaRPr lang="en-US" sz="1600" dirty="0"/>
          </a:p>
        </p:txBody>
      </p:sp>
      <p:sp>
        <p:nvSpPr>
          <p:cNvPr id="6" name="Shape 4"/>
          <p:cNvSpPr/>
          <p:nvPr/>
        </p:nvSpPr>
        <p:spPr>
          <a:xfrm>
            <a:off x="640080" y="3401568"/>
            <a:ext cx="5486400" cy="1191006"/>
          </a:xfrm>
          <a:prstGeom prst="roundRect">
            <a:avLst>
              <a:gd name="adj" fmla="val 921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3547872"/>
            <a:ext cx="45720" cy="898398"/>
          </a:xfrm>
          <a:prstGeom prst="rect">
            <a:avLst/>
          </a:prstGeom>
          <a:solidFill>
            <a:srgbClr val="3C8C21"/>
          </a:solidFill>
          <a:ln/>
        </p:spPr>
      </p:sp>
      <p:sp>
        <p:nvSpPr>
          <p:cNvPr id="8" name="Text 6"/>
          <p:cNvSpPr txBox="1"/>
          <p:nvPr/>
        </p:nvSpPr>
        <p:spPr>
          <a:xfrm>
            <a:off x="914400" y="3511296"/>
            <a:ext cx="5029200" cy="971550"/>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Görüntü sanaldır.</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Suyun içinde gerçekten bir görüntü oluşmaz; ışınların uzantıları orada kesişir. Bu yüzden görünen derinliğe perde koyamazsınız.</a:t>
            </a:r>
            <a:endParaRPr lang="en-US" sz="1500" dirty="0"/>
          </a:p>
        </p:txBody>
      </p:sp>
      <p:sp>
        <p:nvSpPr>
          <p:cNvPr id="9" name="Shape 7"/>
          <p:cNvSpPr/>
          <p:nvPr/>
        </p:nvSpPr>
        <p:spPr>
          <a:xfrm>
            <a:off x="6419088" y="1481328"/>
            <a:ext cx="5132527" cy="3588176"/>
          </a:xfrm>
          <a:prstGeom prst="roundRect">
            <a:avLst>
              <a:gd name="adj" fmla="val 40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0" name="Image 0" descr="/tmp/claude-1000/-opt-dersler/a4dee546-de71-4ec2-8add-be39dd273d29/scratchpad/sekiller/gorunur-derinlik-01.png">    </p:cNvPr>
          <p:cNvPicPr>
            <a:picLocks noChangeAspect="1"/>
          </p:cNvPicPr>
          <p:nvPr/>
        </p:nvPicPr>
        <p:blipFill>
          <a:blip r:embed="rId1"/>
          <a:stretch>
            <a:fillRect/>
          </a:stretch>
        </p:blipFill>
        <p:spPr>
          <a:xfrm>
            <a:off x="6601968" y="1664208"/>
            <a:ext cx="4766767" cy="2125136"/>
          </a:xfrm>
          <a:prstGeom prst="rect">
            <a:avLst/>
          </a:prstGeom>
        </p:spPr>
      </p:pic>
      <p:sp>
        <p:nvSpPr>
          <p:cNvPr id="11" name="Shape 8"/>
          <p:cNvSpPr/>
          <p:nvPr/>
        </p:nvSpPr>
        <p:spPr>
          <a:xfrm>
            <a:off x="6601968" y="3880784"/>
            <a:ext cx="4766767" cy="0"/>
          </a:xfrm>
          <a:prstGeom prst="line">
            <a:avLst/>
          </a:prstGeom>
          <a:noFill/>
          <a:ln w="9525">
            <a:solidFill>
              <a:srgbClr val="E1E5EE"/>
            </a:solidFill>
            <a:prstDash val="dash"/>
          </a:ln>
        </p:spPr>
      </p:sp>
      <p:sp>
        <p:nvSpPr>
          <p:cNvPr id="12" name="Text 9"/>
          <p:cNvSpPr txBox="1"/>
          <p:nvPr/>
        </p:nvSpPr>
        <p:spPr>
          <a:xfrm>
            <a:off x="6601968" y="3935648"/>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Tabandaki noktadan çıkan ışınlar su yüzeyinde kırılıp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normalden uzaklaşır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Göz bu ışınları düz çizgi boyunca geriye uzatır ve hepsinin kesiştiği noktayı cismin yeri sanır. O nokta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her zaman gerçek yerin üstündedir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aradaki fark ne kadar bakarsan bak kapanmaz. Görünen derinlik, gerçek derinliğin kırılma indisine bölümüdür.</a:t>
            </a:r>
            <a:endParaRPr lang="en-US" sz="105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Bağıntı</a:t>
            </a:r>
            <a:endParaRPr lang="en-US" sz="3200" dirty="0"/>
          </a:p>
        </p:txBody>
      </p:sp>
      <p:sp>
        <p:nvSpPr>
          <p:cNvPr id="5" name="Text 3"/>
          <p:cNvSpPr txBox="1"/>
          <p:nvPr/>
        </p:nvSpPr>
        <p:spPr>
          <a:xfrm>
            <a:off x="640080" y="1481328"/>
            <a:ext cx="5486400" cy="560832"/>
          </a:xfrm>
          <a:prstGeom prst="rect">
            <a:avLst/>
          </a:prstGeom>
          <a:noFill/>
          <a:ln/>
        </p:spPr>
        <p:txBody>
          <a:bodyPr wrap="square" lIns="0" tIns="0" rIns="0" bIns="0" rtlCol="0" anchor="t"/>
          <a:lstStyle/>
          <a:p>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Havadan, suya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dik doğrultuda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bakan bir gözlemci için:</a:t>
            </a:r>
            <a:endParaRPr lang="en-US" sz="1600" dirty="0"/>
          </a:p>
        </p:txBody>
      </p:sp>
      <p:sp>
        <p:nvSpPr>
          <p:cNvPr id="6" name="Shape 4"/>
          <p:cNvSpPr/>
          <p:nvPr/>
        </p:nvSpPr>
        <p:spPr>
          <a:xfrm>
            <a:off x="640080" y="2170176"/>
            <a:ext cx="1444752"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170176"/>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h′ = h / n</a:t>
            </a:r>
            <a:endParaRPr lang="en-US" sz="1300" dirty="0"/>
          </a:p>
        </p:txBody>
      </p:sp>
      <p:sp>
        <p:nvSpPr>
          <p:cNvPr id="8" name="Shape 6"/>
          <p:cNvSpPr/>
          <p:nvPr/>
        </p:nvSpPr>
        <p:spPr>
          <a:xfrm>
            <a:off x="2194560" y="2170176"/>
            <a:ext cx="1444752"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194560" y="2170176"/>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 = h / h′</a:t>
            </a:r>
            <a:endParaRPr lang="en-US" sz="1300" dirty="0"/>
          </a:p>
        </p:txBody>
      </p:sp>
      <p:sp>
        <p:nvSpPr>
          <p:cNvPr id="10" name="Text 8"/>
          <p:cNvSpPr txBox="1"/>
          <p:nvPr/>
        </p:nvSpPr>
        <p:spPr>
          <a:xfrm>
            <a:off x="640080" y="2791968"/>
            <a:ext cx="5486400" cy="103327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h:</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cismin gerçek derinliği.</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h′:</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görünen derinlik (her zaman daha küçük).</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sıvının kırılma indisi.</a:t>
            </a:r>
            <a:endParaRPr lang="en-US" sz="1600" dirty="0"/>
          </a:p>
        </p:txBody>
      </p:sp>
      <p:sp>
        <p:nvSpPr>
          <p:cNvPr id="11" name="Text 9"/>
          <p:cNvSpPr txBox="1"/>
          <p:nvPr/>
        </p:nvSpPr>
        <p:spPr>
          <a:xfrm>
            <a:off x="640080" y="3934968"/>
            <a:ext cx="5486400" cy="12496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Su için n = 4/3 olduğundan h′ = 3h/4: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her cisim gerçek derinliğinin dörtte üçünde görünür.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2 metrelik havuzun dibi 1,5 metredeymiş gibi görünür.</a:t>
            </a:r>
            <a:endParaRPr lang="en-US" sz="1600" dirty="0"/>
          </a:p>
        </p:txBody>
      </p:sp>
      <p:sp>
        <p:nvSpPr>
          <p:cNvPr id="12" name="Shape 10"/>
          <p:cNvSpPr/>
          <p:nvPr/>
        </p:nvSpPr>
        <p:spPr>
          <a:xfrm>
            <a:off x="6419088" y="1481328"/>
            <a:ext cx="5132527" cy="3409422"/>
          </a:xfrm>
          <a:prstGeom prst="roundRect">
            <a:avLst>
              <a:gd name="adj" fmla="val 429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3" name="Image 0" descr="/tmp/claude-1000/-opt-dersler/a4dee546-de71-4ec2-8add-be39dd273d29/scratchpad/sekiller/gorunur-derinlik-02.png">    </p:cNvPr>
          <p:cNvPicPr>
            <a:picLocks noChangeAspect="1"/>
          </p:cNvPicPr>
          <p:nvPr/>
        </p:nvPicPr>
        <p:blipFill>
          <a:blip r:embed="rId1"/>
          <a:stretch>
            <a:fillRect/>
          </a:stretch>
        </p:blipFill>
        <p:spPr>
          <a:xfrm>
            <a:off x="6601968" y="1664208"/>
            <a:ext cx="4766767" cy="1946382"/>
          </a:xfrm>
          <a:prstGeom prst="rect">
            <a:avLst/>
          </a:prstGeom>
        </p:spPr>
      </p:pic>
      <p:sp>
        <p:nvSpPr>
          <p:cNvPr id="14" name="Shape 11"/>
          <p:cNvSpPr/>
          <p:nvPr/>
        </p:nvSpPr>
        <p:spPr>
          <a:xfrm>
            <a:off x="6601968" y="3702030"/>
            <a:ext cx="4766767" cy="0"/>
          </a:xfrm>
          <a:prstGeom prst="line">
            <a:avLst/>
          </a:prstGeom>
          <a:noFill/>
          <a:ln w="9525">
            <a:solidFill>
              <a:srgbClr val="E1E5EE"/>
            </a:solidFill>
            <a:prstDash val="dash"/>
          </a:ln>
        </p:spPr>
      </p:sp>
      <p:sp>
        <p:nvSpPr>
          <p:cNvPr id="15" name="Text 12"/>
          <p:cNvSpPr txBox="1"/>
          <p:nvPr/>
        </p:nvSpPr>
        <p:spPr>
          <a:xfrm>
            <a:off x="6601968" y="3756894"/>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Görünen derinlik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yalnızca sıvının indisine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bağlıdır — derinliğin kendisine değil. Suda her derinlik dörtte bir kadar kısalır: 1 metre 75 cm, 4 metre 3 metre görünür. İndis büyüdükçe kayma artar; karbon sülfürde derinliğin neredeyse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%40'ı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kaybolur. Açık gri çubuk gerçek derinliği, renkli kısım görünen derinliği gösteriyor.</a:t>
            </a:r>
            <a:endParaRPr lang="en-US" sz="1050" dirty="0"/>
          </a:p>
        </p:txBody>
      </p:sp>
      <p:sp>
        <p:nvSpPr>
          <p:cNvPr id="16" name="Shape 13"/>
          <p:cNvSpPr/>
          <p:nvPr/>
        </p:nvSpPr>
        <p:spPr>
          <a:xfrm>
            <a:off x="640080" y="6382512"/>
            <a:ext cx="128016" cy="128016"/>
          </a:xfrm>
          <a:prstGeom prst="roundRect">
            <a:avLst>
              <a:gd name="adj" fmla="val 28571"/>
            </a:avLst>
          </a:prstGeom>
          <a:solidFill>
            <a:srgbClr val="A9E648"/>
          </a:solidFill>
          <a:ln/>
        </p:spPr>
      </p:sp>
      <p:sp>
        <p:nvSpPr>
          <p:cNvPr id="17"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8"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Yükselme miktarı</a:t>
            </a:r>
            <a:endParaRPr lang="en-US" sz="3200" dirty="0"/>
          </a:p>
        </p:txBody>
      </p:sp>
      <p:sp>
        <p:nvSpPr>
          <p:cNvPr id="5" name="Shape 3"/>
          <p:cNvSpPr/>
          <p:nvPr/>
        </p:nvSpPr>
        <p:spPr>
          <a:xfrm>
            <a:off x="640080" y="1481328"/>
            <a:ext cx="2926080" cy="457200"/>
          </a:xfrm>
          <a:prstGeom prst="roundRect">
            <a:avLst>
              <a:gd name="adj" fmla="val 24000"/>
            </a:avLst>
          </a:prstGeom>
          <a:solidFill>
            <a:srgbClr val="EEF2FC"/>
          </a:solidFill>
          <a:ln w="9525">
            <a:solidFill>
              <a:srgbClr val="CBD7F4"/>
            </a:solidFill>
            <a:prstDash val="solid"/>
          </a:ln>
        </p:spPr>
      </p:sp>
      <p:sp>
        <p:nvSpPr>
          <p:cNvPr id="6" name="Text 4"/>
          <p:cNvSpPr txBox="1"/>
          <p:nvPr/>
        </p:nvSpPr>
        <p:spPr>
          <a:xfrm>
            <a:off x="640080" y="1481328"/>
            <a:ext cx="292608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Δh = h − h′ = h (1 − 1/n)</a:t>
            </a:r>
            <a:endParaRPr lang="en-US" sz="1300" dirty="0"/>
          </a:p>
        </p:txBody>
      </p:sp>
      <p:sp>
        <p:nvSpPr>
          <p:cNvPr id="7" name="Text 5"/>
          <p:cNvSpPr txBox="1"/>
          <p:nvPr/>
        </p:nvSpPr>
        <p:spPr>
          <a:xfrm>
            <a:off x="640080" y="2103120"/>
            <a:ext cx="5486400" cy="96926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Su için Δh = h·(1 − 3/4) = h/4: cisim derinliğinin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dörtte biri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kadar yükselmiş görünür.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İndis büyüdükçe yükselme artar.</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3182112"/>
          <a:ext cx="5486400" cy="914400"/>
        </p:xfrm>
        <a:graphic>
          <a:graphicData uri="http://schemas.openxmlformats.org/drawingml/2006/table">
            <a:tbl>
              <a:tblPr/>
              <a:tblGrid>
                <a:gridCol w="2182250"/>
                <a:gridCol w="954035"/>
                <a:gridCol w="1007192"/>
                <a:gridCol w="1342923"/>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Sıvı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h′ / h</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Yükselme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1,33</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0,75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Alkol</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1,36</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0,74</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Gliserin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0,68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Karbon sülfür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1,63</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0,61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%39</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9" name="Shape 6"/>
          <p:cNvSpPr/>
          <p:nvPr/>
        </p:nvSpPr>
        <p:spPr>
          <a:xfrm>
            <a:off x="6419088" y="1481328"/>
            <a:ext cx="5132527" cy="3409422"/>
          </a:xfrm>
          <a:prstGeom prst="roundRect">
            <a:avLst>
              <a:gd name="adj" fmla="val 429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0" name="Image 0" descr="/tmp/claude-1000/-opt-dersler/a4dee546-de71-4ec2-8add-be39dd273d29/scratchpad/sekiller/gorunur-derinlik-03.png">    </p:cNvPr>
          <p:cNvPicPr>
            <a:picLocks noChangeAspect="1"/>
          </p:cNvPicPr>
          <p:nvPr/>
        </p:nvPicPr>
        <p:blipFill>
          <a:blip r:embed="rId1"/>
          <a:stretch>
            <a:fillRect/>
          </a:stretch>
        </p:blipFill>
        <p:spPr>
          <a:xfrm>
            <a:off x="6601968" y="1664208"/>
            <a:ext cx="4766767" cy="1946382"/>
          </a:xfrm>
          <a:prstGeom prst="rect">
            <a:avLst/>
          </a:prstGeom>
        </p:spPr>
      </p:pic>
      <p:sp>
        <p:nvSpPr>
          <p:cNvPr id="11" name="Shape 7"/>
          <p:cNvSpPr/>
          <p:nvPr/>
        </p:nvSpPr>
        <p:spPr>
          <a:xfrm>
            <a:off x="6601968" y="3702030"/>
            <a:ext cx="4766767" cy="0"/>
          </a:xfrm>
          <a:prstGeom prst="line">
            <a:avLst/>
          </a:prstGeom>
          <a:noFill/>
          <a:ln w="9525">
            <a:solidFill>
              <a:srgbClr val="E1E5EE"/>
            </a:solidFill>
            <a:prstDash val="dash"/>
          </a:ln>
        </p:spPr>
      </p:sp>
      <p:sp>
        <p:nvSpPr>
          <p:cNvPr id="12" name="Text 8"/>
          <p:cNvSpPr txBox="1"/>
          <p:nvPr/>
        </p:nvSpPr>
        <p:spPr>
          <a:xfrm>
            <a:off x="6601968" y="3756894"/>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Cismin "yükselmiş" görünme miktarı, gerçek derinlikle görünen derinlik arasındaki farktır. Suda bu fark derinliğin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dörtte biridir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2 metrelik havuzun tabanı 50 cm yukarıda görünür. Fark derinlikle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doğru orantılı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büyür — bu yüzden derin havuzlarda yanılgı çok daha tehlikelidir.</a:t>
            </a:r>
            <a:endParaRPr lang="en-US" sz="1050" dirty="0"/>
          </a:p>
        </p:txBody>
      </p:sp>
      <p:sp>
        <p:nvSpPr>
          <p:cNvPr id="13" name="Shape 9"/>
          <p:cNvSpPr/>
          <p:nvPr/>
        </p:nvSpPr>
        <p:spPr>
          <a:xfrm>
            <a:off x="640080" y="6382512"/>
            <a:ext cx="128016" cy="128016"/>
          </a:xfrm>
          <a:prstGeom prst="roundRect">
            <a:avLst>
              <a:gd name="adj" fmla="val 28571"/>
            </a:avLst>
          </a:prstGeom>
          <a:solidFill>
            <a:srgbClr val="A9E648"/>
          </a:solidFill>
          <a:ln/>
        </p:spPr>
      </p:sp>
      <p:sp>
        <p:nvSpPr>
          <p:cNvPr id="14"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5"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Sudan havaya bakış</a:t>
            </a:r>
            <a:endParaRPr lang="en-US" sz="3200" dirty="0"/>
          </a:p>
        </p:txBody>
      </p:sp>
      <p:sp>
        <p:nvSpPr>
          <p:cNvPr id="5" name="Text 3"/>
          <p:cNvSpPr txBox="1"/>
          <p:nvPr/>
        </p:nvSpPr>
        <p:spPr>
          <a:xfrm>
            <a:off x="640080" y="1481328"/>
            <a:ext cx="5486400" cy="841248"/>
          </a:xfrm>
          <a:prstGeom prst="rect">
            <a:avLst/>
          </a:prstGeom>
          <a:noFill/>
          <a:ln/>
        </p:spPr>
        <p:txBody>
          <a:bodyPr wrap="square" lIns="0" tIns="0" rIns="0" bIns="0" rtlCol="0" anchor="t"/>
          <a:lstStyle/>
          <a:p>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Gözlemci suyun içindeyse durum tersine döner: havadaki cisimden gelen ışınlar suya girerken normale yaklaşır ve uzantıları cismi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daha yüksekte</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gösterir.</a:t>
            </a:r>
            <a:endParaRPr lang="en-US" sz="1600" dirty="0"/>
          </a:p>
        </p:txBody>
      </p:sp>
      <p:sp>
        <p:nvSpPr>
          <p:cNvPr id="6" name="Shape 4"/>
          <p:cNvSpPr/>
          <p:nvPr/>
        </p:nvSpPr>
        <p:spPr>
          <a:xfrm>
            <a:off x="640080" y="2450592"/>
            <a:ext cx="1444752"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450592"/>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h′ = n · h</a:t>
            </a:r>
            <a:endParaRPr lang="en-US" sz="1300" dirty="0"/>
          </a:p>
        </p:txBody>
      </p:sp>
      <p:sp>
        <p:nvSpPr>
          <p:cNvPr id="8" name="Text 6"/>
          <p:cNvSpPr txBox="1"/>
          <p:nvPr/>
        </p:nvSpPr>
        <p:spPr>
          <a:xfrm>
            <a:off x="640080" y="3072384"/>
            <a:ext cx="5486400" cy="12496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Su altındaki bir dalgıç için, yüzeyden 1,5 m yukarıdaki bir kuş yaklaşık 2 m yükseklikte görünür.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Genel kural: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gözlemcinin bulunduğu ortamın indisi büyükse cisim uzaklaşmış görünür.</a:t>
            </a:r>
            <a:endParaRPr lang="en-US" sz="1600" dirty="0"/>
          </a:p>
        </p:txBody>
      </p:sp>
      <p:sp>
        <p:nvSpPr>
          <p:cNvPr id="9" name="Shape 7"/>
          <p:cNvSpPr/>
          <p:nvPr/>
        </p:nvSpPr>
        <p:spPr>
          <a:xfrm>
            <a:off x="6419088" y="1481328"/>
            <a:ext cx="5132527" cy="3488916"/>
          </a:xfrm>
          <a:prstGeom prst="roundRect">
            <a:avLst>
              <a:gd name="adj" fmla="val 419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0" name="Image 0" descr="/tmp/claude-1000/-opt-dersler/a4dee546-de71-4ec2-8add-be39dd273d29/scratchpad/sekiller/gorunur-derinlik-04.png">    </p:cNvPr>
          <p:cNvPicPr>
            <a:picLocks noChangeAspect="1"/>
          </p:cNvPicPr>
          <p:nvPr/>
        </p:nvPicPr>
        <p:blipFill>
          <a:blip r:embed="rId1"/>
          <a:stretch>
            <a:fillRect/>
          </a:stretch>
        </p:blipFill>
        <p:spPr>
          <a:xfrm>
            <a:off x="6601968" y="1664208"/>
            <a:ext cx="4766767" cy="2025876"/>
          </a:xfrm>
          <a:prstGeom prst="rect">
            <a:avLst/>
          </a:prstGeom>
        </p:spPr>
      </p:pic>
      <p:sp>
        <p:nvSpPr>
          <p:cNvPr id="11" name="Shape 8"/>
          <p:cNvSpPr/>
          <p:nvPr/>
        </p:nvSpPr>
        <p:spPr>
          <a:xfrm>
            <a:off x="6601968" y="3781524"/>
            <a:ext cx="4766767" cy="0"/>
          </a:xfrm>
          <a:prstGeom prst="line">
            <a:avLst/>
          </a:prstGeom>
          <a:noFill/>
          <a:ln w="9525">
            <a:solidFill>
              <a:srgbClr val="E1E5EE"/>
            </a:solidFill>
            <a:prstDash val="dash"/>
          </a:ln>
        </p:spPr>
      </p:sp>
      <p:sp>
        <p:nvSpPr>
          <p:cNvPr id="12" name="Text 9"/>
          <p:cNvSpPr txBox="1"/>
          <p:nvPr/>
        </p:nvSpPr>
        <p:spPr>
          <a:xfrm>
            <a:off x="6601968" y="3836388"/>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Bakış yönü tersine dönünce sonuç da tersine döner. Su altındaki bir gözlemci için havadaki cisim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olduğundan daha yükseğe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kaçar: h′ = n·h. Bu yüzden suyun altından bakan bir dalgıç, kıyıdaki insanları gerçekte olduklarından çok daha havada görür — ve balıklar, kendilerine yukarıdan bakan avcıyı olduğundan yüksekte görür.</a:t>
            </a:r>
            <a:endParaRPr lang="en-US" sz="105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Cam levhanın altındaki yazı</a:t>
            </a:r>
            <a:endParaRPr lang="en-US" sz="3200" dirty="0"/>
          </a:p>
        </p:txBody>
      </p:sp>
      <p:sp>
        <p:nvSpPr>
          <p:cNvPr id="5" name="Text 3"/>
          <p:cNvSpPr txBox="1"/>
          <p:nvPr/>
        </p:nvSpPr>
        <p:spPr>
          <a:xfrm>
            <a:off x="640080" y="1481328"/>
            <a:ext cx="5486400" cy="560832"/>
          </a:xfrm>
          <a:prstGeom prst="rect">
            <a:avLst/>
          </a:prstGeom>
          <a:noFill/>
          <a:ln/>
        </p:spPr>
        <p:txBody>
          <a:bodyPr wrap="square" lIns="0" tIns="0" rIns="0" bIns="0" rtlCol="0" anchor="t"/>
          <a:lstStyle/>
          <a:p>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Kalınlığı t, indisi n olan bir cam levha, altındaki yazıyı yukarı taşımış gibi gösterir:</a:t>
            </a:r>
            <a:endParaRPr lang="en-US" sz="1600" dirty="0"/>
          </a:p>
        </p:txBody>
      </p:sp>
      <p:sp>
        <p:nvSpPr>
          <p:cNvPr id="6" name="Shape 4"/>
          <p:cNvSpPr/>
          <p:nvPr/>
        </p:nvSpPr>
        <p:spPr>
          <a:xfrm>
            <a:off x="640080" y="2170176"/>
            <a:ext cx="1938528"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170176"/>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Δ = t (1 − 1/n)</a:t>
            </a:r>
            <a:endParaRPr lang="en-US" sz="1300" dirty="0"/>
          </a:p>
        </p:txBody>
      </p:sp>
      <p:sp>
        <p:nvSpPr>
          <p:cNvPr id="8" name="Text 6"/>
          <p:cNvSpPr txBox="1"/>
          <p:nvPr/>
        </p:nvSpPr>
        <p:spPr>
          <a:xfrm>
            <a:off x="640080" y="2791968"/>
            <a:ext cx="5486400" cy="153009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Cam için (n = 1,5) Δ = t/3'tür: 6 cm'lik cam levha yazıyı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2 cm</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yükseltir.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Yazının levhaya olan uzaklığı sonucu değiştirmez; önemli olan ışığın cam içinde katettiği kalınlıktır.</a:t>
            </a:r>
            <a:endParaRPr lang="en-US" sz="1600" dirty="0"/>
          </a:p>
        </p:txBody>
      </p:sp>
      <p:sp>
        <p:nvSpPr>
          <p:cNvPr id="9" name="Shape 7"/>
          <p:cNvSpPr/>
          <p:nvPr/>
        </p:nvSpPr>
        <p:spPr>
          <a:xfrm>
            <a:off x="6419088" y="1481328"/>
            <a:ext cx="5132527" cy="3349838"/>
          </a:xfrm>
          <a:prstGeom prst="roundRect">
            <a:avLst>
              <a:gd name="adj" fmla="val 436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0" name="Image 0" descr="/tmp/claude-1000/-opt-dersler/a4dee546-de71-4ec2-8add-be39dd273d29/scratchpad/sekiller/gorunur-derinlik-05.png">    </p:cNvPr>
          <p:cNvPicPr>
            <a:picLocks noChangeAspect="1"/>
          </p:cNvPicPr>
          <p:nvPr/>
        </p:nvPicPr>
        <p:blipFill>
          <a:blip r:embed="rId1"/>
          <a:stretch>
            <a:fillRect/>
          </a:stretch>
        </p:blipFill>
        <p:spPr>
          <a:xfrm>
            <a:off x="6601968" y="1664208"/>
            <a:ext cx="4766767" cy="1886798"/>
          </a:xfrm>
          <a:prstGeom prst="rect">
            <a:avLst/>
          </a:prstGeom>
        </p:spPr>
      </p:pic>
      <p:sp>
        <p:nvSpPr>
          <p:cNvPr id="11" name="Shape 8"/>
          <p:cNvSpPr/>
          <p:nvPr/>
        </p:nvSpPr>
        <p:spPr>
          <a:xfrm>
            <a:off x="6601968" y="3642446"/>
            <a:ext cx="4766767" cy="0"/>
          </a:xfrm>
          <a:prstGeom prst="line">
            <a:avLst/>
          </a:prstGeom>
          <a:noFill/>
          <a:ln w="9525">
            <a:solidFill>
              <a:srgbClr val="E1E5EE"/>
            </a:solidFill>
            <a:prstDash val="dash"/>
          </a:ln>
        </p:spPr>
      </p:sp>
      <p:sp>
        <p:nvSpPr>
          <p:cNvPr id="12" name="Text 9"/>
          <p:cNvSpPr txBox="1"/>
          <p:nvPr/>
        </p:nvSpPr>
        <p:spPr>
          <a:xfrm>
            <a:off x="6601968" y="3697310"/>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Cam levhanın altındaki yazı da yukarı kaçar; tek fark, kaymanın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levhanın kalınlığına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bağlı olmasıdır — yazının levhadan ne kadar uzakta olduğu fark etmez. Camda n ≈ 1,5 olduğu için kayma kalınlığın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üçte biri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kadardır: 3 cm'lik bir cam bloğun altındaki yazı 1 cm yükselmiş görünür.</a:t>
            </a:r>
            <a:endParaRPr lang="en-US" sz="105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Bağıntının geçerlilik sınırı</a:t>
            </a:r>
            <a:endParaRPr lang="en-US" sz="3200" dirty="0"/>
          </a:p>
        </p:txBody>
      </p:sp>
      <p:sp>
        <p:nvSpPr>
          <p:cNvPr id="5" name="Shape 3"/>
          <p:cNvSpPr/>
          <p:nvPr/>
        </p:nvSpPr>
        <p:spPr>
          <a:xfrm>
            <a:off x="640080" y="1481328"/>
            <a:ext cx="5486400" cy="1716786"/>
          </a:xfrm>
          <a:prstGeom prst="roundRect">
            <a:avLst>
              <a:gd name="adj" fmla="val 639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6" name="Shape 4"/>
          <p:cNvSpPr/>
          <p:nvPr/>
        </p:nvSpPr>
        <p:spPr>
          <a:xfrm>
            <a:off x="658368" y="1627632"/>
            <a:ext cx="45720" cy="1424178"/>
          </a:xfrm>
          <a:prstGeom prst="rect">
            <a:avLst/>
          </a:prstGeom>
          <a:solidFill>
            <a:srgbClr val="A56209"/>
          </a:solidFill>
          <a:ln/>
        </p:spPr>
      </p:sp>
      <p:sp>
        <p:nvSpPr>
          <p:cNvPr id="7" name="Text 5"/>
          <p:cNvSpPr txBox="1"/>
          <p:nvPr/>
        </p:nvSpPr>
        <p:spPr>
          <a:xfrm>
            <a:off x="914400" y="1591056"/>
            <a:ext cx="5029200" cy="1497330"/>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h′ = h/n yalnızca dik (dike yakın) bakış içindir.</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Yüzeye çok eğik bakıldığında görünen derinlik daha da azalır; kırılma açısı büyüdükçe uzantıların kesiştiği nokta yükselir. Bu yüzden havuza yandan bakıldığında dip daha da yakın görünür.</a:t>
            </a:r>
            <a:endParaRPr lang="en-US" sz="1500" dirty="0"/>
          </a:p>
        </p:txBody>
      </p:sp>
      <p:sp>
        <p:nvSpPr>
          <p:cNvPr id="8" name="Shape 6"/>
          <p:cNvSpPr/>
          <p:nvPr/>
        </p:nvSpPr>
        <p:spPr>
          <a:xfrm>
            <a:off x="6419088" y="1481328"/>
            <a:ext cx="5132527" cy="3449098"/>
          </a:xfrm>
          <a:prstGeom prst="roundRect">
            <a:avLst>
              <a:gd name="adj" fmla="val 424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9" name="Image 0" descr="/tmp/claude-1000/-opt-dersler/a4dee546-de71-4ec2-8add-be39dd273d29/scratchpad/sekiller/gorunur-derinlik-06.png">    </p:cNvPr>
          <p:cNvPicPr>
            <a:picLocks noChangeAspect="1"/>
          </p:cNvPicPr>
          <p:nvPr/>
        </p:nvPicPr>
        <p:blipFill>
          <a:blip r:embed="rId1"/>
          <a:stretch>
            <a:fillRect/>
          </a:stretch>
        </p:blipFill>
        <p:spPr>
          <a:xfrm>
            <a:off x="6601968" y="1664208"/>
            <a:ext cx="4766767" cy="1986058"/>
          </a:xfrm>
          <a:prstGeom prst="rect">
            <a:avLst/>
          </a:prstGeom>
        </p:spPr>
      </p:pic>
      <p:sp>
        <p:nvSpPr>
          <p:cNvPr id="10" name="Shape 7"/>
          <p:cNvSpPr/>
          <p:nvPr/>
        </p:nvSpPr>
        <p:spPr>
          <a:xfrm>
            <a:off x="6601968" y="3741706"/>
            <a:ext cx="4766767" cy="0"/>
          </a:xfrm>
          <a:prstGeom prst="line">
            <a:avLst/>
          </a:prstGeom>
          <a:noFill/>
          <a:ln w="9525">
            <a:solidFill>
              <a:srgbClr val="E1E5EE"/>
            </a:solidFill>
            <a:prstDash val="dash"/>
          </a:ln>
        </p:spPr>
      </p:sp>
      <p:sp>
        <p:nvSpPr>
          <p:cNvPr id="11" name="Text 8"/>
          <p:cNvSpPr txBox="1"/>
          <p:nvPr/>
        </p:nvSpPr>
        <p:spPr>
          <a:xfrm>
            <a:off x="6601968" y="3796570"/>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h′ = h/n bağıntısı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yalnızca dike yakın bakışlarda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geçerlidir. Küçük açılarda uzantılar tek bir noktada kesişir ve keskin bir görüntü oluşur. Bakış açısı büyüdükçe her ışın farklı bir noktaya işaret eder, görüntü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dağılır ve bozulur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havuzun dibine yandan bakınca fayansların eğrilmiş görünmesinin sebebi budur.</a:t>
            </a:r>
            <a:endParaRPr lang="en-US" sz="105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Günlük hayatta</a:t>
            </a:r>
            <a:endParaRPr lang="en-US" sz="3200" dirty="0"/>
          </a:p>
        </p:txBody>
      </p:sp>
      <p:sp>
        <p:nvSpPr>
          <p:cNvPr id="5" name="Text 3"/>
          <p:cNvSpPr txBox="1"/>
          <p:nvPr/>
        </p:nvSpPr>
        <p:spPr>
          <a:xfrm>
            <a:off x="640080" y="1481328"/>
            <a:ext cx="5486400" cy="277977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Havuz sığ görünür: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derinliği olduğundan az sanıp atlamak tehlikelidir.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Suya batan cisim kırık görünür: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kaşığın su altındaki kısmı yükselmiş görünür, bu da kırılmış izlenimi verir.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Zıpkınla balık avı:</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avcılar hep gördüklerinin biraz altına nişan alır.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Bardaktaki bozuk para: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su eklenince görünmeyen para görünür hâle gelir.</a:t>
            </a:r>
            <a:endParaRPr lang="en-US" sz="1600" dirty="0"/>
          </a:p>
        </p:txBody>
      </p:sp>
      <p:sp>
        <p:nvSpPr>
          <p:cNvPr id="6" name="Shape 4"/>
          <p:cNvSpPr/>
          <p:nvPr/>
        </p:nvSpPr>
        <p:spPr>
          <a:xfrm>
            <a:off x="6419088" y="1481328"/>
            <a:ext cx="5132527" cy="3449098"/>
          </a:xfrm>
          <a:prstGeom prst="roundRect">
            <a:avLst>
              <a:gd name="adj" fmla="val 424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a4dee546-de71-4ec2-8add-be39dd273d29/scratchpad/sekiller/gorunur-derinlik-07.png">    </p:cNvPr>
          <p:cNvPicPr>
            <a:picLocks noChangeAspect="1"/>
          </p:cNvPicPr>
          <p:nvPr/>
        </p:nvPicPr>
        <p:blipFill>
          <a:blip r:embed="rId1"/>
          <a:stretch>
            <a:fillRect/>
          </a:stretch>
        </p:blipFill>
        <p:spPr>
          <a:xfrm>
            <a:off x="6601968" y="1664208"/>
            <a:ext cx="4766767" cy="1986058"/>
          </a:xfrm>
          <a:prstGeom prst="rect">
            <a:avLst/>
          </a:prstGeom>
        </p:spPr>
      </p:pic>
      <p:sp>
        <p:nvSpPr>
          <p:cNvPr id="8" name="Shape 5"/>
          <p:cNvSpPr/>
          <p:nvPr/>
        </p:nvSpPr>
        <p:spPr>
          <a:xfrm>
            <a:off x="6601968" y="3741706"/>
            <a:ext cx="4766767" cy="0"/>
          </a:xfrm>
          <a:prstGeom prst="line">
            <a:avLst/>
          </a:prstGeom>
          <a:noFill/>
          <a:ln w="9525">
            <a:solidFill>
              <a:srgbClr val="E1E5EE"/>
            </a:solidFill>
            <a:prstDash val="dash"/>
          </a:ln>
        </p:spPr>
      </p:sp>
      <p:sp>
        <p:nvSpPr>
          <p:cNvPr id="9" name="Text 6"/>
          <p:cNvSpPr txBox="1"/>
          <p:nvPr/>
        </p:nvSpPr>
        <p:spPr>
          <a:xfrm>
            <a:off x="6601968" y="3796570"/>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Balık gördüğün yerde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daha derinde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dir. Zıpkını gördüğün noktaya doğrultursan üstünden geçersin; deneyimli avcılar bu yüzden hep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biraz aşağıya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nişan alır. Aynı düzeltmeyi suya uzanıp bir şey almaya çalışırken elin de otomatik olarak yapar — beyin bu sapmayı öğrenmiştir.</a:t>
            </a:r>
            <a:endParaRPr lang="en-US" sz="105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Havuzun derinliği</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Derinliği 2 m olan bir havuzun dibi, yukarıdan bakan biri için kaç metre derinlikte görünür? (n(su) = 4/3)</a:t>
            </a:r>
            <a:endParaRPr lang="en-US" sz="1600" dirty="0"/>
          </a:p>
        </p:txBody>
      </p:sp>
      <p:sp>
        <p:nvSpPr>
          <p:cNvPr id="9" name="Shape 7"/>
          <p:cNvSpPr/>
          <p:nvPr/>
        </p:nvSpPr>
        <p:spPr>
          <a:xfrm>
            <a:off x="5212080" y="1627632"/>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2044744"/>
            <a:ext cx="384048" cy="384048"/>
          </a:xfrm>
          <a:prstGeom prst="roundRect">
            <a:avLst>
              <a:gd name="adj" fmla="val 26000"/>
            </a:avLst>
          </a:prstGeom>
          <a:solidFill>
            <a:srgbClr val="A56209"/>
          </a:solidFill>
          <a:ln/>
        </p:spPr>
      </p:sp>
      <p:sp>
        <p:nvSpPr>
          <p:cNvPr id="11" name="Text 9"/>
          <p:cNvSpPr txBox="1"/>
          <p:nvPr/>
        </p:nvSpPr>
        <p:spPr>
          <a:xfrm>
            <a:off x="5449824" y="20447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 = h/n = 2 / (4/3) = 2 · 3/4</a:t>
            </a:r>
            <a:endParaRPr lang="en-US" sz="1600" dirty="0"/>
          </a:p>
        </p:txBody>
      </p:sp>
      <p:sp>
        <p:nvSpPr>
          <p:cNvPr id="13" name="Shape 11"/>
          <p:cNvSpPr/>
          <p:nvPr/>
        </p:nvSpPr>
        <p:spPr>
          <a:xfrm>
            <a:off x="5212080" y="2992207"/>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409319"/>
            <a:ext cx="384048" cy="384048"/>
          </a:xfrm>
          <a:prstGeom prst="roundRect">
            <a:avLst>
              <a:gd name="adj" fmla="val 26000"/>
            </a:avLst>
          </a:prstGeom>
          <a:solidFill>
            <a:srgbClr val="A56209"/>
          </a:solidFill>
          <a:ln/>
        </p:spPr>
      </p:sp>
      <p:sp>
        <p:nvSpPr>
          <p:cNvPr id="15" name="Text 13"/>
          <p:cNvSpPr txBox="1"/>
          <p:nvPr/>
        </p:nvSpPr>
        <p:spPr>
          <a:xfrm>
            <a:off x="5449824" y="340931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3047071"/>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1,5 m</a:t>
            </a:r>
            <a:endParaRPr lang="en-US" sz="1600" dirty="0"/>
          </a:p>
        </p:txBody>
      </p:sp>
      <p:sp>
        <p:nvSpPr>
          <p:cNvPr id="17" name="Shape 15"/>
          <p:cNvSpPr/>
          <p:nvPr/>
        </p:nvSpPr>
        <p:spPr>
          <a:xfrm>
            <a:off x="5212080" y="4356783"/>
            <a:ext cx="6339535" cy="1787985"/>
          </a:xfrm>
          <a:prstGeom prst="roundRect">
            <a:avLst>
              <a:gd name="adj" fmla="val 81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5058751"/>
            <a:ext cx="384048" cy="384048"/>
          </a:xfrm>
          <a:prstGeom prst="roundRect">
            <a:avLst>
              <a:gd name="adj" fmla="val 26000"/>
            </a:avLst>
          </a:prstGeom>
          <a:solidFill>
            <a:srgbClr val="A56209"/>
          </a:solidFill>
          <a:ln/>
        </p:spPr>
      </p:sp>
      <p:sp>
        <p:nvSpPr>
          <p:cNvPr id="19" name="Text 17"/>
          <p:cNvSpPr txBox="1"/>
          <p:nvPr/>
        </p:nvSpPr>
        <p:spPr>
          <a:xfrm>
            <a:off x="5449824" y="50587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411647"/>
            <a:ext cx="5379415" cy="167825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Yükselme: Δh = 2 − 1,5 = 0,5 m, yani derinliğin dörtte biri.</a:t>
            </a:r>
            <a:endParaRPr lang="en-US" sz="1600" dirty="0"/>
          </a:p>
        </p:txBody>
      </p:sp>
      <p:sp>
        <p:nvSpPr>
          <p:cNvPr id="21" name="Shape 19"/>
          <p:cNvSpPr/>
          <p:nvPr/>
        </p:nvSpPr>
        <p:spPr>
          <a:xfrm>
            <a:off x="640080" y="6382512"/>
            <a:ext cx="128016" cy="128016"/>
          </a:xfrm>
          <a:prstGeom prst="roundRect">
            <a:avLst>
              <a:gd name="adj" fmla="val 28571"/>
            </a:avLst>
          </a:prstGeom>
          <a:solidFill>
            <a:srgbClr val="A9E648"/>
          </a:solidFill>
          <a:ln/>
        </p:spPr>
      </p:sp>
      <p:sp>
        <p:nvSpPr>
          <p:cNvPr id="22"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3"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İndisi bulmak</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kaptaki sıvının 60 cm derinliğindeki cisim, 40 cm derinlikte görünüyor. Sıvının kırılma indisi nedir?</a:t>
            </a:r>
            <a:endParaRPr lang="en-US" sz="1600" dirty="0"/>
          </a:p>
        </p:txBody>
      </p:sp>
      <p:sp>
        <p:nvSpPr>
          <p:cNvPr id="9" name="Shape 7"/>
          <p:cNvSpPr/>
          <p:nvPr/>
        </p:nvSpPr>
        <p:spPr>
          <a:xfrm>
            <a:off x="5212080" y="1627632"/>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2044744"/>
            <a:ext cx="384048" cy="384048"/>
          </a:xfrm>
          <a:prstGeom prst="roundRect">
            <a:avLst>
              <a:gd name="adj" fmla="val 26000"/>
            </a:avLst>
          </a:prstGeom>
          <a:solidFill>
            <a:srgbClr val="A56209"/>
          </a:solidFill>
          <a:ln/>
        </p:spPr>
      </p:sp>
      <p:sp>
        <p:nvSpPr>
          <p:cNvPr id="11" name="Text 9"/>
          <p:cNvSpPr txBox="1"/>
          <p:nvPr/>
        </p:nvSpPr>
        <p:spPr>
          <a:xfrm>
            <a:off x="5449824" y="20447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h / h′ = 60 / 40</a:t>
            </a:r>
            <a:endParaRPr lang="en-US" sz="1600" dirty="0"/>
          </a:p>
        </p:txBody>
      </p:sp>
      <p:sp>
        <p:nvSpPr>
          <p:cNvPr id="13" name="Shape 11"/>
          <p:cNvSpPr/>
          <p:nvPr/>
        </p:nvSpPr>
        <p:spPr>
          <a:xfrm>
            <a:off x="5212080" y="2992207"/>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409319"/>
            <a:ext cx="384048" cy="384048"/>
          </a:xfrm>
          <a:prstGeom prst="roundRect">
            <a:avLst>
              <a:gd name="adj" fmla="val 26000"/>
            </a:avLst>
          </a:prstGeom>
          <a:solidFill>
            <a:srgbClr val="A56209"/>
          </a:solidFill>
          <a:ln/>
        </p:spPr>
      </p:sp>
      <p:sp>
        <p:nvSpPr>
          <p:cNvPr id="15" name="Text 13"/>
          <p:cNvSpPr txBox="1"/>
          <p:nvPr/>
        </p:nvSpPr>
        <p:spPr>
          <a:xfrm>
            <a:off x="5449824" y="340931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3047071"/>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1,5</a:t>
            </a:r>
            <a:endParaRPr lang="en-US" sz="1600" dirty="0"/>
          </a:p>
        </p:txBody>
      </p:sp>
      <p:sp>
        <p:nvSpPr>
          <p:cNvPr id="17" name="Shape 15"/>
          <p:cNvSpPr/>
          <p:nvPr/>
        </p:nvSpPr>
        <p:spPr>
          <a:xfrm>
            <a:off x="5212080" y="4356783"/>
            <a:ext cx="6339535" cy="1787985"/>
          </a:xfrm>
          <a:prstGeom prst="roundRect">
            <a:avLst>
              <a:gd name="adj" fmla="val 81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5058751"/>
            <a:ext cx="384048" cy="384048"/>
          </a:xfrm>
          <a:prstGeom prst="roundRect">
            <a:avLst>
              <a:gd name="adj" fmla="val 26000"/>
            </a:avLst>
          </a:prstGeom>
          <a:solidFill>
            <a:srgbClr val="A56209"/>
          </a:solidFill>
          <a:ln/>
        </p:spPr>
      </p:sp>
      <p:sp>
        <p:nvSpPr>
          <p:cNvPr id="19" name="Text 17"/>
          <p:cNvSpPr txBox="1"/>
          <p:nvPr/>
        </p:nvSpPr>
        <p:spPr>
          <a:xfrm>
            <a:off x="5449824" y="50587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411647"/>
            <a:ext cx="5379415" cy="167825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Işığın bu sıvıdaki hızı: v = c/n = 3·10⁸/1,5 = 2·10⁸ m/s.</a:t>
            </a:r>
            <a:endParaRPr lang="en-US" sz="1600" dirty="0"/>
          </a:p>
        </p:txBody>
      </p:sp>
      <p:sp>
        <p:nvSpPr>
          <p:cNvPr id="21" name="Shape 19"/>
          <p:cNvSpPr/>
          <p:nvPr/>
        </p:nvSpPr>
        <p:spPr>
          <a:xfrm>
            <a:off x="640080" y="6382512"/>
            <a:ext cx="128016" cy="128016"/>
          </a:xfrm>
          <a:prstGeom prst="roundRect">
            <a:avLst>
              <a:gd name="adj" fmla="val 28571"/>
            </a:avLst>
          </a:prstGeom>
          <a:solidFill>
            <a:srgbClr val="A9E648"/>
          </a:solidFill>
          <a:ln/>
        </p:spPr>
      </p:sp>
      <p:sp>
        <p:nvSpPr>
          <p:cNvPr id="22"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3"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Sudan havaya bakış</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Su altındaki bir dalgıç, yüzeyden 120 cm yukarıdaki bir lambaya bakıyor. Lamba kaç cm yükseklikte görünür? (n = 4/3)</a:t>
            </a:r>
            <a:endParaRPr lang="en-US" sz="1600" dirty="0"/>
          </a:p>
        </p:txBody>
      </p:sp>
      <p:sp>
        <p:nvSpPr>
          <p:cNvPr id="9" name="Shape 7"/>
          <p:cNvSpPr/>
          <p:nvPr/>
        </p:nvSpPr>
        <p:spPr>
          <a:xfrm>
            <a:off x="5212080" y="162763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2139696"/>
            <a:ext cx="384048" cy="384048"/>
          </a:xfrm>
          <a:prstGeom prst="roundRect">
            <a:avLst>
              <a:gd name="adj" fmla="val 26000"/>
            </a:avLst>
          </a:prstGeom>
          <a:solidFill>
            <a:srgbClr val="A56209"/>
          </a:solidFill>
          <a:ln/>
        </p:spPr>
      </p:sp>
      <p:sp>
        <p:nvSpPr>
          <p:cNvPr id="11" name="Text 9"/>
          <p:cNvSpPr txBox="1"/>
          <p:nvPr/>
        </p:nvSpPr>
        <p:spPr>
          <a:xfrm>
            <a:off x="5449824" y="213969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Gözlemci yoğun ortamda: h′ = n·h</a:t>
            </a:r>
            <a:endParaRPr lang="en-US" sz="1600" dirty="0"/>
          </a:p>
        </p:txBody>
      </p:sp>
      <p:sp>
        <p:nvSpPr>
          <p:cNvPr id="13" name="Shape 11"/>
          <p:cNvSpPr/>
          <p:nvPr/>
        </p:nvSpPr>
        <p:spPr>
          <a:xfrm>
            <a:off x="5212080" y="318211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694176"/>
            <a:ext cx="384048" cy="384048"/>
          </a:xfrm>
          <a:prstGeom prst="roundRect">
            <a:avLst>
              <a:gd name="adj" fmla="val 26000"/>
            </a:avLst>
          </a:prstGeom>
          <a:solidFill>
            <a:srgbClr val="A56209"/>
          </a:solidFill>
          <a:ln/>
        </p:spPr>
      </p:sp>
      <p:sp>
        <p:nvSpPr>
          <p:cNvPr id="15" name="Text 13"/>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323697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 = (4/3) · 120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160 cm</a:t>
            </a:r>
            <a:endParaRPr lang="en-US" sz="1600" dirty="0"/>
          </a:p>
        </p:txBody>
      </p:sp>
      <p:sp>
        <p:nvSpPr>
          <p:cNvPr id="17" name="Shape 15"/>
          <p:cNvSpPr/>
          <p:nvPr/>
        </p:nvSpPr>
        <p:spPr>
          <a:xfrm>
            <a:off x="5212080" y="473659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5248656"/>
            <a:ext cx="384048" cy="384048"/>
          </a:xfrm>
          <a:prstGeom prst="roundRect">
            <a:avLst>
              <a:gd name="adj" fmla="val 26000"/>
            </a:avLst>
          </a:prstGeom>
          <a:solidFill>
            <a:srgbClr val="A56209"/>
          </a:solidFill>
          <a:ln/>
        </p:spPr>
      </p:sp>
      <p:sp>
        <p:nvSpPr>
          <p:cNvPr id="19" name="Text 17"/>
          <p:cNvSpPr txBox="1"/>
          <p:nvPr/>
        </p:nvSpPr>
        <p:spPr>
          <a:xfrm>
            <a:off x="5449824" y="524865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79145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Lamba 40 cm daha yüksekteymiş gibi görünür.</a:t>
            </a:r>
            <a:endParaRPr lang="en-US" sz="1600" dirty="0"/>
          </a:p>
        </p:txBody>
      </p:sp>
      <p:sp>
        <p:nvSpPr>
          <p:cNvPr id="21" name="Shape 19"/>
          <p:cNvSpPr/>
          <p:nvPr/>
        </p:nvSpPr>
        <p:spPr>
          <a:xfrm>
            <a:off x="640080" y="6382512"/>
            <a:ext cx="128016" cy="128016"/>
          </a:xfrm>
          <a:prstGeom prst="roundRect">
            <a:avLst>
              <a:gd name="adj" fmla="val 28571"/>
            </a:avLst>
          </a:prstGeom>
          <a:solidFill>
            <a:srgbClr val="A9E648"/>
          </a:solidFill>
          <a:ln/>
        </p:spPr>
      </p:sp>
      <p:sp>
        <p:nvSpPr>
          <p:cNvPr id="22"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3"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Cam levha</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Kalınlığı 9 cm, indisi 1,5 olan cam levha bir yazının üzerine konuyor. Yazı ne kadar yükselmiş görünür?</a:t>
            </a:r>
            <a:endParaRPr lang="en-US" sz="1600" dirty="0"/>
          </a:p>
        </p:txBody>
      </p:sp>
      <p:sp>
        <p:nvSpPr>
          <p:cNvPr id="9" name="Shape 7"/>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892026"/>
            <a:ext cx="384048" cy="384048"/>
          </a:xfrm>
          <a:prstGeom prst="roundRect">
            <a:avLst>
              <a:gd name="adj" fmla="val 26000"/>
            </a:avLst>
          </a:prstGeom>
          <a:solidFill>
            <a:srgbClr val="A56209"/>
          </a:solidFill>
          <a:ln/>
        </p:spPr>
      </p:sp>
      <p:sp>
        <p:nvSpPr>
          <p:cNvPr id="11" name="Text 9"/>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Δ = t (1 − 1/n) = 9 · (1 − 1/1,5)</a:t>
            </a:r>
            <a:endParaRPr lang="en-US" sz="1600" dirty="0"/>
          </a:p>
        </p:txBody>
      </p:sp>
      <p:sp>
        <p:nvSpPr>
          <p:cNvPr id="13" name="Shape 11"/>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951166"/>
            <a:ext cx="384048" cy="384048"/>
          </a:xfrm>
          <a:prstGeom prst="roundRect">
            <a:avLst>
              <a:gd name="adj" fmla="val 26000"/>
            </a:avLst>
          </a:prstGeom>
          <a:solidFill>
            <a:srgbClr val="A56209"/>
          </a:solidFill>
          <a:ln/>
        </p:spPr>
      </p:sp>
      <p:sp>
        <p:nvSpPr>
          <p:cNvPr id="15" name="Text 13"/>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Δ = 9 · (1 − 0,667) = 9 · 0,333</a:t>
            </a:r>
            <a:endParaRPr lang="en-US" sz="1600" dirty="0"/>
          </a:p>
        </p:txBody>
      </p:sp>
      <p:sp>
        <p:nvSpPr>
          <p:cNvPr id="17" name="Shape 15"/>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010306"/>
            <a:ext cx="384048" cy="384048"/>
          </a:xfrm>
          <a:prstGeom prst="roundRect">
            <a:avLst>
              <a:gd name="adj" fmla="val 26000"/>
            </a:avLst>
          </a:prstGeom>
          <a:solidFill>
            <a:srgbClr val="A56209"/>
          </a:solidFill>
          <a:ln/>
        </p:spPr>
      </p:sp>
      <p:sp>
        <p:nvSpPr>
          <p:cNvPr id="19" name="Text 17"/>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Δ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 cm</a:t>
            </a:r>
            <a:endParaRPr lang="en-US" sz="1600" dirty="0"/>
          </a:p>
        </p:txBody>
      </p:sp>
      <p:sp>
        <p:nvSpPr>
          <p:cNvPr id="21" name="Shape 19"/>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282886"/>
            <a:ext cx="384048" cy="384048"/>
          </a:xfrm>
          <a:prstGeom prst="roundRect">
            <a:avLst>
              <a:gd name="adj" fmla="val 26000"/>
            </a:avLst>
          </a:prstGeom>
          <a:solidFill>
            <a:srgbClr val="A56209"/>
          </a:solidFill>
          <a:ln/>
        </p:spPr>
      </p:sp>
      <p:sp>
        <p:nvSpPr>
          <p:cNvPr id="23" name="Text 21"/>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Yazı ile levha arasındaki hava boşluğu bu sonucu değiştirmez.</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6" name="Shape 4"/>
          <p:cNvSpPr/>
          <p:nvPr/>
        </p:nvSpPr>
        <p:spPr>
          <a:xfrm>
            <a:off x="640080" y="162763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41248" y="1773936"/>
            <a:ext cx="274320" cy="274320"/>
          </a:xfrm>
          <a:prstGeom prst="roundRect">
            <a:avLst>
              <a:gd name="adj" fmla="val 26667"/>
            </a:avLst>
          </a:prstGeom>
          <a:solidFill>
            <a:srgbClr val="FBE9EE"/>
          </a:solidFill>
          <a:ln/>
        </p:spPr>
      </p:sp>
      <p:sp>
        <p:nvSpPr>
          <p:cNvPr id="8" name="Text 6"/>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9" name="Text 7"/>
          <p:cNvSpPr txBox="1"/>
          <p:nvPr/>
        </p:nvSpPr>
        <p:spPr>
          <a:xfrm>
            <a:off x="1225296" y="174650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h′ = h·n yazmak.</a:t>
            </a:r>
            <a:endParaRPr lang="en-US" sz="1500" dirty="0"/>
          </a:p>
        </p:txBody>
      </p:sp>
      <p:sp>
        <p:nvSpPr>
          <p:cNvPr id="10" name="Shape 8"/>
          <p:cNvSpPr/>
          <p:nvPr/>
        </p:nvSpPr>
        <p:spPr>
          <a:xfrm>
            <a:off x="841248" y="2137410"/>
            <a:ext cx="274320" cy="274320"/>
          </a:xfrm>
          <a:prstGeom prst="roundRect">
            <a:avLst>
              <a:gd name="adj" fmla="val 26667"/>
            </a:avLst>
          </a:prstGeom>
          <a:solidFill>
            <a:srgbClr val="EAF7DC"/>
          </a:solidFill>
          <a:ln/>
        </p:spPr>
      </p:sp>
      <p:sp>
        <p:nvSpPr>
          <p:cNvPr id="11" name="Text 9"/>
          <p:cNvSpPr txBox="1"/>
          <p:nvPr/>
        </p:nvSpPr>
        <p:spPr>
          <a:xfrm>
            <a:off x="841248" y="213741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2" name="Text 10"/>
          <p:cNvSpPr txBox="1"/>
          <p:nvPr/>
        </p:nvSpPr>
        <p:spPr>
          <a:xfrm>
            <a:off x="1225296" y="211912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Havadan bakışta bölme yapılır: h′ = h/n.</a:t>
            </a:r>
            <a:endParaRPr lang="en-US" sz="1400" dirty="0"/>
          </a:p>
        </p:txBody>
      </p:sp>
      <p:sp>
        <p:nvSpPr>
          <p:cNvPr id="13" name="Shape 11"/>
          <p:cNvSpPr/>
          <p:nvPr/>
        </p:nvSpPr>
        <p:spPr>
          <a:xfrm>
            <a:off x="6205576" y="162763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6406744" y="1773936"/>
            <a:ext cx="274320" cy="274320"/>
          </a:xfrm>
          <a:prstGeom prst="roundRect">
            <a:avLst>
              <a:gd name="adj" fmla="val 26667"/>
            </a:avLst>
          </a:prstGeom>
          <a:solidFill>
            <a:srgbClr val="FBE9EE"/>
          </a:solidFill>
          <a:ln/>
        </p:spPr>
      </p:sp>
      <p:sp>
        <p:nvSpPr>
          <p:cNvPr id="15" name="Text 13"/>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6" name="Text 14"/>
          <p:cNvSpPr txBox="1"/>
          <p:nvPr/>
        </p:nvSpPr>
        <p:spPr>
          <a:xfrm>
            <a:off x="6790792" y="174650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Görünen derinliği gerçek sanmak.</a:t>
            </a:r>
            <a:endParaRPr lang="en-US" sz="1500" dirty="0"/>
          </a:p>
        </p:txBody>
      </p:sp>
      <p:sp>
        <p:nvSpPr>
          <p:cNvPr id="17" name="Shape 15"/>
          <p:cNvSpPr/>
          <p:nvPr/>
        </p:nvSpPr>
        <p:spPr>
          <a:xfrm>
            <a:off x="6406744" y="2137410"/>
            <a:ext cx="274320" cy="274320"/>
          </a:xfrm>
          <a:prstGeom prst="roundRect">
            <a:avLst>
              <a:gd name="adj" fmla="val 26667"/>
            </a:avLst>
          </a:prstGeom>
          <a:solidFill>
            <a:srgbClr val="EAF7DC"/>
          </a:solidFill>
          <a:ln/>
        </p:spPr>
      </p:sp>
      <p:sp>
        <p:nvSpPr>
          <p:cNvPr id="18" name="Text 16"/>
          <p:cNvSpPr txBox="1"/>
          <p:nvPr/>
        </p:nvSpPr>
        <p:spPr>
          <a:xfrm>
            <a:off x="6406744" y="213741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9" name="Text 17"/>
          <p:cNvSpPr txBox="1"/>
          <p:nvPr/>
        </p:nvSpPr>
        <p:spPr>
          <a:xfrm>
            <a:off x="6790792" y="211912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Görüntü sanaldır; su içinde gerçek bir görüntü oluşmaz.</a:t>
            </a:r>
            <a:endParaRPr lang="en-US" sz="1400" dirty="0"/>
          </a:p>
        </p:txBody>
      </p:sp>
      <p:sp>
        <p:nvSpPr>
          <p:cNvPr id="20" name="Shape 18"/>
          <p:cNvSpPr/>
          <p:nvPr/>
        </p:nvSpPr>
        <p:spPr>
          <a:xfrm>
            <a:off x="640080" y="318211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1" name="Shape 19"/>
          <p:cNvSpPr/>
          <p:nvPr/>
        </p:nvSpPr>
        <p:spPr>
          <a:xfrm>
            <a:off x="841248" y="3328416"/>
            <a:ext cx="274320" cy="274320"/>
          </a:xfrm>
          <a:prstGeom prst="roundRect">
            <a:avLst>
              <a:gd name="adj" fmla="val 26667"/>
            </a:avLst>
          </a:prstGeom>
          <a:solidFill>
            <a:srgbClr val="FBE9EE"/>
          </a:solidFill>
          <a:ln/>
        </p:spPr>
      </p:sp>
      <p:sp>
        <p:nvSpPr>
          <p:cNvPr id="22" name="Text 20"/>
          <p:cNvSpPr txBox="1"/>
          <p:nvPr/>
        </p:nvSpPr>
        <p:spPr>
          <a:xfrm>
            <a:off x="841248" y="332841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3" name="Text 21"/>
          <p:cNvSpPr txBox="1"/>
          <p:nvPr/>
        </p:nvSpPr>
        <p:spPr>
          <a:xfrm>
            <a:off x="1225296" y="330098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Cismin gerçekten yükseldiğini düşünmek.</a:t>
            </a:r>
            <a:endParaRPr lang="en-US" sz="1500" dirty="0"/>
          </a:p>
        </p:txBody>
      </p:sp>
      <p:sp>
        <p:nvSpPr>
          <p:cNvPr id="24" name="Shape 22"/>
          <p:cNvSpPr/>
          <p:nvPr/>
        </p:nvSpPr>
        <p:spPr>
          <a:xfrm>
            <a:off x="841248" y="3691890"/>
            <a:ext cx="274320" cy="274320"/>
          </a:xfrm>
          <a:prstGeom prst="roundRect">
            <a:avLst>
              <a:gd name="adj" fmla="val 26667"/>
            </a:avLst>
          </a:prstGeom>
          <a:solidFill>
            <a:srgbClr val="EAF7DC"/>
          </a:solidFill>
          <a:ln/>
        </p:spPr>
      </p:sp>
      <p:sp>
        <p:nvSpPr>
          <p:cNvPr id="25" name="Text 23"/>
          <p:cNvSpPr txBox="1"/>
          <p:nvPr/>
        </p:nvSpPr>
        <p:spPr>
          <a:xfrm>
            <a:off x="841248" y="369189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6" name="Text 24"/>
          <p:cNvSpPr txBox="1"/>
          <p:nvPr/>
        </p:nvSpPr>
        <p:spPr>
          <a:xfrm>
            <a:off x="1225296" y="367360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Cisim yerinde durur, değişen yalnızca göze ulaşan ışınların doğrultusudur.</a:t>
            </a:r>
            <a:endParaRPr lang="en-US" sz="1400" dirty="0"/>
          </a:p>
        </p:txBody>
      </p:sp>
      <p:sp>
        <p:nvSpPr>
          <p:cNvPr id="27" name="Shape 25"/>
          <p:cNvSpPr/>
          <p:nvPr/>
        </p:nvSpPr>
        <p:spPr>
          <a:xfrm>
            <a:off x="6205576" y="318211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6406744" y="3328416"/>
            <a:ext cx="274320" cy="274320"/>
          </a:xfrm>
          <a:prstGeom prst="roundRect">
            <a:avLst>
              <a:gd name="adj" fmla="val 26667"/>
            </a:avLst>
          </a:prstGeom>
          <a:solidFill>
            <a:srgbClr val="FBE9EE"/>
          </a:solidFill>
          <a:ln/>
        </p:spPr>
      </p:sp>
      <p:sp>
        <p:nvSpPr>
          <p:cNvPr id="29" name="Text 27"/>
          <p:cNvSpPr txBox="1"/>
          <p:nvPr/>
        </p:nvSpPr>
        <p:spPr>
          <a:xfrm>
            <a:off x="6406744" y="332841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0" name="Text 28"/>
          <p:cNvSpPr txBox="1"/>
          <p:nvPr/>
        </p:nvSpPr>
        <p:spPr>
          <a:xfrm>
            <a:off x="6790792" y="3300984"/>
            <a:ext cx="4559656" cy="58064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Sudan havaya bakışta aynı bağıntıyı kullanmak.</a:t>
            </a:r>
            <a:endParaRPr lang="en-US" sz="1500" dirty="0"/>
          </a:p>
        </p:txBody>
      </p:sp>
      <p:sp>
        <p:nvSpPr>
          <p:cNvPr id="31" name="Shape 29"/>
          <p:cNvSpPr/>
          <p:nvPr/>
        </p:nvSpPr>
        <p:spPr>
          <a:xfrm>
            <a:off x="6406744" y="3954780"/>
            <a:ext cx="274320" cy="274320"/>
          </a:xfrm>
          <a:prstGeom prst="roundRect">
            <a:avLst>
              <a:gd name="adj" fmla="val 26667"/>
            </a:avLst>
          </a:prstGeom>
          <a:solidFill>
            <a:srgbClr val="EAF7DC"/>
          </a:solidFill>
          <a:ln/>
        </p:spPr>
      </p:sp>
      <p:sp>
        <p:nvSpPr>
          <p:cNvPr id="32" name="Text 30"/>
          <p:cNvSpPr txBox="1"/>
          <p:nvPr/>
        </p:nvSpPr>
        <p:spPr>
          <a:xfrm>
            <a:off x="6406744" y="395478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3" name="Text 31"/>
          <p:cNvSpPr txBox="1"/>
          <p:nvPr/>
        </p:nvSpPr>
        <p:spPr>
          <a:xfrm>
            <a:off x="6790792" y="3936492"/>
            <a:ext cx="4559656" cy="54406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O durumda h′ = n·h olur, cisim uzaklaşmış görünür.</a:t>
            </a:r>
            <a:endParaRPr lang="en-US" sz="1400" dirty="0"/>
          </a:p>
        </p:txBody>
      </p:sp>
      <p:sp>
        <p:nvSpPr>
          <p:cNvPr id="34" name="Shape 32"/>
          <p:cNvSpPr/>
          <p:nvPr/>
        </p:nvSpPr>
        <p:spPr>
          <a:xfrm>
            <a:off x="640080" y="473659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841248" y="4882896"/>
            <a:ext cx="274320" cy="274320"/>
          </a:xfrm>
          <a:prstGeom prst="roundRect">
            <a:avLst>
              <a:gd name="adj" fmla="val 26667"/>
            </a:avLst>
          </a:prstGeom>
          <a:solidFill>
            <a:srgbClr val="FBE9EE"/>
          </a:solidFill>
          <a:ln/>
        </p:spPr>
      </p:sp>
      <p:sp>
        <p:nvSpPr>
          <p:cNvPr id="36" name="Text 34"/>
          <p:cNvSpPr txBox="1"/>
          <p:nvPr/>
        </p:nvSpPr>
        <p:spPr>
          <a:xfrm>
            <a:off x="841248" y="48828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7" name="Text 35"/>
          <p:cNvSpPr txBox="1"/>
          <p:nvPr/>
        </p:nvSpPr>
        <p:spPr>
          <a:xfrm>
            <a:off x="1225296" y="485546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Cam levhada yükselmeyi t kadar sanmak.</a:t>
            </a:r>
            <a:endParaRPr lang="en-US" sz="1500" dirty="0"/>
          </a:p>
        </p:txBody>
      </p:sp>
      <p:sp>
        <p:nvSpPr>
          <p:cNvPr id="38" name="Shape 36"/>
          <p:cNvSpPr/>
          <p:nvPr/>
        </p:nvSpPr>
        <p:spPr>
          <a:xfrm>
            <a:off x="841248" y="5246370"/>
            <a:ext cx="274320" cy="274320"/>
          </a:xfrm>
          <a:prstGeom prst="roundRect">
            <a:avLst>
              <a:gd name="adj" fmla="val 26667"/>
            </a:avLst>
          </a:prstGeom>
          <a:solidFill>
            <a:srgbClr val="EAF7DC"/>
          </a:solidFill>
          <a:ln/>
        </p:spPr>
      </p:sp>
      <p:sp>
        <p:nvSpPr>
          <p:cNvPr id="39" name="Text 37"/>
          <p:cNvSpPr txBox="1"/>
          <p:nvPr/>
        </p:nvSpPr>
        <p:spPr>
          <a:xfrm>
            <a:off x="841248" y="524637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0" name="Text 38"/>
          <p:cNvSpPr txBox="1"/>
          <p:nvPr/>
        </p:nvSpPr>
        <p:spPr>
          <a:xfrm>
            <a:off x="1225296" y="522808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Yükselme t değil, t(1 − 1/n)'dir.</a:t>
            </a:r>
            <a:endParaRPr lang="en-US" sz="1400" dirty="0"/>
          </a:p>
        </p:txBody>
      </p:sp>
      <p:sp>
        <p:nvSpPr>
          <p:cNvPr id="41" name="Shape 39"/>
          <p:cNvSpPr/>
          <p:nvPr/>
        </p:nvSpPr>
        <p:spPr>
          <a:xfrm>
            <a:off x="6205576" y="473659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6406744" y="4882896"/>
            <a:ext cx="274320" cy="274320"/>
          </a:xfrm>
          <a:prstGeom prst="roundRect">
            <a:avLst>
              <a:gd name="adj" fmla="val 26667"/>
            </a:avLst>
          </a:prstGeom>
          <a:solidFill>
            <a:srgbClr val="FBE9EE"/>
          </a:solidFill>
          <a:ln/>
        </p:spPr>
      </p:sp>
      <p:sp>
        <p:nvSpPr>
          <p:cNvPr id="43" name="Text 41"/>
          <p:cNvSpPr txBox="1"/>
          <p:nvPr/>
        </p:nvSpPr>
        <p:spPr>
          <a:xfrm>
            <a:off x="6406744" y="48828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44" name="Text 42"/>
          <p:cNvSpPr txBox="1"/>
          <p:nvPr/>
        </p:nvSpPr>
        <p:spPr>
          <a:xfrm>
            <a:off x="6790792" y="485546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Eğik bakışta aynı formülü kullanmak.</a:t>
            </a:r>
            <a:endParaRPr lang="en-US" sz="1500" dirty="0"/>
          </a:p>
        </p:txBody>
      </p:sp>
      <p:sp>
        <p:nvSpPr>
          <p:cNvPr id="45" name="Shape 43"/>
          <p:cNvSpPr/>
          <p:nvPr/>
        </p:nvSpPr>
        <p:spPr>
          <a:xfrm>
            <a:off x="6406744" y="5246370"/>
            <a:ext cx="274320" cy="274320"/>
          </a:xfrm>
          <a:prstGeom prst="roundRect">
            <a:avLst>
              <a:gd name="adj" fmla="val 26667"/>
            </a:avLst>
          </a:prstGeom>
          <a:solidFill>
            <a:srgbClr val="EAF7DC"/>
          </a:solidFill>
          <a:ln/>
        </p:spPr>
      </p:sp>
      <p:sp>
        <p:nvSpPr>
          <p:cNvPr id="46" name="Text 44"/>
          <p:cNvSpPr txBox="1"/>
          <p:nvPr/>
        </p:nvSpPr>
        <p:spPr>
          <a:xfrm>
            <a:off x="6406744" y="524637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7" name="Text 45"/>
          <p:cNvSpPr txBox="1"/>
          <p:nvPr/>
        </p:nvSpPr>
        <p:spPr>
          <a:xfrm>
            <a:off x="6790792" y="522808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Bağıntı dik bakış içindir.</a:t>
            </a:r>
            <a:endParaRPr lang="en-US" sz="1400" dirty="0"/>
          </a:p>
        </p:txBody>
      </p:sp>
      <p:sp>
        <p:nvSpPr>
          <p:cNvPr id="48" name="Shape 46"/>
          <p:cNvSpPr/>
          <p:nvPr/>
        </p:nvSpPr>
        <p:spPr>
          <a:xfrm>
            <a:off x="640080" y="6382512"/>
            <a:ext cx="128016" cy="128016"/>
          </a:xfrm>
          <a:prstGeom prst="roundRect">
            <a:avLst>
              <a:gd name="adj" fmla="val 28571"/>
            </a:avLst>
          </a:prstGeom>
          <a:solidFill>
            <a:srgbClr val="A9E648"/>
          </a:solidFill>
          <a:ln/>
        </p:spPr>
      </p:sp>
      <p:sp>
        <p:nvSpPr>
          <p:cNvPr id="49" name="Text 4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50" name="Text 4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Havadan </a:t>
            </a:r>
            <a:pPr indent="0" marL="0">
              <a:buNone/>
            </a:pPr>
            <a:r>
              <a:rPr lang="en-US" sz="1500" b="1" dirty="0">
                <a:solidFill>
                  <a:srgbClr val="FFFFFF"/>
                </a:solidFill>
                <a:latin typeface="Calibri" pitchFamily="34" charset="0"/>
                <a:ea typeface="Calibri" pitchFamily="34" charset="-122"/>
                <a:cs typeface="Calibri" pitchFamily="34" charset="-120"/>
              </a:rPr>
              <a:t>h′ = h / n</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Sudan </a:t>
            </a:r>
            <a:pPr indent="0" marL="0">
              <a:buNone/>
            </a:pPr>
            <a:r>
              <a:rPr lang="en-US" sz="1500" b="1" dirty="0">
                <a:solidFill>
                  <a:srgbClr val="FFFFFF"/>
                </a:solidFill>
                <a:latin typeface="Calibri" pitchFamily="34" charset="0"/>
                <a:ea typeface="Calibri" pitchFamily="34" charset="-122"/>
                <a:cs typeface="Calibri" pitchFamily="34" charset="-120"/>
              </a:rPr>
              <a:t>h′ = n · h</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Suda </a:t>
            </a:r>
            <a:pPr indent="0" marL="0">
              <a:buNone/>
            </a:pPr>
            <a:r>
              <a:rPr lang="en-US" sz="1500" b="1" dirty="0">
                <a:solidFill>
                  <a:srgbClr val="FFFFFF"/>
                </a:solidFill>
                <a:latin typeface="Calibri" pitchFamily="34" charset="0"/>
                <a:ea typeface="Calibri" pitchFamily="34" charset="-122"/>
                <a:cs typeface="Calibri" pitchFamily="34" charset="-120"/>
              </a:rPr>
              <a:t>%25 sığ</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Cam levha </a:t>
            </a:r>
            <a:pPr indent="0" marL="0">
              <a:buNone/>
            </a:pPr>
            <a:r>
              <a:rPr lang="en-US" sz="1500" b="1" dirty="0">
                <a:solidFill>
                  <a:srgbClr val="FFFFFF"/>
                </a:solidFill>
                <a:latin typeface="Calibri" pitchFamily="34" charset="0"/>
                <a:ea typeface="Calibri" pitchFamily="34" charset="-122"/>
                <a:cs typeface="Calibri" pitchFamily="34" charset="-120"/>
              </a:rPr>
              <a:t>t(1 − 1/n)</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h′ = h / n</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havadan suya bakış</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h′ = n · h</a:t>
            </a:r>
            <a:endParaRPr lang="en-US" sz="1350" dirty="0"/>
          </a:p>
        </p:txBody>
      </p:sp>
      <p:sp>
        <p:nvSpPr>
          <p:cNvPr id="19" name="Text 17"/>
          <p:cNvSpPr txBox="1"/>
          <p:nvPr/>
        </p:nvSpPr>
        <p:spPr>
          <a:xfrm>
            <a:off x="8183880" y="321868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sudan havaya bakış</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956816"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Δh = h (1 − 1/n)</a:t>
            </a:r>
            <a:endParaRPr lang="en-US" sz="1350" dirty="0"/>
          </a:p>
        </p:txBody>
      </p:sp>
      <p:sp>
        <p:nvSpPr>
          <p:cNvPr id="22" name="Text 20"/>
          <p:cNvSpPr txBox="1"/>
          <p:nvPr/>
        </p:nvSpPr>
        <p:spPr>
          <a:xfrm>
            <a:off x="8677656" y="4041648"/>
            <a:ext cx="2691079"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yükselme miktarı</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Δ = t (1 − 1/n)</a:t>
            </a:r>
            <a:endParaRPr lang="en-US" sz="1350" dirty="0"/>
          </a:p>
        </p:txBody>
      </p:sp>
      <p:sp>
        <p:nvSpPr>
          <p:cNvPr id="25" name="Text 23"/>
          <p:cNvSpPr txBox="1"/>
          <p:nvPr/>
        </p:nvSpPr>
        <p:spPr>
          <a:xfrm>
            <a:off x="8572500" y="486460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cam levhada kayma</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dersler.perinet.org/gorunur-derinlik.html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06 · Fiber optik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Görünür derinlik — Dersler</dc:title>
  <dc:subject>Fizik · Optik</dc:subject>
  <dc:creator>Dersler</dc:creator>
  <cp:lastModifiedBy>Dersler</cp:lastModifiedBy>
  <cp:revision>1</cp:revision>
  <dcterms:created xsi:type="dcterms:W3CDTF">2026-09-20T18:42:29Z</dcterms:created>
  <dcterms:modified xsi:type="dcterms:W3CDTF">2026-09-20T18:42:29Z</dcterms:modified>
</cp:coreProperties>
</file>