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h = 200 cm için görünen derinlik – kırılma indisi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h′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Sheet1!$A$2:$A$82</c:f>
              <c:numCache>
                <c:formatCode>General</c:formatCode>
                <c:ptCount val="81"/>
                <c:pt idx="0">
                  <c:v>1</c:v>
                </c:pt>
                <c:pt idx="1">
                  <c:v>1.01</c:v>
                </c:pt>
                <c:pt idx="2">
                  <c:v>1.02</c:v>
                </c:pt>
                <c:pt idx="3">
                  <c:v>1.03</c:v>
                </c:pt>
                <c:pt idx="4">
                  <c:v>1.04</c:v>
                </c:pt>
                <c:pt idx="5">
                  <c:v>1.05</c:v>
                </c:pt>
                <c:pt idx="6">
                  <c:v>1.06</c:v>
                </c:pt>
                <c:pt idx="7">
                  <c:v>1.07</c:v>
                </c:pt>
                <c:pt idx="8">
                  <c:v>1.08</c:v>
                </c:pt>
                <c:pt idx="9">
                  <c:v>1.09</c:v>
                </c:pt>
                <c:pt idx="10">
                  <c:v>1.1</c:v>
                </c:pt>
                <c:pt idx="11">
                  <c:v>1.11</c:v>
                </c:pt>
                <c:pt idx="12">
                  <c:v>1.12</c:v>
                </c:pt>
                <c:pt idx="13">
                  <c:v>1.13</c:v>
                </c:pt>
                <c:pt idx="14">
                  <c:v>1.14</c:v>
                </c:pt>
                <c:pt idx="15">
                  <c:v>1.15</c:v>
                </c:pt>
                <c:pt idx="16">
                  <c:v>1.16</c:v>
                </c:pt>
                <c:pt idx="17">
                  <c:v>1.17</c:v>
                </c:pt>
                <c:pt idx="18">
                  <c:v>1.18</c:v>
                </c:pt>
                <c:pt idx="19">
                  <c:v>1.19</c:v>
                </c:pt>
                <c:pt idx="20">
                  <c:v>1.2</c:v>
                </c:pt>
                <c:pt idx="21">
                  <c:v>1.21</c:v>
                </c:pt>
                <c:pt idx="22">
                  <c:v>1.22</c:v>
                </c:pt>
                <c:pt idx="23">
                  <c:v>1.23</c:v>
                </c:pt>
                <c:pt idx="24">
                  <c:v>1.24</c:v>
                </c:pt>
                <c:pt idx="25">
                  <c:v>1.25</c:v>
                </c:pt>
                <c:pt idx="26">
                  <c:v>1.26</c:v>
                </c:pt>
                <c:pt idx="27">
                  <c:v>1.27</c:v>
                </c:pt>
                <c:pt idx="28">
                  <c:v>1.28</c:v>
                </c:pt>
                <c:pt idx="29">
                  <c:v>1.29</c:v>
                </c:pt>
                <c:pt idx="30">
                  <c:v>1.3</c:v>
                </c:pt>
                <c:pt idx="31">
                  <c:v>1.31</c:v>
                </c:pt>
                <c:pt idx="32">
                  <c:v>1.32</c:v>
                </c:pt>
                <c:pt idx="33">
                  <c:v>1.33</c:v>
                </c:pt>
                <c:pt idx="34">
                  <c:v>1.34</c:v>
                </c:pt>
                <c:pt idx="35">
                  <c:v>1.35</c:v>
                </c:pt>
                <c:pt idx="36">
                  <c:v>1.36</c:v>
                </c:pt>
                <c:pt idx="37">
                  <c:v>1.37</c:v>
                </c:pt>
                <c:pt idx="38">
                  <c:v>1.38</c:v>
                </c:pt>
                <c:pt idx="39">
                  <c:v>1.39</c:v>
                </c:pt>
                <c:pt idx="40">
                  <c:v>1.4</c:v>
                </c:pt>
                <c:pt idx="41">
                  <c:v>1.41</c:v>
                </c:pt>
                <c:pt idx="42">
                  <c:v>1.42</c:v>
                </c:pt>
                <c:pt idx="43">
                  <c:v>1.43</c:v>
                </c:pt>
                <c:pt idx="44">
                  <c:v>1.44</c:v>
                </c:pt>
                <c:pt idx="45">
                  <c:v>1.45</c:v>
                </c:pt>
                <c:pt idx="46">
                  <c:v>1.46</c:v>
                </c:pt>
                <c:pt idx="47">
                  <c:v>1.47</c:v>
                </c:pt>
                <c:pt idx="48">
                  <c:v>1.48</c:v>
                </c:pt>
                <c:pt idx="49">
                  <c:v>1.49</c:v>
                </c:pt>
                <c:pt idx="50">
                  <c:v>1.5</c:v>
                </c:pt>
                <c:pt idx="51">
                  <c:v>1.51</c:v>
                </c:pt>
                <c:pt idx="52">
                  <c:v>1.52</c:v>
                </c:pt>
                <c:pt idx="53">
                  <c:v>1.53</c:v>
                </c:pt>
                <c:pt idx="54">
                  <c:v>1.54</c:v>
                </c:pt>
                <c:pt idx="55">
                  <c:v>1.55</c:v>
                </c:pt>
                <c:pt idx="56">
                  <c:v>1.56</c:v>
                </c:pt>
                <c:pt idx="57">
                  <c:v>1.57</c:v>
                </c:pt>
                <c:pt idx="58">
                  <c:v>1.58</c:v>
                </c:pt>
                <c:pt idx="59">
                  <c:v>1.59</c:v>
                </c:pt>
                <c:pt idx="60">
                  <c:v>1.6</c:v>
                </c:pt>
                <c:pt idx="61">
                  <c:v>1.61</c:v>
                </c:pt>
                <c:pt idx="62">
                  <c:v>1.62</c:v>
                </c:pt>
                <c:pt idx="63">
                  <c:v>1.63</c:v>
                </c:pt>
                <c:pt idx="64">
                  <c:v>1.64</c:v>
                </c:pt>
                <c:pt idx="65">
                  <c:v>1.65</c:v>
                </c:pt>
                <c:pt idx="66">
                  <c:v>1.66</c:v>
                </c:pt>
                <c:pt idx="67">
                  <c:v>1.67</c:v>
                </c:pt>
                <c:pt idx="68">
                  <c:v>1.68</c:v>
                </c:pt>
                <c:pt idx="69">
                  <c:v>1.69</c:v>
                </c:pt>
                <c:pt idx="70">
                  <c:v>1.7</c:v>
                </c:pt>
                <c:pt idx="71">
                  <c:v>1.71</c:v>
                </c:pt>
                <c:pt idx="72">
                  <c:v>1.72</c:v>
                </c:pt>
                <c:pt idx="73">
                  <c:v>1.73</c:v>
                </c:pt>
                <c:pt idx="74">
                  <c:v>1.74</c:v>
                </c:pt>
                <c:pt idx="75">
                  <c:v>1.75</c:v>
                </c:pt>
                <c:pt idx="76">
                  <c:v>1.76</c:v>
                </c:pt>
                <c:pt idx="77">
                  <c:v>1.77</c:v>
                </c:pt>
                <c:pt idx="78">
                  <c:v>1.78</c:v>
                </c:pt>
                <c:pt idx="79">
                  <c:v>1.79</c:v>
                </c:pt>
                <c:pt idx="80">
                  <c:v>1.8</c:v>
                </c:pt>
              </c:numCache>
            </c:numRef>
          </c:xVal>
          <c:yVal>
            <c:numRef>
              <c:f>Sheet1!$B$2:$B$82</c:f>
              <c:numCache>
                <c:formatCode>General</c:formatCode>
                <c:ptCount val="81"/>
                <c:pt idx="0">
                  <c:v>200</c:v>
                </c:pt>
                <c:pt idx="1">
                  <c:v>198</c:v>
                </c:pt>
                <c:pt idx="2">
                  <c:v>196.1</c:v>
                </c:pt>
                <c:pt idx="3">
                  <c:v>194.2</c:v>
                </c:pt>
                <c:pt idx="4">
                  <c:v>192.3</c:v>
                </c:pt>
                <c:pt idx="5">
                  <c:v>190.5</c:v>
                </c:pt>
                <c:pt idx="6">
                  <c:v>188.7</c:v>
                </c:pt>
                <c:pt idx="7">
                  <c:v>186.9</c:v>
                </c:pt>
                <c:pt idx="8">
                  <c:v>185.2</c:v>
                </c:pt>
                <c:pt idx="9">
                  <c:v>183.5</c:v>
                </c:pt>
                <c:pt idx="10">
                  <c:v>181.8</c:v>
                </c:pt>
                <c:pt idx="11">
                  <c:v>180.2</c:v>
                </c:pt>
                <c:pt idx="12">
                  <c:v>178.6</c:v>
                </c:pt>
                <c:pt idx="13">
                  <c:v>177</c:v>
                </c:pt>
                <c:pt idx="14">
                  <c:v>175.4</c:v>
                </c:pt>
                <c:pt idx="15">
                  <c:v>173.9</c:v>
                </c:pt>
                <c:pt idx="16">
                  <c:v>172.4</c:v>
                </c:pt>
                <c:pt idx="17">
                  <c:v>170.9</c:v>
                </c:pt>
                <c:pt idx="18">
                  <c:v>169.5</c:v>
                </c:pt>
                <c:pt idx="19">
                  <c:v>168.1</c:v>
                </c:pt>
                <c:pt idx="20">
                  <c:v>166.7</c:v>
                </c:pt>
                <c:pt idx="21">
                  <c:v>165.3</c:v>
                </c:pt>
                <c:pt idx="22">
                  <c:v>163.9</c:v>
                </c:pt>
                <c:pt idx="23">
                  <c:v>162.6</c:v>
                </c:pt>
                <c:pt idx="24">
                  <c:v>161.3</c:v>
                </c:pt>
                <c:pt idx="25">
                  <c:v>160</c:v>
                </c:pt>
                <c:pt idx="26">
                  <c:v>158.7</c:v>
                </c:pt>
                <c:pt idx="27">
                  <c:v>157.5</c:v>
                </c:pt>
                <c:pt idx="28">
                  <c:v>156.3</c:v>
                </c:pt>
                <c:pt idx="29">
                  <c:v>155</c:v>
                </c:pt>
                <c:pt idx="30">
                  <c:v>153.8</c:v>
                </c:pt>
                <c:pt idx="31">
                  <c:v>152.7</c:v>
                </c:pt>
                <c:pt idx="32">
                  <c:v>151.5</c:v>
                </c:pt>
                <c:pt idx="33">
                  <c:v>150.4</c:v>
                </c:pt>
                <c:pt idx="34">
                  <c:v>149.3</c:v>
                </c:pt>
                <c:pt idx="35">
                  <c:v>148.1</c:v>
                </c:pt>
                <c:pt idx="36">
                  <c:v>147.1</c:v>
                </c:pt>
                <c:pt idx="37">
                  <c:v>146</c:v>
                </c:pt>
                <c:pt idx="38">
                  <c:v>144.9</c:v>
                </c:pt>
                <c:pt idx="39">
                  <c:v>143.9</c:v>
                </c:pt>
                <c:pt idx="40">
                  <c:v>142.9</c:v>
                </c:pt>
                <c:pt idx="41">
                  <c:v>141.8</c:v>
                </c:pt>
                <c:pt idx="42">
                  <c:v>140.8</c:v>
                </c:pt>
                <c:pt idx="43">
                  <c:v>139.9</c:v>
                </c:pt>
                <c:pt idx="44">
                  <c:v>138.9</c:v>
                </c:pt>
                <c:pt idx="45">
                  <c:v>137.9</c:v>
                </c:pt>
                <c:pt idx="46">
                  <c:v>137</c:v>
                </c:pt>
                <c:pt idx="47">
                  <c:v>136.1</c:v>
                </c:pt>
                <c:pt idx="48">
                  <c:v>135.1</c:v>
                </c:pt>
                <c:pt idx="49">
                  <c:v>134.2</c:v>
                </c:pt>
                <c:pt idx="50">
                  <c:v>133.3</c:v>
                </c:pt>
                <c:pt idx="51">
                  <c:v>132.5</c:v>
                </c:pt>
                <c:pt idx="52">
                  <c:v>131.6</c:v>
                </c:pt>
                <c:pt idx="53">
                  <c:v>130.7</c:v>
                </c:pt>
                <c:pt idx="54">
                  <c:v>129.9</c:v>
                </c:pt>
                <c:pt idx="55">
                  <c:v>129</c:v>
                </c:pt>
                <c:pt idx="56">
                  <c:v>128.2</c:v>
                </c:pt>
                <c:pt idx="57">
                  <c:v>127.4</c:v>
                </c:pt>
                <c:pt idx="58">
                  <c:v>126.6</c:v>
                </c:pt>
                <c:pt idx="59">
                  <c:v>125.8</c:v>
                </c:pt>
                <c:pt idx="60">
                  <c:v>125</c:v>
                </c:pt>
                <c:pt idx="61">
                  <c:v>124.2</c:v>
                </c:pt>
                <c:pt idx="62">
                  <c:v>123.5</c:v>
                </c:pt>
                <c:pt idx="63">
                  <c:v>122.7</c:v>
                </c:pt>
                <c:pt idx="64">
                  <c:v>122</c:v>
                </c:pt>
                <c:pt idx="65">
                  <c:v>121.2</c:v>
                </c:pt>
                <c:pt idx="66">
                  <c:v>120.5</c:v>
                </c:pt>
                <c:pt idx="67">
                  <c:v>119.8</c:v>
                </c:pt>
                <c:pt idx="68">
                  <c:v>119</c:v>
                </c:pt>
                <c:pt idx="69">
                  <c:v>118.3</c:v>
                </c:pt>
                <c:pt idx="70">
                  <c:v>117.6</c:v>
                </c:pt>
                <c:pt idx="71">
                  <c:v>117</c:v>
                </c:pt>
                <c:pt idx="72">
                  <c:v>116.3</c:v>
                </c:pt>
                <c:pt idx="73">
                  <c:v>115.6</c:v>
                </c:pt>
                <c:pt idx="74">
                  <c:v>114.9</c:v>
                </c:pt>
                <c:pt idx="75">
                  <c:v>114.3</c:v>
                </c:pt>
                <c:pt idx="76">
                  <c:v>113.6</c:v>
                </c:pt>
                <c:pt idx="77">
                  <c:v>113</c:v>
                </c:pt>
                <c:pt idx="78">
                  <c:v>112.4</c:v>
                </c:pt>
                <c:pt idx="79">
                  <c:v>111.7</c:v>
                </c:pt>
                <c:pt idx="80">
                  <c:v>111.1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kırılma indisi n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22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görünen derinlik (cm)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bardağa bozuk para koyup su ekleme deneyini anlat: görünmeyen para görünür oluyor.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konu kırılmanın doğrudan uygulaması; Snell yasasını hatırlatarak başla.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adımı tahtada çizerek göster; özellikle 'uzantı' adımı atlanınca konu havada kalıyor.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Grafiğin 1/n biçimi vurgulanmalı: indis iki katına çıkarsa görünen derinlik yarıya 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simetri sorularda sık sınanır: hangi ortamda olduğunu sormadan formül seçilmemeli.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Güvenlik uyarısı bu slaytın en değerli kısmı: derinliği gözle tahmin etmek yanıltıcı.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Havuz güvenliğiyle ilişkilendir: 2 m'lik havuz 1,5 m gibi görünüyor.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 önceki konuyla (kırılma) bağ kurmak için ideal örnek.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bağıntının yönünü karşılaştırmak için iyi bir kapanış örneği.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Üçüncü madde kavramsal; 'ne değişti?' sorusuyla tartıştır.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balık avı bölümünü oynat: sınıfa 'nereye nişan alalım?' diye 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Görünür derinlik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Havuzun dibi olduğundan yakın, sudaki balık olduğundan sığ görünür. Sebebi: sudan çıkan ışınlar yüzeyde kırılır ve göz onları düz gelmiş sanar.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h′ = h / n          h′ = n · h (sudan havaya)          Δ = t (1 − 1/n)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dersler.perinet.org/gorunur-derinlik.html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412480" y="3200400"/>
            <a:ext cx="3383280" cy="1737360"/>
          </a:xfrm>
          <a:prstGeom prst="rect">
            <a:avLst/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875520" y="4572000"/>
            <a:ext cx="310896" cy="310896"/>
          </a:xfrm>
          <a:prstGeom prst="ellipse">
            <a:avLst/>
          </a:prstGeom>
          <a:solidFill>
            <a:srgbClr val="FFE08A"/>
          </a:solidFill>
          <a:ln/>
        </p:spPr>
      </p:sp>
      <p:sp>
        <p:nvSpPr>
          <p:cNvPr id="10" name="Shape 7"/>
          <p:cNvSpPr/>
          <p:nvPr/>
        </p:nvSpPr>
        <p:spPr>
          <a:xfrm>
            <a:off x="9875520" y="3977640"/>
            <a:ext cx="310896" cy="310896"/>
          </a:xfrm>
          <a:prstGeom prst="ellipse">
            <a:avLst/>
          </a:prstGeom>
          <a:ln w="25400">
            <a:solidFill>
              <a:srgbClr val="9C8CF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 flipV="1">
            <a:off x="10030968" y="3200400"/>
            <a:ext cx="0" cy="1371600"/>
          </a:xfrm>
          <a:prstGeom prst="line">
            <a:avLst/>
          </a:prstGeom>
          <a:noFill/>
          <a:ln w="25400">
            <a:solidFill>
              <a:srgbClr val="B9EE6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32720" y="45902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0332720" y="39959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bağıntının kaynağından günlük sonuçlarına.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sığ görünür?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Kırılan ışınların uzantıları yukarıda kesişir.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Bağıntı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h/n; su için dörtte üç.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Yükselme miktarı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= h(1 − 1/n).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havaya bakış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n·h; cisim uzaklaşmış görünür.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levha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Altındaki yazı t(1 − 1/n) kadar yükselir.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Geçerlilik sınırı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Bağıntılar dik bakış içindir.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daha sığ görünür?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yerinde durur; değişen, göze ulaşan ışınların doğrultusudur.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675120" cy="841248"/>
          </a:xfrm>
          <a:prstGeom prst="roundRect">
            <a:avLst>
              <a:gd name="adj" fmla="val 1521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002536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002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783080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Sudaki cisimden çıkan ışınlar su–hava sınırına ulaşır.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675120" cy="841248"/>
          </a:xfrm>
          <a:prstGeom prst="roundRect">
            <a:avLst>
              <a:gd name="adj" fmla="val 1521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2962656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743200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yoğundan az yoğuna geçtikleri için normalden uzaklaşarak kırılırlar.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6675120" cy="841248"/>
          </a:xfrm>
          <a:prstGeom prst="roundRect">
            <a:avLst>
              <a:gd name="adj" fmla="val 1521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922776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9227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703320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Göz, kendisine gelen ışınların geldiği doğrultuyu geriye uzatır.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6675120" cy="841248"/>
          </a:xfrm>
          <a:prstGeom prst="roundRect">
            <a:avLst>
              <a:gd name="adj" fmla="val 1521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4882896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882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663440"/>
            <a:ext cx="5669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Uzantılar, gerçek yerin yukarısında kesişir: görüntü orada oluşur.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35240" y="1783080"/>
            <a:ext cx="3916375" cy="2011680"/>
          </a:xfrm>
          <a:prstGeom prst="roundRect">
            <a:avLst>
              <a:gd name="adj" fmla="val 6364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95528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sanaldır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Suyun içinde gerçekten bir görüntü oluşmaz; ışınların uzantıları orada kesişir. Bu yüzden görünen derinliğe perde konamaz.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635240" y="3977640"/>
            <a:ext cx="3916375" cy="914400"/>
          </a:xfrm>
          <a:prstGeom prst="roundRect">
            <a:avLst>
              <a:gd name="adj" fmla="val 100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35240" y="3977640"/>
            <a:ext cx="3916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h′ = h / 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Δh = h (1 − 1/n)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635240" y="5029200"/>
            <a:ext cx="3916375" cy="822960"/>
          </a:xfrm>
          <a:prstGeom prst="roundRect">
            <a:avLst>
              <a:gd name="adj" fmla="val 1555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55280" y="5029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için n = 4/3: h′ = 3h/4, yani cisim derinliğinin dörtte biri kadar yükselmiş görünür.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Hangi sıvı ne kadar yükseltir?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İndis büyüdükçe cisim daha çok yükselmiş görünür.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59436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178040" y="178308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Sıvı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9052560" y="1783080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9784080" y="178308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h′/h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178308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Yükselme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903720" y="2441448"/>
            <a:ext cx="4647895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78040" y="244144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2441448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1,33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0" y="244144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0,75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607040" y="2441448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903720" y="3099816"/>
            <a:ext cx="4647895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78040" y="3099816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Alkol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3099816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1,36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0" y="309981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0,74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607040" y="3099816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903720" y="3758184"/>
            <a:ext cx="4647895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178040" y="375818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Gliserin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3758184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1,47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784080" y="375818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0,68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0607040" y="3758184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%32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903720" y="4416552"/>
            <a:ext cx="4647895" cy="585216"/>
          </a:xfrm>
          <a:prstGeom prst="roundRect">
            <a:avLst>
              <a:gd name="adj" fmla="val 12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178040" y="441655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Karbon sülfür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052560" y="4416552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1,63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784080" y="441655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0,61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0607040" y="4416552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%39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03720" y="5166360"/>
            <a:ext cx="4647895" cy="685800"/>
          </a:xfrm>
          <a:prstGeom prst="roundRect">
            <a:avLst>
              <a:gd name="adj" fmla="val 18667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7178040" y="51663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h / h′ bağıntısı, bilinmeyen bir sıvının indisini ölçmenin en basit yoludur.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Sudan havaya bakmak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Gözlemci yoğun ortamdaysa bağıntı ters çalışır.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havadan bakış: h′ = h / n        sudan bakış: h′ = n · 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349240" cy="2011680"/>
          </a:xfrm>
          <a:prstGeom prst="roundRect">
            <a:avLst>
              <a:gd name="adj" fmla="val 636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926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Havadan suya bakış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40156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yükselmiş, yani daha yakın görünür.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h′ = h/n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4114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sığ görünür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99632" y="2743200"/>
            <a:ext cx="5349240" cy="2011680"/>
          </a:xfrm>
          <a:prstGeom prst="roundRect">
            <a:avLst>
              <a:gd name="adj" fmla="val 636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9672" y="29260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havaya bakış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340156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daha yüksekte, yani daha uzak görünür.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h′ = n·h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51392" y="4114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uzak görünür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983480"/>
            <a:ext cx="10911535" cy="868680"/>
          </a:xfrm>
          <a:prstGeom prst="roundRect">
            <a:avLst>
              <a:gd name="adj" fmla="val 1473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498348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kural: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Gözlemcinin bulunduğu ortamın indisi büyükse cisim uzaklaşmış, küçükse yakınlaşmış görünür. Su altındaki dalgıç için 1,5 m yukarıdaki kuş 2 m'de görünür.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 levha ve günlük örnekler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Kitabın üstündeki cam, yazıyı neden yükseltir?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760720" cy="731520"/>
          </a:xfrm>
          <a:prstGeom prst="roundRect">
            <a:avLst>
              <a:gd name="adj" fmla="val 125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 = t (1 − 1/n)        cam için (n = 1,5): Δ = t / 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974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Kalınlığı t, indisi n olan cam levha altındaki yazıyı yukarı taşımış gibi gösterir. Yazının levhaya uzaklığı sonucu değiştirmez; önemli olan ışığın cam içinde katettiği kalınlıktır. 6 cm'lik cam levha yazıyı 2 cm yükseltir.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11480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Havuz sığ görünür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4114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Derinliği olduğundan az sanıp atlamak tehlikelidir.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57200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572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Kaşık kırık görünür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4572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altındaki kısım yükselmiş görünür.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02920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5029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Zıpkınla balık avı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5029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Avcılar gördüklerinin biraz altına nişan alır.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48640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5486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Bardaktaki bozuk para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54864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eklenince görünmeyen para görünür olur.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66560" y="1783080"/>
            <a:ext cx="4785055" cy="4069080"/>
          </a:xfrm>
          <a:prstGeom prst="roundRect">
            <a:avLst>
              <a:gd name="adj" fmla="val 3146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08660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Bağıntının sınırı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51460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h/n bağıntısı yalnızca dik (dike yakın) bakış içindir.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Yüzeye çok eğik bakıldığında kırılma açısı büyür; uzantıların kesiştiği nokta daha da yükselir ve cisim beklenenden de sığ görünür.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havuza yandan bakıldığında dip iyice yakın görünür — ve bu, atlayanlar için gerçek bir tehlikedir.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havuzun derinliği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n(su) = 4/3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Derinliği 2 m olan bir havuzun dibi, yukarıdan bakan biri için kaç metre derinlikte görünür? Yükselme ne kadardır?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 m · yükselme 0,5 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h/n = 2 / (4/3) = 2 · 3/4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1,5 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= 2 − 1,5 = 0,5 m, yani derinliğin dörtte biri.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içindeki her cisim gerçek derinliğinin dörtte üçünde görünür.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indisi bulmak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Ölçümden indise.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kaptaki sıvının 60 cm derinliğindeki cisim, 40 cm derinlikte görünüyor.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Sıvının kırılma indisi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Işığın bu sıvıdaki hızı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1,5 · (b) 2·10⁸ m/s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18389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1838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h / h′ = 60 / 40 = 1,5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321564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61645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6164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1564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c/n = 3·10⁸ / 1,5 = 2·10⁸ m/s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464820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504901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5049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64820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yöntem, laboratuvarda sıvı indisini ölçmenin en basit yollarından biridir.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sudan bakış ve cam levha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ayrı bağıntı bir arada.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Su altındaki dalgıç, yüzeyden 120 cm yukarıdaki lambayı kaç cm'de görür? (n = 4/3)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Kalınlığı 9 cm, indisi 1,5 olan cam levha altındaki yazı ne kadar yükselir?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160 cm · (b) 3 cm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Gözlemci yoğun ortamda: h′ = n·h = (4/3)·120 = 160 cm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Lamba 40 cm daha yüksekteymiş gibi görünür.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t(1 − 1/n) = 9 · (1 − 1/1,5) = 9 · (1/3)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3 cm; yazı ile levha arasındaki hava boşluğu sonucu değiştirmez.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h·n yazmak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Havadan bakışta bölme yapılır: h′ = h/n.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Görüntüyü gerçek sanmak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sanaldır; su içinde perdeye düşmez.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yükseldiğini düşünmek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yerinde durur; değişen ışınların doğrultusudur.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bakışta aynı bağıntı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durumda h′ = n·h olur, cisim uzaklaşmış görünür.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levhada yükselme t kadar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Yükselme t değil, t(1 − 1/n)'dir.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bakışta aynı formül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Bağıntı dik bakış içindir.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05 · Görünür derinlik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yanıltır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Kırılan ışınların uzantıları cismi gerçek yerinden yukarıda gösterir.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Havadan bakışta bölünür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h/n; suda her cisim dörtte üç derinlikte görünür.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Sudan bakışta çarpılır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 = n·h; havadaki cisim uzaklaşmış görünür.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levha yazıyı yükseltir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t(1 − 1/n); cam için kalınlığın üçte biri.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Havuz laboratuvarı, balık avı ve cam levha: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dersler.perinet.org/gorunur-derinlik.html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Görünür derinlik</dc:title>
  <dc:subject>Fizik · Optik</dc:subject>
  <dc:creator>Dersler</dc:creator>
  <cp:lastModifiedBy>Dersler</cp:lastModifiedBy>
  <cp:revision>1</cp:revision>
  <dcterms:created xsi:type="dcterms:W3CDTF">2026-09-18T21:56:48Z</dcterms:created>
  <dcterms:modified xsi:type="dcterms:W3CDTF">2026-09-18T21:56:48Z</dcterms:modified>
</cp:coreProperties>
</file>