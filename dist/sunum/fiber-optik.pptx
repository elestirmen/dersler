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n₁ = 1,50 için kabul açısı – kılıf indisi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kabul açısı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Sheet1!$A$2:$A$51</c:f>
              <c:numCache>
                <c:formatCode>General</c:formatCode>
                <c:ptCount val="50"/>
                <c:pt idx="0">
                  <c:v>1</c:v>
                </c:pt>
                <c:pt idx="1">
                  <c:v>1.01</c:v>
                </c:pt>
                <c:pt idx="2">
                  <c:v>1.02</c:v>
                </c:pt>
                <c:pt idx="3">
                  <c:v>1.03</c:v>
                </c:pt>
                <c:pt idx="4">
                  <c:v>1.04</c:v>
                </c:pt>
                <c:pt idx="5">
                  <c:v>1.05</c:v>
                </c:pt>
                <c:pt idx="6">
                  <c:v>1.06</c:v>
                </c:pt>
                <c:pt idx="7">
                  <c:v>1.07</c:v>
                </c:pt>
                <c:pt idx="8">
                  <c:v>1.08</c:v>
                </c:pt>
                <c:pt idx="9">
                  <c:v>1.09</c:v>
                </c:pt>
                <c:pt idx="10">
                  <c:v>1.1</c:v>
                </c:pt>
                <c:pt idx="11">
                  <c:v>1.11</c:v>
                </c:pt>
                <c:pt idx="12">
                  <c:v>1.12</c:v>
                </c:pt>
                <c:pt idx="13">
                  <c:v>1.13</c:v>
                </c:pt>
                <c:pt idx="14">
                  <c:v>1.14</c:v>
                </c:pt>
                <c:pt idx="15">
                  <c:v>1.15</c:v>
                </c:pt>
                <c:pt idx="16">
                  <c:v>1.16</c:v>
                </c:pt>
                <c:pt idx="17">
                  <c:v>1.17</c:v>
                </c:pt>
                <c:pt idx="18">
                  <c:v>1.18</c:v>
                </c:pt>
                <c:pt idx="19">
                  <c:v>1.19</c:v>
                </c:pt>
                <c:pt idx="20">
                  <c:v>1.2</c:v>
                </c:pt>
                <c:pt idx="21">
                  <c:v>1.21</c:v>
                </c:pt>
                <c:pt idx="22">
                  <c:v>1.22</c:v>
                </c:pt>
                <c:pt idx="23">
                  <c:v>1.23</c:v>
                </c:pt>
                <c:pt idx="24">
                  <c:v>1.24</c:v>
                </c:pt>
                <c:pt idx="25">
                  <c:v>1.25</c:v>
                </c:pt>
                <c:pt idx="26">
                  <c:v>1.26</c:v>
                </c:pt>
                <c:pt idx="27">
                  <c:v>1.27</c:v>
                </c:pt>
                <c:pt idx="28">
                  <c:v>1.28</c:v>
                </c:pt>
                <c:pt idx="29">
                  <c:v>1.29</c:v>
                </c:pt>
                <c:pt idx="30">
                  <c:v>1.3</c:v>
                </c:pt>
                <c:pt idx="31">
                  <c:v>1.31</c:v>
                </c:pt>
                <c:pt idx="32">
                  <c:v>1.32</c:v>
                </c:pt>
                <c:pt idx="33">
                  <c:v>1.33</c:v>
                </c:pt>
                <c:pt idx="34">
                  <c:v>1.34</c:v>
                </c:pt>
                <c:pt idx="35">
                  <c:v>1.35</c:v>
                </c:pt>
                <c:pt idx="36">
                  <c:v>1.36</c:v>
                </c:pt>
                <c:pt idx="37">
                  <c:v>1.37</c:v>
                </c:pt>
                <c:pt idx="38">
                  <c:v>1.38</c:v>
                </c:pt>
                <c:pt idx="39">
                  <c:v>1.39</c:v>
                </c:pt>
                <c:pt idx="40">
                  <c:v>1.4</c:v>
                </c:pt>
                <c:pt idx="41">
                  <c:v>1.41</c:v>
                </c:pt>
                <c:pt idx="42">
                  <c:v>1.42</c:v>
                </c:pt>
                <c:pt idx="43">
                  <c:v>1.43</c:v>
                </c:pt>
                <c:pt idx="44">
                  <c:v>1.44</c:v>
                </c:pt>
                <c:pt idx="45">
                  <c:v>1.45</c:v>
                </c:pt>
                <c:pt idx="46">
                  <c:v>1.46</c:v>
                </c:pt>
                <c:pt idx="47">
                  <c:v>1.47</c:v>
                </c:pt>
                <c:pt idx="48">
                  <c:v>1.48</c:v>
                </c:pt>
                <c:pt idx="49">
                  <c:v>1.49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  <c:pt idx="4">
                  <c:v>90</c:v>
                </c:pt>
                <c:pt idx="5">
                  <c:v>90</c:v>
                </c:pt>
                <c:pt idx="6">
                  <c:v>90</c:v>
                </c:pt>
                <c:pt idx="7">
                  <c:v>90</c:v>
                </c:pt>
                <c:pt idx="8">
                  <c:v>90</c:v>
                </c:pt>
                <c:pt idx="9">
                  <c:v>90</c:v>
                </c:pt>
                <c:pt idx="10">
                  <c:v>90</c:v>
                </c:pt>
                <c:pt idx="11">
                  <c:v>90</c:v>
                </c:pt>
                <c:pt idx="12">
                  <c:v>86.2</c:v>
                </c:pt>
                <c:pt idx="13">
                  <c:v>80.6</c:v>
                </c:pt>
                <c:pt idx="14">
                  <c:v>77.1</c:v>
                </c:pt>
                <c:pt idx="15">
                  <c:v>74.4</c:v>
                </c:pt>
                <c:pt idx="16">
                  <c:v>72</c:v>
                </c:pt>
                <c:pt idx="17">
                  <c:v>69.8</c:v>
                </c:pt>
                <c:pt idx="18">
                  <c:v>67.8</c:v>
                </c:pt>
                <c:pt idx="19">
                  <c:v>65.9</c:v>
                </c:pt>
                <c:pt idx="20">
                  <c:v>64.2</c:v>
                </c:pt>
                <c:pt idx="21">
                  <c:v>62.4</c:v>
                </c:pt>
                <c:pt idx="22">
                  <c:v>60.8</c:v>
                </c:pt>
                <c:pt idx="23">
                  <c:v>59.2</c:v>
                </c:pt>
                <c:pt idx="24">
                  <c:v>57.6</c:v>
                </c:pt>
                <c:pt idx="25">
                  <c:v>56</c:v>
                </c:pt>
                <c:pt idx="26">
                  <c:v>54.5</c:v>
                </c:pt>
                <c:pt idx="27">
                  <c:v>53</c:v>
                </c:pt>
                <c:pt idx="28">
                  <c:v>51.4</c:v>
                </c:pt>
                <c:pt idx="29">
                  <c:v>49.9</c:v>
                </c:pt>
                <c:pt idx="30">
                  <c:v>48.4</c:v>
                </c:pt>
                <c:pt idx="31">
                  <c:v>46.9</c:v>
                </c:pt>
                <c:pt idx="32">
                  <c:v>45.4</c:v>
                </c:pt>
                <c:pt idx="33">
                  <c:v>43.9</c:v>
                </c:pt>
                <c:pt idx="34">
                  <c:v>42.4</c:v>
                </c:pt>
                <c:pt idx="35">
                  <c:v>40.8</c:v>
                </c:pt>
                <c:pt idx="36">
                  <c:v>39.3</c:v>
                </c:pt>
                <c:pt idx="37">
                  <c:v>37.6</c:v>
                </c:pt>
                <c:pt idx="38">
                  <c:v>36</c:v>
                </c:pt>
                <c:pt idx="39">
                  <c:v>34.3</c:v>
                </c:pt>
                <c:pt idx="40">
                  <c:v>32.6</c:v>
                </c:pt>
                <c:pt idx="41">
                  <c:v>30.8</c:v>
                </c:pt>
                <c:pt idx="42">
                  <c:v>28.9</c:v>
                </c:pt>
                <c:pt idx="43">
                  <c:v>26.9</c:v>
                </c:pt>
                <c:pt idx="44">
                  <c:v>24.8</c:v>
                </c:pt>
                <c:pt idx="45">
                  <c:v>22.6</c:v>
                </c:pt>
                <c:pt idx="46">
                  <c:v>20.1</c:v>
                </c:pt>
                <c:pt idx="47">
                  <c:v>17.4</c:v>
                </c:pt>
                <c:pt idx="48">
                  <c:v>14.1</c:v>
                </c:pt>
                <c:pt idx="49">
                  <c:v>10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kılıf indisi n₂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kabul açısı (°)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sor: 'Bu odadaki internet hangi yoldan geliyor? Denizin altından geçen cam iplikle.'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Önceki konudaki tam yansımayı hatırlatarak başla: bu konu onun mühendislik uygulaması.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Açının normale göre ölçülmesi burada kritik; öğrenciler 'küçük açı' deyince kafaları karışıyor.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Kabul açısı ile sınır açı farklı yerlerde tanımlı; bunu iki kez söylemekte fayda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 dağılımı, veri hızının neden sınırlı olduğunu açıklıyor; tek modlu fiberin sebebi 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girişimden etkilenmemek, elektrik santrali gibi gürültülü ortamlarda belirleyici.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Denizaltı kabloları haritası internette var; göstermek konuyu somutlaştırıyor.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0,8 → 53° dönüşümü müfredattaki standart üçgenden geliyor.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indis birbirine çok yakın; küçük farkın karesi alınınca NA nasıl çıkıyor,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Gecikme (ping) kavramıyla bağ kur: oyun oynayanlar hemen ilgileniyor.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Dördüncü madde en ince ayrım; iki açının tanımlandığı yeri tekrar çizdir.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bükülme bölümünü aç; yarıçapı küçültüp ışığın kaçışını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Fiber optik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Saç teli inceliğindeki cam iplik, ışığı kilometrelerce öteye kayıpsıza yakın taşır. Sırrı tek bir olaydır: tam yansıma.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θ(sınır) = n₂ / n₁          NA = √(n₁² − n₂²)          v = c / n₁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dersler.perinet.org/fiber-optik.html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412480" y="3200400"/>
            <a:ext cx="3383280" cy="822960"/>
          </a:xfrm>
          <a:prstGeom prst="rect">
            <a:avLst/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3611880"/>
            <a:ext cx="841248" cy="4114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9253728" y="3200400"/>
            <a:ext cx="841248" cy="4114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94976" y="3611880"/>
            <a:ext cx="841248" cy="4114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936224" y="3200400"/>
            <a:ext cx="841248" cy="4114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0" y="4069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yapısından kullanım alanlarına.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Yapısı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Çekirdek, kılıf ve koruyucu kaplama.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ilkesi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yansıma; n₁ &gt; n₂ şartı.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açısı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= √(n₁² − n₂²) ve kabul konisi.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hızı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c/n₁; mod dağılımı.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Kayıplar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Bükülme, soğurma, saçılma.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 alanları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İnternet, endoskop, sensörler.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Yapısı ve çalışma ilkesi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katman, tek kural.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583680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(core)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874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Işığın taşındığı iç kısım; indisi n₁.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317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tek modlu ≈ 9 µm, çok modlu 50 – 62,5 µm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6583680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Kılıf (cladding)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9535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Çekirdeği saran, indisi daha küçük katman (n₂ &lt; n₁).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4107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yansımayı sağlayan katman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941064"/>
            <a:ext cx="6583680" cy="960120"/>
          </a:xfrm>
          <a:prstGeom prst="roundRect">
            <a:avLst>
              <a:gd name="adj" fmla="val 133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0325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Koruyucu kaplama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40325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Mekanik dayanım sağlar; optik görevi yoktur.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8970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plastik, çekmeye dayanıklı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5120640"/>
            <a:ext cx="6583680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1206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θ(sınır) = n₂ / n₁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543800" y="1783080"/>
            <a:ext cx="4007815" cy="4069080"/>
          </a:xfrm>
          <a:prstGeom prst="roundRect">
            <a:avLst>
              <a:gd name="adj" fmla="val 3194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863840" y="2011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 nereden ölçülür?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51460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Duvara çarpma açısı, duvarın normaline göre ölçülür.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ekseniyle küçük açı yapan ışın, duvara çok yatık — yani büyük açıyla — çarpar. Bu açı sınır açıdan büyük olduğu sürece ışık dışarı çıkamaz.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yansımada kayıp yoktur: ışığın tamamı geri döner ve bu binlerce kez tekrarlanır.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Kabul açısı ve sayısal açıklık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Fiberin ucuna hangi açıyla giren ışık taşınır?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59436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783080"/>
            <a:ext cx="4647895" cy="914400"/>
          </a:xfrm>
          <a:prstGeom prst="roundRect">
            <a:avLst>
              <a:gd name="adj" fmla="val 100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1783080"/>
            <a:ext cx="4647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= √(n₁² − n₂²)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θ(kabul) = NA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88036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konisinin dışından gelen ışık çekirdekte kalamaz.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büyükse fiber daha geniş açıdan ışık toplar.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 ile n₂ birbirine yaklaştıkça koni daralır.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Tipik değerler: NA ≈ 0,2 – 0,3; kabul açısı 12° – 17°.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koni: daha az ışık ama daha temiz sinyal.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Sinyalin hızı ve mod dağılımı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Fiberde ışık boşluktakinden yavaştır; üstelik her ışın aynı yolu izlemez.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c / n₁        t = n₁·L / c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974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Kablo uzunluğu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69748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hızlı ışın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69748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yavaş ışın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269748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35584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335584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5,0 µs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35584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5,14 µs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3355848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0,14 µs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14216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01421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401421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µs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401421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51,4 µs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4014216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1,37 µs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672584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7258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67258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µs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67258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308 µs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4672584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8,2 µs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330952"/>
            <a:ext cx="5852160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33095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km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533095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µs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023360" y="533095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514 µs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394960" y="5330952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13,7 µs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1828800"/>
            <a:ext cx="46936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 = 1,5 için fiberde hız 2·10⁸ m/s: boşluktakinin üçte ikisi.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Eksene yakın ışın kısa, yatık açılı ışın uzun yol alır.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fark sinyal darbesini genişletir: mod dağılımı.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Darbeler birbirine karışmasın diye veri hızı sınırlanır.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modlu fiberde çekirdek çok ince olduğu için sorun ortadan kalkar.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58000" y="4937760"/>
            <a:ext cx="4693615" cy="914400"/>
          </a:xfrm>
          <a:prstGeom prst="roundRect">
            <a:avLst>
              <a:gd name="adj" fmla="val 14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178040" y="49377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Tablodaki değerler n₁ = 1,50 ve n₂ = 1,46 olan çok modlu bir fiber içindir.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Kayıplar ve bakırla karşılaştırma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bütün omurga fiber?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760720" cy="804672"/>
          </a:xfrm>
          <a:prstGeom prst="roundRect">
            <a:avLst>
              <a:gd name="adj" fmla="val 1590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783080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Bükülme kaybı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7830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Keskin kıvrımda ışın dış duvara daha dik çarpar; tam yansıma bozulur.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5760720" cy="804672"/>
          </a:xfrm>
          <a:prstGeom prst="roundRect">
            <a:avLst>
              <a:gd name="adj" fmla="val 1590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2697480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Soğurma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880360" y="26974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Camın kendi kusurları ışığın bir kısmını yutar.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760720" cy="804672"/>
          </a:xfrm>
          <a:prstGeom prst="roundRect">
            <a:avLst>
              <a:gd name="adj" fmla="val 1590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611880"/>
            <a:ext cx="1920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Saçılma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36118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Malzemedeki küçük düzensizlikler ışığı dağıtır.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5760720" cy="1234440"/>
          </a:xfrm>
          <a:prstGeom prst="roundRect">
            <a:avLst>
              <a:gd name="adj" fmla="val 10370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0120" y="461772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başına 0,2 dB.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kayıplara rağmen modern fiberde ışık, kilometrelerce yol aldıktan sonra bile büyük ölçüde ayaktadır. Bakır kabloda aynı mesafede sinyal çoktan sönerdi.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78308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178308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optik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0" y="178308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Bakır kablo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66560" y="2459736"/>
            <a:ext cx="478505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40880" y="245973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 genişliği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245973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yüksek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0" y="245973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sınırlı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6560" y="3136392"/>
            <a:ext cx="4785055" cy="603504"/>
          </a:xfrm>
          <a:prstGeom prst="roundRect">
            <a:avLst>
              <a:gd name="adj" fmla="val 1212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31363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0" y="3136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düşük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31363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66560" y="3813048"/>
            <a:ext cx="478505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3813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girişim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38130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etkilenmez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0" y="38130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etkilenir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66560" y="4489704"/>
            <a:ext cx="4785055" cy="603504"/>
          </a:xfrm>
          <a:prstGeom prst="roundRect">
            <a:avLst>
              <a:gd name="adj" fmla="val 12121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40880" y="44897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448970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hafif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0" y="448970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766560" y="5166360"/>
            <a:ext cx="478505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040880" y="516636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Dinlenebilirlik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0" y="516636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zor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0" y="516636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kolay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kullanılır?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 bir noktadan diğerine taşımak gereken her yerde.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İnternet omurgası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Kıtaları birbirine bağlayan denizaltı kabloları.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terabit/s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Endoskop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Vücudun içini hem aydınlatır hem görüntüler.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tıp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Sanayi görüntüleme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Ulaşılması zor yerlerin içini gösterir.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boroskop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Lazer taşıma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Kesme ve tıbbi lazerleri hedefe iletir.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yüksek güç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Sensörler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Sıcaklık, gerilme ve titreşim ölçümü.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yapı sağlığı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Aydınlatma ve süs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Işığı noktadan noktaya taşıyan lifler.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dekorasyon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sınır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Çekirdek–kılıf sınırı.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indisi 1,50, kılıf indisi 1,20 olan bir fiberde çekirdek–kılıf sınır açısı kaç derecedir?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 = n₂/n₁ = 1,20/1,50 = 0,8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53°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Duvara 53°'den büyük açıyla çarpan ışınlar tam yansımaya uğrar ve taşınır.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sayısal açıklık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konisi ne kadar geniş?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 = 1,50 ve n₂ = 1,46 olan fiberin sayısal açıklığı ve kabul açısı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≈ 0,344 · θ ≈ 20°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= √(n₁² − n₂²) = √(2,25 − 2,1316) = √0,1184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≈ 0,344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θ(kabul) = 0,344 → θ ≈ 20°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Fiberin ucuna eksenle 20°'den büyük açı yapan ışınlar taşınamaz.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sinyal süresi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ve zaman.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indisi 1,5 olan 30 km'lik fiber kabloda ışık ne kadar sürede yol alır? Aynı yol boşlukta ne kadar sürerdi?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 µs (boşlukta 100 µs)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c/n = 3·10⁸ / 1,5 = 2·10⁸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L/v = 30 000 / 2·10⁸ = 1,5·10⁻⁴ s = 150 µs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Boşlukta: 30 000 / 3·10⁸ = 100 µs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İstanbul – Ankara arası bir sinyal, fiberde yaklaşık 2 milisaniyede gider.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Kılıfın indisi büyüktür sanmak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 için n₁ &gt; n₂ olmalıdır.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fiberde düz gider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zikzak çizerek binlerce kez yansır.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yansımada kayıp var sanmak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yansımada ışığın tamamı döner; kayıp soğurma ve saçılmadan.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açısı ile sınır açıyı karıştırmak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 fiberin ucunda, öteki çekirdek–kılıf duvarında.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Fiberde ışık c ile gider sanmak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c/n₁'dir; n₁ = 1,5 için 2·10⁸ m/s.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Kabloyu istediği gibi kıvırmak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Bükülme yarıçapı küçülürse ışık kaçar.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06 · Fiber optik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kılıftan yoğun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 &gt; n₂ olmazsa tam yansıma olmaz, fiber çalışmaz.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yansıma kayıpsızdır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binlerce kez sekerek kilometrelerce yol alır.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Kabul konisi sınırlıdır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= √(n₁² − n₂²); dışarıdan gelen ışık taşınmaz.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c/n₁'dir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Fiberde ışık boşluktakinin üçte iki hızıyla ilerler.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laboratuvarı, kabul konisi ve bükülme sınırı: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dersler.perinet.org/fiber-optik.html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Fiber optik</dc:title>
  <dc:subject>Fizik · Optik</dc:subject>
  <dc:creator>Dersler</dc:creator>
  <cp:lastModifiedBy>Dersler</cp:lastModifiedBy>
  <cp:revision>1</cp:revision>
  <dcterms:created xsi:type="dcterms:W3CDTF">2026-09-18T21:58:35Z</dcterms:created>
  <dcterms:modified xsi:type="dcterms:W3CDTF">2026-09-18T21:58:35Z</dcterms:modified>
</cp:coreProperties>
</file>