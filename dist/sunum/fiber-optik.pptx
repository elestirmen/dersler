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Fiber optik kablo nedir?
2. Çalışma ilkesi: tam yansıma
3. Kabul açısı ve sayısal açıklık
4. Sinyalin hızı ve mod dağılımı
5. Bükülme ve kayıplar
6. Neden bakır yerine fiber?
7. Kullanım alanları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Işığı taşımak için üretilmiş, saç teli inceliğinde cam ya da plastik ipliktir. İki katmandan oluşur:
• Çekirdek (core): ışığın taşındığı iç kısım, kırılma indisi n₁. Tek modlu fiberlerde çapı ≈ 9 µm, çok modlularda ≈ 50–62,5 µm.
• Kılıf (cladding): çekirdeği saran, indisi daha küçük katman (n₂ &lt; n₁).
• Koruyucu kaplama: mekanik dayanım sağlar, optik görevi yoktur.
Çizim: Fiberin çalışması için tek şart, çekirdeğin kılıftan daha yoğun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tam yansıma
Işık çekirdekten kılıfa doğru, sınır açıdan büyük bir açıyla çarparsa dışarı çıkamaz; tamamı geri yansır. Bu olay fiber boyunca binlerce kez tekrarlanır.
sin θ(sınır) = n₂ / n₁
Açı nereden ölçülür? Duvara çarpma açısı, duvarın normaline göre ölçülür. Fiber ekseniyle küçük açı yapan ışın, duvara çok yatık (yani büyük açıyla) çarpar — bu yüzden taşınır.
Çizim: Çekirdeğe yeterince yatık giren ışık, duvara sınır açıdan büyük bir açıyla çarpar ve tamamen geri yansır. Yeşil noktaların her biri bir tam yansımadır; bir kilometrelik lifte bunlardan on binlercesi olur. Sıradan bir aynada her yansımada biraz enerji kaybedilir, ama tam yansımada hiç kayıp yoktur — ışığın kilometrelerce taşınabilmesinin sebebi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Fiberin ucuna her açıyla giren ışık taşınmaz. Taşınabilecek ışınların oluşturduğu koninin yarı açısına kabul açısı denir:
NA = √(n₁² − n₂²)   sin θ(kabul) = NA
• NA büyükse fiber daha geniş açıdan ışık toplar.
• n₁ ile n₂ birbirine yaklaştıkça NA küçülür, koni daralır.
• Tipik değerler: NA ≈ 0,2 – 0,3; kabul açısı ≈ 12° – 17°.
Çizim: Her açıyla giren ışık taşınamaz. Girişte kabul konisi denen bir açı sınırı vardır: bu koninin içinden giren ışınlar duvara sınır açıdan büyük çarpar ve taşınır; dışından girenler duvara fazla dik çarpıp kılıfa kaçar. Koninin genişliğini sayısal açıklık (NA) verir; iki indis birbirine yaklaştıkça koni daralır.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v = c / n₁   t = L / v = n₁·L / c
n₁ = 1,5 için fiberdeki hız 2·10⁸ m/s'dir: ışık boşluktakinin üçte iki hızıyla ilerler. Eksene yakın giden ışınlar kısa, yatık açılı ışınlar uzun yol alır; bu fark sinyal darbesini genişletir ve veri hızını sınırlar. Tek modlu fiberlerde çekirdek çok ince olduğu için bu sorun ortadan kalkar.
Çizim: Aynı anda giren iki ışın aynı anda çıkmaz: zikzak çizen mod daha uzun yol aldığı için geç varır. Bu yüzden keskin bir ışık darbesi, kablonun sonunda yayvanlaşır ve çok hızlı gönderilen darbeler birbirine karışır — mod dağılımı denen bu olay bant genişliğini sınırlar. Uzun mesafelerde çekirdeği çok ince olan tek modlu fiber kullanılmasının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ve kayıplar
Fiber büküldüğünde ışın dış duvara daha dik çarpar. Geliş açısı sınır açının altına düşerse tam yansıma bozulur ve ışık kılıfa sızar. Her kablonun bir en küçük bükülme yarıçapı vardır; kurulum sırasında buna uyulmalıdır.
• Bükülme kaybı: keskin kıvrımlarda ışık kaçar.
• Soğurma: camın kendi kusurları ışığı yutar.
• Saçılma: malzemedeki küçük düzensizlikler ışığı dağıtır.
Bütün bunlara rağmen modern fiberlerde kayıp km başına 0,2 dB düzeyindedir: ışık kilometrelerce yol aldıktan sonra bile büyük ölçüde ayaktadır.
Çizim: Fiberi büktüğünde dış duvara çarpma açısı değişir. Kıvrım genişse açı hâlâ sınır açının üstündedir ve ışık içeride kalır. Kıvrım yarıçapı belli bir değerin altına inince açı sınırın altına düşer, tam yansıma bozulur ve ışık dışarı sızar. Bu yüzden fiber kablolar keskin köşelerden geçirilmez; her kablonun bir en küçük bükülme yarıçapı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bakır yerine fiber?
Özellik | Fiber optik | Bakır kablo
Bant genişliği | çok yüksek | sınırlı
Kayıp | çok düşük | yüksek
Elektromanyetik girişim | etkilenmez | etkilenir
Ağırlık | hafif | ağır
Güvenlik | dinlemesi çok zor | daha kolay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Kullanım alanları
• İletişim: internet omurgası, denizaltı kabloları, telefon ağları.
• Tıp: endoskop — vücudun içini görüntülemek ve aydınlatmak.
• Sanayi: ulaşılması zor yerlerin görüntülenmesi, lazer taşıma.
• Sensörler: sıcaklık, gerilme ve titreşim ölçümü.
• Aydınlatma ve süs: ışığı noktadan noktaya taşıyan lifler.
Çizim: İlk satırda uzun çubuk iyidir, diğer üçünde kısa. Fiber aynı kalınlıkta bakırın binlerce katı veri taşır, kilometrede çok daha az sinyal kaybeder, çok daha hafiftir ve metal taşımadığı için elektromanyetik girişimden hiç etkilenmez — yıldırım ya da yüksek gerilim hattı yanından geçmesi sorun olmaz. Dinlemesi de çok daha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Çekirdek indisi 1,50, kılıf indisi 1,20 olan bir fiberde çekirdek–kılıf sınır açısı kaç derecedir?
1. sin θ = n₂/n₁ = 1,20/1,50 = 0,8
2. θ = 53°
3. Duvara 53°'den büyük açıyla çarpan ışınlar tam yansımaya uğrar ve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Sayısal açıklık
n₁ = 1,50 ve n₂ = 1,46 olan fiberin sayısal açıklığı ve kabul açısı nedir?
1. NA = √(n₁² − n₂²) = √(2,25 − 2,1316) = √0,1184
2. NA ≈ 0,344
3. sin θ(kabul) = 0,344 → θ ≈ 20°
4. Fiberin ucuna eksenle 20°'den büyük açı yapan ışınlar taşınamaz.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Sinyal süresi
Kırılma indisi 1,5 olan 30 km'lik fiber kabloda ışık ne kadar sürede yol alır?
1. v = c/n = 3·10⁸/1,5 = 2·10⁸ m/s
2. t = L/v = 30 000 / 2·10⁸
3. t = 1,5·10⁻⁴ s = 150 µs
4. Aynı yolu boşlukta 100 µs'de 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Yansıma sayısı
Çekirdek çapı 50 µm olan fiberde, eksenle 10° açı yapan ışın 1 metrede kabaca kaç kez yansır?
1. Bir yansımadan diğerine ilerlenen eksenel mesafe: d = çap / tan10°
2. d = 50·10⁻⁶ / 0,176 ≈ 2,84·10⁻⁴ m
3. Yansıma sayısı = 1 / 2,84·10⁻⁴ ≈ 3500
4. Her yansımada kayıp olsaydı sinyal hemen sönerdi; tam yansımada kayıp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Kılıfın indisini büyük sanmak. Tam yansıma için çekirdeğin indisi büyük olmalıdır: n₁ &gt; n₂.
• Işığın fiberde düz gittiğini düşünmek. Işık zikzak çizerek, binlerce kez yansıyarak ilerler.
• Tam yansımada enerji kaybı olduğunu sanmak. Tam yansımada ışığın tamamı geri döner; kayıplar soğurma ve saçılmadan gelir.
• Kabul açısını sınır açıyla karıştırmak. Kabul açısı fiberin ucunda, sınır açı çekirdek–kılıf duvarında tanımlıdır.
• Fiberde ışığın c hızıyla gittiğini düşünmek. Hız c/n₁'dir.
• Kabloyu istediği gibi kıvırmak. Bükülme yarıçapı çok küçülürse ışık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Çekirdek n₁ &gt; n₂ · Sınır açı sin θ = n₂/n₁ · NA √(n₁² − n₂²) · Hız c / n₁
sin θ(sınır) = n₂ / n₁ — çekirdek–kılıf sınırı
NA = √(n₁² − n₂²) — sayısal açıklık
sin θ(kabul) = NA — kabul konisi
v = c / n₁ — fiberdeki hız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06</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Fiber optik</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Saç teli inceliğindeki bir cam iplik, ışığı kilometrelerce öteye kayıpsıza yakın taşır. Sırrı tek bir olaydır: tam yansıma. Işık, çekirdek ile kılıf arasındaki sınırdan binlerce kez yansıyarak yol alır.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   ·   NA = √(n₁² − n₂²)</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Kıtalar arası internetin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%99'undan fazlası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okyanus tabanına döşenmiş, saç teli inceliğindeki cam liflerin içinden geçiyor. Bu liflerde ışık kilometrelerce yol alır ve neredeyse hiç zayıflamaz. Sırrı yeni bir fizik değil, kırılma konusunda öğrendiğin tek bir olay: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tam yansıma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Işık, bir kez içeri girdikten sonra dışarı çıkamaz — duvara her çarptığında eksiksiz geri döner.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Fiber optik kablo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Işığı taşımak için üretilmiş, saç teli inceliğinde cam ya da plastik ipliktir.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Çalışma ilkesi: tam yansıma</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Işık çekirdekten kılıfa doğru, sınır açıdan büyük bir açıyla çarparsa dışarı çıkamaz;…</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Kabul açısı ve sayısal açıklık</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Fiberin ucuna her açıyla giren ışık taşınmaz.</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Sinyalin hızı ve mod dağılımı</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n₁ = 1,5 için fiberdeki hız 2·10⁸ m/s'dir: ışık boşluktakinin üçte iki hızıyla ilerler.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Bükülme ve kayıplar</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Fiber büküldüğünde ışın dış duvara daha dik çarpar.</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Neden bakır yerine fiber?</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Kullanım alanları</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İletişim: internet omurgası, denizaltı kabloları, telefon ağları.</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640080" y="148132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Işığı taşımak için üretilmiş, saç teli inceliğinde cam ya da plastik ipliktir.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İki katmandan oluşur:</a:t>
            </a:r>
            <a:endParaRPr lang="en-US" sz="1600" dirty="0"/>
          </a:p>
        </p:txBody>
      </p:sp>
      <p:sp>
        <p:nvSpPr>
          <p:cNvPr id="6" name="Text 4"/>
          <p:cNvSpPr txBox="1"/>
          <p:nvPr/>
        </p:nvSpPr>
        <p:spPr>
          <a:xfrm>
            <a:off x="640080" y="2560320"/>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Çekirdek (core):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ışığın taşındığı iç kısım, kırılma indisi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Tek modlu fiberlerde çapı ≈ 9 µm, çok modlularda ≈ 50–62,5 µm.</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Kılıf (cladding):</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çekirdeği saran, indisi daha küçük katman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n₂ &lt;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Koruyucu kaplama: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mekanik dayanım sağlar, optik görevi yoktur.</a:t>
            </a:r>
            <a:endParaRPr lang="en-US" sz="1600" dirty="0"/>
          </a:p>
        </p:txBody>
      </p:sp>
      <p:sp>
        <p:nvSpPr>
          <p:cNvPr id="7" name="Shape 5"/>
          <p:cNvSpPr/>
          <p:nvPr/>
        </p:nvSpPr>
        <p:spPr>
          <a:xfrm>
            <a:off x="6419088" y="1481328"/>
            <a:ext cx="5132527" cy="3628320"/>
          </a:xfrm>
          <a:prstGeom prst="roundRect">
            <a:avLst>
              <a:gd name="adj" fmla="val 40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fiber-optik-01.png">    </p:cNvPr>
          <p:cNvPicPr>
            <a:picLocks noChangeAspect="1"/>
          </p:cNvPicPr>
          <p:nvPr/>
        </p:nvPicPr>
        <p:blipFill>
          <a:blip r:embed="rId1"/>
          <a:stretch>
            <a:fillRect/>
          </a:stretch>
        </p:blipFill>
        <p:spPr>
          <a:xfrm>
            <a:off x="6601968" y="1664208"/>
            <a:ext cx="4766767" cy="1986058"/>
          </a:xfrm>
          <a:prstGeom prst="rect">
            <a:avLst/>
          </a:prstGeom>
        </p:spPr>
      </p:pic>
      <p:sp>
        <p:nvSpPr>
          <p:cNvPr id="9" name="Shape 6"/>
          <p:cNvSpPr/>
          <p:nvPr/>
        </p:nvSpPr>
        <p:spPr>
          <a:xfrm>
            <a:off x="6601968" y="3741706"/>
            <a:ext cx="4766767" cy="0"/>
          </a:xfrm>
          <a:prstGeom prst="line">
            <a:avLst/>
          </a:prstGeom>
          <a:noFill/>
          <a:ln w="9525">
            <a:solidFill>
              <a:srgbClr val="E1E5EE"/>
            </a:solidFill>
            <a:prstDash val="dash"/>
          </a:ln>
        </p:spPr>
      </p:sp>
      <p:sp>
        <p:nvSpPr>
          <p:cNvPr id="10" name="Text 7"/>
          <p:cNvSpPr txBox="1"/>
          <p:nvPr/>
        </p:nvSpPr>
        <p:spPr>
          <a:xfrm>
            <a:off x="6601968" y="3796570"/>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Fiberin çalışması için tek şart,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çekirdeğin kılıftan daha yoğun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tam yansıma</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çekirdekten kılıfa doğru,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sınır açıdan büyük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açıyla çarparsa dışarı çıkamaz; tamamı geri yansır.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olay fiber boyunca binlerce kez tekrarlanır.</a:t>
            </a:r>
            <a:endParaRPr lang="en-US" sz="1600" dirty="0"/>
          </a:p>
        </p:txBody>
      </p:sp>
      <p:sp>
        <p:nvSpPr>
          <p:cNvPr id="6" name="Shape 4"/>
          <p:cNvSpPr/>
          <p:nvPr/>
        </p:nvSpPr>
        <p:spPr>
          <a:xfrm>
            <a:off x="640080" y="2840736"/>
            <a:ext cx="262981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θ(sınır) = n₂ / n₁</a:t>
            </a:r>
            <a:endParaRPr lang="en-US" sz="1300" dirty="0"/>
          </a:p>
        </p:txBody>
      </p:sp>
      <p:sp>
        <p:nvSpPr>
          <p:cNvPr id="8" name="Shape 6"/>
          <p:cNvSpPr/>
          <p:nvPr/>
        </p:nvSpPr>
        <p:spPr>
          <a:xfrm>
            <a:off x="640080" y="3462528"/>
            <a:ext cx="5486400" cy="1453896"/>
          </a:xfrm>
          <a:prstGeom prst="roundRect">
            <a:avLst>
              <a:gd name="adj" fmla="val 75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3608832"/>
            <a:ext cx="45720" cy="1161288"/>
          </a:xfrm>
          <a:prstGeom prst="rect">
            <a:avLst/>
          </a:prstGeom>
          <a:solidFill>
            <a:srgbClr val="3C8C21"/>
          </a:solidFill>
          <a:ln/>
        </p:spPr>
      </p:sp>
      <p:sp>
        <p:nvSpPr>
          <p:cNvPr id="10" name="Text 8"/>
          <p:cNvSpPr txBox="1"/>
          <p:nvPr/>
        </p:nvSpPr>
        <p:spPr>
          <a:xfrm>
            <a:off x="914400" y="3572256"/>
            <a:ext cx="5029200" cy="123444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Açı nereden ölçülür?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Duvara çarpma açısı, duvarın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normaline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göre ölçülür. Fiber ekseniyle küçük açı yapan ışın, duvara çok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yatık</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(yani büyük açıyla) çarpar — bu yüzden taşınır.</a:t>
            </a:r>
            <a:endParaRPr lang="en-US" sz="1500" dirty="0"/>
          </a:p>
        </p:txBody>
      </p:sp>
      <p:sp>
        <p:nvSpPr>
          <p:cNvPr id="11" name="Shape 9"/>
          <p:cNvSpPr/>
          <p:nvPr/>
        </p:nvSpPr>
        <p:spPr>
          <a:xfrm>
            <a:off x="6419088" y="1481328"/>
            <a:ext cx="5132527" cy="3588645"/>
          </a:xfrm>
          <a:prstGeom prst="roundRect">
            <a:avLst>
              <a:gd name="adj" fmla="val 40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fiber-optik-02.png">    </p:cNvPr>
          <p:cNvPicPr>
            <a:picLocks noChangeAspect="1"/>
          </p:cNvPicPr>
          <p:nvPr/>
        </p:nvPicPr>
        <p:blipFill>
          <a:blip r:embed="rId1"/>
          <a:stretch>
            <a:fillRect/>
          </a:stretch>
        </p:blipFill>
        <p:spPr>
          <a:xfrm>
            <a:off x="6601968" y="1664208"/>
            <a:ext cx="4766767" cy="1946382"/>
          </a:xfrm>
          <a:prstGeom prst="rect">
            <a:avLst/>
          </a:prstGeom>
        </p:spPr>
      </p:pic>
      <p:sp>
        <p:nvSpPr>
          <p:cNvPr id="13" name="Shape 10"/>
          <p:cNvSpPr/>
          <p:nvPr/>
        </p:nvSpPr>
        <p:spPr>
          <a:xfrm>
            <a:off x="6601968" y="3702030"/>
            <a:ext cx="4766767" cy="0"/>
          </a:xfrm>
          <a:prstGeom prst="line">
            <a:avLst/>
          </a:prstGeom>
          <a:noFill/>
          <a:ln w="9525">
            <a:solidFill>
              <a:srgbClr val="E1E5EE"/>
            </a:solidFill>
            <a:prstDash val="dash"/>
          </a:ln>
        </p:spPr>
      </p:sp>
      <p:sp>
        <p:nvSpPr>
          <p:cNvPr id="14" name="Text 11"/>
          <p:cNvSpPr txBox="1"/>
          <p:nvPr/>
        </p:nvSpPr>
        <p:spPr>
          <a:xfrm>
            <a:off x="6601968" y="3756894"/>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Çekirdeğe yeterince yatık giren ışık, duvara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açıdan büyük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açıyla çarpar ve tamamen geri yansır. Yeşil noktaların her biri bir tam yansımadır; bir kilometrelik lifte bunlardan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binlercesi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Sıradan bir aynada her yansımada biraz enerji kaybedilir, ama tam yansımada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kayıp yoktur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ışığın kilometrelerce taşınabilmesinin sebebi tam olarak budur.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640080" y="148132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Fiberin ucuna her açıyla giren ışık taşınmaz.</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Taşınabilecek ışınların oluşturduğu koninin yarı açısına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kabul açısı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denir:</a:t>
            </a:r>
            <a:endParaRPr lang="en-US" sz="1600" dirty="0"/>
          </a:p>
        </p:txBody>
      </p:sp>
      <p:sp>
        <p:nvSpPr>
          <p:cNvPr id="6" name="Shape 4"/>
          <p:cNvSpPr/>
          <p:nvPr/>
        </p:nvSpPr>
        <p:spPr>
          <a:xfrm>
            <a:off x="640080" y="2560320"/>
            <a:ext cx="213603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6032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NA = √(n₁² − n₂²)</a:t>
            </a:r>
            <a:endParaRPr lang="en-US" sz="1300" dirty="0"/>
          </a:p>
        </p:txBody>
      </p:sp>
      <p:sp>
        <p:nvSpPr>
          <p:cNvPr id="8" name="Shape 6"/>
          <p:cNvSpPr/>
          <p:nvPr/>
        </p:nvSpPr>
        <p:spPr>
          <a:xfrm>
            <a:off x="2885846" y="2560320"/>
            <a:ext cx="213603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885846" y="256032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θ(kabul) = NA</a:t>
            </a:r>
            <a:endParaRPr lang="en-US" sz="1300" dirty="0"/>
          </a:p>
        </p:txBody>
      </p:sp>
      <p:sp>
        <p:nvSpPr>
          <p:cNvPr id="10" name="Text 8"/>
          <p:cNvSpPr txBox="1"/>
          <p:nvPr/>
        </p:nvSpPr>
        <p:spPr>
          <a:xfrm>
            <a:off x="640080" y="3182112"/>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NA büyükse fiber daha geniş açıdan ışık toplar.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n₁ ile n₂ birbirine yaklaştıkça NA küçülür, koni daralır.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Tipik değerler: NA ≈ 0,2 – 0,3; kabul açısı ≈ 12° – 17°.</a:t>
            </a:r>
            <a:endParaRPr lang="en-US" sz="1600" dirty="0"/>
          </a:p>
        </p:txBody>
      </p:sp>
      <p:sp>
        <p:nvSpPr>
          <p:cNvPr id="11" name="Shape 9"/>
          <p:cNvSpPr/>
          <p:nvPr/>
        </p:nvSpPr>
        <p:spPr>
          <a:xfrm>
            <a:off x="6419088" y="1481328"/>
            <a:ext cx="5132527" cy="3389513"/>
          </a:xfrm>
          <a:prstGeom prst="roundRect">
            <a:avLst>
              <a:gd name="adj" fmla="val 431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fiber-optik-03.png">    </p:cNvPr>
          <p:cNvPicPr>
            <a:picLocks noChangeAspect="1"/>
          </p:cNvPicPr>
          <p:nvPr/>
        </p:nvPicPr>
        <p:blipFill>
          <a:blip r:embed="rId1"/>
          <a:stretch>
            <a:fillRect/>
          </a:stretch>
        </p:blipFill>
        <p:spPr>
          <a:xfrm>
            <a:off x="6601968" y="1664208"/>
            <a:ext cx="4766767" cy="1926473"/>
          </a:xfrm>
          <a:prstGeom prst="rect">
            <a:avLst/>
          </a:prstGeom>
        </p:spPr>
      </p:pic>
      <p:sp>
        <p:nvSpPr>
          <p:cNvPr id="13" name="Shape 10"/>
          <p:cNvSpPr/>
          <p:nvPr/>
        </p:nvSpPr>
        <p:spPr>
          <a:xfrm>
            <a:off x="6601968" y="3682121"/>
            <a:ext cx="4766767" cy="0"/>
          </a:xfrm>
          <a:prstGeom prst="line">
            <a:avLst/>
          </a:prstGeom>
          <a:noFill/>
          <a:ln w="9525">
            <a:solidFill>
              <a:srgbClr val="E1E5EE"/>
            </a:solidFill>
            <a:prstDash val="dash"/>
          </a:ln>
        </p:spPr>
      </p:sp>
      <p:sp>
        <p:nvSpPr>
          <p:cNvPr id="14" name="Text 11"/>
          <p:cNvSpPr txBox="1"/>
          <p:nvPr/>
        </p:nvSpPr>
        <p:spPr>
          <a:xfrm>
            <a:off x="6601968" y="373698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Her açıyla giren ışık taşınamaz. Girişte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kabul konisi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denen bir açı sınırı vardır: bu koninin içinden giren ışınlar duvara sınır açıdan büyük çarpar ve taşınır; dışından girenler duvara fazla dik çarpıp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kılıfa kaçar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Koninin genişliğini sayısal açıklık (NA) verir; iki indis birbirine yaklaştıkça koni daralır.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Shape 3"/>
          <p:cNvSpPr/>
          <p:nvPr/>
        </p:nvSpPr>
        <p:spPr>
          <a:xfrm>
            <a:off x="640080" y="1481328"/>
            <a:ext cx="1444752" cy="457200"/>
          </a:xfrm>
          <a:prstGeom prst="roundRect">
            <a:avLst>
              <a:gd name="adj" fmla="val 24000"/>
            </a:avLst>
          </a:prstGeom>
          <a:solidFill>
            <a:srgbClr val="EEF2FC"/>
          </a:solidFill>
          <a:ln w="9525">
            <a:solidFill>
              <a:srgbClr val="CBD7F4"/>
            </a:solidFill>
            <a:prstDash val="solid"/>
          </a:ln>
        </p:spPr>
      </p:sp>
      <p:sp>
        <p:nvSpPr>
          <p:cNvPr id="6" name="Text 4"/>
          <p:cNvSpPr txBox="1"/>
          <p:nvPr/>
        </p:nvSpPr>
        <p:spPr>
          <a:xfrm>
            <a:off x="640080" y="148132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c / n₁</a:t>
            </a:r>
            <a:endParaRPr lang="en-US" sz="1300" dirty="0"/>
          </a:p>
        </p:txBody>
      </p:sp>
      <p:sp>
        <p:nvSpPr>
          <p:cNvPr id="7" name="Shape 5"/>
          <p:cNvSpPr/>
          <p:nvPr/>
        </p:nvSpPr>
        <p:spPr>
          <a:xfrm>
            <a:off x="2194560" y="1481328"/>
            <a:ext cx="2432304" cy="457200"/>
          </a:xfrm>
          <a:prstGeom prst="roundRect">
            <a:avLst>
              <a:gd name="adj" fmla="val 24000"/>
            </a:avLst>
          </a:prstGeom>
          <a:solidFill>
            <a:srgbClr val="EEF2FC"/>
          </a:solidFill>
          <a:ln w="9525">
            <a:solidFill>
              <a:srgbClr val="CBD7F4"/>
            </a:solidFill>
            <a:prstDash val="solid"/>
          </a:ln>
        </p:spPr>
      </p:sp>
      <p:sp>
        <p:nvSpPr>
          <p:cNvPr id="8" name="Text 6"/>
          <p:cNvSpPr txBox="1"/>
          <p:nvPr/>
        </p:nvSpPr>
        <p:spPr>
          <a:xfrm>
            <a:off x="2194560" y="148132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L / v = n₁·L / c</a:t>
            </a:r>
            <a:endParaRPr lang="en-US" sz="1300" dirty="0"/>
          </a:p>
        </p:txBody>
      </p:sp>
      <p:sp>
        <p:nvSpPr>
          <p:cNvPr id="9" name="Text 7"/>
          <p:cNvSpPr txBox="1"/>
          <p:nvPr/>
        </p:nvSpPr>
        <p:spPr>
          <a:xfrm>
            <a:off x="640080" y="2103120"/>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n₁ = 1,5 için fiberdeki hız 2·10⁸ m/s'dir: ışık boşluktakinin üçte iki hızıyla ilerler.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Eksene yakın giden ışınlar kısa, yatık açılı ışınlar uzun yol alır; bu fark sinyal darbesini genişletir ve veri hızını sınırlar.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Tek modlu fiberlerde çekirdek çok ince olduğu için bu sorun ortadan kalkar.</a:t>
            </a:r>
            <a:endParaRPr lang="en-US" sz="1600" dirty="0"/>
          </a:p>
        </p:txBody>
      </p:sp>
      <p:sp>
        <p:nvSpPr>
          <p:cNvPr id="10" name="Shape 8"/>
          <p:cNvSpPr/>
          <p:nvPr/>
        </p:nvSpPr>
        <p:spPr>
          <a:xfrm>
            <a:off x="6419088" y="1481328"/>
            <a:ext cx="5132527" cy="3489385"/>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fiber-optik-04.png">    </p:cNvPr>
          <p:cNvPicPr>
            <a:picLocks noChangeAspect="1"/>
          </p:cNvPicPr>
          <p:nvPr/>
        </p:nvPicPr>
        <p:blipFill>
          <a:blip r:embed="rId1"/>
          <a:stretch>
            <a:fillRect/>
          </a:stretch>
        </p:blipFill>
        <p:spPr>
          <a:xfrm>
            <a:off x="6601968" y="1664208"/>
            <a:ext cx="4766767" cy="1847122"/>
          </a:xfrm>
          <a:prstGeom prst="rect">
            <a:avLst/>
          </a:prstGeom>
        </p:spPr>
      </p:pic>
      <p:sp>
        <p:nvSpPr>
          <p:cNvPr id="12" name="Shape 9"/>
          <p:cNvSpPr/>
          <p:nvPr/>
        </p:nvSpPr>
        <p:spPr>
          <a:xfrm>
            <a:off x="6601968" y="3602770"/>
            <a:ext cx="4766767" cy="0"/>
          </a:xfrm>
          <a:prstGeom prst="line">
            <a:avLst/>
          </a:prstGeom>
          <a:noFill/>
          <a:ln w="9525">
            <a:solidFill>
              <a:srgbClr val="E1E5EE"/>
            </a:solidFill>
            <a:prstDash val="dash"/>
          </a:ln>
        </p:spPr>
      </p:sp>
      <p:sp>
        <p:nvSpPr>
          <p:cNvPr id="13" name="Text 10"/>
          <p:cNvSpPr txBox="1"/>
          <p:nvPr/>
        </p:nvSpPr>
        <p:spPr>
          <a:xfrm>
            <a:off x="6601968" y="3657634"/>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anda giren iki ışın aynı anda çıkmaz: zikzak çizen mod daha uzun yol aldığı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geç varır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keskin bir ışık darbesi, kablonun sonunda yayvanlaşır ve çok hızlı gönderilen darbeler birbirine karışır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mod dağılımı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denen bu olay bant genişliğini sınırlar. Uzun mesafelerde çekirdeği çok ince olan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modlu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fiber kullanılmasının sebebi budur.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ve kayıplar</a:t>
            </a:r>
            <a:endParaRPr lang="en-US" sz="3200" dirty="0"/>
          </a:p>
        </p:txBody>
      </p:sp>
      <p:sp>
        <p:nvSpPr>
          <p:cNvPr id="5" name="Text 3"/>
          <p:cNvSpPr txBox="1"/>
          <p:nvPr/>
        </p:nvSpPr>
        <p:spPr>
          <a:xfrm>
            <a:off x="640080" y="1481328"/>
            <a:ext cx="5852160" cy="150647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Fiber büküldüğünde ışın dış duvara daha dik çarpar.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Geliş açısı sınır açının altına düşerse tam yansıma bozulur ve ışık kılıfa sızar.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Her kablonun bir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en küçük bükülme yarıçapı</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vardır; kurulum sırasında buna uyulmalıdır.</a:t>
            </a:r>
            <a:endParaRPr lang="en-US" sz="1500" dirty="0"/>
          </a:p>
        </p:txBody>
      </p:sp>
      <p:sp>
        <p:nvSpPr>
          <p:cNvPr id="6" name="Text 4"/>
          <p:cNvSpPr txBox="1"/>
          <p:nvPr/>
        </p:nvSpPr>
        <p:spPr>
          <a:xfrm>
            <a:off x="640080" y="3097530"/>
            <a:ext cx="5852160" cy="98069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Bükülme kaybı:</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keskin kıvrımlarda ışık kaçar.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Soğurma: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camın kendi kusurları ışığı yutar.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Saçılma: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malzemedeki küçük düzensizlikler ışığı dağıtır.</a:t>
            </a:r>
            <a:endParaRPr lang="en-US" sz="1500" dirty="0"/>
          </a:p>
        </p:txBody>
      </p:sp>
      <p:sp>
        <p:nvSpPr>
          <p:cNvPr id="7" name="Text 5"/>
          <p:cNvSpPr txBox="1"/>
          <p:nvPr/>
        </p:nvSpPr>
        <p:spPr>
          <a:xfrm>
            <a:off x="640080" y="4187952"/>
            <a:ext cx="5852160" cy="788670"/>
          </a:xfrm>
          <a:prstGeom prst="rect">
            <a:avLst/>
          </a:prstGeom>
          <a:noFill/>
          <a:ln/>
        </p:spPr>
        <p:txBody>
          <a:bodyPr wrap="square" lIns="0" tIns="0" rIns="0" bIns="0" rtlCol="0" anchor="t"/>
          <a:lstStyle/>
          <a:p>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Bütün bunlara rağmen modern fiberlerde kayıp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km başına 0,2 dB</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düzeyindedir: ışık kilometrelerce yol aldıktan sonra bile büyük ölçüde ayaktadır.</a:t>
            </a:r>
            <a:endParaRPr lang="en-US" sz="1500" dirty="0"/>
          </a:p>
        </p:txBody>
      </p:sp>
      <p:sp>
        <p:nvSpPr>
          <p:cNvPr id="8" name="Shape 6"/>
          <p:cNvSpPr/>
          <p:nvPr/>
        </p:nvSpPr>
        <p:spPr>
          <a:xfrm>
            <a:off x="6784848" y="1481328"/>
            <a:ext cx="4766767" cy="3439296"/>
          </a:xfrm>
          <a:prstGeom prst="roundRect">
            <a:avLst>
              <a:gd name="adj" fmla="val 425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9" name="Image 0" descr="/tmp/claude-1000/-opt-dersler/a4dee546-de71-4ec2-8add-be39dd273d29/scratchpad/sekiller/fiber-optik-05.png">    </p:cNvPr>
          <p:cNvPicPr>
            <a:picLocks noChangeAspect="1"/>
          </p:cNvPicPr>
          <p:nvPr/>
        </p:nvPicPr>
        <p:blipFill>
          <a:blip r:embed="rId1"/>
          <a:stretch>
            <a:fillRect/>
          </a:stretch>
        </p:blipFill>
        <p:spPr>
          <a:xfrm>
            <a:off x="6967728" y="1664208"/>
            <a:ext cx="4401007" cy="1797034"/>
          </a:xfrm>
          <a:prstGeom prst="rect">
            <a:avLst/>
          </a:prstGeom>
        </p:spPr>
      </p:pic>
      <p:sp>
        <p:nvSpPr>
          <p:cNvPr id="10" name="Shape 7"/>
          <p:cNvSpPr/>
          <p:nvPr/>
        </p:nvSpPr>
        <p:spPr>
          <a:xfrm>
            <a:off x="6967728" y="3552682"/>
            <a:ext cx="4401007" cy="0"/>
          </a:xfrm>
          <a:prstGeom prst="line">
            <a:avLst/>
          </a:prstGeom>
          <a:noFill/>
          <a:ln w="9525">
            <a:solidFill>
              <a:srgbClr val="E1E5EE"/>
            </a:solidFill>
            <a:prstDash val="dash"/>
          </a:ln>
        </p:spPr>
      </p:sp>
      <p:sp>
        <p:nvSpPr>
          <p:cNvPr id="11" name="Text 8"/>
          <p:cNvSpPr txBox="1"/>
          <p:nvPr/>
        </p:nvSpPr>
        <p:spPr>
          <a:xfrm>
            <a:off x="6967728" y="3607546"/>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Fiberi büktüğünde dış duvara çarpma açısı değişir. Kıvrım genişse açı hâlâ sınır açının üstündedir ve ışık içeride kalır. Kıvrım yarıçapı belli bir değerin altına inince açı sınırın altına düşer, tam yansıma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bozulur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ışık dışarı sızar. Bu yüzden fiber kablolar keskin köşelerden geçirilmez; her kablonun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en küçük bükülme yarıçapı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vardır.</a:t>
            </a:r>
            <a:endParaRPr lang="en-US" sz="105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bakır yerine fiber?</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412480" cy="914400"/>
        </p:xfrm>
        <a:graphic>
          <a:graphicData uri="http://schemas.openxmlformats.org/drawingml/2006/table">
            <a:tbl>
              <a:tblPr/>
              <a:tblGrid>
                <a:gridCol w="3793864"/>
                <a:gridCol w="2804160"/>
                <a:gridCol w="181445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Fiber optik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Bakır kablo</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Bant genişliği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 yüksek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sınırlı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Kayıp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 düşük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yüksek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Elektromanyetik girişim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etkilenmez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etkilenir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Ağırlık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hafif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ağır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Güvenlik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dinlemesi çok zor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daha kolay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6382512"/>
            <a:ext cx="128016" cy="128016"/>
          </a:xfrm>
          <a:prstGeom prst="roundRect">
            <a:avLst>
              <a:gd name="adj" fmla="val 28571"/>
            </a:avLst>
          </a:prstGeom>
          <a:solidFill>
            <a:srgbClr val="A9E648"/>
          </a:solidFill>
          <a:ln/>
        </p:spPr>
      </p:sp>
      <p:sp>
        <p:nvSpPr>
          <p:cNvPr id="7" name="Text 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8" name="Text 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Kullanım alanları</a:t>
            </a:r>
            <a:endParaRPr lang="en-US" sz="3200" dirty="0"/>
          </a:p>
        </p:txBody>
      </p:sp>
      <p:sp>
        <p:nvSpPr>
          <p:cNvPr id="5" name="Text 3"/>
          <p:cNvSpPr txBox="1"/>
          <p:nvPr/>
        </p:nvSpPr>
        <p:spPr>
          <a:xfrm>
            <a:off x="640080" y="1481328"/>
            <a:ext cx="5486400" cy="28437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İletişim: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internet omurgası, denizaltı kabloları, telefon ağları.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Tıp: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endoskop — vücudun içini görüntülemek ve aydınlatmak.</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Sanayi: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ulaşılması zor yerlerin görüntülenmesi, lazer taşıma.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Sensörler: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sıcaklık, gerilme ve titreşim ölçümü.</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Aydınlatma ve süs:</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noktadan noktaya taşıyan lifler.</a:t>
            </a:r>
            <a:endParaRPr lang="en-US" sz="1600" dirty="0"/>
          </a:p>
        </p:txBody>
      </p:sp>
      <p:sp>
        <p:nvSpPr>
          <p:cNvPr id="6" name="Shape 4"/>
          <p:cNvSpPr/>
          <p:nvPr/>
        </p:nvSpPr>
        <p:spPr>
          <a:xfrm>
            <a:off x="6419088" y="1481328"/>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fiber-optik-06.png">    </p:cNvPr>
          <p:cNvPicPr>
            <a:picLocks noChangeAspect="1"/>
          </p:cNvPicPr>
          <p:nvPr/>
        </p:nvPicPr>
        <p:blipFill>
          <a:blip r:embed="rId1"/>
          <a:stretch>
            <a:fillRect/>
          </a:stretch>
        </p:blipFill>
        <p:spPr>
          <a:xfrm>
            <a:off x="6601968" y="1664208"/>
            <a:ext cx="4766767" cy="1946382"/>
          </a:xfrm>
          <a:prstGeom prst="rect">
            <a:avLst/>
          </a:prstGeom>
        </p:spPr>
      </p:pic>
      <p:sp>
        <p:nvSpPr>
          <p:cNvPr id="8" name="Shape 5"/>
          <p:cNvSpPr/>
          <p:nvPr/>
        </p:nvSpPr>
        <p:spPr>
          <a:xfrm>
            <a:off x="6601968" y="3702030"/>
            <a:ext cx="4766767" cy="0"/>
          </a:xfrm>
          <a:prstGeom prst="line">
            <a:avLst/>
          </a:prstGeom>
          <a:noFill/>
          <a:ln w="9525">
            <a:solidFill>
              <a:srgbClr val="E1E5EE"/>
            </a:solidFill>
            <a:prstDash val="dash"/>
          </a:ln>
        </p:spPr>
      </p:sp>
      <p:sp>
        <p:nvSpPr>
          <p:cNvPr id="9" name="Text 6"/>
          <p:cNvSpPr txBox="1"/>
          <p:nvPr/>
        </p:nvSpPr>
        <p:spPr>
          <a:xfrm>
            <a:off x="6601968" y="37568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İlk satırda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uzun çubuk iyidir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diğer üçünde kısa. Fiber aynı kalınlıkta bakırın binlerce katı veri taşır, kilometrede çok daha az sinyal kaybeder, çok daha hafiftir ve metal taşımadığı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elektromanyetik girişimden hiç etkilenmez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yıldırım ya da yüksek gerilim hattı yanından geçmesi sorun olmaz. Dinlemesi de çok daha zordur.</a:t>
            </a:r>
            <a:endParaRPr lang="en-US" sz="105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Çekirdek indisi 1,50, kılıf indisi 1,20 olan bir fiberde çekirdek–kılıf sınır açısı kaç derecedir?</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n₂/n₁ = 1,20/1,50 = 0,8</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53°</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Duvara 53°'den büyük açıyla çarpan ışınlar tam yansımaya uğrar ve taşınır.</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n₁ = 1,50 ve n₂ = 1,46 olan fiberin sayısal açıklığı ve kabul açısı nedir?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NA = √(n₁² − n₂²) = √(2,25 − 2,1316) = √0,1184</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0,344</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θ(kabul) = 0,344 → 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Fiberin ucuna eksenle 20°'den büyük açı yapan ışınlar taşınamaz.</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Kırılma indisi 1,5 olan 30 km'lik fiber kabloda ışık ne kadar sürede yol alır?</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c/n = 3·10⁸/1,5 = 2·10⁸ m/s</a:t>
            </a:r>
            <a:endParaRPr lang="en-US" sz="1600" dirty="0"/>
          </a:p>
        </p:txBody>
      </p:sp>
      <p:sp>
        <p:nvSpPr>
          <p:cNvPr id="13" name="Shape 11"/>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11246"/>
            <a:ext cx="384048" cy="384048"/>
          </a:xfrm>
          <a:prstGeom prst="roundRect">
            <a:avLst>
              <a:gd name="adj" fmla="val 26000"/>
            </a:avLst>
          </a:prstGeom>
          <a:solidFill>
            <a:srgbClr val="A56209"/>
          </a:solidFill>
          <a:ln/>
        </p:spPr>
      </p:sp>
      <p:sp>
        <p:nvSpPr>
          <p:cNvPr id="15" name="Text 13"/>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L/v = 30 000 / 2·10⁸</a:t>
            </a:r>
            <a:endParaRPr lang="en-US" sz="1600" dirty="0"/>
          </a:p>
        </p:txBody>
      </p:sp>
      <p:sp>
        <p:nvSpPr>
          <p:cNvPr id="17" name="Shape 15"/>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277106"/>
            <a:ext cx="384048" cy="384048"/>
          </a:xfrm>
          <a:prstGeom prst="roundRect">
            <a:avLst>
              <a:gd name="adj" fmla="val 26000"/>
            </a:avLst>
          </a:prstGeom>
          <a:solidFill>
            <a:srgbClr val="A56209"/>
          </a:solidFill>
          <a:ln/>
        </p:spPr>
      </p:sp>
      <p:sp>
        <p:nvSpPr>
          <p:cNvPr id="19" name="Text 17"/>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1,5·10⁻⁴ s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150 µs</a:t>
            </a:r>
            <a:endParaRPr lang="en-US" sz="1600" dirty="0"/>
          </a:p>
        </p:txBody>
      </p:sp>
      <p:sp>
        <p:nvSpPr>
          <p:cNvPr id="21" name="Shape 19"/>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42966"/>
            <a:ext cx="384048" cy="384048"/>
          </a:xfrm>
          <a:prstGeom prst="roundRect">
            <a:avLst>
              <a:gd name="adj" fmla="val 26000"/>
            </a:avLst>
          </a:prstGeom>
          <a:solidFill>
            <a:srgbClr val="A56209"/>
          </a:solidFill>
          <a:ln/>
        </p:spPr>
      </p:sp>
      <p:sp>
        <p:nvSpPr>
          <p:cNvPr id="23" name="Text 21"/>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yolu boşlukta 100 µs'de alırdı.</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Çekirdek çapı 50 µm olan fiberde, eksenle 10° açı yapan ışın 1 metrede kabaca kaç kez yansır?</a:t>
            </a:r>
            <a:endParaRPr lang="en-US" sz="1600" dirty="0"/>
          </a:p>
        </p:txBody>
      </p:sp>
      <p:sp>
        <p:nvSpPr>
          <p:cNvPr id="9" name="Shape 7"/>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1994"/>
            <a:ext cx="384048" cy="384048"/>
          </a:xfrm>
          <a:prstGeom prst="roundRect">
            <a:avLst>
              <a:gd name="adj" fmla="val 26000"/>
            </a:avLst>
          </a:prstGeom>
          <a:solidFill>
            <a:srgbClr val="A56209"/>
          </a:solidFill>
          <a:ln/>
        </p:spPr>
      </p:sp>
      <p:sp>
        <p:nvSpPr>
          <p:cNvPr id="11" name="Text 9"/>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Bir yansımadan diğerine ilerlenen eksenel mesafe: d = çap / tan10°</a:t>
            </a:r>
            <a:endParaRPr lang="en-US" sz="1600" dirty="0"/>
          </a:p>
        </p:txBody>
      </p:sp>
      <p:sp>
        <p:nvSpPr>
          <p:cNvPr id="13" name="Shape 11"/>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07854"/>
            <a:ext cx="384048" cy="384048"/>
          </a:xfrm>
          <a:prstGeom prst="roundRect">
            <a:avLst>
              <a:gd name="adj" fmla="val 26000"/>
            </a:avLst>
          </a:prstGeom>
          <a:solidFill>
            <a:srgbClr val="A56209"/>
          </a:solidFill>
          <a:ln/>
        </p:spPr>
      </p:sp>
      <p:sp>
        <p:nvSpPr>
          <p:cNvPr id="15" name="Text 13"/>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50·10⁻⁶ / 0,176 ≈ 2,84·10⁻⁴ m</a:t>
            </a:r>
            <a:endParaRPr lang="en-US" sz="1600" dirty="0"/>
          </a:p>
        </p:txBody>
      </p:sp>
      <p:sp>
        <p:nvSpPr>
          <p:cNvPr id="17" name="Shape 15"/>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80498"/>
            <a:ext cx="384048" cy="384048"/>
          </a:xfrm>
          <a:prstGeom prst="roundRect">
            <a:avLst>
              <a:gd name="adj" fmla="val 26000"/>
            </a:avLst>
          </a:prstGeom>
          <a:solidFill>
            <a:srgbClr val="A56209"/>
          </a:solidFill>
          <a:ln/>
        </p:spPr>
      </p:sp>
      <p:sp>
        <p:nvSpPr>
          <p:cNvPr id="19" name="Text 17"/>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Yansıma sayısı = 1 / 2,84·10⁻⁴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3500</a:t>
            </a:r>
            <a:endParaRPr lang="en-US" sz="1600" dirty="0"/>
          </a:p>
        </p:txBody>
      </p:sp>
      <p:sp>
        <p:nvSpPr>
          <p:cNvPr id="21" name="Shape 19"/>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46358"/>
            <a:ext cx="384048" cy="384048"/>
          </a:xfrm>
          <a:prstGeom prst="roundRect">
            <a:avLst>
              <a:gd name="adj" fmla="val 26000"/>
            </a:avLst>
          </a:prstGeom>
          <a:solidFill>
            <a:srgbClr val="A56209"/>
          </a:solidFill>
          <a:ln/>
        </p:spPr>
      </p:sp>
      <p:sp>
        <p:nvSpPr>
          <p:cNvPr id="23" name="Text 21"/>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Her yansımada kayıp olsaydı sinyal hemen sönerdi; tam yansımada kayıp yoktur.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Kılıfın indisini büyük sanmak.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Tam yansıma için çekirdeğin indisi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büyük</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olmalıdır: n₁ &gt; n₂.</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Işığın fiberde düz gittiğini düşünmek.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Işık zikzak çizerek, binlerce kez yansıyarak ilerler.</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Tam yansımada enerji kaybı olduğunu sanmak.</a:t>
            </a:r>
            <a:endParaRPr lang="en-US" sz="1500" dirty="0"/>
          </a:p>
        </p:txBody>
      </p:sp>
      <p:sp>
        <p:nvSpPr>
          <p:cNvPr id="24" name="Shape 22"/>
          <p:cNvSpPr/>
          <p:nvPr/>
        </p:nvSpPr>
        <p:spPr>
          <a:xfrm>
            <a:off x="841248" y="3954780"/>
            <a:ext cx="274320" cy="274320"/>
          </a:xfrm>
          <a:prstGeom prst="roundRect">
            <a:avLst>
              <a:gd name="adj" fmla="val 26667"/>
            </a:avLst>
          </a:prstGeom>
          <a:solidFill>
            <a:srgbClr val="EAF7DC"/>
          </a:solidFill>
          <a:ln/>
        </p:spPr>
      </p:sp>
      <p:sp>
        <p:nvSpPr>
          <p:cNvPr id="25" name="Text 23"/>
          <p:cNvSpPr txBox="1"/>
          <p:nvPr/>
        </p:nvSpPr>
        <p:spPr>
          <a:xfrm>
            <a:off x="841248" y="395478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93649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Tam yansımada ışığın tamamı geri döner; kayıplar soğurma ve saçılmadan gelir.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Kabul açısını sınır açıyla karıştırmak.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Kabul açısı fiberin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ucunda</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sınır açı çekirdek–kılıf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duvarında</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tanımlıdır.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Fiberde ışığın c hızıyla gittiğini düşünmek.</a:t>
            </a:r>
            <a:endParaRPr lang="en-US" sz="1500" dirty="0"/>
          </a:p>
        </p:txBody>
      </p:sp>
      <p:sp>
        <p:nvSpPr>
          <p:cNvPr id="38" name="Shape 36"/>
          <p:cNvSpPr/>
          <p:nvPr/>
        </p:nvSpPr>
        <p:spPr>
          <a:xfrm>
            <a:off x="841248" y="5509260"/>
            <a:ext cx="274320" cy="274320"/>
          </a:xfrm>
          <a:prstGeom prst="roundRect">
            <a:avLst>
              <a:gd name="adj" fmla="val 26667"/>
            </a:avLst>
          </a:prstGeom>
          <a:solidFill>
            <a:srgbClr val="EAF7DC"/>
          </a:solidFill>
          <a:ln/>
        </p:spPr>
      </p:sp>
      <p:sp>
        <p:nvSpPr>
          <p:cNvPr id="39" name="Text 37"/>
          <p:cNvSpPr txBox="1"/>
          <p:nvPr/>
        </p:nvSpPr>
        <p:spPr>
          <a:xfrm>
            <a:off x="841248"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Hız c/n₁'dir.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Kabloyu istediği gibi kıvırmak.</a:t>
            </a:r>
            <a:endParaRPr lang="en-US" sz="1500" dirty="0"/>
          </a:p>
        </p:txBody>
      </p:sp>
      <p:sp>
        <p:nvSpPr>
          <p:cNvPr id="45" name="Shape 43"/>
          <p:cNvSpPr/>
          <p:nvPr/>
        </p:nvSpPr>
        <p:spPr>
          <a:xfrm>
            <a:off x="6406744" y="5246370"/>
            <a:ext cx="274320" cy="274320"/>
          </a:xfrm>
          <a:prstGeom prst="roundRect">
            <a:avLst>
              <a:gd name="adj" fmla="val 26667"/>
            </a:avLst>
          </a:prstGeom>
          <a:solidFill>
            <a:srgbClr val="EAF7DC"/>
          </a:solidFill>
          <a:ln/>
        </p:spPr>
      </p:sp>
      <p:sp>
        <p:nvSpPr>
          <p:cNvPr id="46" name="Text 44"/>
          <p:cNvSpPr txBox="1"/>
          <p:nvPr/>
        </p:nvSpPr>
        <p:spPr>
          <a:xfrm>
            <a:off x="6406744"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Bükülme yarıçapı çok küçülürse ışık kaçar.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Çekirdek </a:t>
            </a:r>
            <a:pPr indent="0" marL="0">
              <a:buNone/>
            </a:pPr>
            <a:r>
              <a:rPr lang="en-US" sz="1500" b="1" dirty="0">
                <a:solidFill>
                  <a:srgbClr val="FFFFFF"/>
                </a:solidFill>
                <a:latin typeface="Calibri" pitchFamily="34" charset="0"/>
                <a:ea typeface="Calibri" pitchFamily="34" charset="-122"/>
                <a:cs typeface="Calibri" pitchFamily="34" charset="-120"/>
              </a:rPr>
              <a:t>n₁ &gt; n₂</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NA </a:t>
            </a:r>
            <a:pPr indent="0" marL="0">
              <a:buNone/>
            </a:pPr>
            <a:r>
              <a:rPr lang="en-US" sz="1500" b="1" dirty="0">
                <a:solidFill>
                  <a:srgbClr val="FFFFFF"/>
                </a:solidFill>
                <a:latin typeface="Calibri" pitchFamily="34" charset="0"/>
                <a:ea typeface="Calibri" pitchFamily="34" charset="-122"/>
                <a:cs typeface="Calibri" pitchFamily="34" charset="-120"/>
              </a:rPr>
              <a:t>√(n₁² − n₂²)</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Hız </a:t>
            </a:r>
            <a:pPr indent="0" marL="0">
              <a:buNone/>
            </a:pPr>
            <a:r>
              <a:rPr lang="en-US" sz="1500" b="1" dirty="0">
                <a:solidFill>
                  <a:srgbClr val="FFFFFF"/>
                </a:solidFill>
                <a:latin typeface="Calibri" pitchFamily="34" charset="0"/>
                <a:ea typeface="Calibri" pitchFamily="34" charset="-122"/>
                <a:cs typeface="Calibri" pitchFamily="34" charset="-120"/>
              </a:rPr>
              <a:t>c / 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16" name="Text 14"/>
          <p:cNvSpPr txBox="1"/>
          <p:nvPr/>
        </p:nvSpPr>
        <p:spPr>
          <a:xfrm>
            <a:off x="9308592" y="239572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NA = √(n₁² − n₂²)</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θ(kabul) = NA</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c / n₁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dersler.perinet.org/fiber-optik.html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07 · Prizmalar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Fiber optik — Dersler</dc:title>
  <dc:subject>Fizik · Optik</dc:subject>
  <dc:creator>Dersler</dc:creator>
  <cp:lastModifiedBy>Dersler</cp:lastModifiedBy>
  <cp:revision>1</cp:revision>
  <dcterms:created xsi:type="dcterms:W3CDTF">2026-09-20T18:42:27Z</dcterms:created>
  <dcterms:modified xsi:type="dcterms:W3CDTF">2026-09-20T18:42:27Z</dcterms:modified>
</cp:coreProperties>
</file>