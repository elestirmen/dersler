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Lst>
  <p:notesMasterIdLst>
    <p:notesMasterId r:id="rId1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notesMaster" Target="notesMasters/notesMaster1.xml"/><Relationship Id="rId124" Type="http://schemas.openxmlformats.org/officeDocument/2006/relationships/presProps" Target="presProps.xml"/><Relationship Id="rId125" Type="http://schemas.openxmlformats.org/officeDocument/2006/relationships/viewProps" Target="viewProps.xml"/><Relationship Id="rId126" Type="http://schemas.openxmlformats.org/officeDocument/2006/relationships/theme" Target="theme/theme1.xml"/><Relationship Id="rId1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düz gider. Öyleyse kıvrılarak köşeleri dönen bir kablonun içindeki ışık öbür uca nasıl ulaşır? Kıtalar arası internetin %99'undan fazlası okyanus tabanına döşenmiş, saç teli inceliğindeki cam liflerin içinden geçiyor. Bu liflerde ışık kilometrelerce yol alır ve neredeyse hiç zayıflamaz. Sırrı yeni bir fizik değil, kırılma konusunda öğrendiğin tek bir olay: tam yansıma. Işık, bir kez içeri girdikten sonra dışarı çıkamaz — duvara her çarptığında eksiksiz geri döner. Bu anlatım dört basamakta ilerliyor: önce bir su akıntısına hapsolan ışığı gözleyip fiberin yapısını tanıyacağız, sonra sınır açı, kabul açısı ve sinyal süresi bağıntılarını çıkaracağız, ardından bükülmeye, kayıplara ve fiberin gerçek dünyadaki işine geçeceğiz. En sonda kolaydan zora sıralanmış örneklerle hepsini birlikte kullanacağız.
Kapak görseli: Fiber lamba. Işık tabandaki kaynaktan liflere girer, lifler boyunca taşınır ve en çok uçlardan çıkar; bu yüzden uçlar lif gövdelerinden çok daha parlak görünür. Lifler kıvrılsa da ışık içeride kalır. Bu anlatımın bütün hikâyesi burada: ışığı bir lifin içinde tutan şey tam yansımadır.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Işık düz gider. Öyleyse kıvrılarak köşeleri dönen bir kablonun içindeki ışık öbür uca nasıl ulaşır? Kıtalar arası internetin %99'undan fazlası okyanus tabanına döşenmiş, saç teli inceliğindeki cam liflerin içinden geçiyor. Bu liflerde ışık kilometrelerce yol alır ve neredeyse hiç zayıflamaz. Sırrı yeni bir fizik değil, kırılma konusunda öğrendiğin tek bir olay: tam yansıma. Işık, bir kez içeri girdikten sonra dışarı çıkamaz — duvara her çarptığında eksiksiz geri döner. Bu anlatım dört basamakta ilerliyor: önce bir su akıntısına hapsolan ışığı gözleyip fiberin yapısını tanıyacağız, sonra sınır açı, kabul açısı ve sinyal süresi bağıntılarını çıkaracağız, ardından bükülmeye, kayıplara ve fiberin gerçek dünyadaki işine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ışığın bir su akıntısında ve cam lifte nasıl tutulduğunu gör, fiberin parçalarını tanı. Bu basamakta hesap yok denecek kadar az.
   01 Önce gözlemle: ışık bir su akıntısını izleyebilir mi?
   02 Fiber optik kablo nedir?
   03 Tam yansıma: ışık neden dışarı çıkamaz?
2. Orta — Bağıntılar: sınır açıyı, kabul konisini ve sinyal süresini Snell yasasından adım adım çıkar, sayılarla karşılaştır.
   04 Sınır açı: bağıntı nereden geliyor?
   05 Kabul açısı ve sayısal açıklık
   06 Sayılarla hisset: hangi ışık kılavuzu ne kadar ışık toplar?
   07 Sinyalin hızı ve mod dağılımı
3. İleri — Derinleşme: fiber bükülünce, ışık yüzlerce kilometre yol alınca ve fiber gerçek dünyaya çıkınca ne olur?
   08 Bükülme: tam yansıma ne zaman bozulur?
   09 Kayıplar ve desibel
   10 Fiber optik gerçek dünyada
4. Pekiştir —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Kırılma indisi (n): ışığın bir ortamda kaç kat yavaşladığını söyleyen sayı: n = c/v. Hava için 1, cam için yaklaşık 1,5.
• Snell yasası: ışık bir ortamdan ötekine geçerken n₁·sin i = n₂·sin r olur. Açılar yüzeyden değil, yüzeye dik çizilen normalden ölçülür.
• Sinüs: sin90° = 1'dir ve hiçbir açının sinüsü 1'den büyük olmaz. Sık kullanılanlar: sin30° = 0,5, sin37° = 0,6, sin53° = 0,8.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Tümler açılar: toplamı 90° olan iki açı. 37° ile 53°, 10° ile 80° birbirinin tümleridir.
• Süre = yol ÷ hız: 600 km'yi saatte 100 km hızla giden araç 6 saatte alır. Çok kısa süreler mikrosaniyeyle yazılır: 1 µs, saniyenin milyonda biridir.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ışığın bir su akıntısında ve cam lifte nasıl tutulduğunu gör, fiberin parçalarını tanı. Bu basamakta hesap yok denecek kadar az.
01 Önce gözlemle: ışık bir su akıntısını izleyebilir mi?
02 Fiber optik kablo nedir?
03 Tam yansıma: ışık neden dışarı çıkamaz?
Görsel: Işık çeşmesi. Lazer ışığı deliğe girip su akıntısına geçince akıntının dışına çıkamıyor; akıntının kavisini izleyerek leğene kadar iniyor. Işık su–hava yüzeyine her varışında çok yatık bir açıyla çarpıp içeri geri dönüyor. Fiber optik kablo aynı fikrin camdan yapılmış, saç teli inceliğindeki hâlidir.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bir su akıntısını izleyebilir mi? — adım 1/4
• Karanlık bir odada saydam bir kabın yan duvarına küçük bir delik aç; su dışarı, eğri bir yay çizerek fışkırsın.
• Şimdi kabın öbür yanından deliğe doğru bir lazer tut.
• Beklentin şudur: ışık düz gider, delikten çıkıp karşıdaki duvarda bir nokta yapar.
• Oysa olan başkadır.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bir su akıntısını izleyebilir mi? — adım 2/4
• Işık su akıntısının içine girer, akıntıyla birlikte kıvrılır ve akıntı baştan sona parlar; suyun leğene düştüğü yerde parlak bir leke oluşur.
• Bu gösteri 1840'larda Cenevre'de Daniel Colladon tarafından derste yapıldı ve ışık çeşmesi adıyla ünlendi.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bir su akıntısını izleyebilir mi? — adım 3/4
• Bu deneyde üç şey dikkat çeker:
• Işık akıntıdan çıkmaz: akıntı, ışığı yolu boyunca taşıyan bir boru gibi davranır.
• Işık kavisi izler: düz giden ışık, su yüzeyine her varışında içeri geri döner.
• Akıntı parlar: sudaki kabarcık ve pürüzler ışığın küçük bir kısmını her yöne saçar; onu görmemizi sağlayan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bir su akıntısını izleyebilir mi? — şekil
Işık çeşmesinin şeması. Beklenen, lazer ışığının delikten çıkıp düz gitmesi ve karşı duvarda bir nokta yapmasıdır (kırmızı kesikli çizgi). Oysa ışın su akıntısının yüzeyine çok yatık çarpar ve her seferinde içeri geri döner (yeşil noktalar). Işık yine düz parçalar hâlinde gider; bu parçalar art arda eklenince akıntının kavisini izler ve leğende parlak bir leke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Kavis çizen bir su akıntısına giren ışık akıntıdan çıkmaz; yüzeye her varışında geri dönerek akıntının yolunu izler. Fiber optik kablo bu gözlemin incecik camdan yapılmış hâlidir.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Işık düz çizgide gidiyorsa, kıvrılan su akıntısının içinde nasıl yol alabiliyor?
Sınıfa sorun, birkaç tahmin alın; sonra cevap slaytına geçin.
Cevap: Işık aslında hiç kıvrılmaz; iki yüzey arasında hep düz gider. Su yüzeyine her varışında oraya çok yatık bir açıyla çarptığı için dışarı çıkamaz ve tamamen geri yansır. Kısa düz parçaların art arda eklenmesiyle ortaya çıkan zikzak yol, akıntının kavisini izler.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Işık aslında hiç kıvrılmaz; iki yüzey arasında hep düz gider. Su yüzeyine her varışında oraya çok yatık bir açıyla çarptığı için dışarı çıkamaz ve tamamen geri yansır. Kısa düz parçaların art arda eklenmesiyle ortaya çıkan zikzak yol, akıntının kavisini izler.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 adım 1/5
• Fiber optik kablo, ışığı taşımak için üretilmiş, saç teli inceliğinde cam ya da plastik ipliktir.
• Telekom fiberlerinde kılıfla birlikte çap 125 µm, yani milimetrenin sekizde biri kadardır.
• İki katmandan oluşur; dıştaki kaplama yalnızca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 adım 2/5
• Çekirdek (core): ışığın taşındığı iç kısım, kırılma indisi n₁. Tek modlu fiberlerde çapı ≈ 9 µm, çok modlularda ≈ 50–62,5 µm.
• Kılıf (cladding): çekirdeği saran, indisi daha küçük katman (n₂ &lt; n₁).
• Koruyucu kaplama: mekanik dayanım sağlar, optik görevi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 adım 3/5
• Çekirdek çapı ışığın içeride kaç farklı yolla ilerleyebileceğini belirler.
• Tek modlu fiberin çekirdeği o kadar incedir ki ışık neredeyse tek bir yoldan gider; çok modlu fiberin kalın çekirdeğinde ışık birçok farklı açıyla zikzak çizebilir.
• Plastik fiberler ise yaklaşık 1 mm kalınlığındadır, ucuzdur ve kısa mesafelerde ya da süs lambalarında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 adım 4/5
• Peki neden yalnızca çıplak bir cam iplik yetmez?
• Çünkü yansıma yüzeyi korunmalıdır.
• Çıplak camın üstündeki bir parmak izi, toz ya da çizik ışığın o noktadan kaçmasına yol açar; yan yana duran iki çıplak lif birbirine ışık sızdırır.
• Kılıf sayesinde yansıma camın içinde, temiz ve korunmuş bir sınırda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 şekil
Fiberin çalışması için tek şart, çekirdeğin kılıftan daha yoğun olmasıdır. İkisi de camdır; aradaki fark, kılıfa katılan az miktarda katkı maddesiyle indisin binde birkaç oranında düşürülmesidir. Bu küçücük fark, ışığın çekirdekten dışarı çıkamamasına yeter. Dıştaki plastik kaplamanın optik hiçbir görevi yoktur — yalnızca lifi kırılmaktan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Fiber, indisi büyük bir cam çekirdek ile onu saran, indisi biraz daha küçük bir kılıftan oluşur. Işık çekirdekte taşınır; dıştaki kaplama yalnızca lifi korur.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ışık neden dışarı çıkamaz? — adım 1/5
• Kırılma konusundan hatırla: ışık indisi büyük bir ortamdan indisi küçük bir ortama geçerken normalden uzaklaşarak kırılır.
• Geliş açısını büyüttükçe kırılan ışın sınıra giderek yaklaşır.
• Bir açıda kırılan ışın sınırı yalayarak gider; bu geliş açısına sınır açı denir.
• Geliş açısı sınır açıyı aşınca ışığın öbür ortamda gidebileceği bir yön kalmaz ve ışığın tamamı geri döner.
• Bu olaya tam yansıma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ışık neden dışarı çıkamaz? — adım 2/5
Duvara geliş açısı | Ne olur?
Küçük (duvara dike yakın) | Işığın çoğu kılıfa geçer, azı yansır
Sınır açıya eşit | Kırılan ışın sınırı yalayarak gider
Sınır açıdan büyük | Işığın tamamı yansır: tam yansıma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ışık neden dışarı çıkamaz? — adım 3/5
• Fiberde bu olay binlerce kez tekrarlanır.
• Tam yansımayı değerli kılan şey kayıpsız olmasıdır.
• Işığın %99'unu yansıtan çok iyi bir ayna bile yüz yansımadan sonra ışığın ancak üçte biri kadarını bırakırdı; oysa bir metrelik fiberde binlerce yansıma olur.
• Fiber inceliğinde, içi aynayla kaplı bir boru ışığı bir metre bile taşıyamazdı; tam yansıma ise hiçbir şey eksiltmeden geri gönderir.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ışık neden dışarı çıkamaz? — adım 4/5
Açı nereden ölçülür? Duvara çarpma açısı, duvarın normaline göre ölçülür. Fiber ekseniyle küçük açı yapan ışın, duvara çok yatık (yani büyük açıyla) çarpar — bu yüzden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ışık neden dışarı çıkamaz? — şekil
Çekirdeğe yeterince yatık giren ışık, duvara sınır açıdan büyük bir açıyla çarpar ve tamamen geri yansır. Yeşil noktaların her biri bir tam yansımadır; bir kilometrelik lifte bunlardan on binlercesi olur. Sıradan bir aynada her yansımada biraz enerji kaybedilir, ama tam yansımada hiç kayıp yoktur — ışığın kilometrelerce taşınabilmesinin sebebi tam olarak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Işık çekirdekten kılıfa sınır açıdan büyük bir açıyla çarparsa dışarı çıkamaz ve tamamı yansır. Aynadaki yansımanın aksine tam yansıma kayıpsızdır; fiber boyunca binlerce kez tekrarlanabilir.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Havuzun dibindeki bir dalgıç su yüzeyine çok yatık bakarsa ne görür?
Sınıfa sorun, birkaç tahmin alın; sonra cevap slaytına geçin.
Cevap: Gökyüzünü değil, havuzun dibinin yansımasını görür. Sudan havaya geçişte sınır açı yaklaşık 49°'dir; bakış doğrultusu yüzeyin normaliyle bundan büyük açı yapıyorsa o doğrultudan dışarının ışığı gelemez ve yüzey ayna gibi davranır. Dalgıç dışarıyı ancak tam tepesindeki dairesel bir pencereden görebilir.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Gökyüzünü değil, havuzun dibinin yansımasını görür. Sudan havaya geçişte sınır açı yaklaşık 49°'dir; bakış doğrultusu yüzeyin normaliyle bundan büyük açı yapıyorsa o doğrultudan dışarının ışığı gelemez ve yüzey ayna gibi davranır. Dalgıç dışarıyı ancak tam tepesindeki dairesel bir pencereden görebilir.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sınır açıyı, kabul konisini ve sinyal süresini Snell yasasından adım adım çıkar, sayılarla karşılaştır.
04 Sınır açı: bağıntı nereden geliyor?
05 Kabul açısı ve sayısal açıklık
06 Sayılarla hisset: hangi ışık kılavuzu ne kadar ışık toplar?
07 Sinyalin hızı ve mod dağılımı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1/8
• Işık çekirdekten kılıfa doğru, sınır açıdan büyük bir açıyla çarparsa dışarı çıkamaz; tamamı geri yansır.
• Sınır açının değeri, kırılma konusundaki Snell yasasından tek adımda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2/8
• Snell yasası: çekirdekten (n₁) kılıfa (n₂) geçen ışın için n₁·sin θ₁ = n₂·sin θ₂ yazılır.
• Sınır durumu: geliş açısı sınır açıya eşitken kırılan ışın sınırı yalar, yani θ₂ = 90° ve sin 90° = 1 olur.
• Sonuç: n₁·sin θ(sınır) = n₂, buradan sin θ(sınır) = n₂ / n₁.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3/8
n₁·sin θ₁ = n₂·sin θ₂   sin θ(sınır) = n₂ / n₁   α(maks) = 90° − θ(sınır)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4/8
Formüldeki harfler ne anlama geliyor?
Sembol | Anlamı | Birimi
n₁ | çekirdeğin kırılma indisi (büyük olan) | —
n₂ | kılıfın kırılma indisi (n₂ &lt; n₁) | —
θ₁ | ışının çekirdekten duvara geliş açısı (duvarın normalinden ölçülür) | derece (°)
θ₂ | kılıfa geçen ışının kırılma açısı | derece (°)
θ(sınır) | sınır açı: kırılma açısını 90° yapan geliş açısı | derece (°)
α(maks) | ışının fiber ekseniyle yapabileceği en büyük açı | derece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5/8
• Sağ taraf iki indisin oranıdır ve birimsizdir, tıpkı bir sinüs gibi.
• Bu oran 1'den küçük olmak zorundadır; n₂ &gt; n₁ olsaydı sinüs 1'i aşardı ve sınır açı hiç olmazdı.
• Tam yansımanın yalnızca indisi büyük ortamdan küçük ortama geçerken görülmesinin nedeni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6/8
• Duvara geliş açısı θ ile ışının fiber ekseniyle yaptığı açı α birbirini 90°'ye tamamlar. n₁ = 1,50 ve n₂ = 1,46 için sin θ(sınır) = 0,973 ve θ(sınır) ≈ 76,7° olur; demek ki ışın eksenle en çok 90° − 76,7° = 13,3° açı yaparsa taşınır.
• Sayfanın 01 numaralı laboratuvarında indisleri değiştirip bu sınırı canlı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şekil
Solda sınır durumu: ışın duvara tam sınır açıyla gelince kılıfa geçen ışın sınırı yalar, yani θ₂ = 90° olur. Snell yasasına sin 90° = 1 yazınca sin θ(sınır) = n₂/n₁ çıkar. Sağda aynı fikir fiberin içinde: duvarın normali eksene diktir, bu yüzden ışın, normal ve eksen bir dik üçgen kurar. Üçgenin öbür iki açısı olan θ ile α'nın toplamı 90°'dir.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şekil
Yarım daire blokta kırmızı ışın düz yüzün tam ortasına, kâğıda çizilmiş normal çizgisinin dibine varıyor ve normalin öbür yanına aynı açıyla geri dönüyor. Düz yüzden havaya geçen bir ışın yok; geliş açısı sin θ(sınır) = n₂/n₁ bağıntısının verdiği sınır açıdan büyük olduğu için ışığın tamamı bloğun içine yansır. Kaynağı kaydırıp geliş açısını küçültürsen önce düz yüzü yalayan, sonra havaya çıkan bir ışın belirir; yalayarak çıktığı andaki açı sınır açıdır.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Snell yasasında kırılma açısı 90° alınınca sin θ(sınır) = n₂/n₁ çıkar. Işın duvara bundan büyük açıyla çarpmalı, yani fiber ekseniyle 90° − θ(sınır)'dan küçük açı yapmalıdır.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 adım 1/5
• Fiberin ucuna her açıyla giren ışık taşınmaz.
• Taşınabilecek ışınların oluşturduğu koninin yarı açısına kabul açısı denir.
• Işık havadan çekirdeğin düz ucuna girerken bir kez kırılır; kabul açısını bu kırılma ile duvardaki sınır açı birlikte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 adım 2/5
• Uçtaki kırılma: havadan (n = 1) gelen ışın için sin θ = n₁·sin α; burada α ışının çekirdekte eksenle yaptığı açıdır.
• Taşınma şartı: α en çok 90° − θ(sınır) olabilir, bu yüzden sin α(maks) = cos θ(sınır).
• Kosinüsü yaz: cos θ(sınır) = √(1 − sin²θ(sınır)) = √(1 − n₂²/n₁²).
• Birleştir: sin θ(kabul) = n₁·√(1 − n₂²/n₁²) = √(n₁² − n₂²).
NA = √(n₁² − n₂²)   sin θ(kabul) = 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 adım 3/5
• √(n₁² − n₂²) niceliğine sayısal açıklık (NA) denir; fiberin ışık toplama yeteneğini tek bir sayıyla anlatır.
• Sayfanın 02 numaralı bölümünde kılıf indisini değiştirerek koninin nasıl açılıp daraldığını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 adım 4/5
• NA büyükse fiber daha geniş açıdan ışık toplar.
• n₁ ile n₂ birbirine yaklaştıkça NA küçülür, koni daralır.
• Tipik değerler (çok modlu cam fiber): NA ≈ 0,2 – 0,3; kabul açısı ≈ 12° –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 şekil
Her açıyla giren ışık taşınamaz. Fiberin ucundaki yeşil kabul konisinin içinden gelen ışın camda eksenle küçük açı yapar, duvara sınır açıdan (76,7°) büyük açıyla çarpar ve tam yansıyarak taşınır. Koninin dışından gelen ışın camda eksene daha dik gider, duvara sınır açıdan küçük açıyla çarpar ve kılıfa kaçar. Koninin yarı açısını sayısal açıklık verir: sin θ(kabul) = NA = √(n₁² − n₂²); iki indis birbirine yaklaştıkça koni daralır.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Fiberin ucunda yalnızca kabul konisinin içinden gelen ışık taşınır. Koninin yarı açısı sin θ(kabul) = NA = √(n₁² − n₂²) ile bulunur; indisler birbirine yaklaştıkça koni daralır.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hangi ışık kılavuzu ne kadar ışık toplar? — adım 1/5
• Aynı iki bağıntıyı farklı ışık kılavuzlarına uygulayalım (kılavuz havada, uca giren ışık havadan geliyor):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hangi ışık kılavuzu ne kadar ışık toplar? — adım 2/5
Kılavuz (n₁ / n₂) | Sınır açı | NA | Kabul açısı
Kılıfsız cam çubuk (1,50 / 1,00) | 41,8° | 1,12 | her açı
Örnek 1'deki fiber (1,50 / 1,20) | 53,1° | 0,90 | 64,2°
Plastik fiber (1,49 / 1,40) | 70,0° | 0,51 | 30,7°
Cam fiber (1,50 / 1,46) | 76,7° | 0,34 | 20,1°
Telekom fiberi (1,450 / 1,444) | 84,8° | 0,13 | 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hangi ışık kılavuzu ne kadar ışık toplar? — adım 3/5
• Tablodan bir düzen okunuyor: indis farkı küçüldükçe sınır açı 90°'ye yaklaşıyor, NA ve kabul açısı küçülüyor.
• Telekom fiberinde iki indis arasındaki fark yalnızca 0,006, yani indisin binde dördü kadardır; buna rağmen tam yansıma çalışır, çünkü tek şart n₁'in n₂'den büyük olmasıdır.
• Farkın büyüklüğü yalnızca kabul konisinin genişliğini belirler; küçük farkın bedeli dar bir konidir.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hangi ışık kılavuzu ne kadar ışık toplar? — şekil
Tablodaki beş kılavuzun kabul konileri, gerçek açılarıyla çizildi. Kılıfsız cam çubuk her açıdan gelen ışığı alır; soldan sağa indis farkı (Δn) küçüldükçe koni daralır ve telekom fiberinde ince bir huniye döner. Farkın küçülmesi tam yansımayı bozmaz, yalnızca ışığın girebileceği koniyi daraltır.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hangi ışık kılavuzu ne kadar ışık toplar? — adım 5/5
• İlk satır ilginç bir uç durum: NA 1'i aşınca sin θ(kabul) = NA denklemi çözümsüz kalır.
• Bu, havadan uca gelen her ışının taşındığı anlamına gelir: en yatık ışın bile camda eksenle en çok 41,8° yapar ve duvara 48,2° ile, yani sınır açıdan büyük bir açıyla çarpar.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İndis farkı küçüldükçe sınır açı 90°'ye yaklaşır, NA ve kabul konisi küçülür. Telekom fiberinde fark binde birkaç olduğu için koni yalnızca birkaç derecedir; ışık lazerle ve dikkatle hizalanarak verilir.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Telekom fiberinin kabul konisi bu kadar darsa, ışık onun içine nasıl sokulur?
Sınıfa sorun, birkaç tahmin alın; sonra cevap slaytına geçin.
Cevap: Işık kaynağı olarak neredeyse paralel ve ince bir demet veren lazer kullanılır ve fiberin ucu kaynağa mikrometre duyarlılığıyla hizalanır. Her yöne ışık saçan bir ampulün ışığının ise çok küçük bir bölümü 7,6°'lik koniye girer; geri kalanı daha ilk santimetrede kılıfa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Işık kaynağı olarak neredeyse paralel ve ince bir demet veren lazer kullanılır ve fiberin ucu kaynağa mikrometre duyarlılığıyla hizalanır. Her yöne ışık saçan bir ampulün ışığının ise çok küçük bir bölümü 7,6°'lik koniye girer; geri kalanı daha ilk santimetrede kılıfa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 adım 1/5
• Işık camda boşluktakinden yavaş gider. n₁ = 1,5 için fiberdeki hız 2·10⁸ m/s'dir: ışık boşluktakinin üçte iki hızıyla ilerler.
• Ama asıl sorun hızın kendisi değil, her ışının aynı yolu izlememesidir:
v = c / n₁   t = L / v = n₁·L / c   Δt = (n₁L/c)·(n₁/n₂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 adım 2/5
• En hızlı ışın: eksen boyunca giden ışın L yolunu alır: t(min) = n₁·L / c.
• En yatık ışın: eksenle α(maks) açısı yapan ışın her eksen metresi için 1/cos α(maks) metre yol alır.
• Açıyı indislere bağla: α(maks) = 90° − θ(sınır) olduğundan cos α(maks) = sin θ(sınır) = n₂/n₁; yol L·n₁/n₂ olur.
• Fark: t(maks) = t(min)·n₁/n₂, buradan Δt = t(min)·(n₁/n₂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 adım 3/5
• Eksene yakın giden ışınlar kısa, yatık açılı ışınlar uzun yol alır; bu fark sinyal darbesini genişletir ve veri hızını sınırlar.
• 10 km'lik bir fiberde (1,50 / 1,46) en hızlı ışın 50 µs'de, en yavaşı yaklaşık 51,4 µs'de varır; sayfanın 03 numaralı bölümündeki kaydırıcı bu sayıları verir.
• Tek modlu fiberlerde çekirdek çok ince olduğu için bu sorun ortadan kalkar.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 adım 4/5
• Bir başka çözüm dereceli indisli fiberdir: çekirdeğin indisi merkezden dışa doğru azalır, dış bölgelerden geçen uzun yollu ışınlar orada daha hızlı gider ve gecikmeyi büyük ölçüde kapatır.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 şekil
Aynı anda giren iki ışın aynı anda çıkmaz: zikzak çizen mod daha uzun yol aldığı için geç varır. Bu yüzden keskin bir ışık darbesi, kablonun sonunda yayvanlaşır ve çok hızlı gönderilen darbeler birbirine karışır — mod dağılımı denen bu olay bant genişliğini sınırlar. Uzun mesafelerde çekirdeği çok ince olan tek modlu fiber kullanılmasının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Fiberde ışık c/n₁ hızıyla, yani boşluktakinin yaklaşık üçte ikisi hızla gider. Farklı açılarla giden ışınlar farklı uzunlukta yollar aldığı için darbe yayılır; bu mod dağılımı veri hızını sınırlar.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Fiberde ışık boşluktakinden yavaşsa, neden “ışık hızında internet” deniyor?
Sınıfa sorun, birkaç tahmin alın; sonra cevap slaytına geçin.
Cevap: Çünkü 2·10⁸ m/s de akıl almaz bir hızdır: sinyal 1000 km'yi 5 milisaniyede alır. Bakır kablodaki elektrik sinyali de benzer hızlarda ilerler; fiberin asıl üstünlüğü hız değil, saniyede taşıyabildiği darbe sayısı ve darbelerin yolda neredeyse hiç zayıflamamasıdır.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2·10⁸ m/s de akıl almaz bir hızdır: sinyal 1000 km'yi 5 milisaniyede alır. Bakır kablodaki elektrik sinyali de benzer hızlarda ilerler; fiberin asıl üstünlüğü hız değil, saniyede taşıyabildiği darbe sayısı ve darbelerin yolda neredeyse hiç zayıflamamasıdır.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fiber bükülünce, ışık yüzlerce kilometre yol alınca ve fiber gerçek dünyaya çıkınca ne olur?
08 Bükülme: tam yansıma ne zaman bozulur?
09 Kayıplar ve desibel
10 Fiber optik gerçek dünyada
Görsel: Veri merkezi. Sunucular birbirine ve dış dünyaya ışık taşıyan kablolarla bağlanır. Kablo demetleri keskin köşelerle değil geniş kavislerle yönlendirilir; çünkü keskin bir kıvrım tam yansımayı bozar ve ışığı kaçırır.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Bükülme: tam yansıma ne zaman bozulur? — adım 1/4
• Fiber büküldüğünde ışın dış duvara daha dik çarpar.
• Geliş açısı sınır açının altına düşerse tam yansıma bozulur ve ışık kılıfa sızar.
• Her kablonun bir en küçük bükülme yarıçapı vardır; kurulum sırasında buna uyulmalıdır.
• Basit bir ışın modeliyle bu yarıçapı hesaplayabilirsin (a: çekirdek yarıçapı, R: bükülme yarıçapı):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Bükülme: tam yansıma ne zaman bozulur? — adım 2/4
• Model ışın: eksene paralel ışınların en zorlusu, iç duvarı sıyırarak gelen ışındır; kıvrımda merkezden R − a uzaklıktan geçen bir doğru boyunca ilerler.
• Dış duvara varış: bu doğru R + a yarıçaplı dış duvara çarpar; geometriden geliş açısı için sin θ = (R − a)/(R + a) çıkar.
• Şart: sin θ ≥ n₂/n₁ olmalı. Düzenlenirse R ≥ a·(n₁ + n₂)/(n₁ − n₂).
sin θ = (R − a) / (R + a)   R(min) = a(n₁+n₂)/(n₁−n₂)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Bükülme: tam yansıma ne zaman bozulur? — adım 3/4
• a = 25 µm, n₁ = 1,50 ve n₂ = 1,46 için R(min) = 1,85 mm çıkar; sayfanın 04 numaralı bölümü aynı modeli kullanır.
• Gerçek kablolarda önerilen en küçük yarıçap genellikle birkaç santimetredir, çünkü bu basit modelin hesaba katmadığı sızıntılar ve camın kırılma riski için pay bırakılır.
• Bağıntının paydasına dikkat et: indis farkı küçüldükçe fiber bükülmeye karşı çok daha hassaslaşır.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Bükülme: tam yansıma ne zaman bozulur? — şekil
Işık kıvrımda da düz gider; kıvrılan, fiberin duvarıdır. Fiberi büktüğünde dış duvar ışının önüne çıkar ve ışın ona daha dik çarpar. Kıvrım genişse θ hâlâ sınır açının üstündedir ve ışık tam yansıyıp içeride kalır. Kıvrım yarıçapı belli bir değerin altına inince θ sınırın altına düşer, tam yansıma bozulur ve ışık dışarı sızar. Bu yüzden fiber kablolar keskin köşelerden geçirilmez; her kablonun bir en küçük bükülme yarıçapı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Bükülen fiberde ışın dış duvara daha dik çarpar; açı sınır açının altına inerse ışık sızar. Basit ışın modelinde en küçük yarıçap R(min) = a·(n₁ + n₂)/(n₁ − n₂)'dir.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Bükülen bir fiberde ışık neden iç duvardan değil de dış duvardan kaçar?
Sınıfa sorun, birkaç tahmin alın; sonra cevap slaytına geçin.
Cevap: Kıvrımın dış duvarı, ışının önüne çıkan bir “virajdır”: düz giden ışın ona daha dik, yani daha küçük bir geliş açısıyla çarpar. İç duvar ise ışının yolundan uzaklaşır; ona çarpan ışınlar hep yatık kalır. Bu yüzden sızıntı hep kıvrımın dış tarafından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Kıvrımın dış duvarı, ışının önüne çıkan bir “virajdır”: düz giden ışın ona daha dik, yani daha küçük bir geliş açısıyla çarpar. İç duvar ise ışının yolundan uzaklaşır; ona çarpan ışınlar hep yatık kalır. Bu yüzden sızıntı hep kıvrımın dış tarafından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 adım 1/6
• Tam yansıma kayıpsızsa ışık neden sonsuza kadar gitmiyor?
• Çünkü ışık camın içinden geçerken de zayıflar.
• Kaybın başlıca üç kaynağı vardır:
• Bükülme kaybı: keskin kıvrımlarda ışık kaçar.
• Soğurma: camın kendi kusurları ışığı yutar.
• Saçılma: malzemedeki küçük düzensizlikler ışığı dağıtır.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 adım 2/6
• Mühendisler kaybı desibel (dB) ile ölçer.
• Desibel logaritmik bir ölçektir: her 10 dB gücü onda birine, her 3 dB yaklaşık yarısına indirir.
• Modern fiberlerde kayıp km başına 0,2 dB düzeyindedir: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 adım 3/6
Mesafe | Toplam kayıp | Kalan güç
1 km | 0,2 dB | %95,5
15 km | 3 dB | ≈ %50
50 km | 10 dB | %10
100 km | 20 dB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 şekil
Tablodaki sayıların grafiği: üst sırada mesafe, alt sırada (kırmızı) toplam kayıp. Işığın gücü 15 km'de yarıya (3 dB), 50 km'de onda bire (10 dB), 100 km'de yüzde bire (20 dB) iner: her 10 dB gücü onda birine indirir. Eğri düz bir çizgi değildir; her kilometre kalan gücün aynı oranını götürür, bu yüzden güç başta hızlı, sonra yavaş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 adım 5/6
• 1966'da Charles Kao, camdaki safsızlıklar temizlenirse kaybın kilometrede 20 dB'nin altına inebileceğini ve bunun iletişim için yeteceğini ileri sürdü; bu çalışma ona 2009 Nobel Fizik Ödülü'nü getirdi.
• Bugünkü 0,2 dB/km o hedefin yüz kat altındadır.
• En az kayıp kızılötesinde, 1550 nm civarındadır; bu yüzden internet fiberlerindeki ışık gözle görülmez.
• Işık kilometrelerce yol aldıktan sonra bile büyük ölçüde ayaktadır; yüzlerce kilometrelik hatlarda ise belli aralıklarla yükseltilir.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 şekil
Kaleme sarılan fiber yalnızca sıkı kıvrıldığı yerde kırmızı parlıyor; kaynaktan gelen ışık düz kısımlarda çekirdekte kalıp dışarı sızmıyor. Kalemin çevresindeki dar kıvrımda ışın dış duvara daha dik çarpar, geliş açısı sınır açının altına iner ve tam yansıma bozulur. Kablonun dışına kaçıp onu parlatan bu ışık, bükülme kaybının gözle görülen hâlidir.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Modern fiberde kayıp kilometrede yaklaşık 0,2 dB'dir: 50 km sonra ışığın onda biri, 100 km sonra yüzde biri kalır. Kayıpların kaynağı tam yansıma değil; soğurma, saçılma ve bükülmedir.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 adım 1/5
• Bir web sayfası açtığında isteğin büyük olasılıkla birkaç kez fiberden geçer: evden santrale, şehirler arası omurgaya, gerekirse okyanusun dibindeki kabloya.
• Fiberin bakırın yerini almasının nedeni aşağıdaki tabloda özetleniyor.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 adım 2/5
Özellik | Fiber optik | Bakır kablo
Bant genişliği | çok yüksek | sınırlı
Kayıp | çok düşük | yüksek
Elektromanyetik girişim | etkilenmez | etkilenir
Ağırlık | hafif | ağır
Güvenlik | dinlemesi çok zor | daha kolay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 şekil
İlk satırda uzun çubuk iyidir, diğer üçünde kısa. Çubuklar ölçekli değildir, yalnızca hangisinin üstün olduğunu gösterir: gerçekte fiber aynı kalınlıktaki bakırın binlerce katı veri taşır. Kilometrede çok daha az sinyal kaybeder, çok daha hafiftir ve metal taşımadığı için elektromanyetik girişimden hiç etkilenmez — yıldırım ya da yüksek gerilim hattı yanından geçmesi sorun olmaz. Dinlemesi de çok daha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 adım 4/5
• İletişim: internet omurgası, denizaltı kabloları, telefon ağları. 6000 km'lik bir okyanus kablosunda sinyal tek yönde yaklaşık 30 ms'de karşıya varır.
• Tıp: endoskop — vücudun içini görüntülemek ve aydınlatmak. Görüntü taşıyan demette on binlerce lif vardır; her lif görüntünün bir noktasını taşır.
• Sanayi: ulaşılması zor yerlerin görüntülenmesi, lazer taşıma.
• Sensörler: sıcaklık, gerilme ve titreşim ölçümü; köprülerde ve boru hatlarında kilometrelerce uzunluk boyunca.
• Aydınlatma ve süs: ışığı noktadan noktaya taşıyan lifler.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 adım 5/5
• Kıtalar arasındaki gecikmenin alt sınırını da fiberin fiziği koyar: 6000 km'yi 2·10⁸ m/s ile gitmek 30 ms sürer, gidip dönmek en az 60 ms.
• Hiçbir yazılım bu süreyi kısaltamaz; ancak daha kısa bir güzergâh ya da daha küçük indisli bir ortam kısaltabilir.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Fiber geniş bant, düşük kayıp ve elektromanyetik girişime bağışıklık sayesinde iletişimin omurgası oldu; tıpta, sanayide ve ölçümde de ışığı ulaşılmaz yerlere taşır.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Sınır açı
Çekirdek indisi 1,50, kılıf indisi 1,20 olan bir fiberde çekirdek–kılıf sınır açısı kaç derecedir?
Durum çizimi: Durum: çekirdekten (n₁ = 1,50) gelen ışın kılıfla (n₂ = 1,20) arasındaki sınıra tam sınır açıyla çarpıyor; kılıfa geçen ışın sınırı yalıyor. Sorulan, normalden ölçülen bu θ(sınır) açısı.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Sınır açı
Çekirdek indisi 1,50, kılıf indisi 1,20 olan bir fiberde çekirdek–kılıf sınır açısı kaç derecedir?
Verilenler: n₁ = 1,50 (çekirdek) · n₂ = 1,20 (kılıf) · sin53° = 0,8
İstenen: çekirdek–kılıf sınır açısı θ(sınır)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Sınır açı — çözüm
1. sin θ = n₂/n₁ = 1,20/1,50 = 0,8
2. θ = 53°
3. Duvara 53°'den büyük açıyla çarpan ışınlar tam yansımaya uğrar ve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Sinyal süresi
Kırılma indisi 1,5 olan 30 km'lik fiber kabloda ışık ne kadar sürede yol alır?
Durum çizimi: Durum: verici bir ışık darbesini indisi 1,5 olan 30 km'lik fibere gönderiyor. Sorulan, darbenin öbür uçtaki alıcıya varma süresi t.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Sinyal süresi
Kırılma indisi 1,5 olan 30 km'lik fiber kabloda ışık ne kadar sürede yol alır?
Verilenler: n = 1,5 · L = 30 km = 30 000 m · c = 3·10⁸ m/s
İstenen: ışığın kabloyu geçme süresi 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Sinyal süresi — çözüm
1. v = c/n = 3·10⁸/1,5 = 2·10⁸ m/s
2. t = L/v = 30 000 / 2·10⁸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Sinyal süresi — çözüm
3. t = 1,5·10⁻⁴ s = 150 µs
4. Aynı yolu boşlukta 100 µs'de alırdı.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Sayısal açıklık
n₁ = 1,50 ve n₂ = 1,46 olan fiberin sayısal açıklığı ve kabul açısı nedir?
Durum çizimi: Durum: fiberin ucu havada; yeşil koni, uca girip taşınabilen ışınların bölgesi. Sorulan, koninin yarı açısı olan kabul açısı θ(kabul) ile fiberin sayısal açıklığı NA.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Sayısal açıklık
n₁ = 1,50 ve n₂ = 1,46 olan fiberin sayısal açıklığı ve kabul açısı nedir?
Verilenler: n₁ = 1,50 (çekirdek) · n₂ = 1,46 (kılıf) · dış ortam hava (n = 1)
İstenen: sayısal açıklık NA · kabul açısı θ(kabul)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Sayısal açıklık — çözüm
1. NA = √(n₁² − n₂²) = √(2,25 − 2,1316) = √0,1184
2. NA ≈ 0,344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Sayısal açıklık — çözüm
3. sin θ(kabul) = 0,344 → θ ≈ 20°
4. Fiberin ucuna eksenle 20°'den büyük açı yapan ışınlar taşınamaz.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Taşınır mı, kaçar mı?
n₁ = 1,50 ve n₂ = 1,46 olan fiberin ucuna havadan gelen iki ışın, eksenle (a) 14° ve (b) 32° açı yaparak giriyor. Hangisi taşınır? (sin14° ≈ 0,242 · sin32° ≈ 0,530)
Durum çizimi: Durum: havadan gelen iki ışın fiberin ucuna eksenle (a) 14° ve (b) 32° açı yaparak giriyor. Işınların fiberin içindeki yolu çizilmedi; soru, her birinin çekirdekte taşınıp taşınmayacağı.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Taşınır mı, kaçar mı?
n₁ = 1,50 ve n₂ = 1,46 olan fiberin ucuna havadan gelen iki ışın, eksenle (a) 14° ve (b) 32° açı yaparak giriyor. Hangisi taşınır? (sin14° ≈ 0,242 · sin32° ≈ 0,530)
Verilenler: n₁ = 1,50 · n₂ = 1,46 · dış ortam hava (n = 1) · eksenle giriş açıları (a) 14° · (b) 32° · sin14° ≈ 0,242 · sin32° ≈ 0,530
İstenen: (a) ve (b) ışınlarının her biri taşınır mı, kaçar mı?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Taşınır mı, kaçar mı? — çözüm
1. Sınır açı: sin θ = 1,46/1,50 ≈ 0,973 → θ(sınır) ≈ 76,7°
2. (a) sin α = 0,242/1,50 ≈ 0,161 → α ≈ 9,3°; duvara geliş 90° − 9,3° = 80,7°
3. 80,7° &gt; 76,7° → tam yansıma, ışın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Taşınır mı, kaçar mı? — çözüm
4. (b) sin α = 0,530/1,50 ≈ 0,353 → α ≈ 20,7°; duvara geliş 69,3° &lt; 76,7° → ışın kaçar.
5. Kısa yol: kabul açısı ≈ 20° (Örnek 3); 14° koninin içinde, 32° dışında.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Yansıma sayısı
Çekirdek çapı 50 µm olan fiberde, eksenle 10° açı yapan ışın 1 metrede kabaca kaç kez yansır?
Durum çizimi: Durum: 50 µm çaplı çekirdeğin büyütülmüş bir parçası. Işın eksenle 10° açı yaparak ilerliyor ve duvarlara çarptıkça yansıyor (yeşil noktalar). Sorulan, 1 m'lik fiberde bu yansımalardan kabaca kaç tane olduğu.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Yansıma sayısı
Çekirdek çapı 50 µm olan fiberde, eksenle 10° açı yapan ışın 1 metrede kabaca kaç kez yansır?
Verilenler: çekirdek çapı = 50 µm = 50·10⁻⁶ m · ışının eksenle açısı 10° · fiber uzunluğu 1 m · tan10° ≈ 0,176
İstenen: 1 metredeki yaklaşık yansıma sayısı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Yansıma sayısı — çözüm
1. Bir yansımadan diğerine ilerlenen eksenel mesafe: d = çap / tan10°
2. d = 50·10⁻⁶ / 0,176 ≈ 2,84·10⁻⁴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Yansıma sayısı — çözüm
3. Yansıma sayısı = 1 / 2,84·10⁻⁴ ≈ 3500
4. Her yansımada kayıp olsaydı sinyal hemen sönerdi; tam yansımada kayıp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Mod dağılımı ve veri hızı
n₁ = 1,50 ve n₂ = 1,46 olan 10 km'lik çok modlu bir fiberde (a) eksen boyunca giden ışının, (b) en yatık taşınan ışının varış süresini, (c) saniyede en fazla kaç ayrı darbe gönderilebileceğini bulunuz.
Durum çizimi: Durum: 10 km'lik çok modlu fibere aynı anda giren iki ışın: mavi olan eksen boyunca düz, mor olan en yatık taşınan açıyla zikzak çizerek ilerliyor. Sorulanlar, ikisinin varış süreleri t(min) ve t(maks) ile saniyede gönderilebilecek en fazla darbe sayısı.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Mod dağılımı ve veri hızı
n₁ = 1,50 ve n₂ = 1,46 olan 10 km'lik çok modlu bir fiberde (a) eksen boyunca giden ışının, (b) en yatık taşınan ışının varış süresini, (c) saniyede en fazla kaç ayrı darbe gönderilebileceğini bulunuz.
Verilenler: n₁ = 1,50 · n₂ = 1,46 · L = 10 km = 10⁴ m · c = 3·10⁸ m/s
İstenen: (a) eksen boyunca giden ışının varış süresi t(min) · (b) en yatık taşınan ışının varış süresi t(maks) · (c) saniyede gönderilebilecek en fazla darbe sayısı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Mod dağılımı ve veri hızı — çözüm
1. (a) t(min) = n₁·L/c = 1,5 · 10⁴ / 3·10⁸ = 5·10⁻⁵ s = 50 µs
2. (b) En yatık ışının yolu L·n₁/n₂ = 10 km · 1,50/1,46 ≈ 10,27 km
3. t(maks) = 50 µs · 1,50/1,46 ≈ 51,4 µs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Mod dağılımı ve veri hızı — çözüm
4. (c) Δt ≈ 1,37 µs; darbeler karışmasın diye en az bu kadar aralıklı olmalı.
5. Saniyede en fazla 1 / 1,37·10⁻⁶ ≈ 7,3·10⁵ darbe; tek modlu fiber bu sınırı ortadan kaldırır.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En küçük bükülme yarıçapı
Çekirdek yarıçapı 25 µm, çekirdek indisi 1,50 olan bir fiber için ışın modeline göre en küçük bükülme yarıçapını (a) n₂ = 1,46 ve (b) n₂ = 1,40 için bulunuz. (c) Sonucu yorumlayınız.
Durum çizimi: Durum: çekirdek yarıçapı a olan fiber, O merkezli bir kıvrımda bükülüyor; bükülme yarıçapı R, merkezden fiberin eksenine (kesikli çizgi) ölçülür. Sorulan, iki farklı kılıf indisi için tam yansımanın bozulmadığı en küçük 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En küçük bükülme yarıçapı
Çekirdek yarıçapı 25 µm, çekirdek indisi 1,50 olan bir fiber için ışın modeline göre en küçük bükülme yarıçapını (a) n₂ = 1,46 ve (b) n₂ = 1,40 için bulunuz. (c) Sonucu yorumlayınız.
Verilenler: a = 25 µm (çekirdek yarıçapı) · n₁ = 1,50 · (a) n₂ = 1,46 · (b) n₂ = 1,40
İstenen: (a) ve (b) için en küçük bükülme yarıçapı R(min) · (c) sonucun yorumu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En küçük bükülme yarıçapı — çözüm
1. R(min) = a·(n₁ + n₂)/(n₁ − n₂)
2. (a) R(min) = 25 µm · 2,96/0,04 = 1850 µm = 1,85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En küçük bükülme yarıçapı — çözüm
3. (b) R(min) = 25 µm · 2,90/0,10 = 725 µm ≈ 0,73 mm
4. (c) İndis farkı büyüdükçe sınır açı küçülür ve fiber daha keskin bükülebilir; küçük indis farklı fiberler bükülmeye karşı daha hassastır.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Çekirdek indisi 1,25 olan bir fiberde ışık kaç m/s hızla ilerler?
Öğrencilere 2–3 dakika verin; sonra cevap slaytını açın.
Cevap: Cevap: v = c / n₁ = 3·10⁸ / 1,25 = 2,4·10⁸ m/s. Işık boşluktakinden 1,25 kat yavaş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v = c / n₁ = 3·10⁸ / 1,25 = 2,4·10⁸ m/s. Işık boşluktakinden 1,25 kat yavaş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Çekirdek indisi 1,60, kılıf indisi 1,28 olan bir fiberde çekirdek–kılıf sınır açısı kaç derecedir?
Öğrencilere 2–3 dakika verin; sonra cevap slaytını açın.
Cevap: Cevap: sin θ(sınır) = n₂ / n₁ = 1,28 / 1,60 = 0,8 → θ(sınır) =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sin θ(sınır) = n₂ / n₁ = 1,28 / 1,60 = 0,8 → θ(sınır) =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Çekirdek indisi 1,3, kılıf indisi 1,2 olan bir fiberin sayısal açıklığı ve havadaki kabul açısı nedir?
Öğrencilere 2–3 dakika verin; sonra cevap slaytını açın.
Cevap: Cevap: NA = √(n₁² − n₂²) = √(1,69 − 1,44) = √0,25 = 0,5. sin θ(kabul) = 0,5 → θ(kabul) = 30°. Uca eksenle 30°'den küçük açıyla giren ışınlar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NA = √(n₁² − n₂²) = √(1,69 − 1,44) = √0,25 = 0,5. sin θ(kabul) = 0,5 → θ(kabul) = 30°. Uca eksenle 30°'den küçük açıyla giren ışınlar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Sıra sende 2'deki fiberde (n₁ = 1,60, n₂ = 1,28) çekirdekte eksenle 40° açı yaparak ilerleyen ışın taşınır mı?
Öğrencilere 2–3 dakika verin; sonra cevap slaytını açın.
Cevap: Cevap: θ(sınır) = 53° olduğundan ışın eksenle en çok α(maks) = 90° − 53° = 37° yapabilir. 40° bundan büyük: ışın duvara 90° − 40° = 50° ile çarpar, bu da 53°'den küçüktür. Tam yansıma olmaz, ışın kılıfa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θ(sınır) = 53° olduğundan ışın eksenle en çok α(maks) = 90° − 53° = 37° yapabilir. 40° bundan büyük: ışın duvara 90° − 40° = 50° ile çarpar, bu da 53°'den küçüktür. Tam yansıma olmaz, ışın kılıfa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n₁ = 1,50, n₂ = 1,44 olan 6 km'lik çok modlu bir fiberde, eksen boyunca giden ışın ile en yatık taşınan ışının varış süreleri kaç µs farklıdır?
Öğrencilere 2–3 dakika verin; sonra cevap slaytını açın.
Cevap: Cevap: En hızlı ışın: t(min) = n₁·L / c = 1,5 · 6000 / 3·10⁸ = 3·10⁻⁵ s = 30 µs. En yatık ışın n₁/n₂ kat uzun yol alır: t(maks) = 30 · 1,50 / 1,44 = 31,25 µs. Fark Δt = 31,25 − 30 = 1,25 µs.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En hızlı ışın: t(min) = n₁·L / c = 1,5 · 6000 / 3·10⁸ = 3·10⁻⁵ s = 30 µs. En yatık ışın n₁/n₂ kat uzun yol alır: t(maks) = 30 · 1,50 / 1,44 = 31,25 µs. Fark Δt = 31,25 − 30 = 1,25 µs.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Kılıfın indisini büyük sanmak. Tam yansıma için çekirdeğin indisi büyük olmalıdır: n₁ &gt; n₂.
• Işığın fiberde düz gittiğini düşünmek. Işık zikzak çizerek, binlerce kez yansıyarak ilerler.
• Tam yansımada enerji kaybı olduğunu sanmak. Tam yansımada ışığın tamamı geri döner; kayıplar soğurma ve saçılmadan gelir.
• Kabul açısını sınır açıyla karıştırmak. Kabul açısı fiberin ucunda, sınır açı çekirdek–kılıf duvarında tanımlıdır.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Fiberde ışığın c hızıyla gittiğini düşünmek. Hız c/n₁'dir.
• Kabloyu istediği gibi kıvırmak. Bükülme yarıçapı çok küçülürse ışık kaçar.
• Duvara çarpma açısını fiber eksenine göre ölçmek. Açı duvarın normaline göre ölçülür; eksenle 10° yapan ışın duvara 80° ile çarpar.
• 0,2 dB/km'yi “kilometrede %0,2 kayıp” diye okumak. Desibel logaritmiktir: 0,2 dB yaklaşık %4,5 güç kaybıdır, 10 dB ise gücü onda birine indirir.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Çekirdek n₁ &gt; n₂ · Sınır açı sin θ = n₂/n₁ · NA √(n₁² − n₂²) · Hız c / n₁
sin θ(sınır) = n₂ / n₁ — çekirdek–kılıf sınırı
NA = √(n₁² − n₂²) — sayısal açıklık
sin θ(kabul) = NA — kabul konisi
v = c / n₁ — fiberdeki hız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fiber-optik-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06</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Fiber optik</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Saç teli inceliğindeki bir cam iplik, ışığı kilometrelerce öteye kayıpsıza yakın taşır. Sırrı tek bir olaydır: tam yansıma. Işık, çekirdek ile kılıf arasındaki sınırdan binlerce kez yansıyarak yol alır.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Işık düz gider.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Öyleyse kıvrılarak köşeleri dönen bir kablonun içindeki ışık öbür uca nasıl ulaşır?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Kıtalar arası internetin </a:t>
            </a:r>
            <a:pPr indent="0" marL="0">
              <a:lnSpc>
                <a:spcPct val="130000"/>
              </a:lnSpc>
              <a:buNone/>
            </a:pPr>
            <a:r>
              <a:rPr lang="en-US" sz="1950" b="1" dirty="0">
                <a:solidFill>
                  <a:srgbClr val="5F4BD8"/>
                </a:solidFill>
                <a:latin typeface="Cambria" pitchFamily="34" charset="0"/>
                <a:ea typeface="Cambria" pitchFamily="34" charset="-122"/>
                <a:cs typeface="Cambria" pitchFamily="34" charset="-120"/>
              </a:rPr>
              <a:t>%99'undan fazlası</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okyanus tabanına döşenmiş, saç teli inceliğindeki cam liflerin içinden geçiyor.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Bu liflerde ışık kilometrelerce yol alır ve neredeyse hiç zayıflamaz.</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Sırrı yeni bir fizik değil, kırılma konusunda öğrendiğin tek bir olay: </a:t>
            </a:r>
            <a:pPr indent="0" marL="0">
              <a:lnSpc>
                <a:spcPct val="130000"/>
              </a:lnSpc>
              <a:buNone/>
            </a:pPr>
            <a:r>
              <a:rPr lang="en-US" sz="1950" b="1" dirty="0">
                <a:solidFill>
                  <a:srgbClr val="5F4BD8"/>
                </a:solidFill>
                <a:latin typeface="Cambria" pitchFamily="34" charset="0"/>
                <a:ea typeface="Cambria" pitchFamily="34" charset="-122"/>
                <a:cs typeface="Cambria" pitchFamily="34" charset="-120"/>
              </a:rPr>
              <a:t>tam yansıma</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Işık, bir kez içeri girdikten sonra dışarı çıkamaz — duvara her çarptığında eksiksiz geri döner.</a:t>
            </a:r>
            <a:endParaRPr lang="en-US" sz="19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ışığın bir su akıntısında ve cam lifte nasıl tutulduğunu gör, fiberin parçalarını tanı.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ışık bir su akıntısını izleyebilir mi?</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Fiber optik kablo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Tam yansıma: ışık neden dışarı çıkamaz?</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sınır açıyı, kabul konisini ve sinyal süresini Snell yasasından adım adım çıkar, sayılarla karşılaştır.</a:t>
            </a:r>
            <a:endParaRPr lang="en-US" sz="11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Sınır açı: bağıntı nereden geliyor?</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Kabul açısı ve sayısal açıklık</a:t>
            </a:r>
            <a:endParaRPr lang="en-US" sz="12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hangi ışık kılavuzu ne kadar ışık toplar?</a:t>
            </a:r>
            <a:endParaRPr lang="en-US" sz="11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Sinyalin hızı ve mod dağılımı</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fiber bükülünce, ışık yüzlerce kilometre yol alınca ve fiber gerçek dünyaya çıkınca ne olur?</a:t>
            </a:r>
            <a:endParaRPr lang="en-US" sz="11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Bükülme: tam yansıma ne zaman bozulur?</a:t>
            </a:r>
            <a:endParaRPr lang="en-US" sz="125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Kayıplar ve desibel</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Fiber optik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Kırılma indisi (n):</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ışığın bir ortamda kaç kat yavaşladığını söyleyen sayı: n = c/v. Hava için 1, cam için yaklaşık 1,5.</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Snell yasası: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ışık bir ortamdan ötekine geçerken n₁·sin i = n₂·sin r olur. Açılar yüzeyden değil, yüzeye dik çizilen normalden ölçülür.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Sinüs:</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sin90° = 1'dir ve hiçbir açının sinüsü 1'den büyük olmaz. Sık kullanılanlar: sin30° = 0,5, sin37° = 0,6, sin53° = 0,8.</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Tümler açılar: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toplamı 90° olan iki açı. 37° ile 53°, 10° ile 80° birbirinin tümleridir.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Süre = yol ÷ hız:</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600 km'yi saatte 100 km hızla giden araç 6 saatte alır. Çok kısa süreler mikrosaniyeyle yazılır: 1 µs, saniyenin milyonda biridir.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550" dirty="0">
                <a:solidFill>
                  <a:srgbClr val="C3CEE8"/>
                </a:solidFill>
                <a:latin typeface="Calibri" pitchFamily="34" charset="0"/>
                <a:ea typeface="Calibri" pitchFamily="34" charset="-122"/>
                <a:cs typeface="Calibri" pitchFamily="34" charset="-120"/>
              </a:rPr>
              <a:t>Önce sezgi: ışığın bir su akıntısında ve cam lifte nasıl tutulduğunu gör, fiberin parçalarını tanı. Bu basamakta hesap yok denecek kadar az.</a:t>
            </a:r>
            <a:endParaRPr lang="en-US" sz="15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ışık bir su akıntısını izleyebilir mi?</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Fiber optik kablo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Tam yansıma: ışık neden dışarı çıkamaz?</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fiber-optik-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Işık çeşmesi.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Lazer ışığı deliğe girip su akıntısına geçince akıntının dışına çıkamıyor; akıntının kavisini izleyerek leğene kadar iniyor. Işık su–hava yüzeyine her varışında çok yatık bir açıyla çarpıp içeri geri dönüyor. Fiber optik kablo aynı fikrin camdan yapılmış, saç teli inceliğindeki hâlidir.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Önce gözlemle: ışık bir su akıntısını izleyebilir mi?</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Karanlık bir odada saydam bir kabın yan duvarına küçük bir delik aç; su dışarı, eğri bir yay çizerek fışkırsın.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 kabın öbür yanından deliğe doğru bir lazer tut.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Beklentin şudur: ışık düz gider, delikten çıkıp karşıdaki duvarda bir nokta yapar.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Oysa olan başkadır.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Önce gözlemle: ışık bir su akıntısını izleyebilir mi?</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su akıntısının içine girer, akıntıyla birlikte kıvrılır ve akıntı baştan sona parlar; suyun leğene düştüğü yerde parlak bir leke oluşur.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gösteri 1840'larda Cenevre'de Daniel Colladon tarafından derste yapıldı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ışık çeşmesi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adıyla ünlendi.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Önce gözlemle: ışık bir su akıntısını izleyebilir mi?</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deneyde üç şey dikkat çeker:</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Işık akıntıdan çıkmaz: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akıntı, ışığı yolu boyunca taşıyan bir boru gibi davranır.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Işık kavisi izler: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düz giden ışık, su yüzeyine her varışında içeri geri döner.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Akıntı parlar: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sudaki kabarcık ve pürüzler ışığın küçük bir kısmını her yöne saçar; onu görmemizi sağlayan budur.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Önce gözlemle: ışık bir su akıntısını izleyebilir mi?</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3303541" y="1234440"/>
            <a:ext cx="5584613"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01.png">    </p:cNvPr>
          <p:cNvPicPr>
            <a:picLocks noChangeAspect="1"/>
          </p:cNvPicPr>
          <p:nvPr/>
        </p:nvPicPr>
        <p:blipFill>
          <a:blip r:embed="rId1"/>
          <a:stretch>
            <a:fillRect/>
          </a:stretch>
        </p:blipFill>
        <p:spPr>
          <a:xfrm>
            <a:off x="3532141" y="1325880"/>
            <a:ext cx="5127413"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Işık çeşmesinin şeması. Beklenen, lazer ışığının delikten çıkıp düz gitmesi ve karşı duvarda bir nokta yapmasıdır (kırmızı kesikli çizgi). Oysa ışın su akıntısının yüzeyine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çok yatık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çarpar ve her seferinde içeri geri döner (yeşil noktalar). Işık yine düz parçalar hâlinde gider; bu parçalar art arda eklenince akıntının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kavisini izler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leğende parlak bir leke yapar.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Önce gözlemle: ışık bir su akıntısını izleyebilir mi?</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Kavis çizen bir su akıntısına giren ışık akıntıdan çıkmaz; yüzeye her varışında geri dönerek akıntının yolunu izler. Fiber optik kablo bu gözlemin incecik camdan yapılmış hâlidir.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düz çizgide gidiyorsa, kıvrılan su akıntısının içinde nasıl yol alabiliyor?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ışık bir su akıntısını izleyebilir mi?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düz çizgide gidiyorsa, kıvrılan su akıntısının içinde nasıl yol alabiliyor?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Işık aslında hiç kıvrılmaz; iki yüzey arasında hep düz gider. Su yüzeyine her varışında oraya çok yatık bir açıyla çarptığı için dışarı çıkamaz ve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tamamen geri yansır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Kısa düz parçaların art arda eklenmesiyle ortaya çıkan zikzak yol, akıntının kavisini izler.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Fiber optik kablo</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ışığı taşımak için üretilmiş, saç teli inceliğinde cam ya da plastik ipliktir.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Telekom fiberlerinde kılıfla birlikte çap 125 µm, yani milimetrenin sekizde biri kadardır.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katmandan oluşur; dıştaki kaplama yalnızca korur: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Çekirdek (core):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ışığın taşındığı iç kısım, kırılma indisi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Tek modlu fiberlerde çapı ≈ 9 µm, çok modlularda ≈ 50–62,5 µm.</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Kılıf (cladding):</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çekirdeği saran, indisi daha küçük katman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n₂ &lt; 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Koruyucu kaplama: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mekanik dayanım sağlar, optik görevi yoktur.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Çekirdek çapı ışığın içeride kaç farklı yolla ilerleyebileceğini belirler.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Tek modlu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fiberin çekirdeği o kadar incedir ki ışık neredeyse tek bir yoldan gider;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çok modlu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fiberin kalın çekirdeğinde ışık birçok farklı açıyla zikzak çizebilir.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Plastik fiberler ise yaklaşık 1 mm kalınlığındadır, ucuzdur ve kısa mesafelerde ya da süs lambalarında kullanılır.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Peki neden yalnızca çıplak bir cam iplik yetmez?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Çünkü yansıma yüzeyi korunmalıdır.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Çıplak camın üstündeki bir parmak izi, toz ya da çizik ışığın o noktadan kaçmasına yol açar; yan yana duran iki çıplak lif birbirine ışık sızdırır.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Kılıf sayesinde yansıma camın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içinde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temiz ve korunmuş bir sınırda olur.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713843" y="1234440"/>
            <a:ext cx="876400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02.png">    </p:cNvPr>
          <p:cNvPicPr>
            <a:picLocks noChangeAspect="1"/>
          </p:cNvPicPr>
          <p:nvPr/>
        </p:nvPicPr>
        <p:blipFill>
          <a:blip r:embed="rId1"/>
          <a:stretch>
            <a:fillRect/>
          </a:stretch>
        </p:blipFill>
        <p:spPr>
          <a:xfrm>
            <a:off x="1942443" y="1325880"/>
            <a:ext cx="830680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Fiberin çalışması için tek şart,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çekirdeğin kılıftan daha yoğun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olmasıdır. İkisi de camdır; aradaki fark, kılıfa katılan az miktarda katkı maddesiyle indisin binde birkaç oranında düşürülmesidir. Bu küçücük fark, ışığın çekirdekten dışarı çıkamamasına yeter. Dıştaki plastik kaplamanın optik hiçbir görevi yoktur — yalnızca lifi kırılmaktan korur.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Fiber, indisi büyük bir cam çekirdek ile onu saran, indisi biraz daha küçük bir kılıftan oluşur. Işık çekirdekte taşınır; dıştaki kaplama yalnızca lifi korur.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Kırılma konusundan hatırla: ışık indisi büyük bir ortamdan indisi küçük bir ortama geçerken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normalden uzaklaşarak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kırılır.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Geliş açısını büyüttükçe kırılan ışın sınıra giderek yaklaşır.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açıda kırılan ışın sınırı yalayarak gider; bu geliş açısına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sınır açı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Geliş açısı sınır açıyı aşınca ışığın öbür ortamda gidebileceği bir yön kalmaz ve ışığın tamamı geri döner.</a:t>
            </a:r>
            <a:endParaRPr lang="en-US" sz="2200" dirty="0"/>
          </a:p>
        </p:txBody>
      </p:sp>
      <p:sp>
        <p:nvSpPr>
          <p:cNvPr id="7" name="Text 5"/>
          <p:cNvSpPr txBox="1"/>
          <p:nvPr/>
        </p:nvSpPr>
        <p:spPr>
          <a:xfrm>
            <a:off x="640080" y="4591812"/>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olaya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tam yansıma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471941"/>
                <a:gridCol w="6439595"/>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Duvara geliş açısı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 olur?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Küçük (duvara dike yakın)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Işığın çoğu kılıfa geçer, azı yansır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Sınır açıya eşit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Kırılan ışın sınırı yalayarak gider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Sınır açıdan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Işığın tamamı yansır: tam yansıma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Fiberde bu olay binlerce kez tekrarlanır.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Tam yansımayı değerli kılan şey kayıpsız olmasıdır.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Işığın %99'unu yansıtan çok iyi bir ayna bile yüz yansımadan sonra ışığın ancak üçte biri kadarını bırakırdı; oysa bir metrelik fiberde binlerce yansıma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Fiber inceliğinde, içi aynayla kaplı bir boru ışığı bir metre bile taşıyamazdı; tam yansıma ise hiçbir şey eksiltmeden geri gönderir.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Açı nereden ölçülür?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Duvara çarpma açısı, duvarın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normaline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göre ölçülür. Fiber ekseniyle küçük açı yapan ışın, duvara çok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yatık</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(yani büyük açıyla) çarpar — bu yüzden taşınır.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03.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Çekirdeğe yeterince yatık giren ışık, duvara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sınır açıdan büyük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açıyla çarpar ve tamamen geri yansır. Yeşil noktaların her biri bir tam yansımadır; bir kilometrelik lifte bunlardan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on binlercesi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olur. Sıradan bir aynada her yansımada biraz enerji kaybedilir, ama tam yansımada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hiç kayıp yoktur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ışığın kilometrelerce taşınabilmesinin sebebi tam olarak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Işık çekirdekten kılıfa sınır açıdan büyük bir açıyla çarparsa dışarı çıkamaz ve tamamı yansır. Aynadaki yansımanın aksine tam yansıma kayıpsızdır; fiber boyunca binlerce kez tekrarlanabilir.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Havuzun dibindeki bir dalgıç su yüzeyine çok yatık bakarsa ne görür?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Tam yansıma: ışık neden dışarı çıkamaz?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Havuzun dibindeki bir dalgıç su yüzeyine çok yatık bakarsa ne görür?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Gökyüzünü değil, havuzun dibinin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yansımasını</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görür. Sudan havaya geçişte sınır açı yaklaşık 49°'dir; bakış doğrultusu yüzeyin normaliyle bundan büyük açı yapıyorsa o doğrultudan dışarının ışığı gelemez ve yüzey ayna gibi davranır. Dalgıç dışarıyı ancak tam tepesindeki dairesel bir pencereden görebilir.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sınır açıyı, kabul konisini ve sinyal süresini Snell yasasından adım adım çıkar, sayılarla karşılaştır.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Sınır açı: bağıntı nereden geliyor?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Kabul açısı ve sayısal açıklık</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hangi ışık kılavuzu ne kadar ışık toplar?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Sinyalin hızı ve mod dağılımı</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288950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θ(sınır) = n₂ / n₁</a:t>
            </a:r>
            <a:endParaRPr lang="en-US" sz="1500" dirty="0"/>
          </a:p>
        </p:txBody>
      </p:sp>
      <p:sp>
        <p:nvSpPr>
          <p:cNvPr id="13" name="Text 11"/>
          <p:cNvSpPr txBox="1"/>
          <p:nvPr/>
        </p:nvSpPr>
        <p:spPr>
          <a:xfrm>
            <a:off x="9381744" y="1481328"/>
            <a:ext cx="198699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çekirdek–kılıf sınırı</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NA = √(n₁² − n₂²)</a:t>
            </a:r>
            <a:endParaRPr lang="en-US" sz="1500" dirty="0"/>
          </a:p>
        </p:txBody>
      </p:sp>
      <p:sp>
        <p:nvSpPr>
          <p:cNvPr id="16" name="Text 14"/>
          <p:cNvSpPr txBox="1"/>
          <p:nvPr/>
        </p:nvSpPr>
        <p:spPr>
          <a:xfrm>
            <a:off x="8787384" y="235000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sayısal açıklık</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θ(kabul) = NA</a:t>
            </a:r>
            <a:endParaRPr lang="en-US" sz="1500" dirty="0"/>
          </a:p>
        </p:txBody>
      </p:sp>
      <p:sp>
        <p:nvSpPr>
          <p:cNvPr id="19" name="Text 17"/>
          <p:cNvSpPr txBox="1"/>
          <p:nvPr/>
        </p:nvSpPr>
        <p:spPr>
          <a:xfrm>
            <a:off x="8787384" y="321868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kabul konisi</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 = c / n₁</a:t>
            </a:r>
            <a:endParaRPr lang="en-US" sz="1500" dirty="0"/>
          </a:p>
        </p:txBody>
      </p:sp>
      <p:sp>
        <p:nvSpPr>
          <p:cNvPr id="22" name="Text 20"/>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fiberdeki hız</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8</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çekirdekten kılıfa doğru,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sınır açıdan büyük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açıyla çarparsa dışarı çıkamaz; tamamı geri yansır.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Sınır açının değeri, kırılma konusundaki Snell yasasından tek adımda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8</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Snell yasası: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çekirdekten (n₁) kılıfa (n₂) geçen ışın için n₁·sin θ₁ = n₂·sin θ₂ yazılır.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Sınır durumu: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geliş açısı sınır açıya eşitken kırılan ışın sınırı yalar, yani θ₂ = 90° ve sin 90° = 1 olur.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n₁·sin θ(sınır) = n₂, buradan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sin θ(sınır) = n₂ / 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8</a:t>
            </a:r>
            <a:endParaRPr lang="en-US" sz="950" dirty="0"/>
          </a:p>
        </p:txBody>
      </p:sp>
      <p:sp>
        <p:nvSpPr>
          <p:cNvPr id="6" name="Shape 4"/>
          <p:cNvSpPr/>
          <p:nvPr/>
        </p:nvSpPr>
        <p:spPr>
          <a:xfrm>
            <a:off x="640080" y="1325880"/>
            <a:ext cx="3467405" cy="585216"/>
          </a:xfrm>
          <a:prstGeom prst="roundRect">
            <a:avLst>
              <a:gd name="adj" fmla="val 18750"/>
            </a:avLst>
          </a:prstGeom>
          <a:solidFill>
            <a:srgbClr val="EEF2FC"/>
          </a:solidFill>
          <a:ln w="9525">
            <a:solidFill>
              <a:srgbClr val="CBD7F4"/>
            </a:solidFill>
            <a:prstDash val="solid"/>
          </a:ln>
        </p:spPr>
      </p:sp>
      <p:sp>
        <p:nvSpPr>
          <p:cNvPr id="7" name="Text 5"/>
          <p:cNvSpPr txBox="1"/>
          <p:nvPr/>
        </p:nvSpPr>
        <p:spPr>
          <a:xfrm>
            <a:off x="640080" y="1325880"/>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n₁·sin θ₁ = n₂·sin θ₂</a:t>
            </a:r>
            <a:endParaRPr lang="en-US" sz="1800" dirty="0"/>
          </a:p>
        </p:txBody>
      </p:sp>
      <p:sp>
        <p:nvSpPr>
          <p:cNvPr id="8" name="Shape 6"/>
          <p:cNvSpPr/>
          <p:nvPr/>
        </p:nvSpPr>
        <p:spPr>
          <a:xfrm>
            <a:off x="4253789" y="1325880"/>
            <a:ext cx="3606394"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4253789" y="1325880"/>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sin θ(sınır) = n₂ / n₁</a:t>
            </a:r>
            <a:endParaRPr lang="en-US" sz="1800" dirty="0"/>
          </a:p>
        </p:txBody>
      </p:sp>
      <p:sp>
        <p:nvSpPr>
          <p:cNvPr id="10" name="Shape 8"/>
          <p:cNvSpPr/>
          <p:nvPr/>
        </p:nvSpPr>
        <p:spPr>
          <a:xfrm>
            <a:off x="640080" y="2039112"/>
            <a:ext cx="3884371" cy="585216"/>
          </a:xfrm>
          <a:prstGeom prst="roundRect">
            <a:avLst>
              <a:gd name="adj" fmla="val 18750"/>
            </a:avLst>
          </a:prstGeom>
          <a:solidFill>
            <a:srgbClr val="EEF2FC"/>
          </a:solidFill>
          <a:ln w="9525">
            <a:solidFill>
              <a:srgbClr val="CBD7F4"/>
            </a:solidFill>
            <a:prstDash val="solid"/>
          </a:ln>
        </p:spPr>
      </p:sp>
      <p:sp>
        <p:nvSpPr>
          <p:cNvPr id="11" name="Text 9"/>
          <p:cNvSpPr txBox="1"/>
          <p:nvPr/>
        </p:nvSpPr>
        <p:spPr>
          <a:xfrm>
            <a:off x="640080" y="2039112"/>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α(maks) = 90° − θ(sınır)</a:t>
            </a:r>
            <a:endParaRPr lang="en-US" sz="18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505039"/>
                <a:gridCol w="7525197"/>
                <a:gridCol w="1881299"/>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çekirdeğin kırılma indisi (büyük olan)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kılıfın kırılma indisi (n₂ &lt; n₁)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θ₁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ışının çekirdekten duvara geliş açısı (duvarın normalinden ölçülür)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θ₂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kılıfa geçen ışının kırılma açısı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θ(sınır)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sınır açı: kırılma açısını 90° yapan geliş açısı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α(maks)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ışının fiber ekseniyle yapabileceği en büyük açı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8</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Sağ taraf iki indisin oranıdır ve birimsizdir, tıpkı bir sinüs gibi.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oran 1'den küçük olmak zorundadır; n₂ &gt; n₁ olsaydı sinüs 1'i aşardı ve sınır açı hiç olmazdı.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Tam yansımanın yalnızca indisi büyük ortamdan küçük ortama geçerken görülmesinin nedeni budur.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8</a:t>
            </a:r>
            <a:endParaRPr lang="en-US" sz="950" dirty="0"/>
          </a:p>
        </p:txBody>
      </p:sp>
      <p:sp>
        <p:nvSpPr>
          <p:cNvPr id="6" name="Text 4"/>
          <p:cNvSpPr txBox="1"/>
          <p:nvPr/>
        </p:nvSpPr>
        <p:spPr>
          <a:xfrm>
            <a:off x="640080" y="1325880"/>
            <a:ext cx="10911535" cy="24963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Duvara geliş açısı θ ile ışının fiber ekseniyle yaptığı açı α birbirini 90°'ye tamamlar. n₁ = 1,50 ve n₂ = 1,46 için sin θ(sınır) = 0,973 ve θ(sınır) ≈ 76,7° olur; demek ki ışın eksenle en çok 90° − 76,7° = 13,3° açı yaparsa taşınır.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laboratuvarında indisleri değiştirip bu sınırı canlı izleyebilirsin.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8</a:t>
            </a:r>
            <a:endParaRPr lang="en-US" sz="950" dirty="0"/>
          </a:p>
        </p:txBody>
      </p:sp>
      <p:sp>
        <p:nvSpPr>
          <p:cNvPr id="6" name="Shape 4"/>
          <p:cNvSpPr/>
          <p:nvPr/>
        </p:nvSpPr>
        <p:spPr>
          <a:xfrm>
            <a:off x="2224085" y="1234440"/>
            <a:ext cx="7743524"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04.png">    </p:cNvPr>
          <p:cNvPicPr>
            <a:picLocks noChangeAspect="1"/>
          </p:cNvPicPr>
          <p:nvPr/>
        </p:nvPicPr>
        <p:blipFill>
          <a:blip r:embed="rId1"/>
          <a:stretch>
            <a:fillRect/>
          </a:stretch>
        </p:blipFill>
        <p:spPr>
          <a:xfrm>
            <a:off x="2452685" y="1325880"/>
            <a:ext cx="7286324"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Solda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sınır durumu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ışın duvara tam sınır açıyla gelince kılıfa geçen ışın sınırı yalar, yani θ₂ = 90° olur. Snell yasasına sin 90° = 1 yazınca sin θ(sınır) = n₂/n₁ çıkar. Sağda aynı fikir fiberin içinde: duvarın normali eksene diktir, bu yüzden ışın, normal ve eksen bir dik üçgen kurar. Üçgenin öbür iki açısı olan θ ile α'nın toplamı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90°</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8 / 8</a:t>
            </a:r>
            <a:endParaRPr lang="en-US" sz="950" dirty="0"/>
          </a:p>
        </p:txBody>
      </p:sp>
      <p:sp>
        <p:nvSpPr>
          <p:cNvPr id="6" name="Shape 4"/>
          <p:cNvSpPr/>
          <p:nvPr/>
        </p:nvSpPr>
        <p:spPr>
          <a:xfrm>
            <a:off x="3622681" y="1271016"/>
            <a:ext cx="4946333" cy="3334131"/>
          </a:xfrm>
          <a:prstGeom prst="roundRect">
            <a:avLst>
              <a:gd name="adj" fmla="val 384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ek1-genis.jpg">    </p:cNvPr>
          <p:cNvPicPr>
            <a:picLocks noChangeAspect="1"/>
          </p:cNvPicPr>
          <p:nvPr/>
        </p:nvPicPr>
        <p:blipFill>
          <a:blip r:embed="rId1"/>
          <a:stretch>
            <a:fillRect/>
          </a:stretch>
        </p:blipFill>
        <p:spPr>
          <a:xfrm>
            <a:off x="3677545" y="1325880"/>
            <a:ext cx="4836605" cy="3224403"/>
          </a:xfrm>
          <a:prstGeom prst="rect">
            <a:avLst/>
          </a:prstGeom>
        </p:spPr>
      </p:pic>
      <p:sp>
        <p:nvSpPr>
          <p:cNvPr id="8" name="Text 5"/>
          <p:cNvSpPr txBox="1"/>
          <p:nvPr/>
        </p:nvSpPr>
        <p:spPr>
          <a:xfrm>
            <a:off x="1249528" y="4788027"/>
            <a:ext cx="9692640" cy="1356741"/>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Yarım daire blokta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kırmızı ışın düz yüzün tam ortasına, kâğıda çizilmiş normal çizgisinin dibine varıyor ve normalin öbür yanına aynı açıyla geri dönüyor. Düz yüzden havaya geçen bir ışın yok; geliş açısı sin θ(sınır) = n₂/n₁ bağıntısının verdiği sınır açıdan büyük olduğu için ışığın tamamı bloğun içine yansır. Kaynağı kaydırıp geliş açısını küçültürsen önce düz yüzü yalayan, sonra havaya çıkan bir ışın belirir; yalayarak çıktığı andaki açı sınır açıdır.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Snell yasasında kırılma açısı 90° alınınca sin θ(sınır) = n₂/n₁ çıkar. Işın duvara bundan büyük açıyla çarpmalı, yani fiber ekseniyle 90° − θ(sınır)'dan küçük açı yapmalıdır.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Fiberin ucuna her açıyla giren ışık taşınmaz.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Taşınabilecek ışınların oluşturduğu koninin yarı açısına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kabul açısı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havadan çekirdeğin düz ucuna girerken bir kez kırılır; kabul açısını bu kırılma ile duvardaki sınır açı birlikte belirler: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Uçtaki kırılma: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havadan (n = 1) gelen ışın için sin θ = n₁·sin α; burada α ışının çekirdekte eksenle yaptığı açıdır.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Taşınma şartı: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α en çok 90° − θ(sınır) olabilir, bu yüzden sin α(maks) = cos θ(sınır).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Kosinüsü yaz: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cos θ(sınır) = √(1 − sin²θ(sınır)) = √(1 − n₂²/n₁²).</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sin θ(kabul) = n₁·√(1 − n₂²/n₁²) =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√(n₁² − n₂²)</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7" name="Shape 5"/>
          <p:cNvSpPr/>
          <p:nvPr/>
        </p:nvSpPr>
        <p:spPr>
          <a:xfrm>
            <a:off x="640080" y="4101084"/>
            <a:ext cx="291145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101084"/>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NA = √(n₁² − n₂²)</a:t>
            </a:r>
            <a:endParaRPr lang="en-US" sz="1800" dirty="0"/>
          </a:p>
        </p:txBody>
      </p:sp>
      <p:sp>
        <p:nvSpPr>
          <p:cNvPr id="9" name="Shape 7"/>
          <p:cNvSpPr/>
          <p:nvPr/>
        </p:nvSpPr>
        <p:spPr>
          <a:xfrm>
            <a:off x="3697834" y="4101084"/>
            <a:ext cx="291145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697834" y="4101084"/>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sin θ(kabul) = NA</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√(n₁² − n₂²) niceliğine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sayısal açıklık (NA)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 fiberin ışık toplama yeteneğini tek bir sayıyla anlatır.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bölümünde kılıf indisini değiştirerek koninin nasıl açılıp daraldığını görebilirsin.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NA büyükse fiber daha geniş açıdan ışık toplar.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n₁ ile n₂ birbirine yaklaştıkça NA küçülür, koni daralır.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Tipik değerler (çok modlu cam fiber): NA ≈ 0,2 – 0,3; kabul açısı ≈ 12° – 17°.</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073832" y="1234440"/>
            <a:ext cx="8044031" cy="3407283"/>
          </a:xfrm>
          <a:prstGeom prst="roundRect">
            <a:avLst>
              <a:gd name="adj" fmla="val 429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05.png">    </p:cNvPr>
          <p:cNvPicPr>
            <a:picLocks noChangeAspect="1"/>
          </p:cNvPicPr>
          <p:nvPr/>
        </p:nvPicPr>
        <p:blipFill>
          <a:blip r:embed="rId1"/>
          <a:stretch>
            <a:fillRect/>
          </a:stretch>
        </p:blipFill>
        <p:spPr>
          <a:xfrm>
            <a:off x="2302432" y="1325880"/>
            <a:ext cx="7586831" cy="3224403"/>
          </a:xfrm>
          <a:prstGeom prst="rect">
            <a:avLst/>
          </a:prstGeom>
        </p:spPr>
      </p:pic>
      <p:sp>
        <p:nvSpPr>
          <p:cNvPr id="8" name="Text 5"/>
          <p:cNvSpPr txBox="1"/>
          <p:nvPr/>
        </p:nvSpPr>
        <p:spPr>
          <a:xfrm>
            <a:off x="1249528" y="4824603"/>
            <a:ext cx="9692640" cy="1320165"/>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Her açıyla giren ışık taşınamaz. Fiberin ucundaki yeşil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kabul konisinin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içinden gelen ışın camda eksenle küçük açı yapar, duvara sınır açıdan (76,7°) büyük açıyla çarpar ve tam yansıyarak taşınır. Koninin dışından gelen ışın camda eksene daha dik gider, duvara sınır açıdan küçük açıyla çarpar ve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kılıfa kaçar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Koninin yarı açısını sayısal açıklık verir: sin θ(kabul) = NA = √(n₁² − n₂²); iki indis birbirine yaklaştıkça koni daralır.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Fiberin ucunda yalnızca kabul konisinin içinden gelen ışık taşınır. Koninin yarı açısı sin θ(kabul) = NA = √(n₁² − n₂²) ile bulunur; indisler birbirine yaklaştıkça koni daralır.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iki bağıntıyı farklı ışık kılavuzlarına uygulayalım (kılavuz havada, uca giren ışık havadan geliyor):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6108397"/>
                <a:gridCol w="1717987"/>
                <a:gridCol w="985390"/>
                <a:gridCol w="209976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Kılavuz (n₁ / n₂)</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Sınır açı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Kabul açısı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Kılıfsız cam çubuk (1,50 / 1,00)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41,8°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1,12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her açı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Örnek 1'deki fiber (1,50 / 1,20)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53,1°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0,90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64,2°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Plastik fiber (1,49 / 1,40)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70,0°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Cam fiber (1,50 / 1,46)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76,7°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0,34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Telekom fiberi (1,450 / 1,444)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84,8°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0,13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bir düzen okunuyor: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indis farkı küçüldükçe sınır açı 90°'ye yaklaşıyor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NA ve kabul açısı küçülüyor.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Telekom fiberinde iki indis arasındaki fark yalnızca 0,006, yani indisin binde dördü kadardır; buna rağmen tam yansıma çalışır, çünkü tek şart n₁'in n₂'den büyük olmasıdır.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Farkın büyüklüğü yalnızca kabul konisinin genişliğini belirler; küçük farkın bedeli dar bir konidir.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559157" y="1234440"/>
            <a:ext cx="90733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06.png">    </p:cNvPr>
          <p:cNvPicPr>
            <a:picLocks noChangeAspect="1"/>
          </p:cNvPicPr>
          <p:nvPr/>
        </p:nvPicPr>
        <p:blipFill>
          <a:blip r:embed="rId1"/>
          <a:stretch>
            <a:fillRect/>
          </a:stretch>
        </p:blipFill>
        <p:spPr>
          <a:xfrm>
            <a:off x="1787757" y="1325880"/>
            <a:ext cx="86161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Tablodaki beş kılavuzun kabul konileri,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gerçek açılarıyla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çizildi. Kılıfsız cam çubuk her açıdan gelen ışığı alır; soldan sağa indis farkı (Δn) küçüldükçe koni daralır ve telekom fiberinde ince bir huniye döner. Farkın küçülmesi tam yansımayı bozmaz, yalnızca ışığın girebileceği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koniyi daraltır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satır ilginç bir uç durum: NA 1'i aşınca sin θ(kabul) = NA denklemi çözümsüz kalır.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havadan uca gelen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her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ışının taşındığı anlamına gelir: en yatık ışın bile camda eksenle en çok 41,8° yapar ve duvara 48,2° ile, yani sınır açıdan büyük bir açıyla çarpar.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İndis farkı küçüldükçe sınır açı 90°'ye yaklaşır, NA ve kabul konisi küçülür. Telekom fiberinde fark binde birkaç olduğu için koni yalnızca birkaç derecedir; ışık lazerle ve dikkatle hizalanarak verilir.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Telekom fiberinin kabul konisi bu kadar darsa, ışık onun içine nasıl sokulur?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hangi ışık kılavuzu ne kadar ışık toplar?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Telekom fiberinin kabul konisi bu kadar darsa, ışık onun içine nasıl sokulur?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Işık kaynağı olarak neredeyse paralel ve ince bir demet veren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lazer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kullanılır ve fiberin ucu kaynağa mikrometre duyarlılığıyla hizalanır. Her yöne ışık saçan bir ampulün ışığının ise çok küçük bir bölümü 7,6°'lik koniye girer; geri kalanı daha ilk santimetrede kılıfa kaçar.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camda boşluktakinden yavaş gider. n₁ = 1,5 için fiberdeki hız 2·10⁸ m/s'dir: ışık boşluktakinin üçte iki hızıyla ilerler.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 asıl sorun hızın kendisi değil, her ışının aynı yolu izlememesidir:</a:t>
            </a:r>
            <a:endParaRPr lang="en-US" sz="2200" dirty="0"/>
          </a:p>
        </p:txBody>
      </p:sp>
      <p:sp>
        <p:nvSpPr>
          <p:cNvPr id="7" name="Shape 5"/>
          <p:cNvSpPr/>
          <p:nvPr/>
        </p:nvSpPr>
        <p:spPr>
          <a:xfrm>
            <a:off x="640080" y="2866644"/>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 = c / n₁</a:t>
            </a:r>
            <a:endParaRPr lang="en-US" sz="1800" dirty="0"/>
          </a:p>
        </p:txBody>
      </p:sp>
      <p:sp>
        <p:nvSpPr>
          <p:cNvPr id="9" name="Shape 7"/>
          <p:cNvSpPr/>
          <p:nvPr/>
        </p:nvSpPr>
        <p:spPr>
          <a:xfrm>
            <a:off x="2724912" y="2866644"/>
            <a:ext cx="3328416"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724912" y="2866644"/>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 = L / v = n₁·L / c</a:t>
            </a:r>
            <a:endParaRPr lang="en-US" sz="1800" dirty="0"/>
          </a:p>
        </p:txBody>
      </p:sp>
      <p:sp>
        <p:nvSpPr>
          <p:cNvPr id="11" name="Shape 9"/>
          <p:cNvSpPr/>
          <p:nvPr/>
        </p:nvSpPr>
        <p:spPr>
          <a:xfrm>
            <a:off x="6199632" y="2866644"/>
            <a:ext cx="3884371"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199632" y="2866644"/>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Δt = (n₁L/c)·(n₁/n₂ − 1)</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En hızlı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eksen boyunca giden ışın L yolunu alır: t(min) = n₁·L / c.</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En yatık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eksenle α(maks) açısı yapan ışın her eksen metresi için 1/cos α(maks) metre yol alır.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Açıyı indislere bağla: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α(maks) = 90° − θ(sınır) olduğundan cos α(maks) = sin θ(sınır) = n₂/n₁; yol L·n₁/n₂ olur.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Fark: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t(maks) = t(min)·n₁/n₂, buradan Δt = t(min)·(n₁/n₂ − 1).</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Eksene yakın giden ışınlar kısa, yatık açılı ışınlar uzun yol alır; bu fark sinyal darbesini genişletir ve veri hızını sınırlar.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10 km'lik bir fiberde (1,50 / 1,46) en hızlı ışın 50 µs'de, en yavaşı yaklaşık 51,4 µs'de varır; sayfanın 03 numaralı bölümündeki kaydırıcı bu sayıları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Tek modlu fiberlerde çekirdek çok ince olduğu için bu sorun ortadan kalkar.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başka çözüm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dereceli indisli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fiberdir: çekirdeğin indisi merkezden dışa doğru azalır, dış bölgelerden geçen uzun yollu ışınlar orada daha hızlı gider ve gecikmeyi büyük ölçüde kapatır.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07.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anda giren iki ışın aynı anda çıkmaz: zikzak çizen mod daha uzun yol aldığı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geç varır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 yüzden keskin bir ışık darbesi, kablonun sonunda yayvanlaşır ve çok hızlı gönderilen darbeler birbirine karışır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mod dağılımı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denen bu olay bant genişliğini sınırlar. Uzun mesafelerde çekirdeği çok ince olan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tek modlu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fiber kullanılmasının sebebi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Fiberde ışık c/n₁ hızıyla, yani boşluktakinin yaklaşık üçte ikisi hızla gider. Farklı açılarla giden ışınlar farklı uzunlukta yollar aldığı için darbe yayılır; bu mod dağılımı veri hızını sınırlar.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Fiberde ışık boşluktakinden yavaşsa, neden “ışık hızında internet” deniyor?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Sinyalin hızı ve mod dağılımı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Fiberde ışık boşluktakinden yavaşsa, neden “ışık hızında internet” deniyor?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2·10⁸ m/s de akıl almaz bir hızdır: sinyal 1000 km'yi 5 milisaniyede alır. Bakır kablodaki elektrik sinyali de benzer hızlarda ilerler; fiberin asıl üstünlüğü hız değil, saniyede taşıyabildiği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darbe sayısı</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ve darbelerin yolda neredeyse hiç zayıflamamasıdır.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fiber bükülünce, ışık yüzlerce kilometre yol alınca ve fiber gerçek dünyaya çıkınca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Bükülme: tam yansıma ne zaman bozulur?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Kayıplar ve desibel</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Fiber optik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fiber-optik-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Veri merkezi.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Sunucular birbirine ve dış dünyaya ışık taşıyan kablolarla bağlanır. Kablo demetleri keskin köşelerle değil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geniş kavislerle</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yönlendirilir; çünkü keskin bir kıvrım tam yansımayı bozar ve ışığı kaçırır.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tam yansıma ne zaman bozulur?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Fiber büküldüğünde ışın dış duvara daha dik çarpar.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Geliş açısı sınır açının altına düşerse tam yansıma bozulur ve ışık kılıfa sızar.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kablonun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en küçük bükülme yarıçapı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vardır; kurulum sırasında buna uyulmalıdır.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Basit bir ışın modeliyle bu yarıçapı hesaplayabilirsin (a: çekirdek yarıçapı, R: bükülme yarıçapı):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tam yansıma ne zaman bozulur?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Model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eksene paralel ışınların en zorlusu, iç duvarı sıyırarak gelen ışındır; kıvrımda merkezden R − a uzaklıktan geçen bir doğru boyunca ilerler.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Dış duvara varış: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 doğru R + a yarıçaplı dış duvara çarpar; geometriden geliş açısı için sin θ = (R − a)/(R + a) çıkar.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Şart: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sin θ ≥ n₂/n₁ olmalı. Düzenlenirse R ≥ a·(n₁ + n₂)/(n₁ − n₂).</a:t>
            </a:r>
            <a:endParaRPr lang="en-US" sz="2100" dirty="0"/>
          </a:p>
        </p:txBody>
      </p:sp>
      <p:sp>
        <p:nvSpPr>
          <p:cNvPr id="7" name="Shape 5"/>
          <p:cNvSpPr/>
          <p:nvPr/>
        </p:nvSpPr>
        <p:spPr>
          <a:xfrm>
            <a:off x="640080" y="3641598"/>
            <a:ext cx="402336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641598"/>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sin θ = (R − a) / (R + a)</a:t>
            </a:r>
            <a:endParaRPr lang="en-US" sz="1800" dirty="0"/>
          </a:p>
        </p:txBody>
      </p:sp>
      <p:sp>
        <p:nvSpPr>
          <p:cNvPr id="9" name="Shape 7"/>
          <p:cNvSpPr/>
          <p:nvPr/>
        </p:nvSpPr>
        <p:spPr>
          <a:xfrm>
            <a:off x="4809744" y="3641598"/>
            <a:ext cx="402336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809744" y="3641598"/>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R(min) = a(n₁+n₂)/(n₁−n₂)</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tam yansıma ne zaman bozulur?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 = 25 µm, n₁ = 1,50 ve n₂ = 1,46 için R(min) = 1,85 mm çıkar; sayfanın 04 numaralı bölümü aynı modeli kullanır.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kablolarda önerilen en küçük yarıçap genellikle birkaç santimetredir, çünkü bu basit modelin hesaba katmadığı sızıntılar ve camın kırılma riski için pay bırakılır.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Bağıntının paydasına dikkat et: indis farkı küçüldükçe fiber bükülmeye karşı çok daha hassaslaşır.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tam yansıma ne zaman bozulur?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2531589" y="1234440"/>
            <a:ext cx="7128517" cy="3407283"/>
          </a:xfrm>
          <a:prstGeom prst="roundRect">
            <a:avLst>
              <a:gd name="adj" fmla="val 429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08.png">    </p:cNvPr>
          <p:cNvPicPr>
            <a:picLocks noChangeAspect="1"/>
          </p:cNvPicPr>
          <p:nvPr/>
        </p:nvPicPr>
        <p:blipFill>
          <a:blip r:embed="rId1"/>
          <a:stretch>
            <a:fillRect/>
          </a:stretch>
        </p:blipFill>
        <p:spPr>
          <a:xfrm>
            <a:off x="2760189" y="1325880"/>
            <a:ext cx="6671317" cy="3224403"/>
          </a:xfrm>
          <a:prstGeom prst="rect">
            <a:avLst/>
          </a:prstGeom>
        </p:spPr>
      </p:pic>
      <p:sp>
        <p:nvSpPr>
          <p:cNvPr id="8" name="Text 5"/>
          <p:cNvSpPr txBox="1"/>
          <p:nvPr/>
        </p:nvSpPr>
        <p:spPr>
          <a:xfrm>
            <a:off x="1249528" y="4824603"/>
            <a:ext cx="9692640" cy="1320165"/>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Işık kıvrımda da düz gider; kıvrılan, fiberin duvarıdır. Fiberi büktüğünde dış duvar ışının önüne çıkar ve ışın ona daha dik çarpar. Kıvrım genişse θ hâlâ sınır açının üstündedir ve ışık tam yansıyıp içeride kalır. Kıvrım yarıçapı belli bir değerin altına inince θ sınırın altına düşer, tam yansıma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bozulur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ışık dışarı sızar. Bu yüzden fiber kablolar keskin köşelerden geçirilmez; her kablonun bir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en küçük bükülme yarıçapı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vardır.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tam yansıma ne zaman bozulur?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Bükülen fiberde ışın dış duvara daha dik çarpar; açı sınır açının altına inerse ışık sızar. Basit ışın modelinde en küçük yarıçap R(min) = a·(n₁ + n₂)/(n₁ − n₂)'dir.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Bükülen bir fiberde ışık neden iç duvardan değil de dış duvardan kaçar?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Bükülme: tam yansıma ne zaman bozulur?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Bükülen bir fiberde ışık neden iç duvardan değil de dış duvardan kaçar?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Kıvrımın dış duvarı, ışının önüne çıkan bir “virajdır”: düz giden ışın ona daha dik, yani daha küçük bir geliş açısıyla çarpar. İç duvar ise ışının yolundan uzaklaşır; ona çarpan ışınlar hep yatık kalır. Bu yüzden sızıntı hep kıvrımın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dış</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tarafından başlar.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4310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Tam yansıma kayıpsızsa ışık neden sonsuza kadar gitmiyor?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Çünkü ışık camın içinden geçerken de zayıflar.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Kaybın başlıca üç kaynağı vardır:</a:t>
            </a:r>
            <a:endParaRPr lang="en-US" sz="2200" dirty="0"/>
          </a:p>
        </p:txBody>
      </p:sp>
      <p:sp>
        <p:nvSpPr>
          <p:cNvPr id="7" name="Text 5"/>
          <p:cNvSpPr txBox="1"/>
          <p:nvPr/>
        </p:nvSpPr>
        <p:spPr>
          <a:xfrm>
            <a:off x="640080" y="2958084"/>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Bükülme kaybı: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keskin kıvrımlarda ışık kaçar.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Soğurma: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camın kendi kusurları ışığı yutar.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Saçılma: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malzemedeki küçük düzensizlikler ışığı dağıtır.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Mühendisler kaybı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desibel (dB)</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ile ölçer.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Desibel logaritmik bir ölçektir: her 10 dB gücü onda birine, her 3 dB yaklaşık yarısına indirir.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Modern fiberlerde kayıp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km başına 0,2 dB</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düzeyindedir: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424786"/>
                <a:gridCol w="4849571"/>
                <a:gridCol w="363717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Mesafe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Toplam kayıp</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Kalan güç</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 km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0,2 dB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%95,5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15 km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 dB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%50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50 km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dB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100 km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dB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2696804" y="1234440"/>
            <a:ext cx="6798087"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09.png">    </p:cNvPr>
          <p:cNvPicPr>
            <a:picLocks noChangeAspect="1"/>
          </p:cNvPicPr>
          <p:nvPr/>
        </p:nvPicPr>
        <p:blipFill>
          <a:blip r:embed="rId1"/>
          <a:stretch>
            <a:fillRect/>
          </a:stretch>
        </p:blipFill>
        <p:spPr>
          <a:xfrm>
            <a:off x="2925404" y="1325880"/>
            <a:ext cx="6340887"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Tablodaki sayıların grafiği: üst sırada mesafe, alt sırada (kırmızı) toplam kayıp. Işığın gücü 15 km'de yarıya (3 dB), 50 km'de onda bire (10 dB), 100 km'de yüzde bire (20 dB) iner: her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10 dB</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gücü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onda birine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indirir. Eğri düz bir çizgi değildir; her kilometre kalan gücün aynı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oranını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götürür, bu yüzden güç başta hızlı, sonra yavaş azalır.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1966'da Charles Kao, camdaki safsızlıklar temizlenirse kaybın kilometrede 20 dB'nin altına inebileceğini ve bunun iletişim için yeteceğini ileri sürdü; bu çalışma ona 2009 Nobel Fizik Ödülü'nü getirdi.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Bugünkü 0,2 dB/km o hedefin yüz kat altındadır.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En az kayıp kızılötesinde, 1550 nm civarındadır; bu yüzden internet fiberlerindeki ışık gözle görülmez.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kilometrelerce yol aldıktan sonra bile büyük ölçüde ayaktadır; yüzlerce kilometrelik hatlarda ise belli aralıklarla yükseltilir.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Kaleme sarılan fiber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yalnızca sıkı kıvrıldığı yerde kırmızı parlıyor; kaynaktan gelen ışık düz kısımlarda çekirdekte kalıp dışarı sızmıyor. Kalemin çevresindeki dar kıvrımda ışın dış duvara daha dik çarpar, geliş açısı sınır açının altına iner ve tam yansıma bozulur. Kablonun dışına kaçıp onu parlatan bu ışık, bükülme kaybının gözle görülen hâlidir.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Modern fiberde kayıp kilometrede yaklaşık 0,2 dB'dir: 50 km sonra ışığın onda biri, 100 km sonra yüzde biri kalır. Kayıpların kaynağı tam yansıma değil; soğurma, saçılma ve bükülmedir.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web sayfası açtığında isteğin büyük olasılıkla birkaç kez fiberden geçer: evden santrale, şehirler arası omurgaya, gerekirse okyanusun dibindeki kabloya.</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Fiberin bakırın yerini almasının nedeni aşağıdaki tabloda özetleniyor.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920888"/>
                <a:gridCol w="3637178"/>
                <a:gridCol w="235346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Özellik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Fiber optik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Bakır kablo</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Bant genişliği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çok yüksek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sınırlı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Kayıp</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çok düşük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yüksek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Elektromanyetik girişim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etkilenmez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etkilenir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Ağırlık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hafif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ağır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Güvenlik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dinlemesi çok zor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daha kolay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1873689" y="1234440"/>
            <a:ext cx="8444317"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fiber-optik-10.png">    </p:cNvPr>
          <p:cNvPicPr>
            <a:picLocks noChangeAspect="1"/>
          </p:cNvPicPr>
          <p:nvPr/>
        </p:nvPicPr>
        <p:blipFill>
          <a:blip r:embed="rId1"/>
          <a:stretch>
            <a:fillRect/>
          </a:stretch>
        </p:blipFill>
        <p:spPr>
          <a:xfrm>
            <a:off x="2102289" y="1325880"/>
            <a:ext cx="7987117"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İlk satırda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uzun çubuk iyidir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diğer üçünde kısa. Çubuklar ölçekli değildir, yalnızca hangisinin üstün olduğunu gösterir: gerçekte fiber aynı kalınlıktaki bakırın binlerce katı veri taşır. Kilometrede çok daha az sinyal kaybeder, çok daha hafiftir ve metal taşımadığı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elektromanyetik girişimden hiç etkilenmez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yıldırım ya da yüksek gerilim hattı yanından geçmesi sorun olmaz. Dinlemesi de çok daha zordur.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İletişim: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internet omurgası, denizaltı kabloları, telefon ağları. 6000 km'lik bir okyanus kablosunda sinyal tek yönde yaklaşık 30 ms'de karşıya varır.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Tıp: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endoskop — vücudun içini görüntülemek ve aydınlatmak. Görüntü taşıyan demette on binlerce lif vardır; her lif görüntünün bir noktasını taşır.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Sanayi: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ulaşılması zor yerlerin görüntülenmesi, lazer taşıma.</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Sensörler: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sıcaklık, gerilme ve titreşim ölçümü; köprülerde ve boru hatlarında kilometrelerce uzunluk boyunca.</a:t>
            </a:r>
            <a:endParaRPr lang="en-US" sz="2100" dirty="0"/>
          </a:p>
        </p:txBody>
      </p:sp>
      <p:sp>
        <p:nvSpPr>
          <p:cNvPr id="7" name="Text 5"/>
          <p:cNvSpPr txBox="1"/>
          <p:nvPr/>
        </p:nvSpPr>
        <p:spPr>
          <a:xfrm>
            <a:off x="640080" y="4469130"/>
            <a:ext cx="10911535" cy="45948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Aydınlatma ve süs: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ışığı noktadan noktaya taşıyan lifler.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Kıtalar arasındaki gecikmenin alt sınırını da fiberin fiziği koyar: 6000 km'yi 2·10⁸ m/s ile gitmek 30 ms sürer, gidip dönmek en az 60 ms.</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Hiçbir yazılım bu süreyi kısaltamaz; ancak daha kısa bir güzergâh ya da daha küçük indisli bir ortam kısaltabilir.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Fiber geniş bant, düşük kayıp ve elektromanyetik girişime bağışıklık sayesinde iletişimin omurgası oldu; tıpta, sanayide ve ölçümde de ışığı ulaşılmaz yerlere taşır.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Sınır açı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Sinyal süresi</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Sayısal açıklık</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Taşınır mı, kaçar mı?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Yansıma sayısı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Mod dağılımı ve veri hızı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En küçük bükülme yarıçapı</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Çekirdek indisi 1,50, kılıf indisi 1,20 olan bir fiberde çekirdek–kılıf sınır açısı kaç derecedir?</a:t>
            </a:r>
            <a:endParaRPr lang="en-US" sz="2000" dirty="0"/>
          </a:p>
        </p:txBody>
      </p:sp>
      <p:sp>
        <p:nvSpPr>
          <p:cNvPr id="11" name="Shape 9"/>
          <p:cNvSpPr/>
          <p:nvPr/>
        </p:nvSpPr>
        <p:spPr>
          <a:xfrm>
            <a:off x="2370414" y="3121152"/>
            <a:ext cx="745086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fiber-optik-11.png">    </p:cNvPr>
          <p:cNvPicPr>
            <a:picLocks noChangeAspect="1"/>
          </p:cNvPicPr>
          <p:nvPr/>
        </p:nvPicPr>
        <p:blipFill>
          <a:blip r:embed="rId1"/>
          <a:stretch>
            <a:fillRect/>
          </a:stretch>
        </p:blipFill>
        <p:spPr>
          <a:xfrm>
            <a:off x="2599014" y="3230880"/>
            <a:ext cx="699366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Çekirdek indisi 1,50, kılıf indisi 1,20 olan bir fiberde çekirdek–kılıf sınır açısı kaç derecedir?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1,50 (çekirdek)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1,20 (kılıf)</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sin53° = 0,8</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çekirdek–kılıf sınır açısı θ(sınır)</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sin θ = n₂/n₁ = 1,20/1,50 = 0,8</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θ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53°</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Duvara 53°'den büyük açıyla çarpan ışınlar tam yansımaya uğrar ve taşınır.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Sinyal süresi</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Kırılma indisi 1,5 olan 30 km'lik fiber kabloda ışık ne kadar sürede yol alır?</a:t>
            </a:r>
            <a:endParaRPr lang="en-US" sz="2000" dirty="0"/>
          </a:p>
        </p:txBody>
      </p:sp>
      <p:sp>
        <p:nvSpPr>
          <p:cNvPr id="11" name="Shape 9"/>
          <p:cNvSpPr/>
          <p:nvPr/>
        </p:nvSpPr>
        <p:spPr>
          <a:xfrm>
            <a:off x="2186454" y="3121152"/>
            <a:ext cx="7818788"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fiber-optik-12.png">    </p:cNvPr>
          <p:cNvPicPr>
            <a:picLocks noChangeAspect="1"/>
          </p:cNvPicPr>
          <p:nvPr/>
        </p:nvPicPr>
        <p:blipFill>
          <a:blip r:embed="rId1"/>
          <a:stretch>
            <a:fillRect/>
          </a:stretch>
        </p:blipFill>
        <p:spPr>
          <a:xfrm>
            <a:off x="2415054" y="3230880"/>
            <a:ext cx="7361588"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Sinyal süresi</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Kırılma indisi 1,5 olan 30 km'lik fiber kabloda ışık ne kadar sürede yol alır?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 = 1,5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 = 30 km = 30 000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 3·10⁸ m/s</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ışığın kabloyu geçme süresi 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Sinyal süresi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 = c/n = 3·10⁸/1,5 = 2·10⁸ m/s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 = L/v = 30 000 / 2·10⁸</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Sinyal süresi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 = 1,5·10⁻⁴ s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150 µs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Aynı yolu boşlukta 100 µs'de alırdı.</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Sayısal açıklık</a:t>
            </a:r>
            <a:endParaRPr lang="en-US" sz="1450" dirty="0"/>
          </a:p>
        </p:txBody>
      </p:sp>
      <p:sp>
        <p:nvSpPr>
          <p:cNvPr id="8" name="Shape 6"/>
          <p:cNvSpPr/>
          <p:nvPr/>
        </p:nvSpPr>
        <p:spPr>
          <a:xfrm>
            <a:off x="640080" y="1645920"/>
            <a:ext cx="10911535" cy="920496"/>
          </a:xfrm>
          <a:prstGeom prst="roundRect">
            <a:avLst>
              <a:gd name="adj" fmla="val 158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463296"/>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n₁ = 1,50 ve n₂ = 1,46 olan fiberin sayısal açıklığı ve kabul açısı nedir?</a:t>
            </a:r>
            <a:endParaRPr lang="en-US" sz="2000" dirty="0"/>
          </a:p>
        </p:txBody>
      </p:sp>
      <p:sp>
        <p:nvSpPr>
          <p:cNvPr id="11" name="Shape 9"/>
          <p:cNvSpPr/>
          <p:nvPr/>
        </p:nvSpPr>
        <p:spPr>
          <a:xfrm>
            <a:off x="2202729" y="2767584"/>
            <a:ext cx="7786238" cy="3486912"/>
          </a:xfrm>
          <a:prstGeom prst="roundRect">
            <a:avLst>
              <a:gd name="adj" fmla="val 419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fiber-optik-13.png">    </p:cNvPr>
          <p:cNvPicPr>
            <a:picLocks noChangeAspect="1"/>
          </p:cNvPicPr>
          <p:nvPr/>
        </p:nvPicPr>
        <p:blipFill>
          <a:blip r:embed="rId1"/>
          <a:stretch>
            <a:fillRect/>
          </a:stretch>
        </p:blipFill>
        <p:spPr>
          <a:xfrm>
            <a:off x="2431329" y="2877312"/>
            <a:ext cx="7329038" cy="3267456"/>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Sayısal açıklık</a:t>
            </a:r>
            <a:endParaRPr lang="en-US" sz="1450" dirty="0"/>
          </a:p>
        </p:txBody>
      </p:sp>
      <p:sp>
        <p:nvSpPr>
          <p:cNvPr id="8" name="Shape 6"/>
          <p:cNvSpPr/>
          <p:nvPr/>
        </p:nvSpPr>
        <p:spPr>
          <a:xfrm>
            <a:off x="640080" y="1645920"/>
            <a:ext cx="10911535" cy="1143000"/>
          </a:xfrm>
          <a:prstGeom prst="roundRect">
            <a:avLst>
              <a:gd name="adj" fmla="val 1280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594360"/>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n₁ = 1,50 ve n₂ = 1,46 olan fiberin sayısal açıklığı ve kabul açısı nedir?</a:t>
            </a:r>
            <a:endParaRPr lang="en-US" sz="2000" dirty="0"/>
          </a:p>
        </p:txBody>
      </p:sp>
      <p:sp>
        <p:nvSpPr>
          <p:cNvPr id="11" name="Shape 9"/>
          <p:cNvSpPr/>
          <p:nvPr/>
        </p:nvSpPr>
        <p:spPr>
          <a:xfrm>
            <a:off x="640080" y="2990088"/>
            <a:ext cx="5318608" cy="3154680"/>
          </a:xfrm>
          <a:prstGeom prst="roundRect">
            <a:avLst>
              <a:gd name="adj" fmla="val 46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154680"/>
            <a:ext cx="54864" cy="2825496"/>
          </a:xfrm>
          <a:prstGeom prst="rect">
            <a:avLst/>
          </a:prstGeom>
          <a:solidFill>
            <a:srgbClr val="2957D4"/>
          </a:solidFill>
          <a:ln/>
        </p:spPr>
      </p:sp>
      <p:sp>
        <p:nvSpPr>
          <p:cNvPr id="13" name="Text 11"/>
          <p:cNvSpPr txBox="1"/>
          <p:nvPr/>
        </p:nvSpPr>
        <p:spPr>
          <a:xfrm>
            <a:off x="914400" y="3136392"/>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465576"/>
            <a:ext cx="4769968" cy="2551176"/>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1,50 (çekirdek)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1,46 (kılıf)</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dış ortam hava (n = 1)</a:t>
            </a:r>
            <a:endParaRPr lang="en-US" sz="1800" dirty="0"/>
          </a:p>
        </p:txBody>
      </p:sp>
      <p:sp>
        <p:nvSpPr>
          <p:cNvPr id="15" name="Shape 13"/>
          <p:cNvSpPr/>
          <p:nvPr/>
        </p:nvSpPr>
        <p:spPr>
          <a:xfrm>
            <a:off x="6233008" y="2990088"/>
            <a:ext cx="5318608" cy="3154680"/>
          </a:xfrm>
          <a:prstGeom prst="roundRect">
            <a:avLst>
              <a:gd name="adj" fmla="val 46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154680"/>
            <a:ext cx="54864" cy="2825496"/>
          </a:xfrm>
          <a:prstGeom prst="rect">
            <a:avLst/>
          </a:prstGeom>
          <a:solidFill>
            <a:srgbClr val="5F4BD8"/>
          </a:solidFill>
          <a:ln/>
        </p:spPr>
      </p:sp>
      <p:sp>
        <p:nvSpPr>
          <p:cNvPr id="17" name="Text 15"/>
          <p:cNvSpPr txBox="1"/>
          <p:nvPr/>
        </p:nvSpPr>
        <p:spPr>
          <a:xfrm>
            <a:off x="6507328" y="3136392"/>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465576"/>
            <a:ext cx="4769968" cy="2551176"/>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sayısal açıklık NA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kabul açısı θ(kabul)</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Sayısal açıklık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NA = √(n₁² − n₂²) = √(2,25 − 2,1316) = √0,1184</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NA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0,344</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Sayısal açıklık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sin θ(kabul) = 0,344 → θ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Fiberin ucuna eksenle 20°'den büyük açı yapan ışınlar taşınamaz.</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Taşınır mı, kaçar mı?</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n₁ = 1,50 ve n₂ = 1,46 olan fiberin ucuna havadan gelen iki ışın, eksenle (a) 14° ve (b) 32° açı yaparak giriyor. Hangisi taşınır? (sin14° ≈ 0,242 · sin32° ≈ 0,530)</a:t>
            </a:r>
            <a:endParaRPr lang="en-US" sz="2000" dirty="0"/>
          </a:p>
        </p:txBody>
      </p:sp>
      <p:sp>
        <p:nvSpPr>
          <p:cNvPr id="11" name="Shape 9"/>
          <p:cNvSpPr/>
          <p:nvPr/>
        </p:nvSpPr>
        <p:spPr>
          <a:xfrm>
            <a:off x="3099334" y="3474720"/>
            <a:ext cx="5993027"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fiber-optik-14.png">    </p:cNvPr>
          <p:cNvPicPr>
            <a:picLocks noChangeAspect="1"/>
          </p:cNvPicPr>
          <p:nvPr/>
        </p:nvPicPr>
        <p:blipFill>
          <a:blip r:embed="rId1"/>
          <a:stretch>
            <a:fillRect/>
          </a:stretch>
        </p:blipFill>
        <p:spPr>
          <a:xfrm>
            <a:off x="3327934" y="3584448"/>
            <a:ext cx="5535827"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Taşınır mı, kaçar mı?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n₁ = 1,50 ve n₂ = 1,46 olan fiberin ucuna havadan gelen iki ışın, eksenle (a) 14° ve (b) 32° açı yaparak giriyor. Hangisi taşınır? (sin14° ≈ 0,242 · sin32° ≈ 0,530)</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n₁ = 1,50</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n₂ = 1,46</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dış ortam hava (n = 1)</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eksenle giriş açıları (a) 14°</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(b) 32°</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sin14° ≈ 0,242</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sin32° ≈ 0,530</a:t>
            </a:r>
            <a:endParaRPr lang="en-US" sz="125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ve (b) ışınlarının her biri taşınır mı, kaçar mı?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Taşınır mı, kaçar 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Sınır açı: sin θ = 1,46/1,50 ≈ 0,973 → θ(sınır) ≈ 76,7°</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sin α = 0,242/1,50 ≈ 0,161 → α ≈ 9,3°; duvara geliş 90° − 9,3° = 80,7°</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80,7° &gt; 76,7° → tam yansıma, ışın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taşınır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Taşınır mı, kaçar mı?</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sin α = 0,530/1,50 ≈ 0,353 → α ≈ 20,7°; duvara geliş 69,3° &lt; 76,7° → ışın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kaçar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Kısa yol: kabul açısı ≈ 20° (Örnek 3); 14° koninin içinde, 32° dışında.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Yansıma sayısı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Çekirdek çapı 50 µm olan fiberde, eksenle 10° açı yapan ışın 1 metrede kabaca kaç kez yansır?</a:t>
            </a:r>
            <a:endParaRPr lang="en-US" sz="2000" dirty="0"/>
          </a:p>
        </p:txBody>
      </p:sp>
      <p:sp>
        <p:nvSpPr>
          <p:cNvPr id="11" name="Shape 9"/>
          <p:cNvSpPr/>
          <p:nvPr/>
        </p:nvSpPr>
        <p:spPr>
          <a:xfrm>
            <a:off x="2439144" y="3121152"/>
            <a:ext cx="731340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fiber-optik-15.png">    </p:cNvPr>
          <p:cNvPicPr>
            <a:picLocks noChangeAspect="1"/>
          </p:cNvPicPr>
          <p:nvPr/>
        </p:nvPicPr>
        <p:blipFill>
          <a:blip r:embed="rId1"/>
          <a:stretch>
            <a:fillRect/>
          </a:stretch>
        </p:blipFill>
        <p:spPr>
          <a:xfrm>
            <a:off x="2667744" y="3230880"/>
            <a:ext cx="685620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Yansıma sayısı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Çekirdek çapı 50 µm olan fiberde, eksenle 10° açı yapan ışın 1 metrede kabaca kaç kez yansır?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çekirdek çapı = 50 µm = 50·10⁻⁶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ışının eksenle açısı 10°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fiber uzunluğu 1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tan10° ≈ 0,176</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1 metredeki yaklaşık yansıma sayısı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Yansıma sayısı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Bir yansımadan diğerine ilerlenen eksenel mesafe: d = çap / tan10°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 = 50·10⁻⁶ / 0,176 ≈ 2,84·10⁻⁴ 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Yansıma sayısı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Yansıma sayısı = 1 / 2,84·10⁻⁴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3500</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Her yansımada kayıp olsaydı sinyal hemen sönerdi; tam yansımada kayıp yoktur.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Mod dağılımı ve veri hızı</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n₁ = 1,50 ve n₂ = 1,46 olan 10 km'lik çok modlu bir fiberde (a) eksen boyunca giden ışının, (b) en yatık taşınan ışının varış süresini, (c) saniyede en fazla kaç ayrı darbe gönderilebileceğini bulunuz.</a:t>
            </a:r>
            <a:endParaRPr lang="en-US" sz="2000" dirty="0"/>
          </a:p>
        </p:txBody>
      </p:sp>
      <p:sp>
        <p:nvSpPr>
          <p:cNvPr id="11" name="Shape 9"/>
          <p:cNvSpPr/>
          <p:nvPr/>
        </p:nvSpPr>
        <p:spPr>
          <a:xfrm>
            <a:off x="3099334" y="3474720"/>
            <a:ext cx="5993027"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fiber-optik-16.png">    </p:cNvPr>
          <p:cNvPicPr>
            <a:picLocks noChangeAspect="1"/>
          </p:cNvPicPr>
          <p:nvPr/>
        </p:nvPicPr>
        <p:blipFill>
          <a:blip r:embed="rId1"/>
          <a:stretch>
            <a:fillRect/>
          </a:stretch>
        </p:blipFill>
        <p:spPr>
          <a:xfrm>
            <a:off x="3327934" y="3584448"/>
            <a:ext cx="5535827"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Mod dağılımı ve veri hızı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n₁ = 1,50 ve n₂ = 1,46 olan 10 km'lik çok modlu bir fiberde (a) eksen boyunca giden ışının, (b) en yatık taşınan ışının varış süresini, (c) saniyede en fazla kaç ayrı darbe gönderilebileceğini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1,50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1,46</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 = 10 km = 10⁴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 3·10⁸ m/s</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700" dirty="0">
                <a:solidFill>
                  <a:srgbClr val="0E1426"/>
                </a:solidFill>
                <a:latin typeface="Calibri" pitchFamily="34" charset="0"/>
                <a:ea typeface="Calibri" pitchFamily="34" charset="-122"/>
                <a:cs typeface="Calibri" pitchFamily="34" charset="-120"/>
              </a:rPr>
              <a:t>(a) eksen boyunca giden ışının varış süresi t(min)</a:t>
            </a:r>
            <a:endParaRPr lang="en-US" sz="1700" dirty="0"/>
          </a:p>
          <a:p>
            <a:pPr marL="203200" indent="-203200">
              <a:lnSpc>
                <a:spcPct val="110000"/>
              </a:lnSpc>
              <a:spcAft>
                <a:spcPts val="500"/>
              </a:spcAft>
              <a:buSzPct val="100000"/>
              <a:buChar char="▪"/>
            </a:pPr>
            <a:r>
              <a:rPr lang="en-US" sz="1700" dirty="0">
                <a:solidFill>
                  <a:srgbClr val="0E1426"/>
                </a:solidFill>
                <a:latin typeface="Calibri" pitchFamily="34" charset="0"/>
                <a:ea typeface="Calibri" pitchFamily="34" charset="-122"/>
                <a:cs typeface="Calibri" pitchFamily="34" charset="-120"/>
              </a:rPr>
              <a:t>(b) en yatık taşınan ışının varış süresi t(maks)</a:t>
            </a:r>
            <a:endParaRPr lang="en-US" sz="1700" dirty="0"/>
          </a:p>
          <a:p>
            <a:pPr marL="203200" indent="-203200">
              <a:lnSpc>
                <a:spcPct val="110000"/>
              </a:lnSpc>
              <a:spcAft>
                <a:spcPts val="500"/>
              </a:spcAft>
              <a:buSzPct val="100000"/>
              <a:buChar char="▪"/>
            </a:pPr>
            <a:r>
              <a:rPr lang="en-US" sz="1700" dirty="0">
                <a:solidFill>
                  <a:srgbClr val="0E1426"/>
                </a:solidFill>
                <a:latin typeface="Calibri" pitchFamily="34" charset="0"/>
                <a:ea typeface="Calibri" pitchFamily="34" charset="-122"/>
                <a:cs typeface="Calibri" pitchFamily="34" charset="-120"/>
              </a:rPr>
              <a:t>(c) saniyede gönderilebilecek en fazla darbe sayısı</a:t>
            </a:r>
            <a:endParaRPr lang="en-US" sz="17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Mod dağılımı ve veri hızı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t(min) = n₁·L/c = 1,5 · 10⁴ / 3·10⁸ = 5·10⁻⁵ s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50 µs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En yatık ışının yolu L·n₁/n₂ = 10 km · 1,50/1,46 ≈ 10,27 km</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t(maks) = 50 µs · 1,50/1,46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51,4 µs</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Mod dağılımı ve veri hızı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Δt ≈ 1,37 µs; darbeler karışmasın diye en az bu kadar aralıklı olmalı.</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Saniyede en fazla 1 / 1,37·10⁻⁶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7,3·10⁵ darbe</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tek modlu fiber bu sınırı ortadan kaldırır.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bükülme yarıçapı</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Çekirdek yarıçapı 25 µm, çekirdek indisi 1,50 olan bir fiber için ışın modeline göre en küçük bükülme yarıçapını (a) n₂ = 1,46 ve (b) n₂ = 1,40 için bulunuz. (c) Sonucu yorumlayınız.</a:t>
            </a:r>
            <a:endParaRPr lang="en-US" sz="2000" dirty="0"/>
          </a:p>
        </p:txBody>
      </p:sp>
      <p:sp>
        <p:nvSpPr>
          <p:cNvPr id="11" name="Shape 9"/>
          <p:cNvSpPr/>
          <p:nvPr/>
        </p:nvSpPr>
        <p:spPr>
          <a:xfrm>
            <a:off x="2968641" y="3474720"/>
            <a:ext cx="6254414"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fiber-optik-17.png">    </p:cNvPr>
          <p:cNvPicPr>
            <a:picLocks noChangeAspect="1"/>
          </p:cNvPicPr>
          <p:nvPr/>
        </p:nvPicPr>
        <p:blipFill>
          <a:blip r:embed="rId1"/>
          <a:stretch>
            <a:fillRect/>
          </a:stretch>
        </p:blipFill>
        <p:spPr>
          <a:xfrm>
            <a:off x="3197241" y="3584448"/>
            <a:ext cx="5797214"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bükülme yarıçapı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Çekirdek yarıçapı 25 µm, çekirdek indisi 1,50 olan bir fiber için ışın modeline göre en küçük bükülme yarıçapını (a) n₂ = 1,46 ve (b) n₂ = 1,40 için bulunuz. (c) Sonucu yorumlayınız.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25 µm (çekirdek yarıçapı)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1,50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n₂ = 1,46</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n₂ = 1,40</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ve (b) için en küçük bükülme yarıçapı R(min)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sonucun yorumu</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bükülme yarıçapı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R(min) = a·(n₁ + n₂)/(n₁ − n₂)</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R(min) = 25 µm · 2,96/0,04 = 1850 µm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1,85 mm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bükülme yarıçapı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R(min) = 25 µm · 2,90/0,10 = 725 µm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0,73 mm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İndis farkı büyüdükçe sınır açı küçülür ve fiber daha keskin bükülebilir; küçük indis farklı fiberler bükülmeye karşı daha hassastır.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Çekirdek indisi 1,25 olan bir fiberde ışık kaç m/s hızla ilerler?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dış ortam hava, n = 1; sin30° = 0,5;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Çekirdek indisi 1,25 olan bir fiberde ışık kaç m/s hızla ilerler?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 = c / n₁ = 3·10⁸ / 1,25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2,4·10⁸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Işık boşluktakinden 1,25 kat yavaş gider.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Çekirdek indisi 1,60, kılıf indisi 1,28 olan bir fiberde çekirdek–kılıf sınır açısı kaç derecedir?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dış ortam hava, n = 1; sin30° = 0,5;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Çekirdek indisi 1,60, kılıf indisi 1,28 olan bir fiberde çekirdek–kılıf sınır açısı kaç derecedir?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sin θ(sınır) = n₂ / n₁ = 1,28 / 1,60 = 0,8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θ(sınır) = 53°</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Çekirdek indisi 1,3, kılıf indisi 1,2 olan bir fiberin sayısal açıklığı ve havadaki kabul açısı nedir?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dış ortam hava, n = 1; sin30° = 0,5;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Çekirdek indisi 1,3, kılıf indisi 1,2 olan bir fiberin sayısal açıklığı ve havadaki kabul açısı nedir?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NA = √(n₁² − n₂²) = √(1,69 − 1,44) = √0,25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0,5</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sin θ(kabul) = 0,5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θ(kabul) = 30°</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Uca eksenle 30°'den küçük açıyla giren ışınlar taşınır.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Sıra sende 2'deki fiberde (n₁ = 1,60, n₂ = 1,28) çekirdekte eksenle 40° açı yaparak ilerleyen ışın taşınır mı?</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dış ortam hava, n = 1; sin30° = 0,5;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Sıra sende 2'deki fiberde (n₁ = 1,60, n₂ = 1,28) çekirdekte eksenle 40° açı yaparak ilerleyen ışın taşınır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θ(sınır) = 53° olduğundan ışın eksenle en çok α(maks) = 90° − 53° = 37° yapabilir. 40° bundan büyük: ışın duvara 90° − 40° = 50° ile çarpar, bu da 53°'den küçüktür. Tam yansıma olmaz, ışın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kılıfa kaçar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n₁ = 1,50, n₂ = 1,44 olan 6 km'lik çok modlu bir fiberde, eksen boyunca giden ışın ile en yatık taşınan ışının varış süreleri kaç µs farklıdır?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dış ortam hava, n = 1; sin30° = 0,5;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n₁ = 1,50, n₂ = 1,44 olan 6 km'lik çok modlu bir fiberde, eksen boyunca giden ışın ile en yatık taşınan ışının varış süreleri kaç µs farklıdır?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En hızlı ışın: t(min) = n₁·L / c = 1,5 · 6000 / 3·10⁸ = 3·10⁻⁵ s = 30 µs. En yatık ışın n₁/n₂ kat uzun yol alır: t(maks) = 30 · 1,50 / 1,44 = 31,25 µs. Fark Δt = 31,25 − 30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1,25 µs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Kılıfın indisini büyük sanmak.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Tam yansıma için çekirdeğin indisi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büyük</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olmalıdır: n₁ &gt; n₂.</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Işığın fiberde düz gittiğini düşünmek.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Işık zikzak çizerek, binlerce kez yansıyarak ilerler.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Tam yansımada enerji kaybı olduğunu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Tam yansımada ışığın tamamı geri döner; kayıplar soğurma ve saçılmadan gelir.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Kabul açısını sınır açıyla karıştırmak.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Kabul açısı fiberin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ucunda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sınır açı çekirdek–kılıf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duvarında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tanımlıdır.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Fiberde ışığın c hızıyla gittiğini düşünmek.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Hız c/n₁'dir.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Kabloyu istediği gibi kıvırmak.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Bükülme yarıçapı çok küçülürse ışık kaçar.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Duvara çarpma açısını fiber eksenine göre ölçmek.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Açı duvarın normaline göre ölçülür; eksenle 10° yapan ışın duvara 80° ile çarpar.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0,2 dB/km'yi “kilometrede %0,2 kayıp” diye okumak.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Desibel logaritmiktir: 0,2 dB yaklaşık %4,5 güç kaybıdır, 10 dB ise gücü onda birine indirir.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Çekirdek </a:t>
            </a:r>
            <a:pPr indent="0" marL="0">
              <a:buNone/>
            </a:pPr>
            <a:r>
              <a:rPr lang="en-US" sz="1500" b="1" dirty="0">
                <a:solidFill>
                  <a:srgbClr val="FFFFFF"/>
                </a:solidFill>
                <a:latin typeface="Calibri" pitchFamily="34" charset="0"/>
                <a:ea typeface="Calibri" pitchFamily="34" charset="-122"/>
                <a:cs typeface="Calibri" pitchFamily="34" charset="-120"/>
              </a:rPr>
              <a:t>n₁ &gt; n₂</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Sınır açı </a:t>
            </a:r>
            <a:pPr indent="0" marL="0">
              <a:buNone/>
            </a:pPr>
            <a:r>
              <a:rPr lang="en-US" sz="1500" b="1" dirty="0">
                <a:solidFill>
                  <a:srgbClr val="FFFFFF"/>
                </a:solidFill>
                <a:latin typeface="Calibri" pitchFamily="34" charset="0"/>
                <a:ea typeface="Calibri" pitchFamily="34" charset="-122"/>
                <a:cs typeface="Calibri" pitchFamily="34" charset="-120"/>
              </a:rPr>
              <a:t>sin θ = n₂/n₁</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NA </a:t>
            </a:r>
            <a:pPr indent="0" marL="0">
              <a:buNone/>
            </a:pPr>
            <a:r>
              <a:rPr lang="en-US" sz="1500" b="1" dirty="0">
                <a:solidFill>
                  <a:srgbClr val="FFFFFF"/>
                </a:solidFill>
                <a:latin typeface="Calibri" pitchFamily="34" charset="0"/>
                <a:ea typeface="Calibri" pitchFamily="34" charset="-122"/>
                <a:cs typeface="Calibri" pitchFamily="34" charset="-120"/>
              </a:rPr>
              <a:t>√(n₁² − n₂²)</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Hız </a:t>
            </a:r>
            <a:pPr indent="0" marL="0">
              <a:buNone/>
            </a:pPr>
            <a:r>
              <a:rPr lang="en-US" sz="1500" b="1" dirty="0">
                <a:solidFill>
                  <a:srgbClr val="FFFFFF"/>
                </a:solidFill>
                <a:latin typeface="Calibri" pitchFamily="34" charset="0"/>
                <a:ea typeface="Calibri" pitchFamily="34" charset="-122"/>
                <a:cs typeface="Calibri" pitchFamily="34" charset="-120"/>
              </a:rPr>
              <a:t>c / n₁</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58775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n₂ / n₁</a:t>
            </a:r>
            <a:endParaRPr lang="en-US" sz="1350" dirty="0"/>
          </a:p>
        </p:txBody>
      </p:sp>
      <p:sp>
        <p:nvSpPr>
          <p:cNvPr id="16" name="Text 14"/>
          <p:cNvSpPr txBox="1"/>
          <p:nvPr/>
        </p:nvSpPr>
        <p:spPr>
          <a:xfrm>
            <a:off x="9308592" y="2395728"/>
            <a:ext cx="206014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çekirdek–kılıf sınırı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NA = √(n₁² − n₂²)</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sayısal açıklık</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θ(kabul) = NA</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kabul konisi</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c / n₁</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fiberdeki hız</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dersler.perinet.org/fiber-optik.html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07 · Prizmalar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121</Slides>
  <Notes>121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121</vt:i4>
      </vt:variant>
    </vt:vector>
  </HeadingPairs>
  <TitlesOfParts>
    <vt:vector size="1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Fiber optik — Dersler</dc:title>
  <dc:subject>Fizik · Optik</dc:subject>
  <dc:creator>Dersler</dc:creator>
  <cp:lastModifiedBy>Dersler</cp:lastModifiedBy>
  <cp:revision>1</cp:revision>
  <dcterms:created xsi:type="dcterms:W3CDTF">2026-09-30T12:20:11Z</dcterms:created>
  <dcterms:modified xsi:type="dcterms:W3CDTF">2026-09-30T12:20:11Z</dcterms:modified>
</cp:coreProperties>
</file>