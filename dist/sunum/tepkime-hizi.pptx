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Lst>
  <p:notesMasterIdLst>
    <p:notesMasterId r:id="rId1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notesMaster" Target="notesMasters/notesMaster1.xml"/><Relationship Id="rId147" Type="http://schemas.openxmlformats.org/officeDocument/2006/relationships/presProps" Target="presProps.xml"/><Relationship Id="rId148" Type="http://schemas.openxmlformats.org/officeDocument/2006/relationships/viewProps" Target="viewProps.xml"/><Relationship Id="rId149" Type="http://schemas.openxmlformats.org/officeDocument/2006/relationships/theme" Target="theme/theme1.xml"/><Relationship Id="rId1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Suya attığın efervesan tablet bir dakikada tükenir; bahçede unutulan bir bisikletin paslanması ise yıllar sürer. İkisi de kimyasal tepkime, aradaki fark hız. Peki bir tepkimenin ne kadar hızlı yürüdüğünü nasıl ölçersin? Tablet neden ilk saniyelerde coşkuyla köpürür de sona doğru yavaşlar? Tepkime hızını ölçmek, bir kovayı dolduran musluğu izlemeye benzer: belli bir sürede ne kadar su aktığına bakar, akan miktarı geçen süreye bölersin. Anlatım dört basamakta ilerliyor: önce hızlı ve yavaş tepkimeleri gözleyip hızın ne demek olduğunu, nasıl izlendiğini ve neden zamanla azaldığını sezeceğiz; sonra ortalama hız bağıntısını, katsayıların hızları nasıl bağladığını ve derişim–zaman grafiklerini sayılarla çalışacağız; ardından farklı birimlere, anlık hıza ve katı ile saf sıvıların durumuna geçeceğiz. En sonda kolaydan zora sıralanmış örneklerle hepsini birlikte kullanacağız.
Kapak görseli: Suda köpüren tablet. Efervesan tabletteki sodyum hidrojen karbonat ile sitrik asit kuru hâldeyken tepkimeye girmez; suda çözününce karşılaşır ve karbon dioksit gazı açığa çıkar. Kabarcık sütunu tepkimenin hızını gözle görülür kılar: tablet suya yeni düştüğünde çok yoğundur, tablet küçüldükçe seyrekleşir. Birim zamanda çıkan gazı ölçmek, tepkime hızını ölçmenin en sade yollarından biridir.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Suya attığın efervesan tablet bir dakikada tükenir; bahçede unutulan bir bisikletin paslanması ise yıllar sürer. İkisi de kimyasal tepkime, aradaki fark hız. Peki bir tepkimenin ne kadar hızlı yürüdüğünü nasıl ölçersin? Tablet neden ilk saniyelerde coşkuyla köpürür de sona doğru yavaşlar? Tepkime hızını ölçmek, bir kovayı dolduran musluğu izlemeye benzer: belli bir sürede ne kadar su aktığına bakar, akan miktarı geçen süreye bölersin. Anlatım dört basamakta ilerliyor: önce hızlı ve yavaş tepkimeleri gözleyip hızın ne demek olduğunu, nasıl izlendiğini ve neden zamanla azaldığını sezeceğiz; sonra ortalama hız bağıntısını, katsayıların hızları nasıl bağladığını ve derişim–zaman grafiklerini sayılarla çalışacağız; ardından farklı birimlere, anlık hıza ve katı ile saf sıvıların durumuna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hızlı ve yavaş tepkimeleri karşılaştır, tepkime hızının ne olduğunu, nasıl ölçüldüğünü ve neden zamanla azaldığını formülsüz kavra.
   01 Önce gözlemle: hızlı ve yavaş tepkimeler
   02 Tepkime hızı nedir?
   03 Hızı nasıl izleriz?
   04 Hız zamanla neden azalır?
2. Orta — Bağıntılar: ortalama hızı derişim değişiminden hesapla, katsayıların hızları nasıl bağladığını gör, derişim–zaman grafiğinden hız oku.
   05 Ortalama hız bağıntısı
   06 Katsayılar hızları birbirine bağlar
   07 Derişim–zaman grafiğini okumak
   08 Sayılarla hisset: bir deneyin kayıtları
3. İleri — Derinleşme: hızı mol/s, g/s ve L/s ile hesapla, ortalama hızla anlık hızı ayır, katı ve saf sıvıların neden derişimle izlenmediğini gör ve hızın gündelik hayattaki yerine bak.
   09 Farklı birimlerle hız: mol/s, g/s, L/s
   10 Ortalama hız ve anlık hız
   11 Katı ve saf sıvılar
   12 Tepkime hızı gerçek dünyada
4. Pekiştir — Kolaydan zora çözümlü örnekler ve tepkime hızı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Mol: tanecikleri saymak için kullanılan paket: 1 mol = 6,02·10²³ tanecik. Kütleden mole n = m / M ile geçilir; M mol kütlesidir (CO₂ için 12 + 2·16 = 44 g/mol).
• Derişim: 1 litre çözeltide (ya da gaz karışımında) kaç mol madde bulunduğu. [X] = n / V ile bulunur, birimi mol/L, kısaca M'dir: 2 L çözeltide 0,5 mol madde varsa [X] = 0,25 M.
• Katsayılar: denkleştirilmiş denklemdeki sayılar mol oranını verir. N₂ + 3H₂ → 2NH₃ denkleminde 1 mol N₂, 3 mol H₂ ile birleşir ve 2 mol NH₃ oluşur.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Normal koşullar (NK): 0 °C ve 1 atm. Bu koşullarda 1 mol gaz, hangi gaz olursa olsun, 22,4 L yer kaplar.
• Δ (delta): “değişim” demektir ve hep son − ilk diye hesaplanır. Sıcaklık 20 °C'den 50 °C'ye çıktıysa ΔT = +30 °C; bir büyüklük azaldıysa Δ eksi çıkar.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hızlı ve yavaş tepkimeleri karşılaştır, tepkime hızının ne olduğunu, nasıl ölçüldüğünü ve neden zamanla azaldığını formülsüz kavra.
01 Önce gözlemle: hızlı ve yavaş tepkimeler
02 Tepkime hızı nedir?
03 Hızı nasıl izleriz?
04 Hız zamanla neden azalır?
Görsel: Yıllardır duran bisiklet. Demir, havadaki oksijen ve nemle tepkimeye girerek pasa, yani sulu demir okside dönüşür. Bu tepkime o kadar yavaştır ki bir günde bir değişiklik göremezsin; ama yıllar boyunca biriken pas, boyası dökülen her yeri turuncu-kahverengiye boyar. Aynı demir toz hâline getirilip aleve serpilirse kıvılcımlar saçarak saniyeler içinde yanar: hız, tepkimenin koşullarına da bağlıdır.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hızlı ve yavaş tepkimeler — adım 1/5
• Çevrende her an kimyasal tepkimeler oluyor, ama hepsi aynı hızda yürümüyor.
• Bazıları göz açıp kapayıncaya kadar biter, bazıları yıllarca sürer.
• Aşağıdaki gözlemler hızlıdan yavaşa doğru sıralandı: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hızlı ve yavaş tepkimeler — adım 2/5
• Hava yastığı şişer: çarpışma anında bir katı ayrışıp gaza dönüşür; yastık saniyenin yaklaşık otuzda birinde dolar.
• Efervesan tablet köpürür: suya düşen tablet yaklaşık bir dakikada tükenir.
• Kesilmiş elma kararır: açıkta kalan yüz havanın oksijeniyle tepkimeye girer; renk dakikalar içinde koyulaşır.
• Süt ekşir: buzdolabının dışında unutulan süt bir iki günde ekşir.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hızlı ve yavaş tepkimeler — adım 3/5
• Demir paslanır: nemli havada kalan demir aylar, yıllar içinde kat kat pasa döner.
• Mağarada sarkıt uzar: damlayan sudan kireç taşı çöker; bir sarkıtın bir santimetre uzaması çoğu zaman yüzyıl kadar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hızlı ve yavaş tepkimeler — adım 4/5
• “Hızlı” ya da “yavaş” demek için bir ölçü gerekir.
• Fizikte bir koşucunun hızını, aldığı yolu geçen süreye bölerek bulursun.
• Kimyada da benzerini yaparız: tepkimede değişen madde miktarını, bu değişim için geçen süreye böleriz.
• Hız büyükse aynı değişim kısa sürede olur, küçükse uzun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hızlı ve yavaş tepkimeler — şekil
Tepkime süreleri o kadar farklı ki onları sıradan bir cetvele sığdıramayız. Bu çizelgede her çentik süreyi 10 katına çıkarır: soldaki hava yastığı saniyenin kesrinde, sağdaki sarkıt yüzyıllar içinde değişir. Süreler yaklaşıktır; aynı tepkime sıcaklığa ve ortama göre hızlanıp yavaşlayabilir.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Kimyasal tepkimeler saniyenin kesrinden yüzyıllara kadar çok farklı hızlarda yürür. Bir tepkimenin hızlı mı yavaş mı olduğunu, birim zamanda ne kadar madde değiştirdiğine bakarak söyleriz.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Paslanma çok yavaş bir tepkimeyse, eski bir bisikletin her yeri nasıl pasla kaplanabiliyor?
Sınıfa sorun, birkaç tahmin alın; sonra cevap slaytına geçin.
Cevap: Yavaş tepkime az ürün vermez, ürününü uzun sürede verir. Bisiklet yıllarca nemli havada durunca her gün oluşan çok az pas üst üste birikir. Hız, ne kadar ürün oluşacağını değil, ürünün ne kadar sürede oluşacağını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Yavaş tepkime az ürün vermez, ürününü uzun sürede verir. Bisiklet yıllarca nemli havada durunca her gün oluşan çok az pas üst üste birikir. Hız, ne kadar ürün oluşacağını değil, ürünün ne kadar sürede oluşacağını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nedir? — adım 1/5
• Bir tepkimede başlangıçtaki maddelere tepken (giren), oluşan maddelere ürün denir.
• Tepkime yürüdükçe tepkenler azalır, ürünler artar.
• Tepkime hızı, birim zamanda harcanan tepken ya da oluşan ürün miktarıdır: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nedir? — adım 2/5
• Tepkenin azalışından bakarsan harcanma hızını bulursun.
• Ürünün artışından bakarsan oluşma hızını bulursun.
• Hız her zaman pozitif bir sayıyla söylenir: “saniyede 0,4 tanecik harcanıyor” deriz, “−0,4” demeyiz.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nedir? — adım 3/5
• Musluk benzetmesine dön: bir kova 50 saniyede 10 litre doluyorsa musluğun ortalama akış hızı 10 ÷ 50 = 0,2 L/s'dir.
• Kovaya bakıp “dolma hızı”, suyun geldiği depoya bakıp “boşalma hızı” diyebilirsin; ikisi de aynı akışı anlatır.
• Tepkimede tepkenler deponun, ürünler kovanın yerindedir.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nedir? — adım 4/5
• Miktarı neyle saydığın sana kalmıştır: tanecik sayısı, mol, gram, gaz hacmi ya da derişim.
• Hızın birimi de buna göre g/s, mol/s, mL/s olur.
• Örneğin bir tablet 50 saniyede 0,5 g karbon dioksit verdiyse, ortalama olarak saniyede 0,01 g CO₂ oluşmuştur.
• En sık kullanılan ölçü derişimdeki değişimdir; onu ikinci basamakta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nedir? — şekil
Basit bir A → B tepkimesinde aynı kutuya 10 saniye arayla bakıyoruz: dört mavi tepken taneciği yeşil ürüne dönüşmüş. Tepkenden bakınca harcanma, üründen bakınca oluşma hızını buluruz; burada ikisi de saniyede 0,4 taneciktir, çünkü harcanan her tanecik bir ürün taneciği verir. Gerçek tepkimelerde tanecikler sayılamayacak kadar çok olduğu için onları mol ile sayarız.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Tepkime hızı, birim zamanda harcanan tepken ya da oluşan ürün miktarıdır. Tepkenin azalışından harcanma hızı, ürünün artışından oluşma hızı bulunur; hız her zaman pozitif bir sayıdır.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adım 1/7
• Bir beherdeki tanecikleri tek tek sayamazsın.
• Bunun yerine madde miktarıyla birlikte değişen, ölçülebilir bir özellik seçer ve onu eşit zaman aralıklarında okursun.
• Hangi özelliği seçeceğin tepkimeye bağlıdır: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adım 2/7
• Gaz hacmi: gaz çıkan tepkimelerde gaz şırıngasıyla ölçülür. Mg(k) + 2HCl(suda) → MgCl₂(suda) + H₂(g) tepkimesinde şırınganın pistonu her saniye biraz daha dışarı itilir.
• Kütle: açık kaptan gaz kaçıyorsa terazi azalan kütleyi gösterir. Mermer (CaCO₃) asitle tepkimeye girerken CO₂ kaçar.
• Renk: renkli bir madde harcanıyor ya da oluşuyorsa rengin açılması ya da koyulaşması izlenir. H₂(g) + I₂(g) → 2HI(g) tepkimesinde mor iyot buharı azaldıkça renk açılır.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adım 3/7
• Basınç: sabit hacimli kapta gazların toplam mol sayısı değişiyorsa basınç değişir. 2N₂O₅(g) → 4NO₂(g) + O₂(g) tepkimesinde 2 mol gaz 5 mol gaza dönüşür, basınç artar.
• İletkenlik: çözeltideki iyonların sayısı ya da türü değişiyorsa iletkenlik değişir. Magnezyum asitte çözünürken çok hareketli H⁺ iyonları azaldıkça iletkenlik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adım 4/7
• Hangi yolu seçersen seç iki şart vardır: ölçtüğün özellik tepkimede gerçekten değişmeli ve ölçüm tepkimeyi durdurmadan yapılabilmeli.
• Sayfanın 03 numaralı bölümünde gaz hacmi ve kütle kaybı yöntemlerini deneyebilirsin.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şekil
Tepkime hızını izlemenin dört yaygın yolu. Hepsinde yaptığımız şey aynıdır: ölçülebilir bir özelliği eşit zaman aralıklarında okuruz. Şırıngadaki hacim, teraziden kaybolan kütle, rengin açılması ve göstergedeki basınç, harcanan ya da oluşan madde miktarıyla birlikte değişir; değişimin hızı bize tepkimenin hızını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adım 6/7
• Renk değişimini mutfakta da izleyebilirsin.
• Kesilmiş bir elmanın yüzü dakikalar içinde koyulaşır; rengin ne kadar sürede ne kadar koyulaştığı, gözle izlenebilen yavaş bir tepkimenin hızıdır.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Hızı nasıl izleriz? — şekil
Kararan elma. Soldaki yarı yeni kesildi, sağdaki yaklaşık yarım saattir havada bekliyor. Elma kesilince hücrelerindeki fenol bileşikleri havanın oksijeniyle karşılaşır; elmanın kendi enzimi bu tepkimeyi hızlandırır ve oluşan kahverengi ürünler yüzeyi koyulaştırır. Rengi birkaç dakikada bir, bir renk kartıyla karşılaştırıp not alırsan, tepkimenin hızını gözünle ölçmüş olursun.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Tanecikleri sayamadığımız için madde miktarıyla birlikte değişen bir özelliği izleriz: gaz hacmi, kütle, renk, basınç ya da iletkenlik. Seçilen özellik tepkimede gerçekten değişmeli ve tepkime durdurulmadan ölçülebilmelidir.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H₂(g) + I₂(g) → 2HI(g) tepkimesinin hızını, sabit hacimli bir kapta basıncı ölçerek izleyebilir misin?
Sınıfa sorun, birkaç tahmin alın; sonra cevap slaytına geçin.
Cevap: Hayır. Girenlerde 2 mol gaz (1 mol H₂ ve 1 mol I₂), ürünlerde de 2 mol gaz (2 mol HI) vardır; sıcaklık sabitse toplam basınç değişmez. Ama iyot buharı mor, H₂ ve HI renksizdir: rengin açılmasını izleyerek hızı ölçebilirsin. Önce seçtiğin özelliğin tepkimede gerçekten değiştiğinden emin 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Girenlerde 2 mol gaz (1 mol H₂ ve 1 mol I₂), ürünlerde de 2 mol gaz (2 mol HI) vardır; sıcaklık sabitse toplam basınç değişmez. Ama iyot buharı mor, H₂ ve HI renksizdir: rengin açılmasını izleyerek hızı ölçebilirsin. Önce seçtiğin özelliğin tepkimede gerçekten değiştiğinden emin 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zamanla neden azalır? — adım 1/4
• Bir önceki konudan hatırla: tepkimenin yürümesi için tanecikler çarpışmalı; yeterli enerjiyle ve uygun yönelimle olan etkin çarpışmalar ürün verir.
• Tepkime hızı, birim zamandaki etkin çarpışma sayısıyla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zamanla neden azalır? — adım 2/4
• Lunaparktaki çarpışan arabaları düşün.
• Pistte yirmi araba varken çarpışmalar durmadan olur; araba sayısı beşe inince bir çarpışma için uzun süre beklersin.
• Tepkimede de başlangıçta tepken tanecikleri kalabalıktır ve sık çarpışır.
• Tepkime ilerledikçe tepkenler ürüne dönüşür, geride kalanların sayısı azalır ve birim zamandaki çarpışma seyrekleşir.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zamanla neden azalır? — adım 3/4
• Sonuç olarak:
• Çoğu tepkime en hızlı başlangıçta yürür.
• Eşit zaman aralıklarında harcanan tepken miktarı giderek azalır.
• Tepkenlerden biri tükenince tepkime durur; hız sıfır olur.
• Efervesan tablette de aynısını görürsün: ilk saniyelerde yoğun bir kabarcık sütunu yükselir, sona doğru kabarcıklar seyrekleşir.
• Yavaşlamanın asıl nedeni tepkenlerin azalmasıdır.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zamanla neden azalır? — şekil
X + Y → XY tepkimesinde aynı kutuya 10 saniye arayla üç kez bakıyoruz. İlk 10 saniyede 3 XY molekülü oluşuyor, sonraki 10 saniyede yalnızca 1 tane. Tepken sayısı yarıya inince olası X–Y karşılaşmaları 6 · 6 = 36'dan 3 · 3 = 9'a, yani dörtte bire iner; bu yüzden eşit sürelerde oluşan ürün giderek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Tepkenler harcandıkça derişimleri düşer, birim zamandaki etkin çarpışma sayısı azalır ve tepkime yavaşlar. Bu yüzden çoğu tepkime en hızlı başlangıçta yürür ve tepkenlerden biri tükenince durur.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Kabarcıkların seyrekleşmesi, tanecikler yorulduğu için mi olur?
Sınıfa sorun, birkaç tahmin alın; sonra cevap slaytına geçin.
Cevap: Hayır, tanecikler yorulmaz. Sıcaklık değişmedikçe her taneciğin bir çarpışmada ürün verme şansı aynıdır. Değişen, ortamda kalan tepken taneciklerinin sayısıdır: tanecik azalınca birim zamandaki etkin çarpışma da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tanecikler yorulmaz. Sıcaklık değişmedikçe her taneciğin bir çarpışmada ürün verme şansı aynıdır. Değişen, ortamda kalan tepken taneciklerinin sayısıdır: tanecik azalınca birim zamandaki etkin çarpışma da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ortalama hızı derişim değişiminden hesapla, katsayıların hızları nasıl bağladığını gör, derişim–zaman grafiğinden hız oku.
05 Ortalama hız bağıntısı
06 Katsayılar hızları birbirine bağlar
07 Derişim–zaman grafiğini okumak
08 Sayılarla hisset: bir deneyin kayıtları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bağıntısı — adım 1/5
• Çözeltilerde ve gazlarda miktarı en kolay derişimle izleriz.
• Bir zaman aralığında derişimin ne kadar değiştiğini o aralığın süresine bölersen ortalama tepkime hızını bulursun.
• Köşeli parantez derişim demektir: [X], X'in mol/L cinsinden derişimidir.
Harcanma hızı = −Δ[X] / Δt   Oluşma hızı = +Δ[Z] / Δt   Δ[X] = [X]son − [X]ilk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bağıntısı — adım 2/5
Formüldeki harfler ne anlama geliyor?
Sembol | Anlamı | Birimi
[X] | X maddesinin derişimi: 1 litrede kaç mol X var | mol/L (M)
Δ[X] | derişimdeki değişim: son değer − ilk değer | M
Δt | geçen süre: t₂ − t₁ | s (dk, saat)
Hız | birim zamandaki derişim değişimi (r ile de gösterilir) | M/s = mol/(L·s)
− ve + | eksi: azalan tepken; artı: artan ürün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bağıntısı — adım 3/5
Eksi işareti nereden geliyor?
• Δ'yı hesapla: 50 saniyede [X] 0,80 M'den 0,30 M'ye indiyse Δ[X] = 0,30 − 0,80 = −0,50 M olur. Tepkende Δ hep eksidir.
• Süreye böl: −0,50 M ÷ 50 s = −0,010 M/s. Bu sayı, derişimin her saniye 0,010 M azaldığını söyler.
• Eksiyle çarp: hız pozitif bir sayı olmalı; formüldeki eksi, eksi çıkan sonucu pozitife çevirir: Hız = 0,010 M/s.
• Üründe gerek yok: ürün artar, Δ zaten artıdır. [Y] 0'dan 0,50 M'ye çıktıysa oluşma hızı +0,50 ÷ 50 = 0,010 M/s'dir.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bağıntısı — adım 4/5
• Birim kontrolü: derişimi süreye bölüyoruz: (mol/L) ÷ s = mol/(L·s).
• Buna kısaca M/s denir.
• Süre dakikayla ölçüldüyse birim M/dk olur; 0,010 M/s, dakikada 0,60 M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bağıntısı — şekil
Aynı 50 saniyede tepken X'in derişimi 0,50 M azalıyor, ürün Y'ninki 0,50 M artıyor. Tepkende Δ eksi çıktığı için formülün önündeki eksi işareti sonucu pozitif yapar; üründe Δ zaten artıdır. İki taraftan da aynı pozitif sayıya, 0,010 M/s'ye ulaşırız.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Ortalama hız, derişim değişiminin geçen süreye oranıdır: tepken için −Δ[X]/Δt, ürün için +Δ[Z]/Δt. Δ hep son − ilk'tir; tepkende eksi çıktığı için önüne eksi konur ve hız pozitif olur. Birimi M/s'dir.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öğrenci tepkenin harcanma hızını −0,010 M/s buldu. Nerede yanılmış olabilir?
Sınıfa sorun, birkaç tahmin alın; sonra cevap slaytına geçin.
Cevap: Hız negatif olamaz. Öğrenci Δ[X]'i doğru hesaplamış (son − ilk = −0,50 M), ama formüldeki eksi işaretini unutmuş: −(−0,50) ÷ 50 = +0,010 M/s. Eksi işareti, azalan bir derişimin hızını pozitif yazmak içindir.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Hız negatif olamaz. Öğrenci Δ[X]'i doğru hesaplamış (son − ilk = −0,50 M), ama formüldeki eksi işaretini unutmuş: −(−0,50) ÷ 50 = +0,010 M/s. Eksi işareti, azalan bir derişimin hızını pozitif yazmak içindir.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 hızları birbirine bağlar — adım 1/6
• Amonyak tepkimesine bak: N₂(g) + 3H₂(g) → 2NH₃(g).
• Denklem, 1 mol N₂ harcanırken 3 mol H₂'nin harcandığını ve 2 mol NH₃'ün oluştuğunu söyler.
• Maddeler aynı kapta, yani aynı hacimde ve aynı sürede tepkimeye girdiği için derişim değişimleri de katsayılarla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 hızları birbirine bağlar — adım 2/6
• H₂ derişimi, N₂ derişiminin 3 katı hızla azalır.
• NH₃ derişimi, N₂ derişiminin azalışının 2 katı hızla artar.
• Aynı tepkimede her maddenin hızı farklı bir sayıdır.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 hızları birbirine bağlar — adım 3/6
• Hangi maddeye bakarsan bak aynı sayıyı bulmak için her maddenin hızını kendi katsayısına bölersin.
• Bu ortak sayıya tepkime hızı denir.
• Aşağıda Hız(X), X'in harcanma hızıdır (−Δ[X]/Δt); Hız(Z), Z'nin oluşma hızıdır (+Δ[Z]/Δt):
aX + bY → cZ + dT   Hız = Hız(X)/a = Hız(Y)/b   = Hız(Z)/c = Hız(T)/d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 hızları birbirine bağlar — adım 4/6
• Bir örnek: N₂'nin harcanma hızı 0,020 M/s ise H₂'ninki 3 · 0,020 = 0,060 M/s, NH₃'ün oluşma hızı 2 · 0,020 = 0,040 M/s'dir.
• Üçünü katsayısına bölersen: 0,020/1 = 0,060/3 = 0,040/2 = 0,020 M/s.
• Kısa bir kontrol: katsayısı büyük olan madde her zaman daha hızlı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 hızları birbirine bağlar — adım 5/6
• Aynı eşitlik çarpılmış biçimde de yazılır: Hız(X)/2 = Hız(Y)/3 ile 3·Hız(X) = 2·Hız(Y) aynı eşitliktir.
• Çarpılmış biçimde büyük çarpan küçük katsayıya aittir: katsayısı 2 olan X'in önünde 3, katsayısı 3 olan Y'nin önünde 2 durur.
• Sayfanın 02 numaralı bölümünde bir maddenin hızını değiştirip ötekilerin onunla birlikte nasıl değiştiğini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Katsayılar hızları birbirine bağlar — şekil
Katsayılar, aynı sürede harcanan ve oluşan mol sayılarının oranıdır: 1 N₂ ile 3 H₂ tepkimeye girer, 2 NH₃ oluşur. Bu yüzden sütunlar 1 : 3 : 2 oranındadır. Her sütun kendi katsayısına bölününce hepsi aynı yüksekliğe, tepkime hızına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kapta ve aynı sürede harcanan ve oluşan miktarlar katsayılarla orantılıdır; bu yüzden maddelerin hızları farklıdır. Her maddenin hızı kendi katsayısına bölünürse hepsi aynı sayıyı, tepkime hızını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2NO(g) + O₂(g) → 2NO₂(g) tepkimesinde NO'nun harcanma hızı ile NO₂'nin oluşma hızı neden eşittir?
Sınıfa sorun, birkaç tahmin alın; sonra cevap slaytına geçin.
Cevap: İkisinin katsayısı da 2'dir: aynı sürede harcanan NO ile oluşan NO₂ mol sayıları eşittir. O₂'nin katsayısı 1 olduğu için onun harcanma hızı bunların yarısıdır. Hızları karşılaştırırken her zaman katsayılara 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İkisinin katsayısı da 2'dir: aynı sürede harcanan NO ile oluşan NO₂ mol sayıları eşittir. O₂'nin katsayısı 1 olduğu için onun harcanma hızı bunların yarısıdır. Hızları karşılaştırırken her zaman katsayılara 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Derişim–zaman grafiğini okumak — adım 1/4
• Eşit aralıklarla ölçtüğün derişimleri bir grafiğe dökersen tepkimenin bütün öyküsünü tek bakışta görürsün.
• Yüksek sıcaklıkta tutulan bir kapta diazot pentaoksit ayrışıyor: 2N₂O₅(g) → 4NO₂(g) + O₂(g).
• Başlangıçta kapta yalnızca 1,00 M N₂O₅ var.
• Grafiği okurken şu adımları izle: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Derişim–zaman grafiğini okumak — adım 2/4
• Eğrileri tanı: azalan eğri tepkene, artan eğriler ürünlere aittir. Sıfırdan başlayan eğriler üründür.
• Katsayıları doğrula: ilk 100 saniyede N₂O₅ 0,50 M azalırken NO₂ 1,00 M, O₂ 0,25 M artar. Değişimlerin oranı 2 : 4 : 1, yani katsayıların oranıdır.
• Ortalama hızı bul: iki noktanın derişim farkını zaman farkına böl. Bu, iki noktayı birleştiren kesen doğrusunun eğiminin büyüklüğüdür; tepkende eğim eksidir, hız artı yazılır.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Derişim–zaman grafiğini okumak — adım 3/4
• Eğime bak: eğri dikse tepkime hızlı, yataylaşıyorsa yavaştır. Eğri tamamen yatay olunca tepken bitmiş, tepkime durmuştur.
• Bu grafikte her 100 saniyede N₂O₅ derişimi yarıya iniyor.
• Ortalama harcanma hızı ilk 100 saniyede 0,50 ÷ 100 = 0,0050 M/s, ikinci 100 saniyede 0,25 ÷ 100 = 0,0025 M/s, üçüncüde 0,00125 M/s olur: her aralıkta öncekinin yarısı.
• Sayfanın 01 numaralı laboratuvarında iki zaman işaretçisini sürükleyerek istediğin aralığın ortalama hızını ölçebilirsin.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Derişim–zaman grafiğini okumak — şekil
Mavi eğri azalan tepkeni, yeşil eğriler artan ürünleri gösteriyor. NO₂ eğrisi en dik değişen eğridir, çünkü katsayısı en büyüktür (4). Mor kesenin eğimi −0,50 M ÷ 100 s = −0,0050 M/s'dir; ilk 100 saniyenin ortalama harcanma hızı bu eğimin büyüklüğü, 0,0050 M/s'dir. Eğriler sağa doğru yataylaşır; tepken azaldıkça hız da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Derişim–zaman grafiğinde azalan eğri tepkeni, artan eğri ürünü gösterir; değişimler katsayılarla orantılıdır. İki nokta arasındaki ortalama hız, kesen doğrusunun eğiminin büyüklüğüdür (tepkende eğim eksidir); eğri yataylaştıkça hız azalır.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Grafikte NO₂ eğrisi N₂O₅ eğrisinden daha dik değişiyor. Bu, NO₂'nin daha hızlı bir tepkimede oluştuğu anlamına mı gelir?
Sınıfa sorun, birkaç tahmin alın; sonra cevap slaytına geçin.
Cevap: Hayır, ortada tek bir tepkime var. NO₂'nin katsayısı 4, N₂O₅'inki 2 olduğu için NO₂ derişimi, N₂O₅ derişiminin azalışının iki katı kadar artar. Eğim farkı katsayılardan gelir; katsayıya bölünce hepsi aynı tepkime hızını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ortada tek bir tepkime var. NO₂'nin katsayısı 4, N₂O₅'inki 2 olduğu için NO₂ derişimi, N₂O₅ derişiminin azalışının iki katı kadar artar. Eğim farkı katsayılardan gelir; katsayıya bölünce hepsi aynı tepkime hızını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deneyin kayıtları — adım 1/5
• Okul laboratuvarında yapılmış bir ölçümü düşün.
• Bir erlenmayerde fazla miktarda magnezyum şerit, 20 mL 0,50 M HCl çözeltisiyle tepkimeye giriyor: Mg(k) + 2HCl(suda) → MgCl₂(suda) + H₂(g).
• Çıkan hidrojen bir gaz şırıngasında toplanıyor ve hacim her 10 saniyede okunuyor (hacimler NK'ya çevrildi).
• Çözeltideki 0,010 mol HCl en çok 0,005 mol H₂ verebilir; bu da NK'da 0,005 · 22,4 = 0,112 L, yani 112 mL'dir.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deneyin kayıtları — adım 2/5
Zaman (s) | Toplam H₂ (mL) | Son 10 s'de çıkan (mL) | Ortalama hız (mL/s)
0 | 0 | — | —
10 | 44 | 44 | 4,4
20 | 71 | 27 | 2,7
30 | 87 | 16 | 1,6
40 | 97 | 10 | 1,0
50 | 103 | 6 |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deneyin kayıtları — adım 3/5
Zaman (s) | Toplam H₂ (mL) | Son 10 s'de çıkan (mL) | Ortalama hız (mL/s)
60 | 106 | 3 |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deneyin kayıtları — adım 4/5
• Tablodan dört düzen okunur:
• Hız azalıyor: eşit 10 saniyelik aralıklarda çıkan gaz 44 mL'den 3 mL'ye iniyor.
• Yavaşlatan, asidin azalması: magnezyum fazla olduğu için yavaşlamanın nedeni HCl'nin harcanmasıdır.
• Ortalama aralığa bağlı: ilk 60 saniyenin ortalaması 106 ÷ 60 ≈ 1,8 mL/s; bu sayı ne ilk aralığın 4,4'üne ne de son aralığın 0,3'üne benziyor.
• Mol ile de yazılır: ilk aralıktaki 4,4 mL/s, 0,0044 L/s ÷ 22,4 L/mol ≈ 2,0·10⁻⁴ mol/s H₂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deneyin kayıtları — şekil
Soldaki noktalar şırıngadan her 10 saniyede okunan hacimlerdir; eğri 112 mL'ye yaklaşır ama 60 saniyede henüz ulaşmamıştır. Sağdaki sütunlar her aralığın ortalama hızıdır: ilk aralıkta saniyede 4,4 mL, altıncı aralıkta yalnızca 0,3 mL. Eşit sürelerde çıkan gaz azaldıkça eğri yataylaşır.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Gaz şırıngasıyla yapılan bir ölçümde eşit 10 saniyelik aralıklarda çıkan gaz 44 mL'den 3 mL'ye iner; hız zamanla azalır. Bütün deneyin ortalama hızı, tek tek aralıkların hızlarından farklıdır.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İlk 60 saniyenin ortalama hızı 1,8 mL/s. Bu, gazın her saniye 1,8 mL çıktığı anlamına mı gelir?
Sınıfa sorun, birkaç tahmin alın; sonra cevap slaytına geçin.
Cevap: Hayır. Gaz ilk saniyelerde saniyede 4 mL'den hızlı, son saniyelerde 0,5 mL'den yavaş çıktı. Ortalama hız, aynı toplam gaz sabit bir hızla çıksaydı o hızın ne olacağını söyler; tek tek anlardaki hızlar ondan farklıdır. Bu farkı üçüncü basamakta anlık hızla inceleyeceğiz.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Gaz ilk saniyelerde saniyede 4 mL'den hızlı, son saniyelerde 0,5 mL'den yavaş çıktı. Ortalama hız, aynı toplam gaz sabit bir hızla çıksaydı o hızın ne olacağını söyler; tek tek anlardaki hızlar ondan farklıdır. Bu farkı üçüncü basamakta anlık hızla inceleyeceğiz.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hızı mol/s, g/s ve L/s ile hesapla, ortalama hızla anlık hızı ayır, katı ve saf sıvıların neden derişimle izlenmediğini gör ve hızın gündelik hayattaki yerine bak.
09 Farklı birimlerle hız: mol/s, g/s, L/s
10 Ortalama hız ve anlık hız
11 Katı ve saf sıvılar
12 Tepkime hızı gerçek dünyada
Görsel: Gaz şırıngasıyla hız ölçümü. Erlenmayerdeki magnezyum şerit asitle tepkimeye giriyor; çıkan hidrojen hortumdan şırıngaya dolup pistonu dışarı itiyor. Öğrenci kronometreye bakarak her 10 saniyede pistonun hizasındaki hacmi okuyup deftere yazar. Ardışık okumaların farkını 10'a bölünce her aralığın ortalama hızı mL/s olarak bulunur; “Sayılarla hisset” bölümündeki tablo böyle bir deneyin kayıtlarıdır.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Farklı birimlerle hız: mol/s, g/s, L/s — adım 1/6
• Derişim her zaman en kolay ölçülen büyüklük değildir.
• Bir katının kütlesini tartabilir, bir gazın hacmini şırıngada okuyabilirsin.
• Hızın tanımı değişmez: miktardaki değişim ÷ geçen süre.
• Değişen yalnızca miktarın birimidir: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Farklı birimlerle hız: mol/s, g/s, L/s — adım 2/6
Miktar | Hız | Birimi
mol sayısı (n) | Δn / Δt | mol/s
kütle (m) | Δm / Δt | g/s
gaz hacmi (V) | ΔV / Δt | L/s, mL/s
derişim ([X]) | Δ[X] / Δt | M/s
gaz basıncı (P) | ΔP / Δt | atm/s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Farklı birimlerle hız: mol/s, g/s, L/s — adım 3/6
• Bir maddenin hızından başka bir maddenin hızına geçerken köprü her zaman moldür, çünkü katsayılar mol oranıdır.
• Üç adım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Farklı birimlerle hız: mol/s, g/s, L/s — adım 4/6
• Mole çevir: verilen hızı mol/s'ye çevir. Kütleyi mol kütlesine, NK'daki gaz hacmini 22,4'e böl; derişimi kabın hacmiyle çarp.
• Katsayıyla geç: istenen maddenin katsayısını verilen maddenin katsayısına böl ve mol/s'yi bu oranla çarp.
• Birime dön: mol/s'yi mol kütlesiyle çarparak g/s'ye, 22,4 ile çarparak NK'da L/s'ye, hacme bölerek M/s'ye çevir.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Farklı birimlerle hız: mol/s, g/s, L/s — adım 5/6
• Bir örnek: 2Al(k) + 6HCl(suda) → 2AlCl₃(suda) + 3H₂(g) tepkimesinde alüminyum 0,054 g/s hızla harcanıyor.
• Al için 0,054 ÷ 27 = 0,002 mol/s olur.
• H₂'nin katsayı oranı 3/2 olduğundan H₂ 0,002 · 3/2 = 0,003 mol/s hızla oluşur; NK'da bu 0,003 · 22,4 = 0,0672 L/s, yani yaklaşık 67 mL/s'dir.
• Sayfanın 04 numaralı bölümünde böyle dönüşümleri adım adım çalışabilirsin.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Farklı birimlerle hız: mol/s, g/s, L/s — şekil
Hangi birimle başlarsan başla önce mol/s'ye in, katsayı oranıyla öteki maddenin mol/s'sine geç, sonra istediğin birime çık. V burada kabın ya da çözeltinin litre cinsinden hacmidir; 22,4 L/mol yalnızca NK'daki gazlar için geçerlidir.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Hız mol/s, g/s, L/s ya da M/s ile yazılabilir. Bir maddeden ötekine geçerken önce mol/s'ye çevir, katsayı oranıyla çarp, sonra istenen birime dön; NK'da 1 mol gaz 22,4 L'dir.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gazın oluşma hızı 0,5 L/s olarak verildi. Bunu mol/s'ye çevirmek için başka hangi bilgiye ihtiyacın var?
Sınıfa sorun, birkaç tahmin alın; sonra cevap slaytına geçin.
Cevap: Gazın hangi sıcaklık ve basınçta ölçüldüğüne. 22,4 L/mol yalnızca NK (0 °C, 1 atm) için doğrudur; oda koşullarında (25 °C, 1 atm) 1 mol gaz yaklaşık 24,5 L yer kaplar. Koşul verilmemişse sorunun NK'yı kabul ettiğini yazması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Gazın hangi sıcaklık ve basınçta ölçüldüğüne. 22,4 L/mol yalnızca NK (0 °C, 1 atm) için doğrudur; oda koşullarında (25 °C, 1 atm) 1 mol gaz yaklaşık 24,5 L yer kaplar. Koşul verilmemişse sorunun NK'yı kabul ettiğini yazması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ve anlık hız — adım 1/6
• Paslı bisikleti onarıp 6 km'lik yolu 20 dakikada aldığını düşün.
• Ortalama hızın 18 km/saattir; ama yokuşta 8 km/saate düşmüş, inişte 30 km/saate çıkmış olabilirsin.
• Bisiklet saatinin ekranında gördüğün sayı o andaki anlık hızdır.
• Tepkimelerde de hız sürekli değişir; ortalama hız bir aralığın özetidir.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ve anlık hız — adım 2/6
• Ortalama hız: iki an arasındaki toplam değişimin süreye oranı; grafikte iki noktayı birleştiren kesenin eğiminin büyüklüğü. Tepkende eğim eksidir, hız artı yazılır.
• Anlık hız: tek bir andaki hız; grafikte o noktada eğriye teğet çizilen doğrunun eğiminin büyüklüğü.
• Başlangıç hızı: t = 0 anındaki anlık hız. Tepken en çok o anda bulunduğu için çoğu tepkimede en büyük hız odur.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ve anlık hız — adım 3/6
• Aralığı daralttıkça ortalama hız anlık hıza yaklaşır.
• 2N₂O₅ tepkimesinde 100. saniyedeki anlık hızı, gittikçe daralan aralıkların ortalamasıyla yakalayabiliriz: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ve anlık hız — adım 4/6
Aralık | Harcanma hızı (10⁻³ M/s)
0–200 s | 3,75
50–150 s | 3,54
90–110 s | 3,47
100. saniyedeki teğet (anlık hız) | 3,47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ve anlık hız — adım 5/6
• Teğeti elle de çizebilirsin: cetveli eğriye o noktada yalnızca dokunacak biçimde yerleştir, doğruyu uzat ve doğru üzerinde birbirinden uzak iki noktanın eğimini hesapla.
• Tepkende bu eğim eksi çıkar; anlık hız onun büyüklüğüdür.
• Sayfanın 01 numaralı laboratuvarındaki “Anlık hız” kutusu teğeti senin için çizer.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Ortalama hız ve anlık hız — şekil
Aynı eğri üzerinde üç doğru. Başlangıçtaki teğet en diktir: t = 0'daki anlık hız 6,9·10⁻³ M/s. 200. saniyedeki teğet çok daha yatıktır: 1,7·10⁻³ M/s. 0–200 s arasındaki kesen ikisinin arasında bir eğime sahiptir; ortalama hız, aralıktaki en büyük ve en küçük anlık hızın arasında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Ortalama hız bir aralıktaki kesenin, anlık hız tek bir andaki teğetin eğiminin büyüklüğüdür. Aralık daraldıkça ortalama hız anlık hıza yaklaşır; hızı azalan tepkimede en büyük anlık hız başlangıçtadır.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Hızı zamanla azalan bir tepkimede bir aralığın ortalama hızını biliyorsan, aralığın başındaki anlık hız için ne söyleyebilirsin?
Sınıfa sorun, birkaç tahmin alın; sonra cevap slaytına geçin.
Cevap: Ortalamadan büyüktür. Hız aralık boyunca azaldığına göre aralığın başında en büyük, sonunda en küçüktür; ortalama ikisinin arasında bir yerdedir. 0–200 s aralığının ortalaması 3,75·10⁻³ M/s iken başlangıçtaki anlık hız 6,9·10⁻³ M/s'dir.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Ortalamadan büyüktür. Hız aralık boyunca azaldığına göre aralığın başında en büyük, sonunda en küçüktür; ortalama ikisinin arasında bir yerdedir. 0–200 s aralığının ortalaması 3,75·10⁻³ M/s iken başlangıçtaki anlık hız 6,9·10⁻³ M/s'dir.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 adım 1/4
• Bir bardak saf suyun derişimi nedir?
• 1 litre su yaklaşık 1000 g'dır ve 1000 ÷ 18 ≈ 55,6 mol eder; yani saf suyun “derişimi” 55,6 mol/L'dir.
• Bardağın yarısını içsen geriye kalan su yine 55,6 mol/L olur, çünkü mol sayısıyla birlikte hacim de yarıya inmiştir.
• Saf katılarda da durum aynıdır: bir katının ya da saf sıvının derişimi, yoğunluğunun belirlediği sabit bir sayıdır.
• Madde harcandıkça miktarı azalır ama derişimi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 adım 2/4
• Hızları derişimle yazılmaz: katı ya da saf sıvı bir maddenin hızı M/s ile değil, mol/s ya da g/s ile verilir.
• Aynı tepkimede farklı ölçüler: Mg(k) + 2HCl(suda) → MgCl₂(suda) + H₂(g) tepkimesinde Mg'nin hızı g/s ya da mol/s, HCl'nin hızı M/s, H₂'nin hızı L/s ile izlenebilir.
• Hepsi katıysa: ısıtılan bir katının ayrışması gibi tepkimelerde derişimi azalan bir tepken yoktur; tepkime katının yüzeyinde yürür ve yüzey değişmedikçe hız yaklaşık sabit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 adım 3/4
• Son maddedeki “yüzey” önemli bir ayrıntıdır: katı küçüldükçe yüzeyi de küçülürse hız azalır.
• Hız denklemi konusunda katı ve saf sıvıların denkleme neden yazılmadığını da bu yüzden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 şekil
Solda saf su: miktarı yarıya inince hacmi de yarıya iner ve derişimi 55,6 mol/L'de kalır. Sağda magnezyum şerit asitte çözünüyor: katı Mg'nin kütlesi azalır ama derişimi değişmez, bu yüzden hızını g/s ya da mol/s ile izleriz. Çözeltideki HCl'nin derişimi ise azalır ve hızı M/s ile yazılır.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Saf katı ve sıvının derişimi yoğunluğuyla belirlenir; harcansa da değişmez. Bu yüzden hızı M/s ile değil mol/s ya da g/s ile yazılır. Tepkenlerin hepsi katıysa hız, yüzey değişmedikçe yaklaşık sabit kalır.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Katının derişimi değişmiyorsa, asitte çözünen bir mermer parçasının kabarcık çıkışı neden yavaşlar?
Sınıfa sorun, birkaç tahmin alın; sonra cevap slaytına geçin.
Cevap: İki nedeni var: HCl harcandıkça asidin derişimi düşer; mermer parçası küçüldükçe asitle temas eden yüzeyi de azalır. Katının derişimi değil, yüzeyi ve öteki tepkenin derişimi değişir. Yüzeyin etkisini Konu 04'te ayrıntılı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 nedeni var: HCl harcandıkça asidin derişimi düşer; mermer parçası küçüldükçe asitle temas eden yüzeyi de azalır. Katının derişimi değil, yüzeyi ve öteki tepkenin derişimi değişir. Yüzeyin etkisini Konu 04'te ayrıntılı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gerçek dünyada — adım 1/5
• Tepkime hızını bilmek, bir şeyin ne zaman biteceğini, bozulacağını ya da hazır olacağını önceden kestirmek demektir.
• Bunun izlerini her yerde görürsün: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gerçek dünyada — adım 2/5
• Gıdaların raf ömrü: yağlar havadaki oksijenle yavaşça tepkimeye girip acılaşır, meyve suyundaki C vitamini zamanla bozunur. Son tüketim tarihi bu tepkimelerin hızına göre belirlenir.
• İlaçların son kullanma tarihi: etken madde yavaş bir bozunma tepkimesiyle azalır. Çoğu ilaçta bu tarih, etken maddenin yaklaşık onda birinin bozunduğu süreye göre konur.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gerçek dünyada — adım 3/5
• Eski aspirin: nemli ortamda bekleyen aspirin yavaşça salisilik asit ve asetik aside ayrışır; şişeyi açınca sirke kokusu alırsan bu tepkimenin ürününü kokluyorsundur.
• Okulda hız ölçümü: bir gaz şırıngası ve kronometreyle eşit aralıklarda okunan hacimlerden ortalama hızlar hesaplanır.
• Fabrikalarda: bir ürünün kaç saatte elde edileceğini tepkime hızı belirler; hız, üretim maliyetini belirleyen en önemli etkenlerden biridir.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gerçek dünyada — adım 4/5
• İlaçların raf ömrünü bulmak için üreticiler ilacı bekletir ve etken madde miktarını düzenli aralıklarla ölçer.
• Ölçümlerden bozunma hızı hesaplanır ve miktarın %90'a ineceği an bulunur.
• Ölçümün yıllar sürmemesi için ilaç ayrıca sıcak bir dolapta bekletilir (hızlandırılmış dayanıklılık testi); sıcaklık bozunmayı hızlandırır, bunu bir sonraki konuda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hızı gerçek dünyada — şekil
Bir ilacın etken madde miktarı yıllar içinde yavaşça azalır. Miktar %90'a indiğinde ilacın raf ömrü dolmuş sayılır; bu örnekte yaklaşık 2 yıl sonra. Dikey eksen %70'ten başlıyor: değişim küçük olduğu için eksen büyütüldü.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Gıdaların ve ilaçların raf ömrü, bozunma tepkimelerinin hızından hesaplanır. Okulda hız, gaz şırıngası ve kronometreyle eşit aralıklarda okunan hacimlerden bulunur; fabrikalarda üretim süresini ve maliyeti belirler.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tepkime hızı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Derişimden ortalama hız
Sabit hacimli bir kapta CO(g) + NO₂(g) → CO₂(g) + NO(g) tepkimesi yürüyor. NO₂ derişimi 25 saniyede 0,50 M'den 0,20 M'ye iniyor. (a) NO₂'nin ortalama harcanma hızını, (b) aynı sürede CO₂'nin ortalama oluşma hızını bulunuz.
Durum çizimi: Durum: aynı kaba 25 saniye arayla bakılıyor; noktalar NO₂ moleküllerini temsil ediyor, öteki gazlar çizilmedi. NO₂ derişimi 0,50 M'den 0,20 M'ye iniyor; NO₂'nin harcanma ve CO₂'nin oluşma hızı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Derişimden ortalama hız
Sabit hacimli bir kapta CO(g) + NO₂(g) → CO₂(g) + NO(g) tepkimesi yürüyor. NO₂ derişimi 25 saniyede 0,50 M'den 0,20 M'ye iniyor. (a) NO₂'nin ortalama harcanma hızını, (b) aynı sürede CO₂'nin ortalama oluşma hızını bulunuz.
Verilenler: [NO₂]ilk = 0,50 M · [NO₂]son = 0,20 M · Δt = 25 s · katsayılar 1 : 1 : 1 : 1
İstenen: (a) Hız(NO₂) · (b) Hız(CO₂), ikisi de M/s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Derişimden ortalama hız — çözüm
1. Δ[NO₂] = son − ilk = 0,20 − 0,50 = −0,30 M
2. (a) Hız(NO₂) = −Δ[NO₂] / Δt = −(−0,30) / 25 = 0,012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Derişimden ortalama hız — çözüm
3. (b) Katsayılar eşit: 1 mol NO₂ harcanırken 1 mol CO₂ oluşur → Hız(CO₂) = 0,012 M/s
4. Kontrol: iki hız da pozitif, birim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Katsayılarla öteki hızlar
N₂(g) + 3H₂(g) → 2NH₃(g) tepkimesinde H₂'nin harcanma hızı 0,36 M/s'dir. N₂'nin harcanma hızını, NH₃'ün oluşma hızını ve tepkime hızını bulunuz.
Durum çizimi: Durum: 1 N₂ ile 3 H₂ birleşip 2 NH₃ veriyor. H₂'nin harcanma hızı 0,36 M/s olarak verilmiş; N₂'nin harcanma ve NH₃'ün oluşma hızları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Katsayılarla öteki hızlar
N₂(g) + 3H₂(g) → 2NH₃(g) tepkimesinde H₂'nin harcanma hızı 0,36 M/s'dir. N₂'nin harcanma hızını, NH₃'ün oluşma hızını ve tepkime hızını bulunuz.
Verilenler: Hız(H₂) = 0,36 M/s · katsayılar N₂ : H₂ : NH₃ = 1 : 3 : 2
İstenen: Hız(N₂) · Hız(NH₃) · tepkime hızı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Katsayılarla öteki hızlar — çözüm
1. Tepkime hızı = Hız(H₂) / 3 = 0,36 / 3 = 0,12 M/s
2. Hız(N₂) = 1 · 0,12 = 0,12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Katsayılarla öteki hızlar — çözüm
3. Hız(NH₃) = 2 · 0,12 = 0,24 M/s
4. Kontrol: 0,12/1 = 0,36/3 = 0,24/2 = 0,12 ✓; katsayısı en büyük olan H₂ en hızlı değişiyor.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Grafikten ortalama hız
Sabit hacimli bir kapta 2N₂O(g) → 2N₂(g) + O₂(g) tepkimesinin derişim–zaman grafiği aşağıda. (a) 0–25 s ve 25–50 s aralıklarında N₂O'nun ortalama harcanma hızlarını bulup karşılaştırınız. (b) 0–50 s aralığında O₂'nin ortalama oluşma hızı kaç M/s'dir?
Durum çizimi: Durum: mavi eğri azalan N₂O, yeşil eğriler oluşan N₂ ve O₂ (kesikli). Okunacak değerler noktalarla işaretli; istenen ortalama hızlar alttaki satırlarda “?” ile gösterildi.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Grafikten ortalama hız
Sabit hacimli bir kapta 2N₂O(g) → 2N₂(g) + O₂(g) tepkimesinin derişim–zaman grafiği aşağıda. (a) 0–25 s ve 25–50 s aralıklarında N₂O'nun ortalama harcanma hızlarını bulup karşılaştırınız. (b) 0–50 s aralığında O₂'nin ortalama oluşma hızı kaç M/s'dir?
Verilenler: grafikten [N₂O] = 0,80 M (0 s), 0,40 M (25 s), 0,20 M (50 s) · [O₂] = 0 (0 s), 0,30 M (50 s)
İstenen: (a) iki aralıkta Hız(N₂O) · (b) 0–50 s'de Hız(O₂)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Grafikten ortalama hız — çözüm
1. 0–25 s: Δ[N₂O] = 0,40 − 0,80 = −0,40 M → Hız = 0,40 / 25 = 0,016 M/s
2. 25–50 s: Δ[N₂O] = 0,20 − 0,40 = −0,20 M → Hız = 0,20 / 25 = 0,008 M/s
3. İkinci aralıkta hız yarıya inmiş: N₂O azaldıkça tepkime yavaşlıyor.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Grafikten ortalama hız — çözüm
4. (b) Δ[O₂] = 0,30 − 0 = +0,30 M → Hız(O₂) = 0,30 / 50 = 0,006 M/s
5. Kontrol: 0–50 s'de Hız(N₂O) = 0,60 / 50 = 0,012 M/s; O₂'nin katsayı oranı 1/2 → 0,012 / 2 = 0,006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Kombide yanan metan
Bir kombinin brülöründe metan 0,40 g/s hızla yanıyor: CH₄(g) + 2O₂(g) → CO₂(g) + 2H₂O(g). (a) O₂'nin harcanma hızı NK'da kaç L/s'dir? (b) CO₂'nin oluşma hızı kaç g/s'dir?
Durum çizimi: Durum: brülöre metan 0,40 g/s hızla geliyor, oksijen havadan alınıyor; ürünler, CO₂ ve su buharı, alevin üstünden çıkıyor. O₂'nin L/s ve CO₂'nin g/s cinsinden hızları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Kombide yanan metan
Bir kombinin brülöründe metan 0,40 g/s hızla yanıyor: CH₄(g) + 2O₂(g) → CO₂(g) + 2H₂O(g). (a) O₂'nin harcanma hızı NK'da kaç L/s'dir? (b) CO₂'nin oluşma hızı kaç g/s'dir?
Verilenler: Hız(CH₄) = 0,40 g/s · CH₄ = 16 g/mol · CO₂ = 44 g/mol · NK'da 1 mol gaz = 22,4 L
İstenen: (a) Hız(O₂), L/s · (b) Hız(CO₂), g/s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Kombide yanan metan — çözüm
1. Mole çevir: Hız(CH₄) = 0,40 ÷ 16 = 0,025 mol/s
2. (a) O₂: 0,025 · 2/1 = 0,050 mol/s → 0,050 · 22,4 = 1,12 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Kombide yanan metan — çözüm
3. (b) CO₂: 0,025 · 1/1 = 0,025 mol/s → 0,025 · 44 = 1,1 g/s
4. Kütle kontrolü: girenler 0,40 + 0,050 · 32 = 2,0 g/s; ürünler 1,1 + 0,050 · 18 = 2,0 g/s ✓
Saniyede yaklaşık 20 kJ ısı açığa çıkar (0,025 mol/s × 802 kJ/mol), yani yaklaşık 20 kW'lık bir ısıl güç; bir evin kombisi için olağan bir değerdir.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Katı tepken, gaz ve çözelti
50 mL HCl çözeltisine atılan 0,36 g magnezyum şerit 60 saniyede tamamen tepkimeye giriyor (asit fazladır): Mg(k) + 2HCl(suda) → MgCl₂(suda) + H₂(g). (a) Mg'nin ortalama harcanma hızı kaç mol/s'dir? (b) H₂'nin NK'daki ortalama oluşma hızı kaç mL/s'dir? (c) Çözelti hacmi değişmiyorsa HCl'nin ortalama harcanma hızı kaç M/s'dir?
Durum çizimi: Durum: 0,36 g magnezyum şerit 50 mL asit çözeltisinde 60 saniyede tükeniyor; çıkan hidrojen gaz şırıngasında toplanıyor. Mg, H₂ ve HCl'nin ortalama hızları üç farklı birimle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Katı tepken, gaz ve çözelti
50 mL HCl çözeltisine atılan 0,36 g magnezyum şerit 60 saniyede tamamen tepkimeye giriyor (asit fazladır): Mg(k) + 2HCl(suda) → MgCl₂(suda) + H₂(g). (a) Mg'nin ortalama harcanma hızı kaç mol/s'dir? (b) H₂'nin NK'daki ortalama oluşma hızı kaç mL/s'dir? (c) Çözelti hacmi değişmiyorsa HCl'nin ortalama harcanma hızı kaç M/s'dir?
Verilenler: m(Mg) = 0,36 g · Mg = 24 g/mol · Δt = 60 s · V(çözelti) = 50 mL = 0,050 L · NK'da 1 mol gaz = 22 400 mL
İstenen: (a) Hız(Mg), mol/s · (b) Hız(H₂), mL/s · (c) Hız(HCl), M/s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Katı tepken, gaz ve çözelti — çözüm
1. n(Mg) = 0,36 ÷ 24 = 0,015 mol → (a) Hız(Mg) = 0,015 ÷ 60 = 2,5·10⁻⁴ mol/s
2. (b) Katsayılar 1 : 1 → 0,015 mol H₂ = 0,015 · 22 400 = 336 mL → 336 ÷ 60 = 5,6 mL/s
3. (c) Harcanan HCl = 2 · 0,015 = 0,030 mol → Δ[HCl] = −0,030 ÷ 0,050 = −0,60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Katı tepken, gaz ve çözelti — çözüm
4. Hız(HCl) = −(−0,60) ÷ 60 = 0,010 M/s
5. Mg katı olduğu için hızı M/s ile değil, mol/s ile yazıldı.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Verilerden denklemi bulmak
5 L'lik kapalı bir kapta gaz fazında A ile B tepkimeye girip C oluşturuyor. 0. ve 40. saniyelerdeki mol sayıları: A 1,20 → 0,60 mol; B 0,90 → 0,70 mol; C 0 → 0,40 mol. (a) Tepkimenin en küçük tam sayılı denklemini yazınız. (b) Her maddenin ortalama hızını ve tepkime hızını M/s cinsinden bulunuz.
Durum çizimi: Durum: 5 L'lik kapta A, B ve C'nin 0. ve 40. saniyedeki mol sayıları sütunlarla verilmiş: çerçeve sütun başlangıcı, dolu sütun 40. saniyeyi gösteriyor. Denklemin katsayıları ve hızlar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Verilerden denklemi bulmak
5 L'lik kapalı bir kapta gaz fazında A ile B tepkimeye girip C oluşturuyor. 0. ve 40. saniyelerdeki mol sayıları: A 1,20 → 0,60 mol; B 0,90 → 0,70 mol; C 0 → 0,40 mol. (a) Tepkimenin en küçük tam sayılı denklemini yazınız. (b) Her maddenin ortalama hızını ve tepkime hızını M/s cinsinden bulunuz.
Verilenler: V = 5 L · Δt = 40 s · Δn(A) = −0,60 mol · Δn(B) = −0,20 mol · Δn(C) = +0,40 mol
İstenen: (a) denklemin katsayıları · (b) Hız(A), Hız(B), Hız(C) ve tepkime hızı, M/s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Verilerden denklemi bulmak — çözüm
1. Değişimler: A 0,60 mol azaldı, B 0,20 mol azaldı, C 0,40 mol arttı.
2. Oran 0,60 : 0,20 : 0,40 = 3 : 1 : 2 → 3A(g) + B(g) → 2C(g)
3. Derişime çevir (÷ 5 L): Δ[A] = −0,12 M · Δ[B] = −0,040 M · Δ[C] = +0,080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Verilerden denklemi bulmak — çözüm
4. Hız(A) = 0,12 / 40 = 0,0030 M/s · Hız(B) = 0,0010 M/s · Hız(C) = 0,0020 M/s
5. Tepkime hızı = 0,0030/3 = 0,0010/1 = 0,0020/2 = 0,0010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Teğetten anlık hız
Bir H₂O₂ çözeltisinde 2H₂O₂(suda) → 2H₂O(s) + O₂(g) tepkimesi yürüyor. Derişim–zaman eğrisine 40. dakikada çizilen teğet, dikey ekseni 0,91 M'de, yatay ekseni 120. dakikada kesiyor; o anda [H₂O₂] = 0,61 M. (a) 40. dakikadaki anlık harcanma hızını, (b) 0–40 dk aralığındaki ortalama harcanma hızını bulup karşılaştırınız.
Durum çizimi: Durum: mavi eğri H₂O₂ derişiminin azalışı. Eğriye 40. dakikada değen düz çizgi teğettir; teğetin eksenleri kestiği noktalar ve eğri üzerindeki iki nokta işaretli. Anlık ve ortalama hızlar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Teğetten anlık hız
Bir H₂O₂ çözeltisinde 2H₂O₂(suda) → 2H₂O(s) + O₂(g) tepkimesi yürüyor. Derişim–zaman eğrisine 40. dakikada çizilen teğet, dikey ekseni 0,91 M'de, yatay ekseni 120. dakikada kesiyor; o anda [H₂O₂] = 0,61 M. (a) 40. dakikadaki anlık harcanma hızını, (b) 0–40 dk aralığındaki ortalama harcanma hızını bulup karşılaştırınız.
Verilenler: teğet (0 dk; 0,91 M) ve (120 dk; 0 M) noktalarından geçiyor · [H₂O₂] = 1,00 M (0 dk), 0,61 M (40 dk)
İstenen: (a) 40. dakikadaki anlık hız · (b) 0–40 dk ortalama hız, M/dk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Teğetten anlık hız — çözüm
1. (a) Teğetin eğimi = (0 − 0,91) ÷ (120 − 0) ≈ −0,0076 M/dk
2. Anlık harcanma hızı, eğimin eksi işaretlisidir: ≈ 7,6·10⁻³ M/dk
3. (b) Δ[H₂O₂] = 0,61 − 1,00 = −0,39 M → ortalama hız = 0,39 ÷ 40 ≈ 9,8·10⁻³ M/dk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Teğetten anlık hız — çözüm
4. Ortalama hız, 40. dakikadaki anlık hızdan büyük: aralığın başında tepkime daha hızlıydı ve hız sürekli azaldı.
5. O₂ için katsayı oranı 1/2: 40. dakikada 1 L çözeltiden dakikada yaklaşık 3,8·10⁻³ mol O₂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C₂H₄(g) + 3O₂(g) → 2CO₂(g) + 2H₂O(g) tepkimesinde CO₂'nin oluşma hızı 0,30 M/s ise O₂'nin harcanma hızı kaç M/s'dir?
Öğrencilere 2–3 dakika verin; sonra cevap slaytını açın.
Cevap: Cevap: Tepkime hızı = 0,30 / 2 = 0,15 M/s. Hız(O₂) = 3 · 0,15 = 0,45 M/s. Kontrol: O₂'nin katsayısı CO₂'ninkinden büyük, hızı da büyük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Tepkime hızı = 0,30 / 2 = 0,15 M/s. Hız(O₂) = 3 · 0,15 = 0,45 M/s. Kontrol: O₂'nin katsayısı CO₂'ninkinden büyük, hızı da büyük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Gaz fazındaki bir tepkimede 2·Hız(A) = 3·Hız(B) = 6·Hız(C) bağıntısı veriliyor; A ve B tepken, C ürün. Tepkimenin denklemi nedir?
Öğrencilere 2–3 dakika verin; sonra cevap slaytını açın.
Cevap: Cevap: Bağıntıyı 6'ya böl: Hız(A)/3 = Hız(B)/2 = Hız(C)/1. Katsayılar 3, 2 ve 1'dir: 3A + 2B → C. Çarpılmış biçimde en büyük çarpan (6), en küçük katsayıya (C'nin 1'ine) aittir.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Bağıntıyı 6'ya böl: Hız(A)/3 = Hız(B)/2 = Hız(C)/1. Katsayılar 3, 2 ve 1'dir: 3A + 2B → C. Çarpılmış biçimde en büyük çarpan (6), en küçük katsayıya (C'nin 1'ine) aittir.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Açık kapta CaCO₃(k) + 2HCl(suda) → CaCl₂(suda) + H₂O(s) + CO₂(g) yürürken terazi 50 saniyede 2,2 g azalıyor. CO₂'nin oluşma hızı kaç mol/s, CaCO₃'ün harcanma hızı kaç g/s'dir?
Öğrencilere 2–3 dakika verin; sonra cevap slaytını açın.
Cevap: Cevap: Kaybolan kütle kaçan CO₂'dir: 2,2 ÷ 44 = 0,050 mol → Hız(CO₂) = 0,050 ÷ 50 = 0,0010 mol/s. Katsayılar 1 : 1 olduğundan 0,050 mol CaCO₃ harcandı: 0,050 · 100 = 5,0 g → Hız(CaCO₃) = 5,0 ÷ 50 = 0,10 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Kaybolan kütle kaçan CO₂'dir: 2,2 ÷ 44 = 0,050 mol → Hız(CO₂) = 0,050 ÷ 50 = 0,0010 mol/s. Katsayılar 1 : 1 olduğundan 0,050 mol CaCO₃ harcandı: 0,050 · 100 = 5,0 g → Hız(CaCO₃) = 5,0 ÷ 50 = 0,10 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Hızı zamanla azalan bir tepkimede 0–10 s ortalama hızı 0,040 M/s, 10–20 s ortalama hızı 0,025 M/s. 10. saniyedeki anlık hız hangi aralıkta olmalıdır?
Öğrencilere 2–3 dakika verin; sonra cevap slaytını açın.
Cevap: Cevap: Hız sürekli azaldığı için 10. saniyedeki anlık hız, önceki aralığın ortalamasından küçük, sonraki aralığın ortalamasından büyüktür: 0,025 M/s ile 0,040 M/s arasında.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Hız sürekli azaldığı için 10. saniyedeki anlık hız, önceki aralığın ortalamasından küçük, sonraki aralığın ortalamasından büyüktür: 0,025 M/s ile 0,040 M/s arasında.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5 L'lik kapta 4NH₃(g) + 5O₂(g) → 4NO(g) + 6H₂O(g) tepkimesinde NH₃ 20 saniyede 3,0 mol'den 1,0 mol'e iniyor. O₂'nin harcanma hızı kaç M/s, H₂O'nun oluşma hızı kaç g/s'dir?
Öğrencilere 2–3 dakika verin; sonra cevap slaytını açın.
Cevap: Cevap: Harcanan NH₃ = 2,0 mol. O₂: 2,0 · 5/4 = 2,5 mol → Δ[O₂] = −2,5 ÷ 5 = −0,50 M → Hız(O₂) = 0,50 ÷ 20 = 0,025 M/s. H₂O: 2,0 · 6/4 = 3,0 mol = 3,0 · 18 = 54 g → Hız(H₂O) = 54 ÷ 20 = 2,7 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Harcanan NH₃ = 2,0 mol. O₂: 2,0 · 5/4 = 2,5 mol → Δ[O₂] = −2,5 ÷ 5 = −0,50 M → Hız(O₂) = 0,50 ÷ 20 = 0,025 M/s. H₂O: 2,0 · 6/4 = 3,0 mol = 3,0 · 18 = 54 g → Hız(H₂O) = 54 ÷ 20 = 2,7 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Tepkenin hızını eksi bir sayı olarak yazmak. Hız her zaman pozitiftir; formüldeki eksi işareti, azalan derişimin eksi çıkan Δ'sını pozitife çevirmek içindir.
• Δ'yı “ilk − son” diye alıp bir de eksi koymak. Δ hep son − ilk'tir. Tepkende bu sayı eksi çıkar ve formüldeki eksiyle birlikte hız pozitif olur; iki kez eksi kullanırsan hız eksi çıkar.
• Bir tepkimedeki bütün maddelerin hızını aynı sanmak. Maddelerin hızları katsayılarla orantılıdır; ancak her biri kendi katsayısına bölününce eşitlenir.
• Katsayıya bölmek yerine çarpmak. N₂ + 3H₂ → 2NH₃'te H₂, N₂'nin 3 katı hızla harcanır. Kontrol: katsayısı büyük olan madde her zaman daha hızlı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Ortalama hızın her an aynı olduğunu sanmak. Ortalama hız bir aralığın özetidir; çoğu tepkimede hız zamanla azalır, aralığın başında ortalamadan büyük, sonunda küçüktür.
• Daha dik değişen eğrinin “daha hızlı bir tepkime” olduğunu sanmak. Aynı tepkimede katsayısı büyük maddenin eğrisi daha dik değişir; tepkime tektir ve hızı da tektir.
• Katı ya da saf sıvının hızını M/s ile yazmak. Bu maddelerin derişimi değişmez; hızları mol/s ya da g/s ile verilir.
• 22,4 L/mol'ü her koşulda kullanmak. Bu değer yalnız gazlar için ve NK'da (0 °C, 1 atm) geçerlidir; katı ve sıvılara uygulanmaz, oda koşullarında 1 mol gaz yaklaşık 24,5 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Hız = Δ(miktar) / Δt · Girenler − işaretli · Katsayıya bölünce hızlar eşit · Hız çoğunlukla zamanla azalır
Hız = −Δ[X] / Δt — harcanma hızı
Hız = +Δ[Z] / Δt — oluşma hızı
aX → cZ: (−Δ[X]/Δt)/a = (Δ[Z]/Δt)/c — katsayılar hızları bağlar
M/s = mol/(L·s) — derişimle hızın birimi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tepkime-hiz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HIZ · KONU 02</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Ortalama tepkime hızı</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Tepkime hızı, birim zamanda harcanan ya da oluşan madde miktarıdır. Derişimdeki değişim geçen süreye bölünür; denklemdeki katsayılar maddelerin hızlarını birbirine bağlar. Tepkenler azaldıkça hız da azalır.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dersler.perinet.org/tepkime-hizi.html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Suya attığın efervesan tablet bir dakikada tükenir; bahçede unutulan bir bisikletin paslanması ise yıllar sürer.</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İkisi de kimyasal tepkime, aradaki fark </a:t>
            </a:r>
            <a:pPr indent="0" marL="0">
              <a:lnSpc>
                <a:spcPct val="130000"/>
              </a:lnSpc>
              <a:buNone/>
            </a:pPr>
            <a:r>
              <a:rPr lang="en-US" sz="2050" b="1" dirty="0">
                <a:solidFill>
                  <a:srgbClr val="5F4BD8"/>
                </a:solidFill>
                <a:latin typeface="Cambria" pitchFamily="34" charset="0"/>
                <a:ea typeface="Cambria" pitchFamily="34" charset="-122"/>
                <a:cs typeface="Cambria" pitchFamily="34" charset="-120"/>
              </a:rPr>
              <a:t>hız</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Peki bir tepkimenin ne kadar hızlı yürüdüğünü nasıl ölçersin?</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Tablet neden ilk saniyelerde coşkuyla köpürür de sona doğru yavaşlar?</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50" dirty="0">
                <a:solidFill>
                  <a:srgbClr val="0E1426"/>
                </a:solidFill>
                <a:latin typeface="Cambria" pitchFamily="34" charset="0"/>
                <a:ea typeface="Cambria" pitchFamily="34" charset="-122"/>
                <a:cs typeface="Cambria" pitchFamily="34" charset="-120"/>
              </a:rPr>
              <a:t>Tepkime hızını ölçmek, bir kovayı dolduran musluğu izlemeye benzer: belli bir sürede ne kadar su aktığına bakar, akan miktarı geçen süreye bölersin.</a:t>
            </a:r>
            <a:endParaRPr lang="en-US" sz="20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hızlı ve yavaş tepkimeleri karşılaştır, tepkime hızının ne olduğunu, nasıl ölçüldüğünü ve neden zamanla azaldığını formülsüz kavra.</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hızlı ve yavaş tepkimeler</a:t>
            </a:r>
            <a:endParaRPr lang="en-US" sz="120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Tepkime hızı nedir?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Hızı nasıl izleriz?</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zamanla neden azalır?</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ortalama hızı derişim değişiminden hesapla, katsayıların hızları nasıl bağladığını gör, derişim–zaman grafiğinden hız oku.</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Ortalama hız bağıntısı</a:t>
            </a:r>
            <a:endParaRPr lang="en-US" sz="1250" dirty="0"/>
          </a:p>
        </p:txBody>
      </p:sp>
      <p:sp>
        <p:nvSpPr>
          <p:cNvPr id="30" name="Text 28"/>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Katsayılar hızları birbirine bağlar</a:t>
            </a:r>
            <a:endParaRPr lang="en-US" sz="1250" dirty="0"/>
          </a:p>
        </p:txBody>
      </p:sp>
      <p:sp>
        <p:nvSpPr>
          <p:cNvPr id="32" name="Text 30"/>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Derişim–zaman grafiğini okumak</a:t>
            </a:r>
            <a:endParaRPr lang="en-US" sz="1250" dirty="0"/>
          </a:p>
        </p:txBody>
      </p:sp>
      <p:sp>
        <p:nvSpPr>
          <p:cNvPr id="34" name="Text 32"/>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Sayılarla hisset: bir deneyin kayıtları</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Derinleşme: hızı mol/s, g/s ve L/s ile hesapla, ortalama hızla anlık hızı ayır, katı ve saf sıvıların neden derişimle izlenmediğini gör ve hızın gündelik hayattaki yerine bak.</a:t>
            </a:r>
            <a:endParaRPr lang="en-US" sz="95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Farklı birimlerle hız: mol/s, g/s, L/s</a:t>
            </a:r>
            <a:endParaRPr lang="en-US" sz="1250" dirty="0"/>
          </a:p>
        </p:txBody>
      </p:sp>
      <p:sp>
        <p:nvSpPr>
          <p:cNvPr id="45" name="Text 43"/>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Ortalama hız ve anlık hız</a:t>
            </a:r>
            <a:endParaRPr lang="en-US" sz="1250" dirty="0"/>
          </a:p>
        </p:txBody>
      </p:sp>
      <p:sp>
        <p:nvSpPr>
          <p:cNvPr id="47" name="Text 45"/>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Katı ve saf sıvılar</a:t>
            </a:r>
            <a:endParaRPr lang="en-US" sz="1250" dirty="0"/>
          </a:p>
        </p:txBody>
      </p:sp>
      <p:sp>
        <p:nvSpPr>
          <p:cNvPr id="49" name="Text 47"/>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Tepkime hızı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tepkime hızı sorularında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Mol: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tanecikleri saymak için kullanılan paket: 1 mol = 6,02·10²³ tanecik. Kütleden mole n = m / M ile geçilir; M mol kütlesidir (CO₂ için 12 + 2·16 = 44 g/mol).</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Derişim:</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1 litre çözeltide (ya da gaz karışımında) kaç mol madde bulunduğu. [X] = n / V ile bulunur, birimi mol/L, kısaca M'dir: 2 L çözeltide 0,5 mol madde varsa [X] = 0,25 M.</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Katsayılar: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denkleştirilmiş denklemdeki sayılar mol oranını verir. N₂ + 3H₂ → 2NH₃ denkleminde 1 mol N₂, 3 mol H₂ ile birleşir ve 2 mol NH₃ oluşur.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Normal koşullar (NK):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0 °C ve 1 atm. Bu koşullarda 1 mol gaz, hangi gaz olursa olsun, 22,4 L yer kaplar.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Δ (delta):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“değişim” demektir ve hep </a:t>
            </a:r>
            <a:pPr indent="0" marL="0">
              <a:lnSpc>
                <a:spcPct val="115000"/>
              </a:lnSpc>
              <a:buNone/>
            </a:pPr>
            <a:r>
              <a:rPr lang="en-US" sz="2000" i="1" dirty="0">
                <a:solidFill>
                  <a:srgbClr val="4A5470"/>
                </a:solidFill>
                <a:latin typeface="Calibri" pitchFamily="34" charset="0"/>
                <a:ea typeface="Calibri" pitchFamily="34" charset="-122"/>
                <a:cs typeface="Calibri" pitchFamily="34" charset="-120"/>
              </a:rPr>
              <a:t>son − ilk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diye hesaplanır. Sıcaklık 20 °C'den 50 °C'ye çıktıysa ΔT = +30 °C; bir büyüklük azaldıysa Δ eksi çıkar.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00" dirty="0">
                <a:solidFill>
                  <a:srgbClr val="C3CEE8"/>
                </a:solidFill>
                <a:latin typeface="Calibri" pitchFamily="34" charset="0"/>
                <a:ea typeface="Calibri" pitchFamily="34" charset="-122"/>
                <a:cs typeface="Calibri" pitchFamily="34" charset="-120"/>
              </a:rPr>
              <a:t>Önce sezgi: hızlı ve yavaş tepkimeleri karşılaştır, tepkime hızının ne olduğunu, nasıl ölçüldüğünü ve neden zamanla azaldığını formülsüz kavra.</a:t>
            </a:r>
            <a:endParaRPr lang="en-US" sz="15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hızlı ve yavaş tepkimeler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Tepkime hızı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Hızı nasıl izleriz?</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Hız zamanla neden azalır?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tepkime-hiz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Yıllardır duran bisiklet.</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Demir, havadaki oksijen ve nemle tepkimeye girerek pasa, yani sulu demir okside dönüşür. Bu tepkime o kadar yavaştır ki bir günde bir değişiklik göremezsin; ama yıllar boyunca biriken pas, boyası dökülen her yeri turuncu-kahverengiye boyar. Aynı demir toz hâline getirilip aleve serpilirse kıvılcımlar saçarak saniyeler içinde yanar: hız, tepkimenin koşullarına da bağlıdır.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hızlı ve yavaş tepkimeler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Çevrende her an kimyasal tepkimeler oluyor, ama hepsi aynı hızda yürümüyor.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Bazıları göz açıp kapayıncaya kadar biter, bazıları yıllarca sürer.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gözlemler hızlıdan yavaşa doğru sıralandı: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hızlı ve yavaş tepkimeler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574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Hava yastığı şişer: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çarpışma anında bir katı ayrışıp gaza dönüşür; yastık saniyenin yaklaşık otuzda birinde dolar.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Efervesan tablet köpürür: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suya düşen tablet yaklaşık bir dakikada tükenir.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Kesilmiş elma kararır: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açıkta kalan yüz havanın oksijeniyle tepkimeye girer; renk dakikalar içinde koyulaşır.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Süt ekşir: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buzdolabının dışında unutulan süt bir iki günde ekşir.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hızlı ve yavaş tepkimeler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Demir paslanır: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nemli havada kalan demir aylar, yıllar içinde kat kat pasa döner.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Mağarada sarkıt uzar: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damlayan sudan kireç taşı çöker; bir sarkıtın bir santimetre uzaması çoğu zaman yüzyıl kadar sürer.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hızlı ve yavaş tepkimeler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“Hızlı” ya da “yavaş” demek için bir ölçü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Fizikte bir koşucunun hızını, aldığı yolu geçen süreye bölerek bulursun.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Kimyada da benzerini yaparız: tepkimede değişen madde miktarını, bu değişim için geçen süreye böleriz.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büyükse aynı değişim kısa sürede olur, küçükse uzun sürer.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hızlı ve yavaş tepkimeler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559157" y="1234440"/>
            <a:ext cx="90733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1.png">    </p:cNvPr>
          <p:cNvPicPr>
            <a:picLocks noChangeAspect="1"/>
          </p:cNvPicPr>
          <p:nvPr/>
        </p:nvPicPr>
        <p:blipFill>
          <a:blip r:embed="rId1"/>
          <a:stretch>
            <a:fillRect/>
          </a:stretch>
        </p:blipFill>
        <p:spPr>
          <a:xfrm>
            <a:off x="1787757" y="1325880"/>
            <a:ext cx="86161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Tepkime süreleri o kadar farklı ki onları sıradan bir cetvele sığdıramayız. Bu çizelgede her çentik süreyi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10 katına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çıkarır: soldaki hava yastığı saniyenin kesrinde, sağdaki sarkıt yüzyıllar içinde değişir. Süreler yaklaşıktır; aynı tepkime sıcaklığa ve ortama göre hızlanıp yavaşlayabilir.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hızlı ve yavaş tepkimeler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Kimyasal tepkimeler saniyenin kesrinden yüzyıllara kadar çok farklı hızlarda yürür. Bir tepkimenin hızlı mı yavaş mı olduğunu, birim zamanda ne kadar madde değiştirdiğine bakarak söyleriz.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Paslanma çok yavaş bir tepkimeyse, eski bir bisikletin her yeri nasıl pasla kaplanabiliyor?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hızlı ve yavaş tepkimeler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Paslanma çok yavaş bir tepkimeyse, eski bir bisikletin her yeri nasıl pasla kaplanabiliyor?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Yavaş tepkime az ürün vermez, ürününü uzun sürede verir. Bisiklet yıllarca nemli havada durunca her gün oluşan çok az pas üst üste birikir. Hız, ne kadar ürün oluşacağını değil, ürünün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ne kadar sürede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oluşacağını söyler.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tepkimede başlangıçtaki maddelere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tepken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(giren), oluşan maddelere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ürün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yürüdükçe tepkenler azalır, ürünler artar.</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Tepkime hızı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birim zamanda harcanan tepken ya da oluşan ürün miktarıdır: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7465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Tepkenin azalışından bakarsan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harcanma hızını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bulursun.</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Ürünün artışından bakarsan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oluşma hızını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bulursun.</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Hız her zaman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pozitif</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sayıyla söylenir: “saniyede 0,4 tanecik harcanıyor” deriz, “−0,4” demeyiz.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Musluk benzetmesine dön: bir kova 50 saniyede 10 litre doluyorsa musluğun ortalama akış hızı 10 ÷ 50 = 0,2 L/s'dir.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Kovaya bakıp “dolma hızı”, suyun geldiği depoya bakıp “boşalma hızı” diyebilirsin; ikisi de aynı akışı anlatır.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Tepkimede tepkenler deponun, ürünler kovanın yerindedir.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Miktarı neyle saydığın sana kalmıştır: tanecik sayısı, mol, gram, gaz hacmi ya da derişim.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Hızın birimi de buna göre g/s, mol/s, mL/s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Örneğin bir tablet 50 saniyede 0,5 g karbon dioksit verdiyse, ortalama olarak saniyede 0,01 g CO₂ oluşmuştur.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 sık kullanılan ölçü derişimdeki değişimdir; onu ikinci basamakta göreceksin.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125622" y="1234440"/>
            <a:ext cx="7940452"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2.png">    </p:cNvPr>
          <p:cNvPicPr>
            <a:picLocks noChangeAspect="1"/>
          </p:cNvPicPr>
          <p:nvPr/>
        </p:nvPicPr>
        <p:blipFill>
          <a:blip r:embed="rId1"/>
          <a:stretch>
            <a:fillRect/>
          </a:stretch>
        </p:blipFill>
        <p:spPr>
          <a:xfrm>
            <a:off x="2354222" y="1325880"/>
            <a:ext cx="7483252"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Basit bir A → B tepkimesinde aynı kutuya 10 saniye arayla bakıyoruz: dört mavi tepken taneciği yeşil ürüne dönüşmüş. Tepkenden bakınca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harcanma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üründen bakınca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oluşma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hızını buluruz; burada ikisi de saniyede 0,4 taneciktir, çünkü harcanan her tanecik bir ürün taneciği verir. Gerçek tepkimelerde tanecikler sayılamayacak kadar çok olduğu için onları mol ile sayarız.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Tepkime hızı, birim zamanda harcanan tepken ya da oluşan ürün miktarıdır. Tepkenin azalışından harcanma hızı, ürünün artışından oluşma hızı bulunur; hız her zaman pozitif bir sayıdır.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beherdeki tanecikleri tek tek sayamazsın.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yerine madde miktarıyla birlikte değişen, ölçülebilir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özellik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seçer ve onu eşit zaman aralıklarında okursun.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Hangi özelliği seçeceğin tepkimeye bağlıdır: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Gaz hacmi: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gaz çıkan tepkimelerde gaz şırıngasıyla ölçülür. Mg(k) + 2HCl(suda) → MgCl₂(suda) + H₂(g) tepkimesinde şırınganın pistonu her saniye biraz daha dışarı itilir.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Kütle: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açık kaptan gaz kaçıyorsa terazi azalan kütleyi gösterir. Mermer (CaCO₃) asitle tepkimeye girerken CO₂ kaçar.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Renk: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renkli bir madde harcanıyor ya da oluşuyorsa rengin açılması ya da koyulaşması izlenir. H₂(g) + I₂(g) → 2HI(g) tepkimesinde mor iyot buharı azaldıkça renk açılır.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Text 4"/>
          <p:cNvSpPr txBox="1"/>
          <p:nvPr/>
        </p:nvSpPr>
        <p:spPr>
          <a:xfrm>
            <a:off x="640080" y="132588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Basınç: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sabit hacimli kapta gazların toplam mol sayısı değişiyorsa basınç değişir. 2N₂O₅(g) → 4NO₂(g) + O₂(g) tepkimesinde 2 mol gaz 5 mol gaza dönüşür, basınç artar.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İletkenlik: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çözeltideki iyonların sayısı ya da türü değişiyorsa iletkenlik değişir. Magnezyum asitte çözünürken çok hareketli H⁺ iyonları azaldıkça iletkenlik düşer.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Hangi yolu seçersen seç iki şart vardır: ölçtüğün özellik tepkimede gerçekten değişmeli ve ölçüm tepkimeyi durdurmadan yapılabilmeli.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gaz hacmi ve kütle kaybı yöntemlerini deneyebilirsin.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Shape 4"/>
          <p:cNvSpPr/>
          <p:nvPr/>
        </p:nvSpPr>
        <p:spPr>
          <a:xfrm>
            <a:off x="3022936" y="1234440"/>
            <a:ext cx="614582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3.png">    </p:cNvPr>
          <p:cNvPicPr>
            <a:picLocks noChangeAspect="1"/>
          </p:cNvPicPr>
          <p:nvPr/>
        </p:nvPicPr>
        <p:blipFill>
          <a:blip r:embed="rId1"/>
          <a:stretch>
            <a:fillRect/>
          </a:stretch>
        </p:blipFill>
        <p:spPr>
          <a:xfrm>
            <a:off x="3251536" y="1325880"/>
            <a:ext cx="568862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Tepkime hızını izlemenin dört yaygın yolu. Hepsinde yaptığımız şey aynıdır: ölçülebilir bir özelliği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eşit zaman aralıklarında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okuruz. Şırıngadaki hacim, teraziden kaybolan kütle, rengin açılması ve göstergedeki basınç, harcanan ya da oluşan madde miktarıyla birlikte değişir; değişimin hızı bize tepkimenin hızını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Renk değişimini mutfakta da izleyebilirsin.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Kesilmiş bir elmanın yüzü dakikalar içinde koyulaşır; rengin ne kadar sürede ne kadar koyulaştığı, gözle izlenebilen yavaş bir tepkimenin hızıdır.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ek1-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Kararan elma.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Soldaki yarı yeni kesildi, sağdaki yaklaşık yarım saattir havada bekliyor. Elma kesilince hücrelerindeki fenol bileşikleri havanın oksijeniyle karşılaşır; elmanın kendi enzimi bu tepkimeyi hızlandırır ve oluşan kahverengi ürünler yüzeyi koyulaştırır. Rengi birkaç dakikada bir, bir renk kartıyla karşılaştırıp not alırsan, tepkimenin hızını gözünle ölçmüş olursun.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Hızı nasıl izleriz?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Tanecikleri sayamadığımız için madde miktarıyla birlikte değişen bir özelliği izleriz: gaz hacmi, kütle, renk, basınç ya da iletkenlik. Seçilen özellik tepkimede gerçekten değişmeli ve tepkime durdurulmadan ölçülebilmelidir.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H₂(g) + I₂(g) → 2HI(g) tepkimesinin hızını, sabit hacimli bir kapta basıncı ölçerek izleyebilir misin?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Hızı nasıl izleriz?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H₂(g) + I₂(g) → 2HI(g) tepkimesinin hızını, sabit hacimli bir kapta basıncı ölçerek izleyebilir misin?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Girenlerde 2 mol gaz (1 mol H₂ ve 1 mol I₂), ürünlerde de 2 mol gaz (2 mol HI) vardır; sıcaklık sabitse toplam basınç değişmez. Ama iyot buharı mor, H₂ ve HI renksizdir: rengin açılmasını izleyerek hızı ölçebilirsin. Önce seçtiğin özelliğin tepkimede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gerçekten değiştiğinden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emin ol.</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zamanla neden azalır?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önceki konudan hatırla: tepkimenin yürümesi için tanecikler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çarpışmalı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yeterli enerjiyle ve uygun yönelimle olan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etkin çarpışmalar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ürün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hızı, birim zamandaki etkin çarpışma sayısıyla orantılıdır.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zamanla neden azalır?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Lunaparktaki çarpışan arabaları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Pistte yirmi araba varken çarpışmalar durmadan olur; araba sayısı beşe inince bir çarpışma için uzun süre beklersin.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Tepkimede de başlangıçta tepken tanecikleri kalabalıktır ve sık çarpışır.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ilerledikçe tepkenler ürüne dönüşür, geride kalanların sayısı azalır ve birim zamandaki çarpışma seyrekleşir.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zamanla neden azalır?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 olarak:</a:t>
            </a:r>
            <a:endParaRPr lang="en-US" sz="2200" dirty="0"/>
          </a:p>
        </p:txBody>
      </p:sp>
      <p:sp>
        <p:nvSpPr>
          <p:cNvPr id="7" name="Text 5"/>
          <p:cNvSpPr txBox="1"/>
          <p:nvPr/>
        </p:nvSpPr>
        <p:spPr>
          <a:xfrm>
            <a:off x="640080" y="200406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Çoğu tepkime en hızlı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başlangıçta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yürür.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Eşit zaman aralıklarında harcanan tepken miktarı giderek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azalır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Tepkenlerden biri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tükenince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tepkime durur; hız sıfır olur.</a:t>
            </a:r>
            <a:endParaRPr lang="en-US" sz="2100" dirty="0"/>
          </a:p>
        </p:txBody>
      </p:sp>
      <p:sp>
        <p:nvSpPr>
          <p:cNvPr id="8" name="Text 6"/>
          <p:cNvSpPr txBox="1"/>
          <p:nvPr/>
        </p:nvSpPr>
        <p:spPr>
          <a:xfrm>
            <a:off x="640080" y="3583686"/>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Efervesan tablette de aynısını görürsün: ilk saniyelerde yoğun bir kabarcık sütunu yükselir, sona doğru kabarcıklar seyrekleşir.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Yavaşlamanın asıl nedeni tepkenlerin azalmasıdır.</a:t>
            </a:r>
            <a:endParaRPr lang="en-US" sz="2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zamanla neden azalır?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940504" y="1234440"/>
            <a:ext cx="831068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4.png">    </p:cNvPr>
          <p:cNvPicPr>
            <a:picLocks noChangeAspect="1"/>
          </p:cNvPicPr>
          <p:nvPr/>
        </p:nvPicPr>
        <p:blipFill>
          <a:blip r:embed="rId1"/>
          <a:stretch>
            <a:fillRect/>
          </a:stretch>
        </p:blipFill>
        <p:spPr>
          <a:xfrm>
            <a:off x="2169104" y="1325880"/>
            <a:ext cx="785348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X + Y → XY tepkimesinde aynı kutuya 10 saniye arayla üç kez bakıyoruz. İlk 10 saniyede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XY molekülü oluşuyor, sonraki 10 saniyede yalnızca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tane. Tepken sayısı yarıya inince olası X–Y karşılaşmaları 6 · 6 = 36'dan 3 · 3 = 9'a, yani dörtte bire iner; bu yüzden eşit sürelerde oluşan ürün giderek azalır.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zamanla neden azalır?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Tepkenler harcandıkça derişimleri düşer, birim zamandaki etkin çarpışma sayısı azalır ve tepkime yavaşlar. Bu yüzden çoğu tepkime en hızlı başlangıçta yürür ve tepkenlerden biri tükenince durur.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Kabarcıkların seyrekleşmesi, tanecikler yorulduğu için mi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Hız zamanla neden azalır?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Kabarcıkların seyrekleşmesi, tanecikler yorulduğu için mi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tanecikler yorulmaz. Sıcaklık değişmedikçe her taneciğin bir çarpışmada ürün verme şansı aynıdır. Değişen, ortamda kalan tepken taneciklerinin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sayısıdır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tanecik azalınca birim zamandaki etkin çarpışma da azalır.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ortalama hızı derişim değişiminden hesapla, katsayıların hızları nasıl bağladığını gör, derişim–zaman grafiğinden hız oku.</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Ortalama hız bağıntısı</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Katsayılar hızları birbirine bağlar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Derişim–zaman grafiğini okumak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Sayılarla hisset: bir deneyin kayıtları</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Hız = −Δ[X] / Δt</a:t>
            </a:r>
            <a:endParaRPr lang="en-US" sz="1500" dirty="0"/>
          </a:p>
        </p:txBody>
      </p:sp>
      <p:sp>
        <p:nvSpPr>
          <p:cNvPr id="13" name="Text 11"/>
          <p:cNvSpPr txBox="1"/>
          <p:nvPr/>
        </p:nvSpPr>
        <p:spPr>
          <a:xfrm>
            <a:off x="8668512" y="148132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harcanma hızı</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Hız = +Δ[Z] / Δt</a:t>
            </a:r>
            <a:endParaRPr lang="en-US" sz="1500" dirty="0"/>
          </a:p>
        </p:txBody>
      </p:sp>
      <p:sp>
        <p:nvSpPr>
          <p:cNvPr id="16" name="Text 14"/>
          <p:cNvSpPr txBox="1"/>
          <p:nvPr/>
        </p:nvSpPr>
        <p:spPr>
          <a:xfrm>
            <a:off x="8668512" y="235000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oluşma hızı</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aX → cZ: (−Δ[X]/Δt)/a = (Δ[Z]/Δt)/c</a:t>
            </a:r>
            <a:endParaRPr lang="en-US" sz="1500" dirty="0"/>
          </a:p>
        </p:txBody>
      </p:sp>
      <p:sp>
        <p:nvSpPr>
          <p:cNvPr id="19" name="Text 17"/>
          <p:cNvSpPr txBox="1"/>
          <p:nvPr/>
        </p:nvSpPr>
        <p:spPr>
          <a:xfrm>
            <a:off x="9768535" y="321868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katsayılar hızları bağlar</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205740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M/s = mol/(L·s)</a:t>
            </a:r>
            <a:endParaRPr lang="en-US" sz="1500" dirty="0"/>
          </a:p>
        </p:txBody>
      </p:sp>
      <p:sp>
        <p:nvSpPr>
          <p:cNvPr id="22" name="Text 20"/>
          <p:cNvSpPr txBox="1"/>
          <p:nvPr/>
        </p:nvSpPr>
        <p:spPr>
          <a:xfrm>
            <a:off x="8549640" y="4087368"/>
            <a:ext cx="281909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derişimle hızın birimi</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dersler.perinet.org/tepkime-hizi.html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bağıntısı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Çözeltilerde ve gazlarda miktarı en kolay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derişimle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izleriz.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zaman aralığında derişimin ne kadar değiştiğini o aralığın süresine bölersen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ortalama tepkime hızını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bulursun.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Köşeli parantez derişim demektir: [X], X'in mol/L cinsinden derişimidir.</a:t>
            </a:r>
            <a:endParaRPr lang="en-US" sz="2200" dirty="0"/>
          </a:p>
        </p:txBody>
      </p:sp>
      <p:sp>
        <p:nvSpPr>
          <p:cNvPr id="7" name="Shape 5"/>
          <p:cNvSpPr/>
          <p:nvPr/>
        </p:nvSpPr>
        <p:spPr>
          <a:xfrm>
            <a:off x="640080" y="3343656"/>
            <a:ext cx="416234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343656"/>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Harcanma hızı = −Δ[X] / Δt</a:t>
            </a:r>
            <a:endParaRPr lang="en-US" sz="1800" dirty="0"/>
          </a:p>
        </p:txBody>
      </p:sp>
      <p:sp>
        <p:nvSpPr>
          <p:cNvPr id="9" name="Shape 7"/>
          <p:cNvSpPr/>
          <p:nvPr/>
        </p:nvSpPr>
        <p:spPr>
          <a:xfrm>
            <a:off x="4948733" y="3343656"/>
            <a:ext cx="3884371"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948733" y="3343656"/>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Oluşma hızı = +Δ[Z] / Δt</a:t>
            </a:r>
            <a:endParaRPr lang="en-US" sz="1800" dirty="0"/>
          </a:p>
        </p:txBody>
      </p:sp>
      <p:sp>
        <p:nvSpPr>
          <p:cNvPr id="11" name="Shape 9"/>
          <p:cNvSpPr/>
          <p:nvPr/>
        </p:nvSpPr>
        <p:spPr>
          <a:xfrm>
            <a:off x="640080" y="4056888"/>
            <a:ext cx="36063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40080" y="4056888"/>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Δ[X] = [X]son − [X]ilk</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bağıntısı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073266"/>
                <a:gridCol w="7155105"/>
                <a:gridCol w="268316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 maddesinin derişimi: 1 litrede kaç mol X var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mol/L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derişimdeki değişim: son değer − ilk değer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geçen süre: t₂ − t₁</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 (dk, saat)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birim zamandaki derişim değişimi (r ile de gösterilir)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 = mol/(L·s)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 ve +</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eksi: azalan tepken; artı: artan ürün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bağıntısı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Eksi işareti nereden geliyor?</a:t>
            </a:r>
            <a:endParaRPr lang="en-US" sz="2200" dirty="0"/>
          </a:p>
        </p:txBody>
      </p:sp>
      <p:sp>
        <p:nvSpPr>
          <p:cNvPr id="8" name="Text 6"/>
          <p:cNvSpPr txBox="1"/>
          <p:nvPr/>
        </p:nvSpPr>
        <p:spPr>
          <a:xfrm>
            <a:off x="640080" y="1892808"/>
            <a:ext cx="10911535" cy="3310128"/>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Δ'yı hesapla: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50 saniyede [X] 0,80 M'den 0,30 M'ye indiyse Δ[X] = 0,30 − 0,80 = −0,50 M olur. Tepkende Δ hep eksidir.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Süreye böl: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−0,50 M ÷ 50 s = −0,010 M/s. Bu sayı, derişimin her saniye 0,010 M azaldığını söyler.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Eksiyle çarp:</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 pozitif bir sayı olmalı; formüldeki eksi, eksi çıkan sonucu pozitife çevirir: Hız = 0,010 M/s.</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Üründe gerek yok: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 artar, Δ zaten artıdır. [Y] 0'dan 0,50 M'ye çıktıysa oluşma hızı +0,50 ÷ 50 = 0,010 M/s'dir.</a:t>
            </a:r>
            <a:endParaRPr lang="en-US" sz="21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bağıntısı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Birim kontrolü:</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derişimi süreye bölüyoruz: (mol/L) ÷ s = mol/(L·s).</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Buna kısaca M/s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Süre dakikayla ölçüldüyse birim M/dk olur; 0,010 M/s, dakikada 0,60 M demektir.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bağıntısı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604540" y="1234440"/>
            <a:ext cx="698261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5.png">    </p:cNvPr>
          <p:cNvPicPr>
            <a:picLocks noChangeAspect="1"/>
          </p:cNvPicPr>
          <p:nvPr/>
        </p:nvPicPr>
        <p:blipFill>
          <a:blip r:embed="rId1"/>
          <a:stretch>
            <a:fillRect/>
          </a:stretch>
        </p:blipFill>
        <p:spPr>
          <a:xfrm>
            <a:off x="2833140" y="1325880"/>
            <a:ext cx="652541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50 saniyede tepken X'in derişimi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0,50 M azalıyor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ürün Y'ninki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0,50 M artıyor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Tepkende Δ eksi çıktığı için formülün önündeki eksi işareti sonucu pozitif yapar; üründe Δ zaten artıdır. İki taraftan da aynı pozitif sayıya, 0,010 M/s'ye ulaşırız.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bağıntısı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Ortalama hız, derişim değişiminin geçen süreye oranıdır: tepken için −Δ[X]/Δt, ürün için +Δ[Z]/Δt. Δ hep son − ilk'tir; tepkende eksi çıktığı için önüne eksi konur ve hız pozitif olur. Birimi M/s'dir.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öğrenci tepkenin harcanma hızını −0,010 M/s buldu. Nerede yanılmış olabilir?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Ortalama hız bağıntısı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öğrenci tepkenin harcanma hızını −0,010 M/s buldu. Nerede yanılmış olabilir?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Hız negatif olamaz. Öğrenci Δ[X]'i doğru hesaplamış (son − ilk = −0,50 M), ama formüldeki eksi işaretini unutmuş: −(−0,50) ÷ 50 =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+0,010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Eksi işareti, azalan bir derişimin hızını pozitif yazmak içindir.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Amonyak tepkimesine bak: N₂(g) + 3H₂(g) → 2NH₃(g).</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Denklem, 1 mol N₂ harcanırken 3 mol H₂'nin harcandığını ve 2 mol NH₃'ün oluştuğunu söyler.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Maddeler aynı kapta, yani aynı hacimde ve aynı sürede tepkimeye girdiği için derişim değişimleri de katsayılarla orantılıdır: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H₂ derişimi, N₂ derişiminin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3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hızla azalır.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NH₃ derişimi, N₂ derişiminin azalışının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hızla artar.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Aynı tepkimede her maddenin hızı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farklı bir sayıdır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Hangi maddeye bakarsan bak aynı sayıyı bulmak için her maddenin hızını kendi katsayısına bölersin.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ortak sayıya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tepkime hızı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 Hız(X), X'in harcanma hızıdır (−Δ[X]/Δt); Hız(Z), Z'nin oluşma hızıdır (+Δ[Z]/Δt):</a:t>
            </a:r>
            <a:endParaRPr lang="en-US" sz="2200" dirty="0"/>
          </a:p>
        </p:txBody>
      </p:sp>
      <p:sp>
        <p:nvSpPr>
          <p:cNvPr id="7" name="Shape 5"/>
          <p:cNvSpPr/>
          <p:nvPr/>
        </p:nvSpPr>
        <p:spPr>
          <a:xfrm>
            <a:off x="640080" y="3729228"/>
            <a:ext cx="2911450"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729228"/>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aX + bY → cZ + dT</a:t>
            </a:r>
            <a:endParaRPr lang="en-US" sz="1800" dirty="0"/>
          </a:p>
        </p:txBody>
      </p:sp>
      <p:sp>
        <p:nvSpPr>
          <p:cNvPr id="9" name="Shape 7"/>
          <p:cNvSpPr/>
          <p:nvPr/>
        </p:nvSpPr>
        <p:spPr>
          <a:xfrm>
            <a:off x="3697834" y="3729228"/>
            <a:ext cx="4023360"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697834" y="3729228"/>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Hız = Hız(X)/a = Hız(Y)/b</a:t>
            </a:r>
            <a:endParaRPr lang="en-US" sz="1800" dirty="0"/>
          </a:p>
        </p:txBody>
      </p:sp>
      <p:sp>
        <p:nvSpPr>
          <p:cNvPr id="11" name="Shape 9"/>
          <p:cNvSpPr/>
          <p:nvPr/>
        </p:nvSpPr>
        <p:spPr>
          <a:xfrm>
            <a:off x="7867498" y="3729228"/>
            <a:ext cx="3467405"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7867498" y="3729228"/>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Hız(Z)/c = Hız(T)/d</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örnek: N₂'nin harcanma hızı 0,020 M/s ise H₂'ninki 3 · 0,020 = 0,060 M/s, NH₃'ün oluşma hızı 2 · 0,020 = 0,040 M/s'dir.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Üçünü katsayısına bölersen: 0,020/1 = 0,060/3 = 0,040/2 = 0,020 M/s.</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Kısa bir kontrol: katsayısı büyük olan madde her zaman daha hızlı değişir.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eşitlik çarpılmış biçimde de yazılır: Hız(X)/2 = Hız(Y)/3 ile 3·Hız(X) = 2·Hız(Y) aynı eşitliktir.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Çarpılmış biçimde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büyük çarpan küçük katsayıya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aittir: katsayısı 2 olan X'in önünde 3, katsayısı 3 olan Y'nin önünde 2 durur.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bir maddenin hızını değiştirip ötekilerin onunla birlikte nasıl değiştiğini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909164" y="1234440"/>
            <a:ext cx="637336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6.png">    </p:cNvPr>
          <p:cNvPicPr>
            <a:picLocks noChangeAspect="1"/>
          </p:cNvPicPr>
          <p:nvPr/>
        </p:nvPicPr>
        <p:blipFill>
          <a:blip r:embed="rId1"/>
          <a:stretch>
            <a:fillRect/>
          </a:stretch>
        </p:blipFill>
        <p:spPr>
          <a:xfrm>
            <a:off x="3137764" y="1325880"/>
            <a:ext cx="591616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Katsayılar, aynı sürede harcanan ve oluşan mol sayılarının oranıdır: 1 N₂ ile 3 H₂ tepkimeye girer, 2 NH₃ oluşur. Bu yüzden sütunlar 1 : 3 : 2 oranındadır. Her sütun kendi katsayısına bölününce hepsi aynı yüksekliğe,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tepkime hızına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iner.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Katsayılar hızları birbirine bağlar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Aynı kapta ve aynı sürede harcanan ve oluşan miktarlar katsayılarla orantılıdır; bu yüzden maddelerin hızları farklıdır. Her maddenin hızı kendi katsayısına bölünürse hepsi aynı sayıyı, tepkime hızını verir.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2NO(g) + O₂(g) → 2NO₂(g) tepkimesinde NO'nun harcanma hızı ile NO₂'nin oluşma hızı neden eşittir?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Katsayılar hızları birbirine bağlar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2NO(g) + O₂(g) → 2NO₂(g) tepkimesinde NO'nun harcanma hızı ile NO₂'nin oluşma hızı neden eşittir?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İkisinin katsayısı da 2'dir: aynı sürede harcanan NO ile oluşan NO₂ mol sayıları eşittir. O₂'nin katsayısı 1 olduğu için onun harcanma hızı bunların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yarısıdır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Hızları karşılaştırırken her zaman katsayılara bak.</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Derişim–zaman grafiğini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Eşit aralıklarla ölçtüğün derişimleri bir grafiğe dökersen tepkimenin bütün öyküsünü tek bakışta görürsün.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Yüksek sıcaklıkta tutulan bir kapta diazot pentaoksit ayrışıyor: 2N₂O₅(g) → 4NO₂(g) + O₂(g).</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Başlangıçta kapta yalnızca 1,00 M N₂O₅ var.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Grafiği okurken şu adımları izle: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Derişim–zaman grafiğini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Eğrileri tanı: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azalan eğri tepkene, artan eğriler ürünlere aittir. Sıfırdan başlayan eğriler üründür.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Katsayıları doğrula: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ilk 100 saniyede N₂O₅ 0,50 M azalırken NO₂ 1,00 M, O₂ 0,25 M artar. Değişimlerin oranı 2 : 4 : 1, yani katsayıların oranıdır.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Ortalama hızı bul: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noktanın derişim farkını zaman farkına böl. Bu, iki noktayı birleştiren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kesen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doğrusunun eğiminin büyüklüğüdür; tepkende eğim eksidir, hız artı yazılır.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Derişim–zaman grafiğini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79400" indent="-279400">
              <a:lnSpc>
                <a:spcPct val="115000"/>
              </a:lnSpc>
              <a:spcAft>
                <a:spcPts val="800"/>
              </a:spcAft>
              <a:buSzPct val="100000"/>
              <a:buFont typeface="+mj-lt"/>
              <a:buAutoNum type="arabicPeriod" startAt="4"/>
            </a:pPr>
            <a:r>
              <a:rPr lang="en-US" sz="2100" b="1" dirty="0">
                <a:solidFill>
                  <a:srgbClr val="0E1426"/>
                </a:solidFill>
                <a:latin typeface="Calibri" pitchFamily="34" charset="0"/>
                <a:ea typeface="Calibri" pitchFamily="34" charset="-122"/>
                <a:cs typeface="Calibri" pitchFamily="34" charset="-120"/>
              </a:rPr>
              <a:t>Eğime bak: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eğri dikse tepkime hızlı, yataylaşıyorsa yavaştır. Eğri tamamen yatay olunca tepken bitmiş, tepkime durmuştur.</a:t>
            </a:r>
            <a:endParaRPr lang="en-US" sz="2100" dirty="0"/>
          </a:p>
        </p:txBody>
      </p:sp>
      <p:sp>
        <p:nvSpPr>
          <p:cNvPr id="7" name="Text 5"/>
          <p:cNvSpPr txBox="1"/>
          <p:nvPr/>
        </p:nvSpPr>
        <p:spPr>
          <a:xfrm>
            <a:off x="640080" y="23545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grafikte her 100 saniyede N₂O₅ derişimi yarıya iniyor.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Ortalama harcanma hızı ilk 100 saniyede 0,50 ÷ 100 = 0,0050 M/s, ikinci 100 saniyede 0,25 ÷ 100 = 0,0025 M/s, üçüncüde 0,00125 M/s olur: her aralıkta öncekinin yarısı.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 iki zaman işaretçisini sürükleyerek istediğin aralığın ortalama hızını ölçebilirsin.</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Derişim–zaman grafiğini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3002873" y="1234440"/>
            <a:ext cx="6185948"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7.png">    </p:cNvPr>
          <p:cNvPicPr>
            <a:picLocks noChangeAspect="1"/>
          </p:cNvPicPr>
          <p:nvPr/>
        </p:nvPicPr>
        <p:blipFill>
          <a:blip r:embed="rId1"/>
          <a:stretch>
            <a:fillRect/>
          </a:stretch>
        </p:blipFill>
        <p:spPr>
          <a:xfrm>
            <a:off x="3231473" y="1325880"/>
            <a:ext cx="5728748"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Mavi eğri azalan tepkeni, yeşil eğriler artan ürünleri gösteriyor. NO₂ eğrisi en dik değişen eğridir, çünkü katsayısı en büyüktür (4). Mor kesenin eğimi −0,50 M ÷ 100 s = −0,0050 M/s'dir; ilk 100 saniyenin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ortalama harcanma hızı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 eğimin büyüklüğü, 0,0050 M/s'dir. Eğriler sağa doğru yataylaşır; tepken azaldıkça hız da azalır.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Derişim–zaman grafiğini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Derişim–zaman grafiğinde azalan eğri tepkeni, artan eğri ürünü gösterir; değişimler katsayılarla orantılıdır. İki nokta arasındaki ortalama hız, kesen doğrusunun eğiminin büyüklüğüdür (tepkende eğim eksidir); eğri yataylaştıkça hız azalır.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Grafikte NO₂ eğrisi N₂O₅ eğrisinden daha dik değişiyor. Bu, NO₂'nin daha hızlı bir tepkimede oluştuğu anlamına mı gelir?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Derişim–zaman grafiğini okumak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Grafikte NO₂ eğrisi N₂O₅ eğrisinden daha dik değişiyor. Bu, NO₂'nin daha hızlı bir tepkimede oluştuğu anlamına mı gelir?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ortada tek bir tepkime var. NO₂'nin katsayısı 4, N₂O₅'inki 2 olduğu için NO₂ derişimi, N₂O₅ derişiminin azalışının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iki katı</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kadar artar. Eğim farkı katsayılardan gelir; katsayıya bölünce hepsi aynı tepkime hızını verir.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deneyin kayıtları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Okul laboratuvarında yapılmış bir ölçümü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erlenmayerde fazla miktarda magnezyum şerit, 20 mL 0,50 M HCl çözeltisiyle tepkimeye giriyor: Mg(k) + 2HCl(suda) → MgCl₂(suda) + H₂(g).</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Çıkan hidrojen bir gaz şırıngasında toplanıyor ve hacim her 10 saniyede okunuyor (hacimler NK'ya çevrildi).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Çözeltideki 0,010 mol HCl en çok 0,005 mol H₂ verebilir; bu da NK'da 0,005 · 22,4 = 0,112 L, yani 112 mL'dir.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deneyin kayıtları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534435"/>
                <a:gridCol w="2386898"/>
                <a:gridCol w="3750840"/>
                <a:gridCol w="323936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Zaman (s)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Toplam H₂ (mL)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Son 10 s'de çıkan (mL)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Ortalama hız (mL/s)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deneyin kayıtları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534435"/>
                <a:gridCol w="2386898"/>
                <a:gridCol w="3750840"/>
                <a:gridCol w="323936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Zaman (s)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Toplam H₂ (mL)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Son 10 s'de çıkan (mL)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Ortalama hız (mL/s)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deneyin kayıtları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dört düzen okunur:</a:t>
            </a:r>
            <a:endParaRPr lang="en-US" sz="2200" dirty="0"/>
          </a:p>
        </p:txBody>
      </p:sp>
      <p:sp>
        <p:nvSpPr>
          <p:cNvPr id="7" name="Text 5"/>
          <p:cNvSpPr txBox="1"/>
          <p:nvPr/>
        </p:nvSpPr>
        <p:spPr>
          <a:xfrm>
            <a:off x="640080" y="200406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 azalıyor: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eşit 10 saniyelik aralıklarda çıkan gaz 44 mL'den 3 mL'ye iniyor.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Yavaşlatan, asidin azalması: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magnezyum fazla olduğu için yavaşlamanın nedeni HCl'nin harcanmasıdır.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Ortalama aralığa bağlı: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ilk 60 saniyenin ortalaması 106 ÷ 60 ≈ 1,8 mL/s; bu sayı ne ilk aralığın 4,4'üne ne de son aralığın 0,3'üne benziyor.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Mol ile de yazılır: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ilk aralıktaki 4,4 mL/s, 0,0044 L/s ÷ 22,4 L/mol ≈ 2,0·10⁻⁴ mol/s H₂ demektir.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deneyin kayıtları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345719" y="1234440"/>
            <a:ext cx="750025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8.png">    </p:cNvPr>
          <p:cNvPicPr>
            <a:picLocks noChangeAspect="1"/>
          </p:cNvPicPr>
          <p:nvPr/>
        </p:nvPicPr>
        <p:blipFill>
          <a:blip r:embed="rId1"/>
          <a:stretch>
            <a:fillRect/>
          </a:stretch>
        </p:blipFill>
        <p:spPr>
          <a:xfrm>
            <a:off x="2574319" y="1325880"/>
            <a:ext cx="704305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Soldaki noktalar şırıngadan her 10 saniyede okunan hacimlerdir; eğri 112 mL'ye yaklaşır ama 60 saniyede henüz ulaşmamıştır. Sağdaki sütunlar her aralığın ortalama hızıdır: ilk aralıkta saniyede 4,4 mL, altıncı aralıkta yalnızca 0,3 mL. Eşit sürelerde çıkan gaz azaldıkça eğri yataylaşır.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deneyin kayıtları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Gaz şırıngasıyla yapılan bir ölçümde eşit 10 saniyelik aralıklarda çıkan gaz 44 mL'den 3 mL'ye iner; hız zamanla azalır. Bütün deneyin ortalama hızı, tek tek aralıkların hızlarından farklıdır.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İlk 60 saniyenin ortalama hızı 1,8 mL/s. Bu, gazın her saniye 1,8 mL çıktığı anlamına mı gelir?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Sayılarla hisset: bir deneyin kayıtları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İlk 60 saniyenin ortalama hızı 1,8 mL/s. Bu, gazın her saniye 1,8 mL çıktığı anlamına mı gelir?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Gaz ilk saniyelerde saniyede 4 mL'den hızlı, son saniyelerde 0,5 mL'den yavaş çıktı. Ortalama hız, aynı toplam gaz sabit bir hızla çıksaydı o hızın ne olacağını söyler; tek tek anlardaki hızlar ondan farklıdır. Bu farkı üçüncü basamakta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anlık hızla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inceleyeceğiz.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Derinleşme: hızı mol/s, g/s ve L/s ile hesapla, ortalama hızla anlık hızı ayır, katı ve saf sıvıların neden derişimle izlenmediğini gör ve hızın gündelik hayattaki yerine bak.</a:t>
            </a:r>
            <a:endParaRPr lang="en-US" sz="12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Farklı birimlerle hız: mol/s, g/s, L/s</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Ortalama hız ve anlık hız</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Katı ve saf sıvılar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Tepkime hızı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tepkime-hiz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Gaz şırıngasıyla hız ölçümü.</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Erlenmayerdeki magnezyum şerit asitle tepkimeye giriyor; çıkan hidrojen hortumdan şırıngaya dolup pistonu dışarı itiyor. Öğrenci kronometreye bakarak her 10 saniyede pistonun hizasındaki hacmi okuyup deftere yazar. Ardışık okumaların farkını 10'a bölünce her aralığın ortalama hızı mL/s olarak bulunur; “Sayılarla hisset” bölümündeki tablo böyle bir deneyin kayıtlarıdır.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Derişim her zaman en kolay ölçülen büyüklük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katının kütlesini tartabilir, bir gazın hacmini şırıngada okuyabilirsin.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Hızın tanımı değişmez: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miktardaki değişim ÷ geçen süre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Değişen yalnızca miktarın birimidir: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959789"/>
                <a:gridCol w="2975873"/>
                <a:gridCol w="297587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Miktar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Hız</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mol sayısı (n)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Δn / 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mol/s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kütle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Δm / 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gaz hacmi (V)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ΔV / 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L/s, mL/s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derişim ([X])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Δ[X] / 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gaz basıncı (P)</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ΔP / Δt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maddenin hızından başka bir maddenin hızına geçerken köprü her zaman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moldür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çünkü katsayılar mol oranıdır.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 adım yeter: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Mole çevir: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verilen hızı mol/s'ye çevir. Kütleyi mol kütlesine, NK'daki gaz hacmini 22,4'e böl; derişimi kabın hacmiyle çarp.</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Katsayıyla geç: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istenen maddenin katsayısını verilen maddenin katsayısına böl ve mol/s'yi bu oranla çarp.</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Birime dön: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mol/s'yi mol kütlesiyle çarparak g/s'ye, 22,4 ile çarparak NK'da L/s'ye, hacme bölerek M/s'ye çevir.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örnek: 2Al(k) + 6HCl(suda) → 2AlCl₃(suda) + 3H₂(g) tepkimesinde alüminyum 0,054 g/s hızla harcanıyor.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Al için 0,054 ÷ 27 = 0,002 mol/s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H₂'nin katsayı oranı 3/2 olduğundan H₂ 0,002 · 3/2 = 0,003 mol/s hızla oluşur; NK'da bu 0,003 · 22,4 = 0,0672 L/s, yani yaklaşık 67 mL/s'dir.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 böyle dönüşümleri adım adım çalışabilirsin.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828070" y="1234440"/>
            <a:ext cx="653555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09.png">    </p:cNvPr>
          <p:cNvPicPr>
            <a:picLocks noChangeAspect="1"/>
          </p:cNvPicPr>
          <p:nvPr/>
        </p:nvPicPr>
        <p:blipFill>
          <a:blip r:embed="rId1"/>
          <a:stretch>
            <a:fillRect/>
          </a:stretch>
        </p:blipFill>
        <p:spPr>
          <a:xfrm>
            <a:off x="3056670" y="1325880"/>
            <a:ext cx="607835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Hangi birimle başlarsan başla önce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mol/s</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'ye in, katsayı oranıyla öteki maddenin mol/s'sine geç, sonra istediğin birime çık. V burada kabın ya da çözeltinin litre cinsinden hacmidir; 22,4 L/mol yalnızca NK'daki gazlar için geçerlidir.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Farklı birimlerle hız: mol/s, g/s, L/s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Hız mol/s, g/s, L/s ya da M/s ile yazılabilir. Bir maddeden ötekine geçerken önce mol/s'ye çevir, katsayı oranıyla çarp, sonra istenen birime dön; NK'da 1 mol gaz 22,4 L'dir.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gazın oluşma hızı 0,5 L/s olarak verildi. Bunu mol/s'ye çevirmek için başka hangi bilgiye ihtiyacın var?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Farklı birimlerle hız: mol/s, g/s, L/s</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gazın oluşma hızı 0,5 L/s olarak verildi. Bunu mol/s'ye çevirmek için başka hangi bilgiye ihtiyacın var?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Gazın hangi sıcaklık ve basınçta ölçüldüğüne. 22,4 L/mol yalnızca NK (0 °C, 1 atm) için doğrudur; oda koşullarında (25 °C, 1 atm) 1 mol gaz yaklaşık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24,5 L</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yer kaplar. Koşul verilmemişse sorunun NK'yı kabul ettiğini yazması gerekir.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Paslı bisikleti onarıp 6 km'lik yolu 20 dakikada aldığını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Ortalama hızın 18 km/saattir; ama yokuşta 8 km/saate düşmüş, inişte 30 km/saate çıkmış olabilirsin.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Bisiklet saatinin ekranında gördüğün sayı o andaki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anlık hızdır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Tepkimelerde de hız sürekli değişir; ortalama hız bir aralığın özetidir.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Ortalama hız: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an arasındaki toplam değişimin süreye oranı; grafikte iki noktayı birleştiren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kesenin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eğiminin büyüklüğü. Tepkende eğim eksidir, hız artı yazılır.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Anlık hız: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tek bir andaki hız; grafikte o noktada eğriye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teğet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çizilen doğrunun eğiminin büyüklüğü.</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Başlangıç hızı: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 = 0 anındaki anlık hız. Tepken en çok o anda bulunduğu için çoğu tepkimede en büyük hız odur.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Aralığı daralttıkça ortalama hız anlık hıza yaklaşır.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2N₂O₅ tepkimesinde 100. saniyedeki anlık hızı, gittikçe daralan aralıkların ortalamasıyla yakalayabiliriz: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6317205"/>
                <a:gridCol w="4594331"/>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Aralık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Harcanma hızı (10⁻³ M/s)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0–200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3,75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50–150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3,54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90–110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100. saniyedeki teğet (anlık 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3,47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Teğeti elle de çizebilirsin: cetveli eğriye o noktada yalnızca dokunacak biçimde yerleştir, doğruyu uzat ve doğru üzerinde birbirinden uzak iki noktanın eğimini hesapla.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Tepkende bu eğim eksi çıkar; anlık hız onun büyüklüğüdür.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laboratuvarındaki “Anlık hız” kutusu teğeti senin için çizer.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580488" y="1234440"/>
            <a:ext cx="703072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10.png">    </p:cNvPr>
          <p:cNvPicPr>
            <a:picLocks noChangeAspect="1"/>
          </p:cNvPicPr>
          <p:nvPr/>
        </p:nvPicPr>
        <p:blipFill>
          <a:blip r:embed="rId1"/>
          <a:stretch>
            <a:fillRect/>
          </a:stretch>
        </p:blipFill>
        <p:spPr>
          <a:xfrm>
            <a:off x="2809088" y="1325880"/>
            <a:ext cx="657352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eğri üzerinde üç doğru. Başlangıçtaki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teğet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en diktir: t = 0'daki anlık hız 6,9·10⁻³ M/s. 200. saniyedeki teğet çok daha yatıktır: 1,7·10⁻³ M/s. 0–200 s arasındaki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kesen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ikisinin arasında bir eğime sahiptir; ortalama hız, aralıktaki en büyük ve en küçük anlık hızın arasında kalır.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Ortalama hız ve anlık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Ortalama hız bir aralıktaki kesenin, anlık hız tek bir andaki teğetin eğiminin büyüklüğüdür. Aralık daraldıkça ortalama hız anlık hıza yaklaşır; hızı azalan tepkimede en büyük anlık hız başlangıçtadır.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Hızı zamanla azalan bir tepkimede bir aralığın ortalama hızını biliyorsan, aralığın başındaki anlık hız için ne söyleyebilirsin?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Ortalama hız ve anlık hız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Hızı zamanla azalan bir tepkimede bir aralığın ortalama hızını biliyorsan, aralığın başındaki anlık hız için ne söyleyebilirsin?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Ortalamadan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büyüktür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Hız aralık boyunca azaldığına göre aralığın başında en büyük, sonunda en küçüktür; ortalama ikisinin arasında bir yerdedir. 0–200 s aralığının ortalaması 3,75·10⁻³ M/s iken başlangıçtaki anlık hız 6,9·10⁻³ M/s'dir.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bardak saf suyun derişimi nedir?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litre su yaklaşık 1000 g'dır ve 1000 ÷ 18 ≈ 55,6 mol eder; yani saf suyun “derişimi” 55,6 mol/L'dir.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Bardağın yarısını içsen geriye kalan su yine 55,6 mol/L olur, çünkü mol sayısıyla birlikte hacim de yarıya inmiştir.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Saf katılarda da durum aynıdır: bir katının ya da saf sıvının derişimi, yoğunluğunun belirlediği sabit bir sayıdır.</a:t>
            </a:r>
            <a:endParaRPr lang="en-US" sz="2200" dirty="0"/>
          </a:p>
        </p:txBody>
      </p:sp>
      <p:sp>
        <p:nvSpPr>
          <p:cNvPr id="7" name="Text 5"/>
          <p:cNvSpPr txBox="1"/>
          <p:nvPr/>
        </p:nvSpPr>
        <p:spPr>
          <a:xfrm>
            <a:off x="640080" y="4591812"/>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Madde harcandıkça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miktarı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azalır ama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derişimi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değişmez.</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Hızları derişimle yazılmaz: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katı ya da saf sıvı bir maddenin hızı M/s ile değil, mol/s ya da g/s ile verilir.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Aynı tepkimede farklı ölçüler: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Mg(k) + 2HCl(suda) → MgCl₂(suda) + H₂(g) tepkimesinde Mg'nin hızı g/s ya da mol/s, HCl'nin hızı M/s, H₂'nin hızı L/s ile izlenebilir.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Hepsi katıysa: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ısıtılan bir katının ayrışması gibi tepkimelerde derişimi azalan bir tepken yoktur; tepkime katının yüzeyinde yürür ve yüzey değişmedikçe hız yaklaşık sabit kalır.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maddedeki “yüzey” önemli bir ayrıntıdır: katı küçüldükçe yüzeyi de küçülürse hız azalır.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denklemi konusunda katı ve saf sıvıların denkleme neden yazılmadığını da bu yüzden göreceksin.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169643" y="1234440"/>
            <a:ext cx="785241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11.png">    </p:cNvPr>
          <p:cNvPicPr>
            <a:picLocks noChangeAspect="1"/>
          </p:cNvPicPr>
          <p:nvPr/>
        </p:nvPicPr>
        <p:blipFill>
          <a:blip r:embed="rId1"/>
          <a:stretch>
            <a:fillRect/>
          </a:stretch>
        </p:blipFill>
        <p:spPr>
          <a:xfrm>
            <a:off x="2398243" y="1325880"/>
            <a:ext cx="739521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saf su: miktarı yarıya inince hacmi de yarıya iner ve derişimi 55,6 mol/L'de kalır. Sağda magnezyum şerit asitte çözünüyor: katı Mg'nin kütlesi azalır ama derişimi değişmez, bu yüzden hızını g/s ya da mol/s ile izleriz. Çözeltideki HCl'nin derişimi ise azalır ve hızı M/s ile yazılır.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Saf katı ve sıvının derişimi yoğunluğuyla belirlenir; harcansa da değişmez. Bu yüzden hızı M/s ile değil mol/s ya da g/s ile yazılır. Tepkenlerin hepsi katıysa hız, yüzey değişmedikçe yaklaşık sabit kalır.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Katının derişimi değişmiyorsa, asitte çözünen bir mermer parçasının kabarcık çıkışı neden yavaşlar?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Katı ve saf sıvılar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Katının derişimi değişmiyorsa, asitte çözünen bir mermer parçasının kabarcık çıkışı neden yavaşlar?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İki nedeni var: HCl harcandıkça asidin derişimi düşer; mermer parçası küçüldükçe asitle temas eden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yüzeyi</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 azalır. Katının derişimi değil, yüzeyi ve öteki tepkenin derişimi değişir. Yüzeyin etkisini Konu 04'te ayrıntılı göreceksin.</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hızını bilmek, bir şeyin ne zaman biteceğini, bozulacağını ya da hazır olacağını önceden kestirmek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Bunun izlerini her yerde görürsün: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Gıdaların raf ömrü: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yağlar havadaki oksijenle yavaşça tepkimeye girip acılaşır, meyve suyundaki C vitamini zamanla bozunur. Son tüketim tarihi bu tepkimelerin hızına göre belirlenir.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İlaçların son kullanma tarihi: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etken madde yavaş bir bozunma tepkimesiyle azalır. Çoğu ilaçta bu tarih, etken maddenin yaklaşık onda birinin bozunduğu süreye göre konur.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Eski aspirin: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nemli ortamda bekleyen aspirin yavaşça salisilik asit ve asetik aside ayrışır; şişeyi açınca sirke kokusu alırsan bu tepkimenin ürününü kokluyorsundur.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Okulda hız ölçümü: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gaz şırıngası ve kronometreyle eşit aralıklarda okunan hacimlerden ortalama hızlar hesaplanır.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Fabrikalarda: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ürünün kaç saatte elde edileceğini tepkime hızı belirler; hız, üretim maliyetini belirleyen en önemli etkenlerden biridir.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İlaçların raf ömrünü bulmak için üreticiler ilacı bekletir ve etken madde miktarını düzenli aralıklarla ölçer.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Ölçümlerden bozunma hızı hesaplanır ve miktarın %90'a ineceği an bulunur.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Ölçümün yıllar sürmemesi için ilaç ayrıca sıcak bir dolapta bekletilir (hızlandırılmış dayanıklılık testi); sıcaklık bozunmayı hızlandırır, bunu bir sonraki konuda göreceksin.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tepkime-hizi-12.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Bir ilacın etken madde miktarı yıllar içinde yavaşça azalır. Miktar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%90</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 indiğinde ilacın raf ömrü dolmuş sayılır; bu örnekte yaklaşık 2 yıl sonra. Dikey eksen %70'ten başlıyor: değişim küçük olduğu için eksen büyütüldü.</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hızı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Gıdaların ve ilaçların raf ömrü, bozunma tepkimelerinin hızından hesaplanır. Okulda hız, gaz şırıngası ve kronometreyle eşit aralıklarda okunan hacimlerden bulunur; fabrikalarda üretim süresini ve maliyeti belirler.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tepkime hızı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Derişimden ortalama hız</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Katsayılarla öteki hızlar</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Grafikten ortalama hız</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Kombide yanan metan</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Katı tepken, gaz ve çözelti</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Verilerden denklemi bulmak</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Teğetten anlık hız</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dersler.perinet.org/tepkime-hizi.html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Derişimden ortalama hız</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Sabit hacimli bir kapta CO(g) + NO₂(g) → CO₂(g) + NO(g) tepkimesi yürüyor. NO₂ derişimi 25 saniyede 0,50 M'den 0,20 M'ye iniyor. (a) NO₂'nin ortalama harcanma hızını, (b) aynı sürede CO₂'nin ortalama oluşma hızını bulunuz.</a:t>
            </a:r>
            <a:endParaRPr lang="en-US" sz="2000" dirty="0"/>
          </a:p>
        </p:txBody>
      </p:sp>
      <p:sp>
        <p:nvSpPr>
          <p:cNvPr id="11" name="Shape 9"/>
          <p:cNvSpPr/>
          <p:nvPr/>
        </p:nvSpPr>
        <p:spPr>
          <a:xfrm>
            <a:off x="3218586" y="3474720"/>
            <a:ext cx="5754524"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3.png">    </p:cNvPr>
          <p:cNvPicPr>
            <a:picLocks noChangeAspect="1"/>
          </p:cNvPicPr>
          <p:nvPr/>
        </p:nvPicPr>
        <p:blipFill>
          <a:blip r:embed="rId1"/>
          <a:stretch>
            <a:fillRect/>
          </a:stretch>
        </p:blipFill>
        <p:spPr>
          <a:xfrm>
            <a:off x="3447186" y="3584448"/>
            <a:ext cx="5297324"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Derişimden ortalama hız</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Sabit hacimli bir kapta CO(g) + NO₂(g) → CO₂(g) + NO(g) tepkimesi yürüyor. NO₂ derişimi 25 saniyede 0,50 M'den 0,20 M'ye iniyor. (a) NO₂'nin ortalama harcanma hızını, (b) aynı sürede CO₂'nin ortalama oluşma hızını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[NO₂]ilk = 0,50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[NO₂]son = 0,20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Δt = 25 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katsayılar 1 : 1 : 1 : 1</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Hız(NO₂)</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Hız(CO₂), ikisi de M/s</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Derişimden ortalama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Δ[NO₂] = son − ilk = 0,20 − 0,50 = −0,30 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Hız(NO₂) = −Δ[NO₂] / Δt = −(−0,30) / 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0,012 M/s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Derişimden ortalama hız</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Katsayılar eşit: 1 mol NO₂ harcanırken 1 mol CO₂ oluşur → Hız(CO₂)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0,012 M/s</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iki hız da pozitif, birim M/s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Katsayılarla öteki hızlar</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N₂(g) + 3H₂(g) → 2NH₃(g) tepkimesinde H₂'nin harcanma hızı 0,36 M/s'dir. N₂'nin harcanma hızını, NH₃'ün oluşma hızını ve tepkime hızını bulunuz.</a:t>
            </a:r>
            <a:endParaRPr lang="en-US" sz="2000" dirty="0"/>
          </a:p>
        </p:txBody>
      </p:sp>
      <p:sp>
        <p:nvSpPr>
          <p:cNvPr id="11" name="Shape 9"/>
          <p:cNvSpPr/>
          <p:nvPr/>
        </p:nvSpPr>
        <p:spPr>
          <a:xfrm>
            <a:off x="1801244" y="3121152"/>
            <a:ext cx="8589208"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4.png">    </p:cNvPr>
          <p:cNvPicPr>
            <a:picLocks noChangeAspect="1"/>
          </p:cNvPicPr>
          <p:nvPr/>
        </p:nvPicPr>
        <p:blipFill>
          <a:blip r:embed="rId1"/>
          <a:stretch>
            <a:fillRect/>
          </a:stretch>
        </p:blipFill>
        <p:spPr>
          <a:xfrm>
            <a:off x="2029844" y="3230880"/>
            <a:ext cx="8132008"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Katsayılarla öteki hızlar</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N₂(g) + 3H₂(g) → 2NH₃(g) tepkimesinde H₂'nin harcanma hızı 0,36 M/s'dir. N₂'nin harcanma hızını, NH₃'ün oluşma hızını ve tepkime hızını bulunuz.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Hız(H₂) = 0,36 M/s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katsayılar N₂ : H₂ : NH₃ = 1 : 3 : 2</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Hız(N₂)</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Hız(NH₃)</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tepkime hızı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Katsayılarla öteki hızlar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Tepkime hızı = Hız(H₂) / 3 = 0,36 / 3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0,12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Hız(N₂) = 1 · 0,12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0,12 M/s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Katsayılarla öteki hızlar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Hız(NH₃) = 2 · 0,12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0,24 M/s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0,12/1 = 0,36/3 = 0,24/2 = 0,12 ✓; katsayısı en büyük olan H₂ en hızlı değişiyor.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ortalama hız</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Sabit hacimli bir kapta 2N₂O(g) → 2N₂(g) + O₂(g) tepkimesinin derişim–zaman grafiği aşağıda. (a) 0–25 s ve 25–50 s aralıklarında N₂O'nun ortalama harcanma hızlarını bulup karşılaştırınız. (b) 0–50 s aralığında O₂'nin ortalama oluşma hızı kaç M/s'dir?</a:t>
            </a:r>
            <a:endParaRPr lang="en-US" sz="1900" dirty="0"/>
          </a:p>
        </p:txBody>
      </p:sp>
      <p:sp>
        <p:nvSpPr>
          <p:cNvPr id="11" name="Shape 9"/>
          <p:cNvSpPr/>
          <p:nvPr/>
        </p:nvSpPr>
        <p:spPr>
          <a:xfrm>
            <a:off x="4115351" y="3757574"/>
            <a:ext cx="3960993"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5.png">    </p:cNvPr>
          <p:cNvPicPr>
            <a:picLocks noChangeAspect="1"/>
          </p:cNvPicPr>
          <p:nvPr/>
        </p:nvPicPr>
        <p:blipFill>
          <a:blip r:embed="rId1"/>
          <a:stretch>
            <a:fillRect/>
          </a:stretch>
        </p:blipFill>
        <p:spPr>
          <a:xfrm>
            <a:off x="4343951" y="3867302"/>
            <a:ext cx="3503793"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ortalama hız</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Sabit hacimli bir kapta 2N₂O(g) → 2N₂(g) + O₂(g) tepkimesinin derişim–zaman grafiği aşağıda. (a) 0–25 s ve 25–50 s aralıklarında N₂O'nun ortalama harcanma hızlarını bulup karşılaştırınız. (b) 0–50 s aralığında O₂'nin ortalama oluşma hızı kaç M/s'dir?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grafikten [N₂O] = 0,80 M (0 s), 0,40 M (25 s), 0,20 M (50 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[O₂] = 0 (0 s), 0,30 M (50 s)</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iki aralıkta Hız(N₂O)</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0–50 s'de Hız(O₂)</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ortalama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0–25 s: Δ[N₂O] = 0,40 − 0,80 = −0,40 M → Hız = 0,40 / 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0,016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25–50 s: Δ[N₂O] = 0,20 − 0,40 = −0,20 M → Hız = 0,20 / 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0,008 M/s</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İkinci aralıkta hız yarıya inmiş: N₂O azaldıkça tepkime yavaşlıyor.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Grafikten ortalama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Δ[O₂] = 0,30 − 0 = +0,30 M → Hız(O₂) = 0,30 / 50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0,006 M/s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0–50 s'de Hız(N₂O) = 0,60 / 50 = 0,012 M/s; O₂'nin katsayı oranı 1/2 → 0,012 / 2 = 0,006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Kombide yanan metan</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kombinin brülöründe metan 0,40 g/s hızla yanıyor: CH₄(g) + 2O₂(g) → CO₂(g) + 2H₂O(g). (a) O₂'nin harcanma hızı NK'da kaç L/s'dir? (b) CO₂'nin oluşma hızı kaç g/s'dir?</a:t>
            </a:r>
            <a:endParaRPr lang="en-US" sz="2000" dirty="0"/>
          </a:p>
        </p:txBody>
      </p:sp>
      <p:sp>
        <p:nvSpPr>
          <p:cNvPr id="11" name="Shape 9"/>
          <p:cNvSpPr/>
          <p:nvPr/>
        </p:nvSpPr>
        <p:spPr>
          <a:xfrm>
            <a:off x="3099334" y="3474720"/>
            <a:ext cx="5993027"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6.png">    </p:cNvPr>
          <p:cNvPicPr>
            <a:picLocks noChangeAspect="1"/>
          </p:cNvPicPr>
          <p:nvPr/>
        </p:nvPicPr>
        <p:blipFill>
          <a:blip r:embed="rId1"/>
          <a:stretch>
            <a:fillRect/>
          </a:stretch>
        </p:blipFill>
        <p:spPr>
          <a:xfrm>
            <a:off x="3327934" y="3584448"/>
            <a:ext cx="5535827"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Kombide yanan metan</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kombinin brülöründe metan 0,40 g/s hızla yanıyor: CH₄(g) + 2O₂(g) → CO₂(g) + 2H₂O(g). (a) O₂'nin harcanma hızı NK'da kaç L/s'dir? (b) CO₂'nin oluşma hızı kaç g/s'dir?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Hız(CH₄) = 0,40 g/s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CH₄ = 16 g/mol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CO₂ = 44 g/mol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NK'da 1 mol gaz = 22,4 L</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Hız(O₂), L/s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Hız(CO₂), g/s</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Kombide yanan metan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Mole çevir: Hız(CH₄) = 0,40 ÷ 16 = 0,025 mol/s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O₂: 0,025 · 2/1 = 0,050 mol/s → 0,050 · 22,4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1,12 L/s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Kombide yanan metan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CO₂: 0,025 · 1/1 = 0,025 mol/s → 0,025 · 44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1,1 g/s</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Kütle kontrolü: girenler 0,40 + 0,050 · 32 = 2,0 g/s; ürünler 1,1 + 0,050 · 18 = 2,0 g/s ✓</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Saniyede yaklaşık 20 kJ ısı açığa çıkar (0,025 mol/s × 802 kJ/mol), yani yaklaşık 20 kW'lık bir ısıl güç; bir evin kombisi için olağan bir değerdir.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Katı tepken, gaz ve çözelti</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50 mL HCl çözeltisine atılan 0,36 g magnezyum şerit 60 saniyede tamamen tepkimeye giriyor (asit fazladır): Mg(k) + 2HCl(suda) → MgCl₂(suda) + H₂(g). (a) Mg'nin ortalama harcanma hızı kaç mol/s'dir? (b) H₂'nin NK'daki ortalama oluşma hızı kaç mL/s'dir? (c) Çözelti hacmi değişmiyorsa HCl'nin ortalama harcanma hızı kaç M/s'dir?</a:t>
            </a:r>
            <a:endParaRPr lang="en-US" sz="1900" dirty="0"/>
          </a:p>
        </p:txBody>
      </p:sp>
      <p:sp>
        <p:nvSpPr>
          <p:cNvPr id="11" name="Shape 9"/>
          <p:cNvSpPr/>
          <p:nvPr/>
        </p:nvSpPr>
        <p:spPr>
          <a:xfrm>
            <a:off x="3627073" y="3757574"/>
            <a:ext cx="4937548"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7.png">    </p:cNvPr>
          <p:cNvPicPr>
            <a:picLocks noChangeAspect="1"/>
          </p:cNvPicPr>
          <p:nvPr/>
        </p:nvPicPr>
        <p:blipFill>
          <a:blip r:embed="rId1"/>
          <a:stretch>
            <a:fillRect/>
          </a:stretch>
        </p:blipFill>
        <p:spPr>
          <a:xfrm>
            <a:off x="3855673" y="3867302"/>
            <a:ext cx="4480348"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Katı tepken, gaz ve çözelti</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50 mL HCl çözeltisine atılan 0,36 g magnezyum şerit 60 saniyede tamamen tepkimeye giriyor (asit fazladır): Mg(k) + 2HCl(suda) → MgCl₂(suda) + H₂(g). (a) Mg'nin ortalama harcanma hızı kaç mol/s'dir? (b) H₂'nin NK'daki ortalama oluşma hızı kaç mL/s'dir? (c) Çözelti hacmi değişmiyorsa HCl'nin ortalama harcanma hızı kaç M/s'dir?</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m(Mg) = 0,36 g</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Mg = 24 g/mol</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Δt = 60 s</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V(çözelti) = 50 mL = 0,050 L</a:t>
            </a:r>
            <a:endParaRPr lang="en-US" sz="1150" dirty="0"/>
          </a:p>
          <a:p>
            <a:pPr marL="203200" indent="-203200">
              <a:lnSpc>
                <a:spcPct val="110000"/>
              </a:lnSpc>
              <a:spcAft>
                <a:spcPts val="500"/>
              </a:spcAft>
              <a:buSzPct val="100000"/>
              <a:buChar char="▪"/>
            </a:pPr>
            <a:r>
              <a:rPr lang="en-US" sz="1150" dirty="0">
                <a:solidFill>
                  <a:srgbClr val="0E1426"/>
                </a:solidFill>
                <a:latin typeface="Calibri" pitchFamily="34" charset="0"/>
                <a:ea typeface="Calibri" pitchFamily="34" charset="-122"/>
                <a:cs typeface="Calibri" pitchFamily="34" charset="-120"/>
              </a:rPr>
              <a:t>NK'da 1 mol gaz = 22 400 mL</a:t>
            </a:r>
            <a:endParaRPr lang="en-US" sz="11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Hız(Mg), mol/s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Hız(H₂), mL/s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Hız(HCl), M/s</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Katı tepken, gaz ve çözelti</a:t>
            </a:r>
            <a:endParaRPr lang="en-US" sz="1450" dirty="0"/>
          </a:p>
        </p:txBody>
      </p:sp>
      <p:sp>
        <p:nvSpPr>
          <p:cNvPr id="8" name="Shape 6"/>
          <p:cNvSpPr/>
          <p:nvPr/>
        </p:nvSpPr>
        <p:spPr>
          <a:xfrm>
            <a:off x="640080" y="1645920"/>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54458"/>
            <a:ext cx="420624" cy="420624"/>
          </a:xfrm>
          <a:prstGeom prst="roundRect">
            <a:avLst>
              <a:gd name="adj" fmla="val 26000"/>
            </a:avLst>
          </a:prstGeom>
          <a:solidFill>
            <a:srgbClr val="A56209"/>
          </a:solidFill>
          <a:ln/>
        </p:spPr>
      </p:sp>
      <p:sp>
        <p:nvSpPr>
          <p:cNvPr id="10" name="Text 8"/>
          <p:cNvSpPr txBox="1"/>
          <p:nvPr/>
        </p:nvSpPr>
        <p:spPr>
          <a:xfrm>
            <a:off x="914400" y="195445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n(Mg) = 0,36 ÷ 24 = 0,015 mol → (a) Hız(Mg) = 0,015 ÷ 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2,5·10⁻⁴ mol/s</a:t>
            </a:r>
            <a:endParaRPr lang="en-US" sz="2000" dirty="0"/>
          </a:p>
        </p:txBody>
      </p:sp>
      <p:sp>
        <p:nvSpPr>
          <p:cNvPr id="12" name="Shape 10"/>
          <p:cNvSpPr/>
          <p:nvPr/>
        </p:nvSpPr>
        <p:spPr>
          <a:xfrm>
            <a:off x="640080" y="2848211"/>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20890"/>
            <a:ext cx="420624" cy="420624"/>
          </a:xfrm>
          <a:prstGeom prst="roundRect">
            <a:avLst>
              <a:gd name="adj" fmla="val 26000"/>
            </a:avLst>
          </a:prstGeom>
          <a:solidFill>
            <a:srgbClr val="A56209"/>
          </a:solidFill>
          <a:ln/>
        </p:spPr>
      </p:sp>
      <p:sp>
        <p:nvSpPr>
          <p:cNvPr id="14" name="Text 12"/>
          <p:cNvSpPr txBox="1"/>
          <p:nvPr/>
        </p:nvSpPr>
        <p:spPr>
          <a:xfrm>
            <a:off x="914400" y="342089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03075"/>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Katsayılar 1 : 1 → 0,015 mol H₂ = 0,015 · 22 400 = 336 mL → 336 ÷ 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5,6 mL/s</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Harcanan HCl = 2 · 0,015 = 0,030 mol → Δ[HCl] = −0,030 ÷ 0,050 = −0,60 M</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Katı tepken, gaz ve çözelti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Hız(HCl) = −(−0,60) ÷ 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0,010 M/s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Mg katı olduğu için hızı M/s ile değil, mol/s ile yazıldı.</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Verilerden denklemi bulmak</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5 L'lik kapalı bir kapta gaz fazında A ile B tepkimeye girip C oluşturuyor. 0. ve 40. saniyelerdeki mol sayıları: A 1,20 → 0,60 mol; B 0,90 → 0,70 mol; C 0 → 0,40 mol. (a) Tepkimenin en küçük tam sayılı denklemini yazınız. (b) Her maddenin ortalama hızını ve tepkime hızını M/s cinsinden bulunuz.</a:t>
            </a:r>
            <a:endParaRPr lang="en-US" sz="1900" dirty="0"/>
          </a:p>
        </p:txBody>
      </p:sp>
      <p:sp>
        <p:nvSpPr>
          <p:cNvPr id="11" name="Shape 9"/>
          <p:cNvSpPr/>
          <p:nvPr/>
        </p:nvSpPr>
        <p:spPr>
          <a:xfrm>
            <a:off x="3732084" y="3757574"/>
            <a:ext cx="4727528"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8.png">    </p:cNvPr>
          <p:cNvPicPr>
            <a:picLocks noChangeAspect="1"/>
          </p:cNvPicPr>
          <p:nvPr/>
        </p:nvPicPr>
        <p:blipFill>
          <a:blip r:embed="rId1"/>
          <a:stretch>
            <a:fillRect/>
          </a:stretch>
        </p:blipFill>
        <p:spPr>
          <a:xfrm>
            <a:off x="3960684" y="3867302"/>
            <a:ext cx="4270328"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Verilerden denklemi bulmak</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5 L'lik kapalı bir kapta gaz fazında A ile B tepkimeye girip C oluşturuyor. 0. ve 40. saniyelerdeki mol sayıları: A 1,20 → 0,60 mol; B 0,90 → 0,70 mol; C 0 → 0,40 mol. (a) Tepkimenin en küçük tam sayılı denklemini yazınız. (b) Her maddenin ortalama hızını ve tepkime hızını M/s cinsinden bulunuz.</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V = 5 L</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Δt = 40 s</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Δn(A) = −0,60 mol</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Δn(B) = −0,20 mol</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Δn(C) = +0,40 mol</a:t>
            </a:r>
            <a:endParaRPr lang="en-US" sz="14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denklemin katsayıları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Hız(A), Hız(B), Hız(C) ve tepkime hızı, M/s</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Verilerden denklemi bulmak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Değişimler: A 0,60 mol azaldı, B 0,20 mol azaldı, C 0,40 mol arttı.</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Oran 0,60 : 0,20 : 0,40 = 3 : 1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3A(g) + B(g) → 2C(g)</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Derişime çevir (÷ 5 L): Δ[A] = −0,12 M · Δ[B] = −0,040 M · Δ[C] = +0,080 M</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Verilerden denklemi bulmak</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Hız(A) = 0,12 / 40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0,0030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Hız(B)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0,0010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Hız(C)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0,0020 M/s</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Tepkime hızı = 0,0030/3 = 0,0010/1 = 0,0020/2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0,0010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Teğetten anlık hız</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Bir H₂O₂ çözeltisinde 2H₂O₂(suda) → 2H₂O(s) + O₂(g) tepkimesi yürüyor. Derişim–zaman eğrisine 40. dakikada çizilen teğet, dikey ekseni 0,91 M'de, yatay ekseni 120. dakikada kesiyor; o anda [H₂O₂] = 0,61 M. (a) 40. dakikadaki anlık harcanma hızını, (b) 0–40 dk aralığındaki ortalama harcanma hızını bulup karşılaştırınız.</a:t>
            </a:r>
            <a:endParaRPr lang="en-US" sz="1900" dirty="0"/>
          </a:p>
        </p:txBody>
      </p:sp>
      <p:sp>
        <p:nvSpPr>
          <p:cNvPr id="11" name="Shape 9"/>
          <p:cNvSpPr/>
          <p:nvPr/>
        </p:nvSpPr>
        <p:spPr>
          <a:xfrm>
            <a:off x="3915101" y="3757574"/>
            <a:ext cx="4361494"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tepkime-hizi-19.png">    </p:cNvPr>
          <p:cNvPicPr>
            <a:picLocks noChangeAspect="1"/>
          </p:cNvPicPr>
          <p:nvPr/>
        </p:nvPicPr>
        <p:blipFill>
          <a:blip r:embed="rId1"/>
          <a:stretch>
            <a:fillRect/>
          </a:stretch>
        </p:blipFill>
        <p:spPr>
          <a:xfrm>
            <a:off x="4143701" y="3867302"/>
            <a:ext cx="3904294"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Teğetten anlık hız</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H₂O₂ çözeltisinde 2H₂O₂(suda) → 2H₂O(s) + O₂(g) tepkimesi yürüyor. Derişim–zaman eğrisine 40. dakikada çizilen teğet, dikey ekseni 0,91 M'de, yatay ekseni 120. dakikada kesiyor; o anda [H₂O₂] = 0,61 M. (a) 40. dakikadaki anlık harcanma hızını, (b) 0–40 dk aralığındaki ortalama harcanma hızını bulup karşılaştırınız.</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teğet (0 dk; 0,91 M) ve (120 dk; 0 M) noktalarından geçiyor</a:t>
            </a:r>
            <a:endParaRPr lang="en-US" sz="1750" dirty="0"/>
          </a:p>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[H₂O₂] = 1,00 M (0 dk), 0,61 M (40 dk)</a:t>
            </a:r>
            <a:endParaRPr lang="en-US" sz="17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40. dakikadaki anlık hız</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0–40 dk ortalama hız, M/dk</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Teğetten anlık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Teğetin eğimi = (0 − 0,91) ÷ (120 − 0) ≈ −0,0076 M/dk</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Anlık harcanma hızı, eğimin eksi işaretlisidir: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7,6·10⁻³ M/dk</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Δ[H₂O₂] = 0,61 − 1,00 = −0,39 M → ortalama hız = 0,39 ÷ 40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9,8·10⁻³ M/dk</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Teğetten anlık hız</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Ortalama hız, 40. dakikadaki anlık hızdan büyük: aralığın başında tepkime daha hızlıydı ve hız sürekli azaldı.</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O₂ için katsayı oranı 1/2: 40. dakikada 1 L çözeltiden dakikada yaklaşık 3,8·10⁻³ mol O₂ çıkar.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C₂H₄(g) + 3O₂(g) → 2CO₂(g) + 2H₂O(g) tepkimesinde CO₂'nin oluşma hızı 0,30 M/s ise O₂'nin harcanma hızı kaç M/s'dir?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 = 1, C = 12, O = 16, Ca = 40 g/mol; NK'da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C₂H₄(g) + 3O₂(g) → 2CO₂(g) + 2H₂O(g) tepkimesinde CO₂'nin oluşma hızı 0,30 M/s ise O₂'nin harcanma hızı kaç M/s'dir?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Tepkime hızı = 0,30 / 2 = 0,15 M/s. Hız(O₂) = 3 · 0,15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0,45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O₂'nin katsayısı CO₂'ninkinden büyük, hızı da büyük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Gaz fazındaki bir tepkimede 2·Hız(A) = 3·Hız(B) = 6·Hız(C) bağıntısı veriliyor; A ve B tepken, C ürün. Tepkimenin denklemi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 = 1, C = 12, O = 16, Ca = 40 g/mol; NK'da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Gaz fazındaki bir tepkimede 2·Hız(A) = 3·Hız(B) = 6·Hız(C) bağıntısı veriliyor; A ve B tepken, C ürün. Tepkimenin denklemi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Bağıntıyı 6'ya böl: Hız(A)/3 = Hız(B)/2 = Hız(C)/1. Katsayılar 3, 2 ve 1'dir: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3A + 2B → C</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Çarpılmış biçimde en büyük çarpan (6), en küçük katsayıya (C'nin 1'ine) aittir.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Açık kapta CaCO₃(k) + 2HCl(suda) → CaCl₂(suda) + H₂O(s) + CO₂(g) yürürken terazi 50 saniyede 2,2 g azalıyor. CO₂'nin oluşma hızı kaç mol/s, CaCO₃'ün harcanma hızı kaç g/s'dir?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 = 1, C = 12, O = 16, Ca = 40 g/mol; NK'da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Açık kapta CaCO₃(k) + 2HCl(suda) → CaCl₂(suda) + H₂O(s) + CO₂(g) yürürken terazi 50 saniyede 2,2 g azalıyor. CO₂'nin oluşma hızı kaç mol/s, CaCO₃'ün harcanma hızı kaç g/s'dir?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Kaybolan kütle kaçan CO₂'dir: 2,2 ÷ 44 = 0,050 mol → Hız(CO₂) = 0,050 ÷ 50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0,0010 mol/s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Katsayılar 1 : 1 olduğundan 0,050 mol CaCO₃ harcandı: 0,050 · 100 = 5,0 g → Hız(CaCO₃) = 5,0 ÷ 50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0,10 g/s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Hızı zamanla azalan bir tepkimede 0–10 s ortalama hızı 0,040 M/s, 10–20 s ortalama hızı 0,025 M/s. 10. saniyedeki anlık hız hangi aralıkta olmalıdır?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 = 1, C = 12, O = 16, Ca = 40 g/mol; NK'da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Hızı zamanla azalan bir tepkimede 0–10 s ortalama hızı 0,040 M/s, 10–20 s ortalama hızı 0,025 M/s. 10. saniyedeki anlık hız hangi aralıkta olmalıdır?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Hız sürekli azaldığı için 10. saniyedeki anlık hız, önceki aralığın ortalamasından küçük, sonraki aralığın ortalamasından büyüktür: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0,025 M/s ile 0,040 M/s arasında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5 L'lik kapta 4NH₃(g) + 5O₂(g) → 4NO(g) + 6H₂O(g) tepkimesinde NH₃ 20 saniyede 3,0 mol'den 1,0 mol'e iniyor. O₂'nin harcanma hızı kaç M/s, H₂O'nun oluşma hızı kaç g/s'dir?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(H = 1, C = 12, O = 16, Ca = 40 g/mol; NK'da 1 mol gaz = 22,4 L)</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5 L'lik kapta 4NH₃(g) + 5O₂(g) → 4NO(g) + 6H₂O(g) tepkimesinde NH₃ 20 saniyede 3,0 mol'den 1,0 mol'e iniyor. O₂'nin harcanma hızı kaç M/s, H₂O'nun oluşma hızı kaç g/s'dir?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Harcanan NH₃ = 2,0 mol. O₂: 2,0 · 5/4 = 2,5 mol → Δ[O₂] = −2,5 ÷ 5 = −0,50 M → Hız(O₂) = 0,50 ÷ 20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0,025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H₂O: 2,0 · 6/4 = 3,0 mol = 3,0 · 18 = 54 g → Hız(H₂O) = 54 ÷ 20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2,7 g/s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Tepkenin hızını eksi bir sayı olarak yazmak.</a:t>
            </a:r>
            <a:endParaRPr lang="en-US" sz="1750" dirty="0"/>
          </a:p>
        </p:txBody>
      </p:sp>
      <p:sp>
        <p:nvSpPr>
          <p:cNvPr id="11" name="Shape 9"/>
          <p:cNvSpPr/>
          <p:nvPr/>
        </p:nvSpPr>
        <p:spPr>
          <a:xfrm>
            <a:off x="841248" y="2551938"/>
            <a:ext cx="310896" cy="310896"/>
          </a:xfrm>
          <a:prstGeom prst="roundRect">
            <a:avLst>
              <a:gd name="adj" fmla="val 26471"/>
            </a:avLst>
          </a:prstGeom>
          <a:solidFill>
            <a:srgbClr val="EAF7DC"/>
          </a:solidFill>
          <a:ln/>
        </p:spPr>
      </p:sp>
      <p:sp>
        <p:nvSpPr>
          <p:cNvPr id="12" name="Text 10"/>
          <p:cNvSpPr txBox="1"/>
          <p:nvPr/>
        </p:nvSpPr>
        <p:spPr>
          <a:xfrm>
            <a:off x="841248"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Hız her zaman pozitiftir; formüldeki eksi işareti, azalan derişimin eksi çıkan Δ'sını pozitife çevirmek içindir.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Δ'yı “ilk − son” diye alıp bir de eksi koymak.</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Δ hep son − ilk'tir. Tepkende bu sayı eksi çıkar ve formüldeki eksiyle birlikte hız pozitif olur; iki kez eksi kullanırsan hız eksi çıkar.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Bir tepkimedeki bütün maddelerin hızını aynı sanmak.</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Maddelerin hızları katsayılarla orantılıdır; ancak her biri kendi katsayısına bölününce eşitlenir.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Katsayıya bölmek yerine çarpmak.</a:t>
            </a:r>
            <a:endParaRPr lang="en-US" sz="1750" dirty="0"/>
          </a:p>
        </p:txBody>
      </p:sp>
      <p:sp>
        <p:nvSpPr>
          <p:cNvPr id="32" name="Shape 30"/>
          <p:cNvSpPr/>
          <p:nvPr/>
        </p:nvSpPr>
        <p:spPr>
          <a:xfrm>
            <a:off x="6406744" y="4586097"/>
            <a:ext cx="310896" cy="310896"/>
          </a:xfrm>
          <a:prstGeom prst="roundRect">
            <a:avLst>
              <a:gd name="adj" fmla="val 26471"/>
            </a:avLst>
          </a:prstGeom>
          <a:solidFill>
            <a:srgbClr val="EAF7DC"/>
          </a:solidFill>
          <a:ln/>
        </p:spPr>
      </p:sp>
      <p:sp>
        <p:nvSpPr>
          <p:cNvPr id="33" name="Text 31"/>
          <p:cNvSpPr txBox="1"/>
          <p:nvPr/>
        </p:nvSpPr>
        <p:spPr>
          <a:xfrm>
            <a:off x="6406744" y="4586097"/>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67809"/>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N₂ + 3H₂ → 2NH₃'te H₂, N₂'nin 3 katı hızla harcanır. Kontrol: katsayısı büyük olan madde her zaman daha hızlı değişir.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Ortalama hızın her an aynı olduğunu sanmak.</a:t>
            </a:r>
            <a:endParaRPr lang="en-US" sz="1800" dirty="0"/>
          </a:p>
        </p:txBody>
      </p:sp>
      <p:sp>
        <p:nvSpPr>
          <p:cNvPr id="11" name="Shape 9"/>
          <p:cNvSpPr/>
          <p:nvPr/>
        </p:nvSpPr>
        <p:spPr>
          <a:xfrm>
            <a:off x="841248" y="2569464"/>
            <a:ext cx="310896" cy="310896"/>
          </a:xfrm>
          <a:prstGeom prst="roundRect">
            <a:avLst>
              <a:gd name="adj" fmla="val 26471"/>
            </a:avLst>
          </a:prstGeom>
          <a:solidFill>
            <a:srgbClr val="EAF7DC"/>
          </a:solidFill>
          <a:ln/>
        </p:spPr>
      </p:sp>
      <p:sp>
        <p:nvSpPr>
          <p:cNvPr id="12" name="Text 10"/>
          <p:cNvSpPr txBox="1"/>
          <p:nvPr/>
        </p:nvSpPr>
        <p:spPr>
          <a:xfrm>
            <a:off x="841248" y="256946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51176"/>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Ortalama hız bir aralığın özetidir; çoğu tepkimede hız zamanla azalır, aralığın başında ortalamadan büyük, sonunda küçüktür.</a:t>
            </a:r>
            <a:endParaRPr lang="en-US" sz="16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Daha dik değişen eğrinin “daha hızlı bir tepkime” olduğunu sanmak.</a:t>
            </a:r>
            <a:endParaRPr lang="en-US" sz="1800" dirty="0"/>
          </a:p>
        </p:txBody>
      </p:sp>
      <p:sp>
        <p:nvSpPr>
          <p:cNvPr id="18" name="Shape 16"/>
          <p:cNvSpPr/>
          <p:nvPr/>
        </p:nvSpPr>
        <p:spPr>
          <a:xfrm>
            <a:off x="6406744" y="2569464"/>
            <a:ext cx="310896" cy="310896"/>
          </a:xfrm>
          <a:prstGeom prst="roundRect">
            <a:avLst>
              <a:gd name="adj" fmla="val 26471"/>
            </a:avLst>
          </a:prstGeom>
          <a:solidFill>
            <a:srgbClr val="EAF7DC"/>
          </a:solidFill>
          <a:ln/>
        </p:spPr>
      </p:sp>
      <p:sp>
        <p:nvSpPr>
          <p:cNvPr id="19" name="Text 17"/>
          <p:cNvSpPr txBox="1"/>
          <p:nvPr/>
        </p:nvSpPr>
        <p:spPr>
          <a:xfrm>
            <a:off x="6406744" y="256946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51176"/>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Aynı tepkimede katsayısı büyük maddenin eğrisi daha dik değişir; tepkime tektir ve hızı da tektir.</a:t>
            </a:r>
            <a:endParaRPr lang="en-US" sz="16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Katı ya da saf sıvının hızını M/s ile yazmak.</a:t>
            </a:r>
            <a:endParaRPr lang="en-US" sz="1800" dirty="0"/>
          </a:p>
        </p:txBody>
      </p:sp>
      <p:sp>
        <p:nvSpPr>
          <p:cNvPr id="25" name="Shape 23"/>
          <p:cNvSpPr/>
          <p:nvPr/>
        </p:nvSpPr>
        <p:spPr>
          <a:xfrm>
            <a:off x="841248" y="4910328"/>
            <a:ext cx="310896" cy="310896"/>
          </a:xfrm>
          <a:prstGeom prst="roundRect">
            <a:avLst>
              <a:gd name="adj" fmla="val 26471"/>
            </a:avLst>
          </a:prstGeom>
          <a:solidFill>
            <a:srgbClr val="EAF7DC"/>
          </a:solidFill>
          <a:ln/>
        </p:spPr>
      </p:sp>
      <p:sp>
        <p:nvSpPr>
          <p:cNvPr id="26" name="Text 24"/>
          <p:cNvSpPr txBox="1"/>
          <p:nvPr/>
        </p:nvSpPr>
        <p:spPr>
          <a:xfrm>
            <a:off x="841248" y="491032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92040"/>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Bu maddelerin derişimi değişmez; hızları mol/s ya da g/s ile verilir.</a:t>
            </a:r>
            <a:endParaRPr lang="en-US" sz="16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388620"/>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22,4 L/mol'ü her koşulda kullanmak.</a:t>
            </a:r>
            <a:endParaRPr lang="en-US" sz="1800" dirty="0"/>
          </a:p>
        </p:txBody>
      </p:sp>
      <p:sp>
        <p:nvSpPr>
          <p:cNvPr id="32" name="Shape 30"/>
          <p:cNvSpPr/>
          <p:nvPr/>
        </p:nvSpPr>
        <p:spPr>
          <a:xfrm>
            <a:off x="6406744" y="4594860"/>
            <a:ext cx="310896" cy="310896"/>
          </a:xfrm>
          <a:prstGeom prst="roundRect">
            <a:avLst>
              <a:gd name="adj" fmla="val 26471"/>
            </a:avLst>
          </a:prstGeom>
          <a:solidFill>
            <a:srgbClr val="EAF7DC"/>
          </a:solidFill>
          <a:ln/>
        </p:spPr>
      </p:sp>
      <p:sp>
        <p:nvSpPr>
          <p:cNvPr id="33" name="Text 31"/>
          <p:cNvSpPr txBox="1"/>
          <p:nvPr/>
        </p:nvSpPr>
        <p:spPr>
          <a:xfrm>
            <a:off x="6406744" y="459486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76572"/>
            <a:ext cx="4523080" cy="1440180"/>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Bu değer yalnız gazlar için ve NK'da (0 °C, 1 atm) geçerlidir; katı ve sıvılara uygulanmaz, oda koşullarında 1 mol gaz yaklaşık 24,5 L'dir.</a:t>
            </a:r>
            <a:endParaRPr lang="en-US" sz="16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dersler.perinet.org/tepkime-hizi.html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Hız = </a:t>
            </a:r>
            <a:pPr indent="0" marL="0">
              <a:buNone/>
            </a:pPr>
            <a:r>
              <a:rPr lang="en-US" sz="1500" b="1" dirty="0">
                <a:solidFill>
                  <a:srgbClr val="FFFFFF"/>
                </a:solidFill>
                <a:latin typeface="Calibri" pitchFamily="34" charset="0"/>
                <a:ea typeface="Calibri" pitchFamily="34" charset="-122"/>
                <a:cs typeface="Calibri" pitchFamily="34" charset="-120"/>
              </a:rPr>
              <a:t>Δ(miktar) / Δt</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Girenler </a:t>
            </a:r>
            <a:pPr indent="0" marL="0">
              <a:buNone/>
            </a:pPr>
            <a:r>
              <a:rPr lang="en-US" sz="1500" b="1" dirty="0">
                <a:solidFill>
                  <a:srgbClr val="FFFFFF"/>
                </a:solidFill>
                <a:latin typeface="Calibri" pitchFamily="34" charset="0"/>
                <a:ea typeface="Calibri" pitchFamily="34" charset="-122"/>
                <a:cs typeface="Calibri" pitchFamily="34" charset="-120"/>
              </a:rPr>
              <a:t>− işaretli</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Katsayıya bölünce </a:t>
            </a:r>
            <a:pPr indent="0" marL="0">
              <a:buNone/>
            </a:pPr>
            <a:r>
              <a:rPr lang="en-US" sz="1500" b="1" dirty="0">
                <a:solidFill>
                  <a:srgbClr val="FFFFFF"/>
                </a:solidFill>
                <a:latin typeface="Calibri" pitchFamily="34" charset="0"/>
                <a:ea typeface="Calibri" pitchFamily="34" charset="-122"/>
                <a:cs typeface="Calibri" pitchFamily="34" charset="-120"/>
              </a:rPr>
              <a:t>hızlar eşit</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Hız çoğunlukla zamanla </a:t>
            </a:r>
            <a:pPr indent="0" marL="0">
              <a:buNone/>
            </a:pPr>
            <a:r>
              <a:rPr lang="en-US" sz="1500" b="1" dirty="0">
                <a:solidFill>
                  <a:srgbClr val="FFFFFF"/>
                </a:solidFill>
                <a:latin typeface="Calibri" pitchFamily="34" charset="0"/>
                <a:ea typeface="Calibri" pitchFamily="34" charset="-122"/>
                <a:cs typeface="Calibri" pitchFamily="34" charset="-120"/>
              </a:rPr>
              <a:t>azalır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Hız = −Δ[X] / Δt</a:t>
            </a:r>
            <a:endParaRPr lang="en-US" sz="1350" dirty="0"/>
          </a:p>
        </p:txBody>
      </p:sp>
      <p:sp>
        <p:nvSpPr>
          <p:cNvPr id="16" name="Text 14"/>
          <p:cNvSpPr txBox="1"/>
          <p:nvPr/>
        </p:nvSpPr>
        <p:spPr>
          <a:xfrm>
            <a:off x="8677656" y="239572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harcanma hızı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Hız = +Δ[Z] / Δt</a:t>
            </a:r>
            <a:endParaRPr lang="en-US" sz="1350" dirty="0"/>
          </a:p>
        </p:txBody>
      </p:sp>
      <p:sp>
        <p:nvSpPr>
          <p:cNvPr id="19" name="Text 17"/>
          <p:cNvSpPr txBox="1"/>
          <p:nvPr/>
        </p:nvSpPr>
        <p:spPr>
          <a:xfrm>
            <a:off x="8677656" y="321868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oluşma hızı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aX → cZ: (−Δ[X]/Δt)/a = (Δ[Z]/Δt)/c</a:t>
            </a:r>
            <a:endParaRPr lang="en-US" sz="1350" dirty="0"/>
          </a:p>
        </p:txBody>
      </p:sp>
      <p:sp>
        <p:nvSpPr>
          <p:cNvPr id="22" name="Text 20"/>
          <p:cNvSpPr txBox="1"/>
          <p:nvPr/>
        </p:nvSpPr>
        <p:spPr>
          <a:xfrm>
            <a:off x="9631375" y="404164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katsayılar hızları bağlar</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85166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M/s = mol/(L·s)</a:t>
            </a:r>
            <a:endParaRPr lang="en-US" sz="1350" dirty="0"/>
          </a:p>
        </p:txBody>
      </p:sp>
      <p:sp>
        <p:nvSpPr>
          <p:cNvPr id="25" name="Text 23"/>
          <p:cNvSpPr txBox="1"/>
          <p:nvPr/>
        </p:nvSpPr>
        <p:spPr>
          <a:xfrm>
            <a:off x="8572500" y="4864608"/>
            <a:ext cx="279623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derişimle hızın birimi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dersler.perinet.org/tepkime-hizi.html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03 · Tepkime hızına etki eden faktörler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144</Slides>
  <Notes>144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144</vt:i4>
      </vt:variant>
    </vt:vector>
  </HeadingPairs>
  <TitlesOfParts>
    <vt:vector size="1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Ortalama tepkime hızı — Dersler</dc:title>
  <dc:subject>Kimya · Kimyasal Tepkimelerde Hız</dc:subject>
  <dc:creator>Dersler</dc:creator>
  <cp:lastModifiedBy>Dersler</cp:lastModifiedBy>
  <cp:revision>1</cp:revision>
  <dcterms:created xsi:type="dcterms:W3CDTF">2026-10-02T16:20:48Z</dcterms:created>
  <dcterms:modified xsi:type="dcterms:W3CDTF">2026-10-02T16:20:48Z</dcterms:modified>
</cp:coreProperties>
</file>